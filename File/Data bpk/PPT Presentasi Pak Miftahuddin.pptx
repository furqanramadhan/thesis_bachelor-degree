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Open Sauce" charset="1" panose="00000500000000000000"/>
      <p:regular r:id="rId14"/>
    </p:embeddedFont>
    <p:embeddedFont>
      <p:font typeface="Chau Philomene" charset="1" panose="02000806040000020003"/>
      <p:regular r:id="rId15"/>
    </p:embeddedFont>
    <p:embeddedFont>
      <p:font typeface="DM Serif Display" charset="1" panose="00000000000000000000"/>
      <p:regular r:id="rId16"/>
    </p:embeddedFont>
    <p:embeddedFont>
      <p:font typeface="Canva Sans" charset="1" panose="020B0503030501040103"/>
      <p:regular r:id="rId17"/>
    </p:embeddedFont>
    <p:embeddedFont>
      <p:font typeface="Canva Sans Bold" charset="1" panose="020B0803030501040103"/>
      <p:regular r:id="rId18"/>
    </p:embeddedFont>
    <p:embeddedFont>
      <p:font typeface="Open Sauce Italics"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0000"/>
            </a:blip>
            <a:stretch>
              <a:fillRect l="0" t="0" r="0" b="0"/>
            </a:stretch>
          </a:blipFill>
        </p:spPr>
      </p:sp>
      <p:sp>
        <p:nvSpPr>
          <p:cNvPr name="TextBox 3" id="3"/>
          <p:cNvSpPr txBox="true"/>
          <p:nvPr/>
        </p:nvSpPr>
        <p:spPr>
          <a:xfrm rot="0">
            <a:off x="1907021" y="7868695"/>
            <a:ext cx="14473958" cy="1564005"/>
          </a:xfrm>
          <a:prstGeom prst="rect">
            <a:avLst/>
          </a:prstGeom>
        </p:spPr>
        <p:txBody>
          <a:bodyPr anchor="t" rtlCol="false" tIns="0" lIns="0" bIns="0" rIns="0">
            <a:spAutoFit/>
          </a:bodyPr>
          <a:lstStyle/>
          <a:p>
            <a:pPr algn="ctr">
              <a:lnSpc>
                <a:spcPts val="2520"/>
              </a:lnSpc>
              <a:spcBef>
                <a:spcPct val="0"/>
              </a:spcBef>
            </a:pPr>
            <a:r>
              <a:rPr lang="en-US" sz="1800" spc="179">
                <a:solidFill>
                  <a:srgbClr val="000000"/>
                </a:solidFill>
                <a:latin typeface="Open Sauce"/>
                <a:ea typeface="Open Sauce"/>
                <a:cs typeface="Open Sauce"/>
                <a:sym typeface="Open Sauce"/>
              </a:rPr>
              <a:t>FI</a:t>
            </a:r>
            <a:r>
              <a:rPr lang="en-US" sz="1800" spc="179">
                <a:solidFill>
                  <a:srgbClr val="000000"/>
                </a:solidFill>
                <a:latin typeface="Open Sauce"/>
                <a:ea typeface="Open Sauce"/>
                <a:cs typeface="Open Sauce"/>
                <a:sym typeface="Open Sauce"/>
              </a:rPr>
              <a:t>TUR INI MEMUNGKINKAN PENGGUNA UNTUK MENGUNGGAH, MELIHAT, DAN MENGELOLA DATA IKLIM SECARA EFISIEN. SETIAP DATASET DAPAT DITELUSURI DETAILNYA MELALUI TABEL DAN VISUALISASI GRAFIK, SERTA DIHAPUS BILA SUDAH TIDAK DIPERLUKAN. SELURUH PROSES DILAKUKAN SECARA TERPUSAT UNTUK MENJAGA KONSISTENSI DAN KEMUDAHAN PENGELOLAAN DATA.</a:t>
            </a:r>
          </a:p>
          <a:p>
            <a:pPr algn="ctr">
              <a:lnSpc>
                <a:spcPts val="2520"/>
              </a:lnSpc>
              <a:spcBef>
                <a:spcPct val="0"/>
              </a:spcBef>
            </a:pPr>
          </a:p>
        </p:txBody>
      </p:sp>
      <p:grpSp>
        <p:nvGrpSpPr>
          <p:cNvPr name="Group 4" id="4"/>
          <p:cNvGrpSpPr/>
          <p:nvPr/>
        </p:nvGrpSpPr>
        <p:grpSpPr>
          <a:xfrm rot="0">
            <a:off x="5052338" y="1028700"/>
            <a:ext cx="11540527" cy="6534824"/>
            <a:chOff x="0" y="0"/>
            <a:chExt cx="15387370" cy="8713098"/>
          </a:xfrm>
        </p:grpSpPr>
        <p:sp>
          <p:nvSpPr>
            <p:cNvPr name="Freeform 5" id="5"/>
            <p:cNvSpPr/>
            <p:nvPr/>
          </p:nvSpPr>
          <p:spPr>
            <a:xfrm flipH="false" flipV="false" rot="0">
              <a:off x="0" y="0"/>
              <a:ext cx="15387370" cy="8713098"/>
            </a:xfrm>
            <a:custGeom>
              <a:avLst/>
              <a:gdLst/>
              <a:ahLst/>
              <a:cxnLst/>
              <a:rect r="r" b="b" t="t" l="l"/>
              <a:pathLst>
                <a:path h="8713098" w="15387370">
                  <a:moveTo>
                    <a:pt x="0" y="0"/>
                  </a:moveTo>
                  <a:lnTo>
                    <a:pt x="15387370" y="0"/>
                  </a:lnTo>
                  <a:lnTo>
                    <a:pt x="15387370" y="8713098"/>
                  </a:lnTo>
                  <a:lnTo>
                    <a:pt x="0" y="8713098"/>
                  </a:lnTo>
                  <a:lnTo>
                    <a:pt x="0" y="0"/>
                  </a:lnTo>
                  <a:close/>
                </a:path>
              </a:pathLst>
            </a:custGeom>
            <a:blipFill>
              <a:blip r:embed="rId3"/>
              <a:stretch>
                <a:fillRect l="0" t="0" r="0" b="0"/>
              </a:stretch>
            </a:blipFill>
            <a:ln w="9525" cap="sq">
              <a:solidFill>
                <a:srgbClr val="000000"/>
              </a:solidFill>
              <a:prstDash val="solid"/>
              <a:miter/>
            </a:ln>
          </p:spPr>
        </p:sp>
        <p:grpSp>
          <p:nvGrpSpPr>
            <p:cNvPr name="Group 6" id="6"/>
            <p:cNvGrpSpPr/>
            <p:nvPr/>
          </p:nvGrpSpPr>
          <p:grpSpPr>
            <a:xfrm rot="0">
              <a:off x="288573" y="116555"/>
              <a:ext cx="2408721" cy="435632"/>
              <a:chOff x="0" y="0"/>
              <a:chExt cx="475797" cy="86051"/>
            </a:xfrm>
          </p:grpSpPr>
          <p:sp>
            <p:nvSpPr>
              <p:cNvPr name="Freeform 7" id="7"/>
              <p:cNvSpPr/>
              <p:nvPr/>
            </p:nvSpPr>
            <p:spPr>
              <a:xfrm flipH="false" flipV="false" rot="0">
                <a:off x="0" y="0"/>
                <a:ext cx="475797" cy="86051"/>
              </a:xfrm>
              <a:custGeom>
                <a:avLst/>
                <a:gdLst/>
                <a:ahLst/>
                <a:cxnLst/>
                <a:rect r="r" b="b" t="t" l="l"/>
                <a:pathLst>
                  <a:path h="86051" w="475797">
                    <a:moveTo>
                      <a:pt x="0" y="0"/>
                    </a:moveTo>
                    <a:lnTo>
                      <a:pt x="475797" y="0"/>
                    </a:lnTo>
                    <a:lnTo>
                      <a:pt x="475797" y="86051"/>
                    </a:lnTo>
                    <a:lnTo>
                      <a:pt x="0" y="86051"/>
                    </a:lnTo>
                    <a:close/>
                  </a:path>
                </a:pathLst>
              </a:custGeom>
              <a:solidFill>
                <a:srgbClr val="FAFAFA"/>
              </a:solidFill>
            </p:spPr>
          </p:sp>
          <p:sp>
            <p:nvSpPr>
              <p:cNvPr name="TextBox 8" id="8"/>
              <p:cNvSpPr txBox="true"/>
              <p:nvPr/>
            </p:nvSpPr>
            <p:spPr>
              <a:xfrm>
                <a:off x="0" y="-95250"/>
                <a:ext cx="475797" cy="181301"/>
              </a:xfrm>
              <a:prstGeom prst="rect">
                <a:avLst/>
              </a:prstGeom>
            </p:spPr>
            <p:txBody>
              <a:bodyPr anchor="ctr" rtlCol="false" tIns="50800" lIns="50800" bIns="50800" rIns="50800"/>
              <a:lstStyle/>
              <a:p>
                <a:pPr algn="ctr">
                  <a:lnSpc>
                    <a:spcPts val="3840"/>
                  </a:lnSpc>
                </a:pPr>
              </a:p>
            </p:txBody>
          </p:sp>
        </p:grpSp>
        <p:sp>
          <p:nvSpPr>
            <p:cNvPr name="TextBox 9" id="9"/>
            <p:cNvSpPr txBox="true"/>
            <p:nvPr/>
          </p:nvSpPr>
          <p:spPr>
            <a:xfrm rot="0">
              <a:off x="382407" y="277221"/>
              <a:ext cx="2408721" cy="361948"/>
            </a:xfrm>
            <a:prstGeom prst="rect">
              <a:avLst/>
            </a:prstGeom>
          </p:spPr>
          <p:txBody>
            <a:bodyPr anchor="t" rtlCol="false" tIns="0" lIns="0" bIns="0" rIns="0">
              <a:spAutoFit/>
            </a:bodyPr>
            <a:lstStyle/>
            <a:p>
              <a:pPr algn="l">
                <a:lnSpc>
                  <a:spcPts val="2400"/>
                </a:lnSpc>
                <a:spcBef>
                  <a:spcPct val="0"/>
                </a:spcBef>
              </a:pPr>
              <a:r>
                <a:rPr lang="en-US" sz="1500">
                  <a:solidFill>
                    <a:srgbClr val="000000"/>
                  </a:solidFill>
                  <a:latin typeface="Chau Philomene"/>
                  <a:ea typeface="Chau Philomene"/>
                  <a:cs typeface="Chau Philomene"/>
                  <a:sym typeface="Chau Philomene"/>
                </a:rPr>
                <a:t>Zona petik</a:t>
              </a:r>
            </a:p>
          </p:txBody>
        </p:sp>
      </p:grpSp>
      <p:sp>
        <p:nvSpPr>
          <p:cNvPr name="TextBox 10" id="10"/>
          <p:cNvSpPr txBox="true"/>
          <p:nvPr/>
        </p:nvSpPr>
        <p:spPr>
          <a:xfrm rot="0">
            <a:off x="1028700" y="971550"/>
            <a:ext cx="3582969" cy="537779"/>
          </a:xfrm>
          <a:prstGeom prst="rect">
            <a:avLst/>
          </a:prstGeom>
        </p:spPr>
        <p:txBody>
          <a:bodyPr anchor="t" rtlCol="false" tIns="0" lIns="0" bIns="0" rIns="0">
            <a:spAutoFit/>
          </a:bodyPr>
          <a:lstStyle/>
          <a:p>
            <a:pPr algn="l">
              <a:lnSpc>
                <a:spcPts val="4480"/>
              </a:lnSpc>
            </a:pPr>
            <a:r>
              <a:rPr lang="en-US" sz="3200">
                <a:solidFill>
                  <a:srgbClr val="000000"/>
                </a:solidFill>
                <a:latin typeface="DM Serif Display"/>
                <a:ea typeface="DM Serif Display"/>
                <a:cs typeface="DM Serif Display"/>
                <a:sym typeface="DM Serif Display"/>
              </a:rPr>
              <a:t>Manajemen Dataset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0000"/>
            </a:blip>
            <a:stretch>
              <a:fillRect l="0" t="0" r="0" b="0"/>
            </a:stretch>
          </a:blipFill>
        </p:spPr>
      </p:sp>
      <p:sp>
        <p:nvSpPr>
          <p:cNvPr name="Freeform 3" id="3"/>
          <p:cNvSpPr/>
          <p:nvPr/>
        </p:nvSpPr>
        <p:spPr>
          <a:xfrm flipH="false" flipV="false" rot="0">
            <a:off x="5491992" y="701700"/>
            <a:ext cx="11228019" cy="6357866"/>
          </a:xfrm>
          <a:custGeom>
            <a:avLst/>
            <a:gdLst/>
            <a:ahLst/>
            <a:cxnLst/>
            <a:rect r="r" b="b" t="t" l="l"/>
            <a:pathLst>
              <a:path h="6357866" w="11228019">
                <a:moveTo>
                  <a:pt x="0" y="0"/>
                </a:moveTo>
                <a:lnTo>
                  <a:pt x="11228019" y="0"/>
                </a:lnTo>
                <a:lnTo>
                  <a:pt x="11228019" y="6357866"/>
                </a:lnTo>
                <a:lnTo>
                  <a:pt x="0" y="6357866"/>
                </a:lnTo>
                <a:lnTo>
                  <a:pt x="0" y="0"/>
                </a:lnTo>
                <a:close/>
              </a:path>
            </a:pathLst>
          </a:custGeom>
          <a:blipFill>
            <a:blip r:embed="rId3"/>
            <a:stretch>
              <a:fillRect l="0" t="0" r="0" b="0"/>
            </a:stretch>
          </a:blipFill>
          <a:ln w="9525" cap="sq">
            <a:solidFill>
              <a:srgbClr val="000000"/>
            </a:solidFill>
            <a:prstDash val="solid"/>
            <a:miter/>
          </a:ln>
        </p:spPr>
      </p:sp>
      <p:sp>
        <p:nvSpPr>
          <p:cNvPr name="TextBox 4" id="4"/>
          <p:cNvSpPr txBox="true"/>
          <p:nvPr/>
        </p:nvSpPr>
        <p:spPr>
          <a:xfrm rot="0">
            <a:off x="2687242" y="7492535"/>
            <a:ext cx="13458516" cy="2111176"/>
          </a:xfrm>
          <a:prstGeom prst="rect">
            <a:avLst/>
          </a:prstGeom>
        </p:spPr>
        <p:txBody>
          <a:bodyPr anchor="t" rtlCol="false" tIns="0" lIns="0" bIns="0" rIns="0">
            <a:spAutoFit/>
          </a:bodyPr>
          <a:lstStyle/>
          <a:p>
            <a:pPr algn="ctr">
              <a:lnSpc>
                <a:spcPts val="2800"/>
              </a:lnSpc>
              <a:spcBef>
                <a:spcPct val="0"/>
              </a:spcBef>
            </a:pPr>
            <a:r>
              <a:rPr lang="en-US" sz="2000" spc="200">
                <a:solidFill>
                  <a:srgbClr val="000000"/>
                </a:solidFill>
                <a:latin typeface="Open Sauce"/>
                <a:ea typeface="Open Sauce"/>
                <a:cs typeface="Open Sauce"/>
                <a:sym typeface="Open Sauce"/>
              </a:rPr>
              <a:t>BAGIAN INI BE</a:t>
            </a:r>
            <a:r>
              <a:rPr lang="en-US" sz="2000" spc="200">
                <a:solidFill>
                  <a:srgbClr val="000000"/>
                </a:solidFill>
                <a:latin typeface="Open Sauce"/>
                <a:ea typeface="Open Sauce"/>
                <a:cs typeface="Open Sauce"/>
                <a:sym typeface="Open Sauce"/>
              </a:rPr>
              <a:t>RTUGAS MENGHASILKAN PREDIKSI IKLIM BERDASARKAN DATA HISTORIS MENGGUNAKAN METODE HOLT-WINTERS EXPONENTIAL SMOOTHING. SISTEM MENAMPILKAN HASIL PERAMALAN UNTUK VARIABEL SUHU UDARA, CURAH HUJAN, DAN KELEMBAPAN RELATIF, YANG MENJADI DASAR DALAM PENGAMBILAN KEPUTUSAN PERTANIAN.</a:t>
            </a:r>
          </a:p>
          <a:p>
            <a:pPr algn="l">
              <a:lnSpc>
                <a:spcPts val="2800"/>
              </a:lnSpc>
              <a:spcBef>
                <a:spcPct val="0"/>
              </a:spcBef>
            </a:pPr>
          </a:p>
        </p:txBody>
      </p:sp>
      <p:sp>
        <p:nvSpPr>
          <p:cNvPr name="TextBox 5" id="5"/>
          <p:cNvSpPr txBox="true"/>
          <p:nvPr/>
        </p:nvSpPr>
        <p:spPr>
          <a:xfrm rot="0">
            <a:off x="1028700" y="971550"/>
            <a:ext cx="3582969" cy="1099820"/>
          </a:xfrm>
          <a:prstGeom prst="rect">
            <a:avLst/>
          </a:prstGeom>
        </p:spPr>
        <p:txBody>
          <a:bodyPr anchor="t" rtlCol="false" tIns="0" lIns="0" bIns="0" rIns="0">
            <a:spAutoFit/>
          </a:bodyPr>
          <a:lstStyle/>
          <a:p>
            <a:pPr algn="l">
              <a:lnSpc>
                <a:spcPts val="4480"/>
              </a:lnSpc>
            </a:pPr>
            <a:r>
              <a:rPr lang="en-US" sz="3200">
                <a:solidFill>
                  <a:srgbClr val="000000"/>
                </a:solidFill>
                <a:latin typeface="DM Serif Display"/>
                <a:ea typeface="DM Serif Display"/>
                <a:cs typeface="DM Serif Display"/>
                <a:sym typeface="DM Serif Display"/>
              </a:rPr>
              <a:t>Sistem Peramalan Holt Winter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0000"/>
            </a:blip>
            <a:stretch>
              <a:fillRect l="0" t="0" r="0" b="0"/>
            </a:stretch>
          </a:blipFill>
        </p:spPr>
      </p:sp>
      <p:sp>
        <p:nvSpPr>
          <p:cNvPr name="Freeform 3" id="3"/>
          <p:cNvSpPr/>
          <p:nvPr/>
        </p:nvSpPr>
        <p:spPr>
          <a:xfrm flipH="false" flipV="false" rot="0">
            <a:off x="4979259" y="672570"/>
            <a:ext cx="12280041" cy="6558531"/>
          </a:xfrm>
          <a:custGeom>
            <a:avLst/>
            <a:gdLst/>
            <a:ahLst/>
            <a:cxnLst/>
            <a:rect r="r" b="b" t="t" l="l"/>
            <a:pathLst>
              <a:path h="6558531" w="12280041">
                <a:moveTo>
                  <a:pt x="0" y="0"/>
                </a:moveTo>
                <a:lnTo>
                  <a:pt x="12280041" y="0"/>
                </a:lnTo>
                <a:lnTo>
                  <a:pt x="12280041" y="6558531"/>
                </a:lnTo>
                <a:lnTo>
                  <a:pt x="0" y="6558531"/>
                </a:lnTo>
                <a:lnTo>
                  <a:pt x="0" y="0"/>
                </a:lnTo>
                <a:close/>
              </a:path>
            </a:pathLst>
          </a:custGeom>
          <a:blipFill>
            <a:blip r:embed="rId3"/>
            <a:stretch>
              <a:fillRect l="0" t="0" r="0" b="-1576"/>
            </a:stretch>
          </a:blipFill>
        </p:spPr>
      </p:sp>
      <p:sp>
        <p:nvSpPr>
          <p:cNvPr name="TextBox 4" id="4"/>
          <p:cNvSpPr txBox="true"/>
          <p:nvPr/>
        </p:nvSpPr>
        <p:spPr>
          <a:xfrm rot="0">
            <a:off x="3755443" y="8217447"/>
            <a:ext cx="11779915" cy="1564005"/>
          </a:xfrm>
          <a:prstGeom prst="rect">
            <a:avLst/>
          </a:prstGeom>
        </p:spPr>
        <p:txBody>
          <a:bodyPr anchor="t" rtlCol="false" tIns="0" lIns="0" bIns="0" rIns="0">
            <a:spAutoFit/>
          </a:bodyPr>
          <a:lstStyle/>
          <a:p>
            <a:pPr algn="ctr">
              <a:lnSpc>
                <a:spcPts val="2520"/>
              </a:lnSpc>
              <a:spcBef>
                <a:spcPct val="0"/>
              </a:spcBef>
            </a:pPr>
            <a:r>
              <a:rPr lang="en-US" sz="1800" spc="179">
                <a:solidFill>
                  <a:srgbClr val="000000"/>
                </a:solidFill>
                <a:latin typeface="Open Sauce"/>
                <a:ea typeface="Open Sauce"/>
                <a:cs typeface="Open Sauce"/>
                <a:sym typeface="Open Sauce"/>
              </a:rPr>
              <a:t>HASIL PE</a:t>
            </a:r>
            <a:r>
              <a:rPr lang="en-US" sz="1800" spc="179">
                <a:solidFill>
                  <a:srgbClr val="000000"/>
                </a:solidFill>
                <a:latin typeface="Open Sauce"/>
                <a:ea typeface="Open Sauce"/>
                <a:cs typeface="Open Sauce"/>
                <a:sym typeface="Open Sauce"/>
              </a:rPr>
              <a:t>RAMALAN DIOLAH MENJADI KALENDER TANAM YANG MENAMPILKAN PERIODE IDEAL PENANAMAN DAN MASA BERA. INFORMASI INI DISUSUN DALAM BENTUK TABEL YANG MUDAH DIPAHAMI, MEMBANTU PETANI MENYESUAIKAN WAKTU TANAM BERDASARKAN KONDISI IKLIM YANG DIPREDIKSI.</a:t>
            </a:r>
          </a:p>
          <a:p>
            <a:pPr algn="ctr">
              <a:lnSpc>
                <a:spcPts val="2520"/>
              </a:lnSpc>
              <a:spcBef>
                <a:spcPct val="0"/>
              </a:spcBef>
            </a:pPr>
          </a:p>
        </p:txBody>
      </p:sp>
      <p:sp>
        <p:nvSpPr>
          <p:cNvPr name="TextBox 5" id="5"/>
          <p:cNvSpPr txBox="true"/>
          <p:nvPr/>
        </p:nvSpPr>
        <p:spPr>
          <a:xfrm rot="0">
            <a:off x="1028700" y="971550"/>
            <a:ext cx="3582969" cy="537845"/>
          </a:xfrm>
          <a:prstGeom prst="rect">
            <a:avLst/>
          </a:prstGeom>
        </p:spPr>
        <p:txBody>
          <a:bodyPr anchor="t" rtlCol="false" tIns="0" lIns="0" bIns="0" rIns="0">
            <a:spAutoFit/>
          </a:bodyPr>
          <a:lstStyle/>
          <a:p>
            <a:pPr algn="l">
              <a:lnSpc>
                <a:spcPts val="4480"/>
              </a:lnSpc>
            </a:pPr>
            <a:r>
              <a:rPr lang="en-US" sz="3200">
                <a:solidFill>
                  <a:srgbClr val="000000"/>
                </a:solidFill>
                <a:latin typeface="DM Serif Display"/>
                <a:ea typeface="DM Serif Display"/>
                <a:cs typeface="DM Serif Display"/>
                <a:sym typeface="DM Serif Display"/>
              </a:rPr>
              <a:t>Kalender Tanam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957093" y="1224333"/>
            <a:ext cx="9594376" cy="7838334"/>
          </a:xfrm>
          <a:custGeom>
            <a:avLst/>
            <a:gdLst/>
            <a:ahLst/>
            <a:cxnLst/>
            <a:rect r="r" b="b" t="t" l="l"/>
            <a:pathLst>
              <a:path h="7838334" w="9594376">
                <a:moveTo>
                  <a:pt x="0" y="0"/>
                </a:moveTo>
                <a:lnTo>
                  <a:pt x="9594376" y="0"/>
                </a:lnTo>
                <a:lnTo>
                  <a:pt x="9594376" y="7838334"/>
                </a:lnTo>
                <a:lnTo>
                  <a:pt x="0" y="7838334"/>
                </a:lnTo>
                <a:lnTo>
                  <a:pt x="0" y="0"/>
                </a:lnTo>
                <a:close/>
              </a:path>
            </a:pathLst>
          </a:custGeom>
          <a:blipFill>
            <a:blip r:embed="rId2"/>
            <a:stretch>
              <a:fillRect l="0" t="0" r="0" b="0"/>
            </a:stretch>
          </a:blipFill>
        </p:spPr>
      </p:sp>
      <p:sp>
        <p:nvSpPr>
          <p:cNvPr name="Freeform 3" id="3"/>
          <p:cNvSpPr/>
          <p:nvPr/>
        </p:nvSpPr>
        <p:spPr>
          <a:xfrm flipH="false" flipV="false" rot="0">
            <a:off x="1028700" y="1857627"/>
            <a:ext cx="5350563" cy="7400673"/>
          </a:xfrm>
          <a:custGeom>
            <a:avLst/>
            <a:gdLst/>
            <a:ahLst/>
            <a:cxnLst/>
            <a:rect r="r" b="b" t="t" l="l"/>
            <a:pathLst>
              <a:path h="7400673" w="5350563">
                <a:moveTo>
                  <a:pt x="0" y="0"/>
                </a:moveTo>
                <a:lnTo>
                  <a:pt x="5350563" y="0"/>
                </a:lnTo>
                <a:lnTo>
                  <a:pt x="5350563" y="7400673"/>
                </a:lnTo>
                <a:lnTo>
                  <a:pt x="0" y="7400673"/>
                </a:lnTo>
                <a:lnTo>
                  <a:pt x="0" y="0"/>
                </a:lnTo>
                <a:close/>
              </a:path>
            </a:pathLst>
          </a:custGeom>
          <a:blipFill>
            <a:blip r:embed="rId3"/>
            <a:stretch>
              <a:fillRect l="0" t="0" r="0" b="0"/>
            </a:stretch>
          </a:blipFill>
        </p:spPr>
      </p:sp>
      <p:sp>
        <p:nvSpPr>
          <p:cNvPr name="TextBox 4" id="4"/>
          <p:cNvSpPr txBox="true"/>
          <p:nvPr/>
        </p:nvSpPr>
        <p:spPr>
          <a:xfrm rot="0">
            <a:off x="1028700" y="971550"/>
            <a:ext cx="3648196" cy="537779"/>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DM Serif Display"/>
                <a:ea typeface="DM Serif Display"/>
                <a:cs typeface="DM Serif Display"/>
                <a:sym typeface="DM Serif Display"/>
              </a:rPr>
              <a:t>Activity Diagram</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18794" y="1193628"/>
            <a:ext cx="17869206" cy="7842594"/>
          </a:xfrm>
          <a:prstGeom prst="rect">
            <a:avLst/>
          </a:prstGeom>
        </p:spPr>
        <p:txBody>
          <a:bodyPr anchor="t" rtlCol="false" tIns="0" lIns="0" bIns="0" rIns="0">
            <a:spAutoFit/>
          </a:bodyPr>
          <a:lstStyle/>
          <a:p>
            <a:pPr algn="l">
              <a:lnSpc>
                <a:spcPts val="4480"/>
              </a:lnSpc>
              <a:spcBef>
                <a:spcPct val="0"/>
              </a:spcBef>
            </a:pPr>
            <a:r>
              <a:rPr lang="en-US" sz="3200">
                <a:solidFill>
                  <a:srgbClr val="000000"/>
                </a:solidFill>
                <a:latin typeface="Canva Sans"/>
                <a:ea typeface="Canva Sans"/>
                <a:cs typeface="Canva Sans"/>
                <a:sym typeface="Canva Sans"/>
              </a:rPr>
              <a:t>🖥️ Sistem</a:t>
            </a:r>
          </a:p>
          <a:p>
            <a:pPr algn="l">
              <a:lnSpc>
                <a:spcPts val="4480"/>
              </a:lnSpc>
              <a:spcBef>
                <a:spcPct val="0"/>
              </a:spcBef>
            </a:pPr>
            <a:r>
              <a:rPr lang="en-US" sz="3200">
                <a:solidFill>
                  <a:srgbClr val="000000"/>
                </a:solidFill>
                <a:latin typeface="Canva Sans"/>
                <a:ea typeface="Canva Sans"/>
                <a:cs typeface="Canva Sans"/>
                <a:sym typeface="Canva Sans"/>
              </a:rPr>
              <a:t>1.Mulai → proses sistem dimulai.</a:t>
            </a:r>
          </a:p>
          <a:p>
            <a:pPr algn="l">
              <a:lnSpc>
                <a:spcPts val="4480"/>
              </a:lnSpc>
              <a:spcBef>
                <a:spcPct val="0"/>
              </a:spcBef>
            </a:pPr>
            <a:r>
              <a:rPr lang="en-US" sz="3200">
                <a:solidFill>
                  <a:srgbClr val="000000"/>
                </a:solidFill>
                <a:latin typeface="Canva Sans"/>
                <a:ea typeface="Canva Sans"/>
                <a:cs typeface="Canva Sans"/>
                <a:sym typeface="Canva Sans"/>
              </a:rPr>
              <a:t>2.</a:t>
            </a:r>
            <a:r>
              <a:rPr lang="en-US" sz="3200">
                <a:solidFill>
                  <a:srgbClr val="000000"/>
                </a:solidFill>
                <a:latin typeface="Canva Sans"/>
                <a:ea typeface="Canva Sans"/>
                <a:cs typeface="Canva Sans"/>
                <a:sym typeface="Canva Sans"/>
              </a:rPr>
              <a:t>Fetch/Download Dataset → sistem mengambil atau mengunduh dataset mentah dari sumber data.</a:t>
            </a:r>
          </a:p>
          <a:p>
            <a:pPr algn="l">
              <a:lnSpc>
                <a:spcPts val="4480"/>
              </a:lnSpc>
              <a:spcBef>
                <a:spcPct val="0"/>
              </a:spcBef>
            </a:pPr>
            <a:r>
              <a:rPr lang="en-US" sz="3200">
                <a:solidFill>
                  <a:srgbClr val="000000"/>
                </a:solidFill>
                <a:latin typeface="Canva Sans"/>
                <a:ea typeface="Canva Sans"/>
                <a:cs typeface="Canva Sans"/>
                <a:sym typeface="Canva Sans"/>
              </a:rPr>
              <a:t>3. Simpan ke Database (RAW) → hasil unduhan disimpan ke basis data dalam status RAW (belum diproses).</a:t>
            </a:r>
          </a:p>
          <a:p>
            <a:pPr algn="l">
              <a:lnSpc>
                <a:spcPts val="4480"/>
              </a:lnSpc>
              <a:spcBef>
                <a:spcPct val="0"/>
              </a:spcBef>
            </a:pPr>
            <a:r>
              <a:rPr lang="en-US" sz="3200">
                <a:solidFill>
                  <a:srgbClr val="000000"/>
                </a:solidFill>
                <a:latin typeface="Canva Sans"/>
                <a:ea typeface="Canva Sans"/>
                <a:cs typeface="Canva Sans"/>
                <a:sym typeface="Canva Sans"/>
              </a:rPr>
              <a:t>4.Preprocessing Data → sistem melakukan pra-pemrosesan (pembersihan, normalisasi, dan filtering data).</a:t>
            </a:r>
          </a:p>
          <a:p>
            <a:pPr algn="l">
              <a:lnSpc>
                <a:spcPts val="4480"/>
              </a:lnSpc>
              <a:spcBef>
                <a:spcPct val="0"/>
              </a:spcBef>
            </a:pPr>
            <a:r>
              <a:rPr lang="en-US" sz="3200">
                <a:solidFill>
                  <a:srgbClr val="000000"/>
                </a:solidFill>
                <a:latin typeface="Canva Sans"/>
                <a:ea typeface="Canva Sans"/>
                <a:cs typeface="Canva Sans"/>
                <a:sym typeface="Canva Sans"/>
              </a:rPr>
              <a:t>5. Apakah Data Bersih?</a:t>
            </a:r>
          </a:p>
          <a:p>
            <a:pPr algn="l">
              <a:lnSpc>
                <a:spcPts val="4480"/>
              </a:lnSpc>
              <a:spcBef>
                <a:spcPct val="0"/>
              </a:spcBef>
            </a:pPr>
            <a:r>
              <a:rPr lang="en-US" b="true" sz="3200">
                <a:solidFill>
                  <a:srgbClr val="000000"/>
                </a:solidFill>
                <a:latin typeface="Canva Sans Bold"/>
                <a:ea typeface="Canva Sans Bold"/>
                <a:cs typeface="Canva Sans Bold"/>
                <a:sym typeface="Canva Sans Bold"/>
              </a:rPr>
              <a:t>Tidak → sistem kembali melakukan proses preprocessing hingga bersih.</a:t>
            </a:r>
          </a:p>
          <a:p>
            <a:pPr algn="l">
              <a:lnSpc>
                <a:spcPts val="4480"/>
              </a:lnSpc>
              <a:spcBef>
                <a:spcPct val="0"/>
              </a:spcBef>
            </a:pPr>
            <a:r>
              <a:rPr lang="en-US" b="true" sz="3200">
                <a:solidFill>
                  <a:srgbClr val="000000"/>
                </a:solidFill>
                <a:latin typeface="Canva Sans Bold"/>
                <a:ea typeface="Canva Sans Bold"/>
                <a:cs typeface="Canva Sans Bold"/>
                <a:sym typeface="Canva Sans Bold"/>
              </a:rPr>
              <a:t>Ya → lanjut ke tahap berikutnya.</a:t>
            </a:r>
          </a:p>
          <a:p>
            <a:pPr algn="l">
              <a:lnSpc>
                <a:spcPts val="4480"/>
              </a:lnSpc>
              <a:spcBef>
                <a:spcPct val="0"/>
              </a:spcBef>
            </a:pPr>
            <a:r>
              <a:rPr lang="en-US" sz="3200">
                <a:solidFill>
                  <a:srgbClr val="000000"/>
                </a:solidFill>
                <a:latin typeface="Canva Sans"/>
                <a:ea typeface="Canva Sans"/>
                <a:cs typeface="Canva Sans"/>
                <a:sym typeface="Canva Sans"/>
              </a:rPr>
              <a:t>6. Simpan ke Database (Cleaned) → data hasil pra-pemrosesan disimpan ke database dalam bentuk cleaned dataset.</a:t>
            </a:r>
          </a:p>
          <a:p>
            <a:pPr algn="l">
              <a:lnSpc>
                <a:spcPts val="4480"/>
              </a:lnSpc>
              <a:spcBef>
                <a:spcPct val="0"/>
              </a:spcBef>
            </a:pPr>
            <a:r>
              <a:rPr lang="en-US" sz="3200">
                <a:solidFill>
                  <a:srgbClr val="000000"/>
                </a:solidFill>
                <a:latin typeface="Canva Sans"/>
                <a:ea typeface="Canva Sans"/>
                <a:cs typeface="Canva Sans"/>
                <a:sym typeface="Canva Sans"/>
              </a:rPr>
              <a:t>7. Jalankan Otomasi → sistem menjalankan otomatisasi proses sesuai jadwal dari admin</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08978" y="625360"/>
            <a:ext cx="16950322" cy="4336050"/>
          </a:xfrm>
          <a:prstGeom prst="rect">
            <a:avLst/>
          </a:prstGeom>
        </p:spPr>
        <p:txBody>
          <a:bodyPr anchor="t" rtlCol="false" tIns="0" lIns="0" bIns="0" rIns="0">
            <a:spAutoFit/>
          </a:bodyPr>
          <a:lstStyle/>
          <a:p>
            <a:pPr algn="just">
              <a:lnSpc>
                <a:spcPts val="3870"/>
              </a:lnSpc>
              <a:spcBef>
                <a:spcPct val="0"/>
              </a:spcBef>
            </a:pPr>
            <a:r>
              <a:rPr lang="en-US" sz="2764">
                <a:solidFill>
                  <a:srgbClr val="000000"/>
                </a:solidFill>
                <a:latin typeface="Canva Sans"/>
                <a:ea typeface="Canva Sans"/>
                <a:cs typeface="Canva Sans"/>
                <a:sym typeface="Canva Sans"/>
              </a:rPr>
              <a:t>👤</a:t>
            </a:r>
            <a:r>
              <a:rPr lang="en-US" sz="2764">
                <a:solidFill>
                  <a:srgbClr val="000000"/>
                </a:solidFill>
                <a:latin typeface="Canva Sans"/>
                <a:ea typeface="Canva Sans"/>
                <a:cs typeface="Canva Sans"/>
                <a:sym typeface="Canva Sans"/>
              </a:rPr>
              <a:t> 2. Admin</a:t>
            </a:r>
          </a:p>
          <a:p>
            <a:pPr algn="just" marL="596922" indent="-298461" lvl="1">
              <a:lnSpc>
                <a:spcPts val="3870"/>
              </a:lnSpc>
              <a:spcBef>
                <a:spcPct val="0"/>
              </a:spcBef>
              <a:buAutoNum type="arabicPeriod" startAt="1"/>
            </a:pPr>
            <a:r>
              <a:rPr lang="en-US" sz="2764">
                <a:solidFill>
                  <a:srgbClr val="000000"/>
                </a:solidFill>
                <a:latin typeface="Canva Sans"/>
                <a:ea typeface="Canva Sans"/>
                <a:cs typeface="Canva Sans"/>
                <a:sym typeface="Canva Sans"/>
              </a:rPr>
              <a:t>Mulai → admin memulai aktivitasnya.</a:t>
            </a:r>
          </a:p>
          <a:p>
            <a:pPr algn="just" marL="596922" indent="-298461" lvl="1">
              <a:lnSpc>
                <a:spcPts val="3870"/>
              </a:lnSpc>
              <a:spcBef>
                <a:spcPct val="0"/>
              </a:spcBef>
              <a:buAutoNum type="arabicPeriod" startAt="1"/>
            </a:pPr>
            <a:r>
              <a:rPr lang="en-US" sz="2764">
                <a:solidFill>
                  <a:srgbClr val="000000"/>
                </a:solidFill>
                <a:latin typeface="Canva Sans"/>
                <a:ea typeface="Canva Sans"/>
                <a:cs typeface="Canva Sans"/>
                <a:sym typeface="Canva Sans"/>
              </a:rPr>
              <a:t>Login → admin masuk ke sistem.</a:t>
            </a:r>
          </a:p>
          <a:p>
            <a:pPr algn="just" marL="596922" indent="-298461" lvl="1">
              <a:lnSpc>
                <a:spcPts val="3870"/>
              </a:lnSpc>
              <a:spcBef>
                <a:spcPct val="0"/>
              </a:spcBef>
              <a:buAutoNum type="arabicPeriod" startAt="1"/>
            </a:pPr>
            <a:r>
              <a:rPr lang="en-US" sz="2764">
                <a:solidFill>
                  <a:srgbClr val="000000"/>
                </a:solidFill>
                <a:latin typeface="Canva Sans"/>
                <a:ea typeface="Canva Sans"/>
                <a:cs typeface="Canva Sans"/>
                <a:sym typeface="Canva Sans"/>
              </a:rPr>
              <a:t>Otentikasi</a:t>
            </a:r>
          </a:p>
          <a:p>
            <a:pPr algn="just" marL="1193845" indent="-397948" lvl="2">
              <a:lnSpc>
                <a:spcPts val="3870"/>
              </a:lnSpc>
              <a:spcBef>
                <a:spcPct val="0"/>
              </a:spcBef>
              <a:buFont typeface="Arial"/>
              <a:buChar char="⚬"/>
            </a:pPr>
            <a:r>
              <a:rPr lang="en-US" sz="2764">
                <a:solidFill>
                  <a:srgbClr val="000000"/>
                </a:solidFill>
                <a:latin typeface="Canva Sans"/>
                <a:ea typeface="Canva Sans"/>
                <a:cs typeface="Canva Sans"/>
                <a:sym typeface="Canva Sans"/>
              </a:rPr>
              <a:t>Tidak berhasil → kembali ke proses Login.</a:t>
            </a:r>
          </a:p>
          <a:p>
            <a:pPr algn="just" marL="1193845" indent="-397948" lvl="2">
              <a:lnSpc>
                <a:spcPts val="3870"/>
              </a:lnSpc>
              <a:spcBef>
                <a:spcPct val="0"/>
              </a:spcBef>
              <a:buFont typeface="Arial"/>
              <a:buChar char="⚬"/>
            </a:pPr>
            <a:r>
              <a:rPr lang="en-US" sz="2764">
                <a:solidFill>
                  <a:srgbClr val="000000"/>
                </a:solidFill>
                <a:latin typeface="Canva Sans"/>
                <a:ea typeface="Canva Sans"/>
                <a:cs typeface="Canva Sans"/>
                <a:sym typeface="Canva Sans"/>
              </a:rPr>
              <a:t>Berhasil → lanjut ke penjadwalan.</a:t>
            </a:r>
          </a:p>
          <a:p>
            <a:pPr algn="just" marL="596922" indent="-298461" lvl="1">
              <a:lnSpc>
                <a:spcPts val="3870"/>
              </a:lnSpc>
              <a:spcBef>
                <a:spcPct val="0"/>
              </a:spcBef>
              <a:buAutoNum type="arabicPeriod" startAt="1"/>
            </a:pPr>
            <a:r>
              <a:rPr lang="en-US" sz="2764">
                <a:solidFill>
                  <a:srgbClr val="000000"/>
                </a:solidFill>
                <a:latin typeface="Canva Sans"/>
                <a:ea typeface="Canva Sans"/>
                <a:cs typeface="Canva Sans"/>
                <a:sym typeface="Canva Sans"/>
              </a:rPr>
              <a:t>Jadwalkan Otomasi → admin mengatur jadwal untuk menjalankan otomatisasi preprocessing data.</a:t>
            </a:r>
          </a:p>
          <a:p>
            <a:pPr algn="just">
              <a:lnSpc>
                <a:spcPts val="3870"/>
              </a:lnSpc>
              <a:spcBef>
                <a:spcPct val="0"/>
              </a:spcBef>
            </a:pPr>
          </a:p>
        </p:txBody>
      </p:sp>
      <p:sp>
        <p:nvSpPr>
          <p:cNvPr name="TextBox 3" id="3"/>
          <p:cNvSpPr txBox="true"/>
          <p:nvPr/>
        </p:nvSpPr>
        <p:spPr>
          <a:xfrm rot="0">
            <a:off x="308978" y="5249928"/>
            <a:ext cx="16950322" cy="3752332"/>
          </a:xfrm>
          <a:prstGeom prst="rect">
            <a:avLst/>
          </a:prstGeom>
        </p:spPr>
        <p:txBody>
          <a:bodyPr anchor="t" rtlCol="false" tIns="0" lIns="0" bIns="0" rIns="0">
            <a:spAutoFit/>
          </a:bodyPr>
          <a:lstStyle/>
          <a:p>
            <a:pPr algn="l">
              <a:lnSpc>
                <a:spcPts val="4297"/>
              </a:lnSpc>
              <a:spcBef>
                <a:spcPct val="0"/>
              </a:spcBef>
            </a:pPr>
            <a:r>
              <a:rPr lang="en-US" sz="3069">
                <a:solidFill>
                  <a:srgbClr val="000000"/>
                </a:solidFill>
                <a:latin typeface="Canva Sans"/>
                <a:ea typeface="Canva Sans"/>
                <a:cs typeface="Canva Sans"/>
                <a:sym typeface="Canva Sans"/>
              </a:rPr>
              <a:t>📊 Dataset</a:t>
            </a:r>
          </a:p>
          <a:p>
            <a:pPr algn="l">
              <a:lnSpc>
                <a:spcPts val="4297"/>
              </a:lnSpc>
              <a:spcBef>
                <a:spcPct val="0"/>
              </a:spcBef>
            </a:pPr>
            <a:r>
              <a:rPr lang="en-US" sz="3069">
                <a:solidFill>
                  <a:srgbClr val="000000"/>
                </a:solidFill>
                <a:latin typeface="Canva Sans"/>
                <a:ea typeface="Canva Sans"/>
                <a:cs typeface="Canva Sans"/>
                <a:sym typeface="Canva Sans"/>
              </a:rPr>
              <a:t>1.Mulai → proses dataset dimulai.</a:t>
            </a:r>
          </a:p>
          <a:p>
            <a:pPr algn="l">
              <a:lnSpc>
                <a:spcPts val="4297"/>
              </a:lnSpc>
              <a:spcBef>
                <a:spcPct val="0"/>
              </a:spcBef>
            </a:pPr>
            <a:r>
              <a:rPr lang="en-US" sz="3069">
                <a:solidFill>
                  <a:srgbClr val="000000"/>
                </a:solidFill>
                <a:latin typeface="Canva Sans"/>
                <a:ea typeface="Canva Sans"/>
                <a:cs typeface="Canva Sans"/>
                <a:sym typeface="Canva Sans"/>
              </a:rPr>
              <a:t>2. </a:t>
            </a:r>
            <a:r>
              <a:rPr lang="en-US" sz="3069">
                <a:solidFill>
                  <a:srgbClr val="000000"/>
                </a:solidFill>
                <a:latin typeface="Canva Sans"/>
                <a:ea typeface="Canva Sans"/>
                <a:cs typeface="Canva Sans"/>
                <a:sym typeface="Canva Sans"/>
              </a:rPr>
              <a:t>Dataset-Meta → sistem membaca metadata dari dataset (misal: sumber, versi, dan waktu update).</a:t>
            </a:r>
          </a:p>
          <a:p>
            <a:pPr algn="l">
              <a:lnSpc>
                <a:spcPts val="4297"/>
              </a:lnSpc>
              <a:spcBef>
                <a:spcPct val="0"/>
              </a:spcBef>
            </a:pPr>
            <a:r>
              <a:rPr lang="en-US" sz="3069">
                <a:solidFill>
                  <a:srgbClr val="000000"/>
                </a:solidFill>
                <a:latin typeface="Canva Sans"/>
                <a:ea typeface="Canva Sans"/>
                <a:cs typeface="Canva Sans"/>
                <a:sym typeface="Canva Sans"/>
              </a:rPr>
              <a:t>3. Auto Fetching → sistem mengambil data terbaru secara otomatis dari sumber.</a:t>
            </a:r>
          </a:p>
          <a:p>
            <a:pPr algn="l">
              <a:lnSpc>
                <a:spcPts val="4297"/>
              </a:lnSpc>
              <a:spcBef>
                <a:spcPct val="0"/>
              </a:spcBef>
            </a:pPr>
            <a:r>
              <a:rPr lang="en-US" sz="3069">
                <a:solidFill>
                  <a:srgbClr val="000000"/>
                </a:solidFill>
                <a:latin typeface="Canva Sans"/>
                <a:ea typeface="Canva Sans"/>
                <a:cs typeface="Canva Sans"/>
                <a:sym typeface="Canva Sans"/>
              </a:rPr>
              <a:t>4. Dataset-Updated → hasil pembaruan dataset dikirim atau disimpan kembali untuk diproses ulang oleh sistem.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0000"/>
            </a:blip>
            <a:stretch>
              <a:fillRect l="0" t="0" r="0" b="0"/>
            </a:stretch>
          </a:blipFill>
        </p:spPr>
      </p:sp>
      <p:sp>
        <p:nvSpPr>
          <p:cNvPr name="Freeform 3" id="3"/>
          <p:cNvSpPr/>
          <p:nvPr/>
        </p:nvSpPr>
        <p:spPr>
          <a:xfrm flipH="false" flipV="false" rot="0">
            <a:off x="4887525" y="767435"/>
            <a:ext cx="10698062" cy="6160076"/>
          </a:xfrm>
          <a:custGeom>
            <a:avLst/>
            <a:gdLst/>
            <a:ahLst/>
            <a:cxnLst/>
            <a:rect r="r" b="b" t="t" l="l"/>
            <a:pathLst>
              <a:path h="6160076" w="10698062">
                <a:moveTo>
                  <a:pt x="0" y="0"/>
                </a:moveTo>
                <a:lnTo>
                  <a:pt x="10698062" y="0"/>
                </a:lnTo>
                <a:lnTo>
                  <a:pt x="10698062" y="6160076"/>
                </a:lnTo>
                <a:lnTo>
                  <a:pt x="0" y="6160076"/>
                </a:lnTo>
                <a:lnTo>
                  <a:pt x="0" y="0"/>
                </a:lnTo>
                <a:close/>
              </a:path>
            </a:pathLst>
          </a:custGeom>
          <a:blipFill>
            <a:blip r:embed="rId3"/>
            <a:stretch>
              <a:fillRect l="0" t="0" r="0" b="0"/>
            </a:stretch>
          </a:blipFill>
        </p:spPr>
      </p:sp>
      <p:sp>
        <p:nvSpPr>
          <p:cNvPr name="TextBox 4" id="4"/>
          <p:cNvSpPr txBox="true"/>
          <p:nvPr/>
        </p:nvSpPr>
        <p:spPr>
          <a:xfrm rot="0">
            <a:off x="2687242" y="7492535"/>
            <a:ext cx="13458516" cy="1758950"/>
          </a:xfrm>
          <a:prstGeom prst="rect">
            <a:avLst/>
          </a:prstGeom>
        </p:spPr>
        <p:txBody>
          <a:bodyPr anchor="t" rtlCol="false" tIns="0" lIns="0" bIns="0" rIns="0">
            <a:spAutoFit/>
          </a:bodyPr>
          <a:lstStyle/>
          <a:p>
            <a:pPr algn="ctr">
              <a:lnSpc>
                <a:spcPts val="2800"/>
              </a:lnSpc>
              <a:spcBef>
                <a:spcPct val="0"/>
              </a:spcBef>
            </a:pPr>
            <a:r>
              <a:rPr lang="en-US" sz="2000" spc="200">
                <a:solidFill>
                  <a:srgbClr val="000000"/>
                </a:solidFill>
                <a:latin typeface="Open Sauce"/>
                <a:ea typeface="Open Sauce"/>
                <a:cs typeface="Open Sauce"/>
                <a:sym typeface="Open Sauce"/>
              </a:rPr>
              <a:t>BAGIAN INI BE</a:t>
            </a:r>
            <a:r>
              <a:rPr lang="en-US" sz="2000" spc="200">
                <a:solidFill>
                  <a:srgbClr val="000000"/>
                </a:solidFill>
                <a:latin typeface="Open Sauce"/>
                <a:ea typeface="Open Sauce"/>
                <a:cs typeface="Open Sauce"/>
                <a:sym typeface="Open Sauce"/>
              </a:rPr>
              <a:t>RTUGAS MENGHASILKAN PREDIKSI IKLIM BERDASARKAN DATA HISTORIS MENGGUNAKAN METODE </a:t>
            </a:r>
            <a:r>
              <a:rPr lang="en-US" sz="2000" i="true" spc="200">
                <a:solidFill>
                  <a:srgbClr val="000000"/>
                </a:solidFill>
                <a:latin typeface="Open Sauce Italics"/>
                <a:ea typeface="Open Sauce Italics"/>
                <a:cs typeface="Open Sauce Italics"/>
                <a:sym typeface="Open Sauce Italics"/>
              </a:rPr>
              <a:t>LONG SHORT-TERM MEMORY </a:t>
            </a:r>
            <a:r>
              <a:rPr lang="en-US" sz="2000" spc="200">
                <a:solidFill>
                  <a:srgbClr val="000000"/>
                </a:solidFill>
                <a:latin typeface="Open Sauce"/>
                <a:ea typeface="Open Sauce"/>
                <a:cs typeface="Open Sauce"/>
                <a:sym typeface="Open Sauce"/>
              </a:rPr>
              <a:t>(LSTM). SISTEM MENAMPILKAN HASIL PERAMALAN UNTUK VARIABEL SUHU UDARA, CURAH HUJAN, DAN KELEMBAPAN RELATIF, YANG MENJADI DASAR DALAM PENGAMBILAN KEPUTUSAN PERTANIAN.</a:t>
            </a:r>
          </a:p>
          <a:p>
            <a:pPr algn="l">
              <a:lnSpc>
                <a:spcPts val="2800"/>
              </a:lnSpc>
              <a:spcBef>
                <a:spcPct val="0"/>
              </a:spcBef>
            </a:pPr>
          </a:p>
        </p:txBody>
      </p:sp>
      <p:sp>
        <p:nvSpPr>
          <p:cNvPr name="TextBox 5" id="5"/>
          <p:cNvSpPr txBox="true"/>
          <p:nvPr/>
        </p:nvSpPr>
        <p:spPr>
          <a:xfrm rot="0">
            <a:off x="1028700" y="971550"/>
            <a:ext cx="3582969" cy="1099820"/>
          </a:xfrm>
          <a:prstGeom prst="rect">
            <a:avLst/>
          </a:prstGeom>
        </p:spPr>
        <p:txBody>
          <a:bodyPr anchor="t" rtlCol="false" tIns="0" lIns="0" bIns="0" rIns="0">
            <a:spAutoFit/>
          </a:bodyPr>
          <a:lstStyle/>
          <a:p>
            <a:pPr algn="l">
              <a:lnSpc>
                <a:spcPts val="4480"/>
              </a:lnSpc>
            </a:pPr>
            <a:r>
              <a:rPr lang="en-US" sz="3200">
                <a:solidFill>
                  <a:srgbClr val="000000"/>
                </a:solidFill>
                <a:latin typeface="DM Serif Display"/>
                <a:ea typeface="DM Serif Display"/>
                <a:cs typeface="DM Serif Display"/>
                <a:sym typeface="DM Serif Display"/>
              </a:rPr>
              <a:t>Sistem Peramalan LSTM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0000"/>
            </a:blip>
            <a:stretch>
              <a:fillRect l="0" t="0" r="0" b="0"/>
            </a:stretch>
          </a:blipFill>
        </p:spPr>
      </p:sp>
      <p:sp>
        <p:nvSpPr>
          <p:cNvPr name="Freeform 3" id="3"/>
          <p:cNvSpPr/>
          <p:nvPr/>
        </p:nvSpPr>
        <p:spPr>
          <a:xfrm flipH="false" flipV="false" rot="0">
            <a:off x="4882314" y="1028700"/>
            <a:ext cx="11862015" cy="5921735"/>
          </a:xfrm>
          <a:custGeom>
            <a:avLst/>
            <a:gdLst/>
            <a:ahLst/>
            <a:cxnLst/>
            <a:rect r="r" b="b" t="t" l="l"/>
            <a:pathLst>
              <a:path h="5921735" w="11862015">
                <a:moveTo>
                  <a:pt x="0" y="0"/>
                </a:moveTo>
                <a:lnTo>
                  <a:pt x="11862014" y="0"/>
                </a:lnTo>
                <a:lnTo>
                  <a:pt x="11862014" y="5921735"/>
                </a:lnTo>
                <a:lnTo>
                  <a:pt x="0" y="5921735"/>
                </a:lnTo>
                <a:lnTo>
                  <a:pt x="0" y="0"/>
                </a:lnTo>
                <a:close/>
              </a:path>
            </a:pathLst>
          </a:custGeom>
          <a:blipFill>
            <a:blip r:embed="rId3"/>
            <a:stretch>
              <a:fillRect l="0" t="0" r="0" b="0"/>
            </a:stretch>
          </a:blipFill>
        </p:spPr>
      </p:sp>
      <p:sp>
        <p:nvSpPr>
          <p:cNvPr name="TextBox 4" id="4"/>
          <p:cNvSpPr txBox="true"/>
          <p:nvPr/>
        </p:nvSpPr>
        <p:spPr>
          <a:xfrm rot="0">
            <a:off x="3755443" y="8217447"/>
            <a:ext cx="11779915" cy="1249680"/>
          </a:xfrm>
          <a:prstGeom prst="rect">
            <a:avLst/>
          </a:prstGeom>
        </p:spPr>
        <p:txBody>
          <a:bodyPr anchor="t" rtlCol="false" tIns="0" lIns="0" bIns="0" rIns="0">
            <a:spAutoFit/>
          </a:bodyPr>
          <a:lstStyle/>
          <a:p>
            <a:pPr algn="ctr">
              <a:lnSpc>
                <a:spcPts val="2520"/>
              </a:lnSpc>
              <a:spcBef>
                <a:spcPct val="0"/>
              </a:spcBef>
            </a:pPr>
            <a:r>
              <a:rPr lang="en-US" sz="1800" spc="179">
                <a:solidFill>
                  <a:srgbClr val="000000"/>
                </a:solidFill>
                <a:latin typeface="Open Sauce"/>
                <a:ea typeface="Open Sauce"/>
                <a:cs typeface="Open Sauce"/>
                <a:sym typeface="Open Sauce"/>
              </a:rPr>
              <a:t>BAGIAN INI BERFUNGSI UNTUK MENAMPILKAN HASIL KUESIONER PETANI DI BERBAGAI DAERAH DI ACEH. DATA AKAN MEMUNCULKAN SESUAI KATEGORI YANG ADA SEPERTI PETANI, MANAJEMEN USAHA, DAN PERIODE. DATA JUGA BISA MEMUNCULKAN GRAFIK SESUAI DENGAN JENIS ANALISISNYA.</a:t>
            </a:r>
          </a:p>
        </p:txBody>
      </p:sp>
      <p:sp>
        <p:nvSpPr>
          <p:cNvPr name="TextBox 5" id="5"/>
          <p:cNvSpPr txBox="true"/>
          <p:nvPr/>
        </p:nvSpPr>
        <p:spPr>
          <a:xfrm rot="0">
            <a:off x="1028700" y="971550"/>
            <a:ext cx="3582969" cy="537845"/>
          </a:xfrm>
          <a:prstGeom prst="rect">
            <a:avLst/>
          </a:prstGeom>
        </p:spPr>
        <p:txBody>
          <a:bodyPr anchor="t" rtlCol="false" tIns="0" lIns="0" bIns="0" rIns="0">
            <a:spAutoFit/>
          </a:bodyPr>
          <a:lstStyle/>
          <a:p>
            <a:pPr algn="l">
              <a:lnSpc>
                <a:spcPts val="4480"/>
              </a:lnSpc>
            </a:pPr>
            <a:r>
              <a:rPr lang="en-US" sz="3200">
                <a:solidFill>
                  <a:srgbClr val="000000"/>
                </a:solidFill>
                <a:latin typeface="DM Serif Display"/>
                <a:ea typeface="DM Serif Display"/>
                <a:cs typeface="DM Serif Display"/>
                <a:sym typeface="DM Serif Display"/>
              </a:rPr>
              <a:t>Kuesioner Petani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DAG2au2dKpo</dc:identifier>
  <dcterms:modified xsi:type="dcterms:W3CDTF">2011-08-01T06:04:30Z</dcterms:modified>
  <cp:revision>1</cp:revision>
  <dc:title>Black and White Simple Minimalist Pitch Deck Marketing Presentation</dc:title>
</cp:coreProperties>
</file>