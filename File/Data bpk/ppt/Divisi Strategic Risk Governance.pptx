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Bold" charset="1" panose="00000800000000000000"/>
      <p:regular r:id="rId23"/>
    </p:embeddedFont>
    <p:embeddedFont>
      <p:font typeface="Poppins Bold Italics" charset="1" panose="00000800000000000000"/>
      <p:regular r:id="rId24"/>
    </p:embeddedFont>
    <p:embeddedFont>
      <p:font typeface="Poppins" charset="1" panose="00000500000000000000"/>
      <p:regular r:id="rId25"/>
    </p:embeddedFont>
    <p:embeddedFont>
      <p:font typeface="Canva Sans" charset="1" panose="020B0503030501040103"/>
      <p:regular r:id="rId26"/>
    </p:embeddedFont>
    <p:embeddedFont>
      <p:font typeface="Muli Semi-Bold" charset="1" panose="00000700000000000000"/>
      <p:regular r:id="rId27"/>
    </p:embeddedFont>
    <p:embeddedFont>
      <p:font typeface="Muli" charset="1" panose="00000500000000000000"/>
      <p:regular r:id="rId28"/>
    </p:embeddedFont>
    <p:embeddedFont>
      <p:font typeface="Telegraf Bold" charset="1" panose="00000800000000000000"/>
      <p:regular r:id="rId29"/>
    </p:embeddedFont>
    <p:embeddedFont>
      <p:font typeface="Poppins Bold" charset="1" panose="00000800000000000000"/>
      <p:regular r:id="rId30"/>
    </p:embeddedFont>
    <p:embeddedFont>
      <p:font typeface="Open Sans" charset="1" panose="020B0606030504020204"/>
      <p:regular r:id="rId34"/>
    </p:embeddedFont>
    <p:embeddedFont>
      <p:font typeface="Open Sans Bold" charset="1" panose="020B080603050402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Policy &amp; Governance</a:t>
            </a:r>
          </a:p>
          <a:p>
            <a:r>
              <a:rPr lang="en-US"/>
              <a:t>Outcome penelitian menghasilkan rekomendasi kebijakan berbasis bukti terkait tata kelola risiko bencana. Penelitian juga mendorong terintegrasinya aspek mitigasi risiko ke dalam kebijakan perencanaan pembangunan melalui sistem informasi digital. Hasil monitoring dan evaluasi menjadi dasar dalam penyusunan rekomendasi perbaikan kebijakan Strategic Risk Governance.</a:t>
            </a:r>
          </a:p>
          <a:p>
            <a:r>
              <a:rPr lang="en-US"/>
              <a:t/>
            </a:r>
          </a:p>
          <a:p>
            <a:r>
              <a:rPr lang="en-US"/>
              <a:t>💰 Disaster Risk Financing</a:t>
            </a:r>
          </a:p>
          <a:p>
            <a:r>
              <a:rPr lang="en-US"/>
              <a:t>Penelitian mengembangkan mekanisme pendanaan bencana yang lebih efektif melalui Disaster Risk Financing and Insurance (DRFI), meliputi dana kontingensi, asuransi risiko bencana, serta model implementasi yang dapat diterapkan oleh pemerintah daerah, sektor swasta, dan masyarakat.</a:t>
            </a:r>
          </a:p>
          <a:p>
            <a:r>
              <a:rPr lang="en-US"/>
              <a:t/>
            </a:r>
          </a:p>
          <a:p>
            <a:r>
              <a:rPr lang="en-US"/>
              <a:t>Mewakili Outcome</a:t>
            </a:r>
          </a:p>
          <a:p>
            <a:r>
              <a:rPr lang="en-US"/>
              <a:t>📊 Data &amp; Predictive Analytics</a:t>
            </a:r>
          </a:p>
          <a:p>
            <a:r>
              <a:rPr lang="en-US"/>
              <a:t/>
            </a:r>
          </a:p>
          <a:p>
            <a:r>
              <a:rPr lang="en-US"/>
              <a:t>Divisi mengembangkan sistem berbasis data dan model prediktif untuk memetakan risiko bencana, termasuk pengembangan Event Loss Table serta integrasi sistem informasi manajemen risiko sebagai dasar pengambilan keputusan berbasis bukti.</a:t>
            </a:r>
          </a:p>
          <a:p>
            <a:r>
              <a:rPr lang="en-US"/>
              <a:t/>
            </a:r>
          </a:p>
          <a:p>
            <a:r>
              <a:rPr lang="en-US"/>
              <a:t>🤝 Strategic Partnership</a:t>
            </a:r>
          </a:p>
          <a:p>
            <a:r>
              <a:rPr lang="en-US"/>
              <a:t>Outcome penelitian juga diarahkan pada pembentukan kemitraan strategis dengan berbagai lembaga nasional maupun internasional, disertai program pelatihan dan workshop guna meningkatkan kapasitas institusi dalam tata kelola risiko.</a:t>
            </a:r>
          </a:p>
          <a:p>
            <a:r>
              <a:rPr lang="en-US"/>
              <a:t/>
            </a:r>
          </a:p>
          <a:p>
            <a:r>
              <a:rPr lang="en-US"/>
              <a:t>🌱 Community Capacity</a:t>
            </a:r>
          </a:p>
          <a:p>
            <a:r>
              <a:rPr lang="en-US"/>
              <a:t>Penelitian tidak hanya menghasilkan luaran akademik, tetapi juga memberikan dampak langsung kepada masyarakat melalui program sosialisasi dan edukasi manajemen risiko di berbagai kabupaten dan kota di Aceh guna meningkatkan kesiapsiagaan masyarakat terhadap bencana.</a:t>
            </a:r>
          </a:p>
          <a:p>
            <a:r>
              <a:rPr lang="en-US"/>
              <a:t/>
            </a:r>
          </a:p>
          <a:p>
            <a:r>
              <a:rPr lang="en-US"/>
              <a:t>🎓 Knowledge Development</a:t>
            </a:r>
          </a:p>
          <a:p>
            <a:r>
              <a:rPr lang="en-US"/>
              <a:t>Pengembangan pengetahuan diwujudkan melalui dokumentasi dan lesson learned dari bencana besar, seperti Gempa dan Tsunami Aceh 2004 serta Siklon Tropis Senyar 2025. Selain itu, divisi juga mendorong inisiasi pembentukan Prodi/ Departemen Aktuaria Terapan di Universitas Syiah Kuala serta penyusunan laporan evaluasi berkala mengenai efektivitas kebijakan dan program mitigasi risiko.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38.png" Type="http://schemas.openxmlformats.org/officeDocument/2006/relationships/image"/><Relationship Id="rId5" Target="../embeddings/oleObject1.bin" Type="http://schemas.openxmlformats.org/officeDocument/2006/relationships/oleObject"/><Relationship Id="rId6" Target="../media/image39.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4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43.png" Type="http://schemas.openxmlformats.org/officeDocument/2006/relationships/image"/><Relationship Id="rId5" Target="../embeddings/oleObject2.bin" Type="http://schemas.openxmlformats.org/officeDocument/2006/relationships/oleObject"/><Relationship Id="rId6" Target="../media/image8.png" Type="http://schemas.openxmlformats.org/officeDocument/2006/relationships/image"/><Relationship Id="rId7" Target="../media/image9.png" Type="http://schemas.openxmlformats.org/officeDocument/2006/relationships/image"/><Relationship Id="rId8" Target="../media/image44.png" Type="http://schemas.openxmlformats.org/officeDocument/2006/relationships/image"/><Relationship Id="rId9" Target="../media/image4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3354511" y="0"/>
            <a:ext cx="22233709" cy="10797170"/>
            <a:chOff x="0" y="0"/>
            <a:chExt cx="4574837" cy="2221640"/>
          </a:xfrm>
        </p:grpSpPr>
        <p:sp>
          <p:nvSpPr>
            <p:cNvPr name="Freeform 4" id="4"/>
            <p:cNvSpPr/>
            <p:nvPr/>
          </p:nvSpPr>
          <p:spPr>
            <a:xfrm flipH="false" flipV="false" rot="0">
              <a:off x="0" y="0"/>
              <a:ext cx="4574837" cy="2221640"/>
            </a:xfrm>
            <a:custGeom>
              <a:avLst/>
              <a:gdLst/>
              <a:ahLst/>
              <a:cxnLst/>
              <a:rect r="r" b="b" t="t" l="l"/>
              <a:pathLst>
                <a:path h="2221640" w="4574837">
                  <a:moveTo>
                    <a:pt x="6801" y="0"/>
                  </a:moveTo>
                  <a:lnTo>
                    <a:pt x="4568036" y="0"/>
                  </a:lnTo>
                  <a:cubicBezTo>
                    <a:pt x="4571792" y="0"/>
                    <a:pt x="4574837" y="3045"/>
                    <a:pt x="4574837" y="6801"/>
                  </a:cubicBezTo>
                  <a:lnTo>
                    <a:pt x="4574837" y="2214839"/>
                  </a:lnTo>
                  <a:cubicBezTo>
                    <a:pt x="4574837" y="2218595"/>
                    <a:pt x="4571792" y="2221640"/>
                    <a:pt x="4568036" y="2221640"/>
                  </a:cubicBezTo>
                  <a:lnTo>
                    <a:pt x="6801" y="2221640"/>
                  </a:lnTo>
                  <a:cubicBezTo>
                    <a:pt x="4997" y="2221640"/>
                    <a:pt x="3267" y="2220924"/>
                    <a:pt x="1992" y="2219648"/>
                  </a:cubicBezTo>
                  <a:cubicBezTo>
                    <a:pt x="717" y="2218373"/>
                    <a:pt x="0" y="2216643"/>
                    <a:pt x="0" y="2214839"/>
                  </a:cubicBezTo>
                  <a:lnTo>
                    <a:pt x="0" y="6801"/>
                  </a:lnTo>
                  <a:cubicBezTo>
                    <a:pt x="0" y="4997"/>
                    <a:pt x="717" y="3267"/>
                    <a:pt x="1992" y="1992"/>
                  </a:cubicBezTo>
                  <a:cubicBezTo>
                    <a:pt x="3267" y="717"/>
                    <a:pt x="4997" y="0"/>
                    <a:pt x="6801" y="0"/>
                  </a:cubicBezTo>
                  <a:close/>
                </a:path>
              </a:pathLst>
            </a:custGeom>
            <a:gradFill rotWithShape="true">
              <a:gsLst>
                <a:gs pos="0">
                  <a:srgbClr val="25671E">
                    <a:alpha val="100000"/>
                  </a:srgbClr>
                </a:gs>
                <a:gs pos="50000">
                  <a:srgbClr val="25671E">
                    <a:alpha val="100000"/>
                  </a:srgbClr>
                </a:gs>
                <a:gs pos="100000">
                  <a:srgbClr val="31CDAD">
                    <a:alpha val="0"/>
                  </a:srgbClr>
                </a:gs>
              </a:gsLst>
              <a:lin ang="0"/>
            </a:gradFill>
          </p:spPr>
        </p:sp>
        <p:sp>
          <p:nvSpPr>
            <p:cNvPr name="TextBox 5" id="5"/>
            <p:cNvSpPr txBox="true"/>
            <p:nvPr/>
          </p:nvSpPr>
          <p:spPr>
            <a:xfrm>
              <a:off x="0" y="-38100"/>
              <a:ext cx="4574837" cy="22597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966654" y="8336983"/>
            <a:ext cx="2297435" cy="707300"/>
            <a:chOff x="0" y="0"/>
            <a:chExt cx="1320058" cy="406400"/>
          </a:xfrm>
        </p:grpSpPr>
        <p:sp>
          <p:nvSpPr>
            <p:cNvPr name="Freeform 7" id="7"/>
            <p:cNvSpPr/>
            <p:nvPr/>
          </p:nvSpPr>
          <p:spPr>
            <a:xfrm flipH="false" flipV="false" rot="0">
              <a:off x="0" y="0"/>
              <a:ext cx="1320058" cy="406400"/>
            </a:xfrm>
            <a:custGeom>
              <a:avLst/>
              <a:gdLst/>
              <a:ahLst/>
              <a:cxnLst/>
              <a:rect r="r" b="b" t="t" l="l"/>
              <a:pathLst>
                <a:path h="406400" w="1320058">
                  <a:moveTo>
                    <a:pt x="1116858" y="0"/>
                  </a:moveTo>
                  <a:cubicBezTo>
                    <a:pt x="1229082" y="0"/>
                    <a:pt x="1320058" y="90976"/>
                    <a:pt x="1320058" y="203200"/>
                  </a:cubicBezTo>
                  <a:cubicBezTo>
                    <a:pt x="1320058" y="315424"/>
                    <a:pt x="1229082" y="406400"/>
                    <a:pt x="1116858"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8" id="8"/>
            <p:cNvSpPr txBox="true"/>
            <p:nvPr/>
          </p:nvSpPr>
          <p:spPr>
            <a:xfrm>
              <a:off x="0" y="-38100"/>
              <a:ext cx="1320058"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425738" y="8404925"/>
            <a:ext cx="571416" cy="5714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FFFF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608993" y="8550408"/>
            <a:ext cx="204905" cy="306340"/>
          </a:xfrm>
          <a:custGeom>
            <a:avLst/>
            <a:gdLst/>
            <a:ahLst/>
            <a:cxnLst/>
            <a:rect r="r" b="b" t="t" l="l"/>
            <a:pathLst>
              <a:path h="306340" w="204905">
                <a:moveTo>
                  <a:pt x="0" y="0"/>
                </a:moveTo>
                <a:lnTo>
                  <a:pt x="204905" y="0"/>
                </a:lnTo>
                <a:lnTo>
                  <a:pt x="204905" y="306339"/>
                </a:lnTo>
                <a:lnTo>
                  <a:pt x="0" y="3063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446052" y="9606259"/>
            <a:ext cx="19180103" cy="1556799"/>
            <a:chOff x="0" y="0"/>
            <a:chExt cx="3946523" cy="320329"/>
          </a:xfrm>
        </p:grpSpPr>
        <p:sp>
          <p:nvSpPr>
            <p:cNvPr name="Freeform 14" id="14"/>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15" id="15"/>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50371" y="2558569"/>
            <a:ext cx="1356658" cy="1235792"/>
          </a:xfrm>
          <a:custGeom>
            <a:avLst/>
            <a:gdLst/>
            <a:ahLst/>
            <a:cxnLst/>
            <a:rect r="r" b="b" t="t" l="l"/>
            <a:pathLst>
              <a:path h="1235792" w="1356658">
                <a:moveTo>
                  <a:pt x="0" y="0"/>
                </a:moveTo>
                <a:lnTo>
                  <a:pt x="1356658" y="0"/>
                </a:lnTo>
                <a:lnTo>
                  <a:pt x="1356658" y="1235792"/>
                </a:lnTo>
                <a:lnTo>
                  <a:pt x="0" y="12357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428750" y="3424115"/>
            <a:ext cx="16100998" cy="2734767"/>
          </a:xfrm>
          <a:prstGeom prst="rect">
            <a:avLst/>
          </a:prstGeom>
        </p:spPr>
        <p:txBody>
          <a:bodyPr anchor="t" rtlCol="false" tIns="0" lIns="0" bIns="0" rIns="0">
            <a:spAutoFit/>
          </a:bodyPr>
          <a:lstStyle/>
          <a:p>
            <a:pPr algn="l">
              <a:lnSpc>
                <a:spcPts val="7040"/>
              </a:lnSpc>
            </a:pPr>
            <a:r>
              <a:rPr lang="en-US" sz="8000" b="true">
                <a:solidFill>
                  <a:srgbClr val="FFFFFF"/>
                </a:solidFill>
                <a:latin typeface="Montserrat Bold"/>
                <a:ea typeface="Montserrat Bold"/>
                <a:cs typeface="Montserrat Bold"/>
                <a:sym typeface="Montserrat Bold"/>
              </a:rPr>
              <a:t>DIVISI </a:t>
            </a:r>
          </a:p>
          <a:p>
            <a:pPr algn="l">
              <a:lnSpc>
                <a:spcPts val="7040"/>
              </a:lnSpc>
            </a:pPr>
            <a:r>
              <a:rPr lang="en-US" sz="8000" b="true">
                <a:solidFill>
                  <a:srgbClr val="FFFFFF"/>
                </a:solidFill>
                <a:latin typeface="Montserrat Bold"/>
                <a:ea typeface="Montserrat Bold"/>
                <a:cs typeface="Montserrat Bold"/>
                <a:sym typeface="Montserrat Bold"/>
              </a:rPr>
              <a:t>STRATEGIC RISK</a:t>
            </a:r>
          </a:p>
          <a:p>
            <a:pPr algn="l">
              <a:lnSpc>
                <a:spcPts val="7040"/>
              </a:lnSpc>
            </a:pPr>
            <a:r>
              <a:rPr lang="en-US" sz="8000" b="true">
                <a:solidFill>
                  <a:srgbClr val="FFFFFF"/>
                </a:solidFill>
                <a:latin typeface="Montserrat Bold"/>
                <a:ea typeface="Montserrat Bold"/>
                <a:cs typeface="Montserrat Bold"/>
                <a:sym typeface="Montserrat Bold"/>
              </a:rPr>
              <a:t>GOVERNANCE</a:t>
            </a:r>
          </a:p>
        </p:txBody>
      </p:sp>
      <p:sp>
        <p:nvSpPr>
          <p:cNvPr name="Freeform 18" id="18"/>
          <p:cNvSpPr/>
          <p:nvPr/>
        </p:nvSpPr>
        <p:spPr>
          <a:xfrm flipH="false" flipV="false" rot="756542">
            <a:off x="1817153" y="5860251"/>
            <a:ext cx="6397592" cy="1628478"/>
          </a:xfrm>
          <a:custGeom>
            <a:avLst/>
            <a:gdLst/>
            <a:ahLst/>
            <a:cxnLst/>
            <a:rect r="r" b="b" t="t" l="l"/>
            <a:pathLst>
              <a:path h="1628478" w="6397592">
                <a:moveTo>
                  <a:pt x="0" y="0"/>
                </a:moveTo>
                <a:lnTo>
                  <a:pt x="6397592" y="0"/>
                </a:lnTo>
                <a:lnTo>
                  <a:pt x="6397592" y="1628478"/>
                </a:lnTo>
                <a:lnTo>
                  <a:pt x="0" y="16284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9" id="19"/>
          <p:cNvGrpSpPr/>
          <p:nvPr/>
        </p:nvGrpSpPr>
        <p:grpSpPr>
          <a:xfrm rot="0">
            <a:off x="1028700" y="472819"/>
            <a:ext cx="2655903" cy="1111762"/>
            <a:chOff x="0" y="0"/>
            <a:chExt cx="3541204" cy="1482349"/>
          </a:xfrm>
        </p:grpSpPr>
        <p:grpSp>
          <p:nvGrpSpPr>
            <p:cNvPr name="Group 20" id="20"/>
            <p:cNvGrpSpPr/>
            <p:nvPr/>
          </p:nvGrpSpPr>
          <p:grpSpPr>
            <a:xfrm rot="0">
              <a:off x="0" y="0"/>
              <a:ext cx="3541204" cy="1482349"/>
              <a:chOff x="0" y="0"/>
              <a:chExt cx="867283" cy="362966"/>
            </a:xfrm>
          </p:grpSpPr>
          <p:sp>
            <p:nvSpPr>
              <p:cNvPr name="Freeform 21" id="2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22" id="2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9"/>
              <a:stretch>
                <a:fillRect l="0" t="0" r="0" b="0"/>
              </a:stretch>
            </a:blipFill>
          </p:spPr>
        </p:sp>
      </p:grpSp>
      <p:grpSp>
        <p:nvGrpSpPr>
          <p:cNvPr name="Group 24" id="24"/>
          <p:cNvGrpSpPr/>
          <p:nvPr/>
        </p:nvGrpSpPr>
        <p:grpSpPr>
          <a:xfrm rot="0">
            <a:off x="14873845" y="472819"/>
            <a:ext cx="2655903" cy="1111762"/>
            <a:chOff x="0" y="0"/>
            <a:chExt cx="3541204" cy="1482349"/>
          </a:xfrm>
        </p:grpSpPr>
        <p:grpSp>
          <p:nvGrpSpPr>
            <p:cNvPr name="Group 25" id="25"/>
            <p:cNvGrpSpPr/>
            <p:nvPr/>
          </p:nvGrpSpPr>
          <p:grpSpPr>
            <a:xfrm rot="0">
              <a:off x="0" y="0"/>
              <a:ext cx="3541204" cy="1482349"/>
              <a:chOff x="0" y="0"/>
              <a:chExt cx="867283" cy="362966"/>
            </a:xfrm>
          </p:grpSpPr>
          <p:sp>
            <p:nvSpPr>
              <p:cNvPr name="Freeform 26" id="2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7" id="2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8" id="2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10"/>
              <a:stretch>
                <a:fillRect l="0" t="0" r="0" b="0"/>
              </a:stretch>
            </a:blipFill>
          </p:spPr>
        </p:sp>
      </p:grpSp>
      <p:sp>
        <p:nvSpPr>
          <p:cNvPr name="TextBox 29" id="29"/>
          <p:cNvSpPr txBox="true"/>
          <p:nvPr/>
        </p:nvSpPr>
        <p:spPr>
          <a:xfrm rot="0">
            <a:off x="13685748" y="8550933"/>
            <a:ext cx="2859247" cy="288925"/>
          </a:xfrm>
          <a:prstGeom prst="rect">
            <a:avLst/>
          </a:prstGeom>
        </p:spPr>
        <p:txBody>
          <a:bodyPr anchor="t" rtlCol="false" tIns="0" lIns="0" bIns="0" rIns="0">
            <a:spAutoFit/>
          </a:bodyPr>
          <a:lstStyle/>
          <a:p>
            <a:pPr algn="ctr">
              <a:lnSpc>
                <a:spcPts val="2000"/>
              </a:lnSpc>
            </a:pPr>
            <a:r>
              <a:rPr lang="en-US" b="true" sz="2000" i="true">
                <a:solidFill>
                  <a:srgbClr val="25671E"/>
                </a:solidFill>
                <a:latin typeface="Poppins Bold Italics"/>
                <a:ea typeface="Poppins Bold Italics"/>
                <a:cs typeface="Poppins Bold Italics"/>
                <a:sym typeface="Poppins Bold Italics"/>
              </a:rPr>
              <a:t>Learn More</a:t>
            </a:r>
          </a:p>
        </p:txBody>
      </p:sp>
      <p:sp>
        <p:nvSpPr>
          <p:cNvPr name="TextBox 30" id="30"/>
          <p:cNvSpPr txBox="true"/>
          <p:nvPr/>
        </p:nvSpPr>
        <p:spPr>
          <a:xfrm rot="0">
            <a:off x="1457325" y="6098478"/>
            <a:ext cx="12667186" cy="235107"/>
          </a:xfrm>
          <a:prstGeom prst="rect">
            <a:avLst/>
          </a:prstGeom>
        </p:spPr>
        <p:txBody>
          <a:bodyPr anchor="t" rtlCol="false" tIns="0" lIns="0" bIns="0" rIns="0">
            <a:spAutoFit/>
          </a:bodyPr>
          <a:lstStyle/>
          <a:p>
            <a:pPr algn="l">
              <a:lnSpc>
                <a:spcPts val="1584"/>
              </a:lnSpc>
            </a:pPr>
            <a:r>
              <a:rPr lang="en-US" sz="1800">
                <a:solidFill>
                  <a:srgbClr val="FFFFFF"/>
                </a:solidFill>
                <a:latin typeface="Poppins"/>
                <a:ea typeface="Poppins"/>
                <a:cs typeface="Poppins"/>
                <a:sym typeface="Poppins"/>
              </a:rPr>
              <a:t>COLLABORATIVE RISK GOVERNANCE FOR SUSTAINABLE DISASTER RESILIENCE</a:t>
            </a:r>
          </a:p>
        </p:txBody>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93572" y="1028700"/>
            <a:ext cx="2021129" cy="2021121"/>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0" r="0" b="0"/>
              </a:stretch>
            </a:blipFill>
          </p:spPr>
        </p:sp>
      </p:grpSp>
      <p:grpSp>
        <p:nvGrpSpPr>
          <p:cNvPr name="Group 4" id="4"/>
          <p:cNvGrpSpPr/>
          <p:nvPr/>
        </p:nvGrpSpPr>
        <p:grpSpPr>
          <a:xfrm rot="0">
            <a:off x="9893572" y="3754599"/>
            <a:ext cx="2021129" cy="202112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31169"/>
              </a:stretch>
            </a:blipFill>
          </p:spPr>
        </p:sp>
      </p:grpSp>
      <p:grpSp>
        <p:nvGrpSpPr>
          <p:cNvPr name="Group 6" id="6"/>
          <p:cNvGrpSpPr/>
          <p:nvPr/>
        </p:nvGrpSpPr>
        <p:grpSpPr>
          <a:xfrm rot="0">
            <a:off x="9893572" y="6480498"/>
            <a:ext cx="2021129" cy="2021121"/>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0" r="0" b="-34802"/>
              </a:stretch>
            </a:blipFill>
          </p:spPr>
        </p:sp>
      </p:grpSp>
      <p:grpSp>
        <p:nvGrpSpPr>
          <p:cNvPr name="Group 8" id="8"/>
          <p:cNvGrpSpPr/>
          <p:nvPr/>
        </p:nvGrpSpPr>
        <p:grpSpPr>
          <a:xfrm rot="0">
            <a:off x="-446052" y="9606259"/>
            <a:ext cx="19180103" cy="1556799"/>
            <a:chOff x="0" y="0"/>
            <a:chExt cx="3946523" cy="320329"/>
          </a:xfrm>
        </p:grpSpPr>
        <p:sp>
          <p:nvSpPr>
            <p:cNvPr name="Freeform 9" id="9"/>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10" id="10"/>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472819"/>
            <a:ext cx="2655903" cy="1111762"/>
            <a:chOff x="0" y="0"/>
            <a:chExt cx="3541204" cy="1482349"/>
          </a:xfrm>
        </p:grpSpPr>
        <p:grpSp>
          <p:nvGrpSpPr>
            <p:cNvPr name="Group 12" id="12"/>
            <p:cNvGrpSpPr/>
            <p:nvPr/>
          </p:nvGrpSpPr>
          <p:grpSpPr>
            <a:xfrm rot="0">
              <a:off x="0" y="0"/>
              <a:ext cx="3541204" cy="1482349"/>
              <a:chOff x="0" y="0"/>
              <a:chExt cx="867283" cy="362966"/>
            </a:xfrm>
          </p:grpSpPr>
          <p:sp>
            <p:nvSpPr>
              <p:cNvPr name="Freeform 13" id="13"/>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4" id="14"/>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grpSp>
        <p:nvGrpSpPr>
          <p:cNvPr name="Group 16" id="16"/>
          <p:cNvGrpSpPr/>
          <p:nvPr/>
        </p:nvGrpSpPr>
        <p:grpSpPr>
          <a:xfrm rot="0">
            <a:off x="12511091" y="1321896"/>
            <a:ext cx="4748209" cy="1434730"/>
            <a:chOff x="0" y="0"/>
            <a:chExt cx="6330946" cy="1912973"/>
          </a:xfrm>
        </p:grpSpPr>
        <p:sp>
          <p:nvSpPr>
            <p:cNvPr name="TextBox 17" id="17"/>
            <p:cNvSpPr txBox="true"/>
            <p:nvPr/>
          </p:nvSpPr>
          <p:spPr>
            <a:xfrm rot="0">
              <a:off x="0" y="-57150"/>
              <a:ext cx="6330946" cy="1283283"/>
            </a:xfrm>
            <a:prstGeom prst="rect">
              <a:avLst/>
            </a:prstGeom>
          </p:spPr>
          <p:txBody>
            <a:bodyPr anchor="t" rtlCol="false" tIns="0" lIns="0" bIns="0" rIns="0">
              <a:spAutoFit/>
            </a:bodyPr>
            <a:lstStyle/>
            <a:p>
              <a:pPr algn="l">
                <a:lnSpc>
                  <a:spcPts val="3919"/>
                </a:lnSpc>
              </a:pPr>
              <a:r>
                <a:rPr lang="en-US" sz="2799" b="true">
                  <a:solidFill>
                    <a:srgbClr val="1B1B1B"/>
                  </a:solidFill>
                  <a:latin typeface="Muli Semi-Bold"/>
                  <a:ea typeface="Muli Semi-Bold"/>
                  <a:cs typeface="Muli Semi-Bold"/>
                  <a:sym typeface="Muli Semi-Bold"/>
                </a:rPr>
                <a:t>Dr. </a:t>
              </a:r>
              <a:r>
                <a:rPr lang="en-US" b="true" sz="2799">
                  <a:solidFill>
                    <a:srgbClr val="1B1B1B"/>
                  </a:solidFill>
                  <a:latin typeface="Muli Semi-Bold"/>
                  <a:ea typeface="Muli Semi-Bold"/>
                  <a:cs typeface="Muli Semi-Bold"/>
                  <a:sym typeface="Muli Semi-Bold"/>
                </a:rPr>
                <a:t>Syafruddin, S.E., MBA. CDMP.</a:t>
              </a:r>
            </a:p>
          </p:txBody>
        </p:sp>
        <p:sp>
          <p:nvSpPr>
            <p:cNvPr name="TextBox 18" id="18"/>
            <p:cNvSpPr txBox="true"/>
            <p:nvPr/>
          </p:nvSpPr>
          <p:spPr>
            <a:xfrm rot="0">
              <a:off x="0" y="138786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Kepala Divisi</a:t>
              </a:r>
            </a:p>
          </p:txBody>
        </p:sp>
      </p:grpSp>
      <p:grpSp>
        <p:nvGrpSpPr>
          <p:cNvPr name="Group 19" id="19"/>
          <p:cNvGrpSpPr/>
          <p:nvPr/>
        </p:nvGrpSpPr>
        <p:grpSpPr>
          <a:xfrm rot="0">
            <a:off x="12511091" y="4012264"/>
            <a:ext cx="4748209" cy="1505790"/>
            <a:chOff x="0" y="0"/>
            <a:chExt cx="6330946" cy="2007720"/>
          </a:xfrm>
        </p:grpSpPr>
        <p:sp>
          <p:nvSpPr>
            <p:cNvPr name="TextBox 20" id="20"/>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Prof. Dr. N</a:t>
              </a:r>
              <a:r>
                <a:rPr lang="en-US" b="true" sz="3000">
                  <a:solidFill>
                    <a:srgbClr val="1B1B1B"/>
                  </a:solidFill>
                  <a:latin typeface="Muli Semi-Bold"/>
                  <a:ea typeface="Muli Semi-Bold"/>
                  <a:cs typeface="Muli Semi-Bold"/>
                  <a:sym typeface="Muli Semi-Bold"/>
                </a:rPr>
                <a:t>azamuddin, S.E, M.A.</a:t>
              </a:r>
            </a:p>
          </p:txBody>
        </p:sp>
        <p:sp>
          <p:nvSpPr>
            <p:cNvPr name="TextBox 21" id="21"/>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2" id="22"/>
          <p:cNvGrpSpPr/>
          <p:nvPr/>
        </p:nvGrpSpPr>
        <p:grpSpPr>
          <a:xfrm rot="0">
            <a:off x="12511091" y="6738163"/>
            <a:ext cx="4748209" cy="1505790"/>
            <a:chOff x="0" y="0"/>
            <a:chExt cx="6330946" cy="2007720"/>
          </a:xfrm>
        </p:grpSpPr>
        <p:sp>
          <p:nvSpPr>
            <p:cNvPr name="TextBox 23" id="23"/>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Pr</a:t>
              </a:r>
              <a:r>
                <a:rPr lang="en-US" b="true" sz="3000">
                  <a:solidFill>
                    <a:srgbClr val="1B1B1B"/>
                  </a:solidFill>
                  <a:latin typeface="Muli Semi-Bold"/>
                  <a:ea typeface="Muli Semi-Bold"/>
                  <a:cs typeface="Muli Semi-Bold"/>
                  <a:sym typeface="Muli Semi-Bold"/>
                </a:rPr>
                <a:t>of. Dr. Heru Fahlevi, S.E., M.Sc., Ak., CA</a:t>
              </a:r>
            </a:p>
          </p:txBody>
        </p:sp>
        <p:sp>
          <p:nvSpPr>
            <p:cNvPr name="TextBox 24" id="24"/>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5" id="25"/>
          <p:cNvGrpSpPr/>
          <p:nvPr/>
        </p:nvGrpSpPr>
        <p:grpSpPr>
          <a:xfrm rot="0">
            <a:off x="1028700" y="2182372"/>
            <a:ext cx="7181649" cy="2324166"/>
            <a:chOff x="0" y="0"/>
            <a:chExt cx="9575532" cy="3098889"/>
          </a:xfrm>
        </p:grpSpPr>
        <p:sp>
          <p:nvSpPr>
            <p:cNvPr name="TextBox 26" id="26"/>
            <p:cNvSpPr txBox="true"/>
            <p:nvPr/>
          </p:nvSpPr>
          <p:spPr>
            <a:xfrm rot="0">
              <a:off x="0" y="-76200"/>
              <a:ext cx="9575532" cy="1536700"/>
            </a:xfrm>
            <a:prstGeom prst="rect">
              <a:avLst/>
            </a:prstGeom>
          </p:spPr>
          <p:txBody>
            <a:bodyPr anchor="t" rtlCol="false" tIns="0" lIns="0" bIns="0" rIns="0">
              <a:spAutoFit/>
            </a:bodyPr>
            <a:lstStyle/>
            <a:p>
              <a:pPr algn="l">
                <a:lnSpc>
                  <a:spcPts val="8640"/>
                </a:lnSpc>
              </a:pPr>
              <a:r>
                <a:rPr lang="en-US" sz="7200" b="true">
                  <a:solidFill>
                    <a:srgbClr val="1B1B1B"/>
                  </a:solidFill>
                  <a:latin typeface="Telegraf Bold"/>
                  <a:ea typeface="Telegraf Bold"/>
                  <a:cs typeface="Telegraf Bold"/>
                  <a:sym typeface="Telegraf Bold"/>
                </a:rPr>
                <a:t>Tim Divisi SRG</a:t>
              </a:r>
            </a:p>
          </p:txBody>
        </p:sp>
        <p:sp>
          <p:nvSpPr>
            <p:cNvPr name="TextBox 27" id="27"/>
            <p:cNvSpPr txBox="true"/>
            <p:nvPr/>
          </p:nvSpPr>
          <p:spPr>
            <a:xfrm rot="0">
              <a:off x="0" y="1720859"/>
              <a:ext cx="9575532" cy="1378030"/>
            </a:xfrm>
            <a:prstGeom prst="rect">
              <a:avLst/>
            </a:prstGeom>
          </p:spPr>
          <p:txBody>
            <a:bodyPr anchor="t" rtlCol="false" tIns="0" lIns="0" bIns="0" rIns="0">
              <a:spAutoFit/>
            </a:bodyPr>
            <a:lstStyle/>
            <a:p>
              <a:pPr algn="l">
                <a:lnSpc>
                  <a:spcPts val="4200"/>
                </a:lnSpc>
              </a:pPr>
              <a:r>
                <a:rPr lang="en-US" b="true" sz="3000">
                  <a:solidFill>
                    <a:srgbClr val="1B1B1B"/>
                  </a:solidFill>
                  <a:latin typeface="Muli Semi-Bold"/>
                  <a:ea typeface="Muli Semi-Bold"/>
                  <a:cs typeface="Muli Semi-Bold"/>
                  <a:sym typeface="Muli Semi-Bold"/>
                </a:rPr>
                <a:t>Meet the multidisciplinary team behind Strategic Risk Governance</a:t>
              </a:r>
            </a:p>
          </p:txBody>
        </p:sp>
      </p:grpSp>
      <p:grpSp>
        <p:nvGrpSpPr>
          <p:cNvPr name="Group 28" id="28"/>
          <p:cNvGrpSpPr/>
          <p:nvPr/>
        </p:nvGrpSpPr>
        <p:grpSpPr>
          <a:xfrm rot="0">
            <a:off x="3820249" y="472819"/>
            <a:ext cx="2655903" cy="1111762"/>
            <a:chOff x="0" y="0"/>
            <a:chExt cx="3541204" cy="1482349"/>
          </a:xfrm>
        </p:grpSpPr>
        <p:grpSp>
          <p:nvGrpSpPr>
            <p:cNvPr name="Group 29" id="29"/>
            <p:cNvGrpSpPr/>
            <p:nvPr/>
          </p:nvGrpSpPr>
          <p:grpSpPr>
            <a:xfrm rot="0">
              <a:off x="0" y="0"/>
              <a:ext cx="3541204" cy="1482349"/>
              <a:chOff x="0" y="0"/>
              <a:chExt cx="867283" cy="362966"/>
            </a:xfrm>
          </p:grpSpPr>
          <p:sp>
            <p:nvSpPr>
              <p:cNvPr name="Freeform 30" id="30"/>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31" id="31"/>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32" id="32"/>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6"/>
              <a:stretch>
                <a:fillRect l="0" t="0" r="0" b="0"/>
              </a:stretch>
            </a:blipFill>
          </p:spPr>
        </p:sp>
      </p:grpSp>
      <p:sp>
        <p:nvSpPr>
          <p:cNvPr name="TextBox 33" id="3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B1B1B"/>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93572" y="1028700"/>
            <a:ext cx="2021129" cy="2021121"/>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7638" r="0" b="-27984"/>
              </a:stretch>
            </a:blipFill>
          </p:spPr>
        </p:sp>
      </p:grpSp>
      <p:grpSp>
        <p:nvGrpSpPr>
          <p:cNvPr name="Group 4" id="4"/>
          <p:cNvGrpSpPr/>
          <p:nvPr/>
        </p:nvGrpSpPr>
        <p:grpSpPr>
          <a:xfrm rot="0">
            <a:off x="9893572" y="3754599"/>
            <a:ext cx="2021129" cy="202112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35714"/>
              </a:stretch>
            </a:blipFill>
          </p:spPr>
        </p:sp>
      </p:grpSp>
      <p:grpSp>
        <p:nvGrpSpPr>
          <p:cNvPr name="Group 6" id="6"/>
          <p:cNvGrpSpPr/>
          <p:nvPr/>
        </p:nvGrpSpPr>
        <p:grpSpPr>
          <a:xfrm rot="0">
            <a:off x="9893572" y="6480498"/>
            <a:ext cx="2021129" cy="2021121"/>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0" r="0" b="-35043"/>
              </a:stretch>
            </a:blipFill>
          </p:spPr>
        </p:sp>
      </p:grpSp>
      <p:grpSp>
        <p:nvGrpSpPr>
          <p:cNvPr name="Group 8" id="8"/>
          <p:cNvGrpSpPr/>
          <p:nvPr/>
        </p:nvGrpSpPr>
        <p:grpSpPr>
          <a:xfrm rot="0">
            <a:off x="-446052" y="9606259"/>
            <a:ext cx="19180103" cy="1556799"/>
            <a:chOff x="0" y="0"/>
            <a:chExt cx="3946523" cy="320329"/>
          </a:xfrm>
        </p:grpSpPr>
        <p:sp>
          <p:nvSpPr>
            <p:cNvPr name="Freeform 9" id="9"/>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10" id="10"/>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1028700"/>
            <a:ext cx="2021129" cy="2021121"/>
            <a:chOff x="0" y="0"/>
            <a:chExt cx="6350000" cy="6349975"/>
          </a:xfrm>
        </p:grpSpPr>
        <p:sp>
          <p:nvSpPr>
            <p:cNvPr name="Freeform 12" id="12"/>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0" t="0" r="0" b="-57143"/>
              </a:stretch>
            </a:blipFill>
          </p:spPr>
        </p:sp>
      </p:grpSp>
      <p:grpSp>
        <p:nvGrpSpPr>
          <p:cNvPr name="Group 13" id="13"/>
          <p:cNvGrpSpPr/>
          <p:nvPr/>
        </p:nvGrpSpPr>
        <p:grpSpPr>
          <a:xfrm rot="0">
            <a:off x="1028700" y="3754599"/>
            <a:ext cx="2021129" cy="2021121"/>
            <a:chOff x="0" y="0"/>
            <a:chExt cx="6350000" cy="6349975"/>
          </a:xfrm>
        </p:grpSpPr>
        <p:sp>
          <p:nvSpPr>
            <p:cNvPr name="Freeform 14" id="14"/>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0" t="0" r="0" b="-34894"/>
              </a:stretch>
            </a:blipFill>
          </p:spPr>
        </p:sp>
      </p:grpSp>
      <p:grpSp>
        <p:nvGrpSpPr>
          <p:cNvPr name="Group 15" id="15"/>
          <p:cNvGrpSpPr/>
          <p:nvPr/>
        </p:nvGrpSpPr>
        <p:grpSpPr>
          <a:xfrm rot="0">
            <a:off x="1028700" y="6480498"/>
            <a:ext cx="2021129" cy="2021121"/>
            <a:chOff x="0" y="0"/>
            <a:chExt cx="6350000" cy="6349975"/>
          </a:xfrm>
        </p:grpSpPr>
        <p:sp>
          <p:nvSpPr>
            <p:cNvPr name="Freeform 16" id="16"/>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7"/>
              <a:stretch>
                <a:fillRect l="-822" t="0" r="-822" b="0"/>
              </a:stretch>
            </a:blipFill>
          </p:spPr>
        </p:sp>
      </p:grpSp>
      <p:grpSp>
        <p:nvGrpSpPr>
          <p:cNvPr name="Group 17" id="17"/>
          <p:cNvGrpSpPr/>
          <p:nvPr/>
        </p:nvGrpSpPr>
        <p:grpSpPr>
          <a:xfrm rot="0">
            <a:off x="12511091" y="1569575"/>
            <a:ext cx="4748209" cy="939370"/>
            <a:chOff x="0" y="0"/>
            <a:chExt cx="6330946" cy="1252493"/>
          </a:xfrm>
        </p:grpSpPr>
        <p:sp>
          <p:nvSpPr>
            <p:cNvPr name="TextBox 18" id="18"/>
            <p:cNvSpPr txBox="true"/>
            <p:nvPr/>
          </p:nvSpPr>
          <p:spPr>
            <a:xfrm rot="0">
              <a:off x="0" y="-57150"/>
              <a:ext cx="6330946" cy="622803"/>
            </a:xfrm>
            <a:prstGeom prst="rect">
              <a:avLst/>
            </a:prstGeom>
          </p:spPr>
          <p:txBody>
            <a:bodyPr anchor="t" rtlCol="false" tIns="0" lIns="0" bIns="0" rIns="0">
              <a:spAutoFit/>
            </a:bodyPr>
            <a:lstStyle/>
            <a:p>
              <a:pPr algn="l">
                <a:lnSpc>
                  <a:spcPts val="3919"/>
                </a:lnSpc>
              </a:pPr>
              <a:r>
                <a:rPr lang="en-US" b="true" sz="2799">
                  <a:solidFill>
                    <a:srgbClr val="1B1B1B"/>
                  </a:solidFill>
                  <a:latin typeface="Muli Semi-Bold"/>
                  <a:ea typeface="Muli Semi-Bold"/>
                  <a:cs typeface="Muli Semi-Bold"/>
                  <a:sym typeface="Muli Semi-Bold"/>
                </a:rPr>
                <a:t>Sophia Imari, S.E.,M.M</a:t>
              </a:r>
            </a:p>
          </p:txBody>
        </p:sp>
        <p:sp>
          <p:nvSpPr>
            <p:cNvPr name="TextBox 19" id="19"/>
            <p:cNvSpPr txBox="true"/>
            <p:nvPr/>
          </p:nvSpPr>
          <p:spPr>
            <a:xfrm rot="0">
              <a:off x="0" y="72738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0" id="20"/>
          <p:cNvGrpSpPr/>
          <p:nvPr/>
        </p:nvGrpSpPr>
        <p:grpSpPr>
          <a:xfrm rot="0">
            <a:off x="12511091" y="4012264"/>
            <a:ext cx="4748209" cy="1505790"/>
            <a:chOff x="0" y="0"/>
            <a:chExt cx="6330946" cy="2007720"/>
          </a:xfrm>
        </p:grpSpPr>
        <p:sp>
          <p:nvSpPr>
            <p:cNvPr name="TextBox 21" id="21"/>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R</a:t>
              </a:r>
              <a:r>
                <a:rPr lang="en-US" b="true" sz="3000">
                  <a:solidFill>
                    <a:srgbClr val="1B1B1B"/>
                  </a:solidFill>
                  <a:latin typeface="Muli Semi-Bold"/>
                  <a:ea typeface="Muli Semi-Bold"/>
                  <a:cs typeface="Muli Semi-Bold"/>
                  <a:sym typeface="Muli Semi-Bold"/>
                </a:rPr>
                <a:t>aissha Amanda Siregar, S.Pi., M.Si</a:t>
              </a:r>
            </a:p>
          </p:txBody>
        </p:sp>
        <p:sp>
          <p:nvSpPr>
            <p:cNvPr name="TextBox 22" id="22"/>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3" id="23"/>
          <p:cNvGrpSpPr/>
          <p:nvPr/>
        </p:nvGrpSpPr>
        <p:grpSpPr>
          <a:xfrm rot="0">
            <a:off x="12511091" y="6738163"/>
            <a:ext cx="4748209" cy="1505790"/>
            <a:chOff x="0" y="0"/>
            <a:chExt cx="6330946" cy="2007720"/>
          </a:xfrm>
        </p:grpSpPr>
        <p:sp>
          <p:nvSpPr>
            <p:cNvPr name="TextBox 24" id="24"/>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Uly</a:t>
              </a:r>
              <a:r>
                <a:rPr lang="en-US" b="true" sz="3000">
                  <a:solidFill>
                    <a:srgbClr val="1B1B1B"/>
                  </a:solidFill>
                  <a:latin typeface="Muli Semi-Bold"/>
                  <a:ea typeface="Muli Semi-Bold"/>
                  <a:cs typeface="Muli Semi-Bold"/>
                  <a:sym typeface="Muli Semi-Bold"/>
                </a:rPr>
                <a:t> Handayani Mukhra, M.M.</a:t>
              </a:r>
            </a:p>
          </p:txBody>
        </p:sp>
        <p:sp>
          <p:nvSpPr>
            <p:cNvPr name="TextBox 25" id="25"/>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6" id="26"/>
          <p:cNvGrpSpPr/>
          <p:nvPr/>
        </p:nvGrpSpPr>
        <p:grpSpPr>
          <a:xfrm rot="0">
            <a:off x="3646219" y="1569575"/>
            <a:ext cx="4748209" cy="939370"/>
            <a:chOff x="0" y="0"/>
            <a:chExt cx="6330946" cy="1252493"/>
          </a:xfrm>
        </p:grpSpPr>
        <p:sp>
          <p:nvSpPr>
            <p:cNvPr name="TextBox 27" id="27"/>
            <p:cNvSpPr txBox="true"/>
            <p:nvPr/>
          </p:nvSpPr>
          <p:spPr>
            <a:xfrm rot="0">
              <a:off x="0" y="-57150"/>
              <a:ext cx="6330946" cy="622803"/>
            </a:xfrm>
            <a:prstGeom prst="rect">
              <a:avLst/>
            </a:prstGeom>
          </p:spPr>
          <p:txBody>
            <a:bodyPr anchor="t" rtlCol="false" tIns="0" lIns="0" bIns="0" rIns="0">
              <a:spAutoFit/>
            </a:bodyPr>
            <a:lstStyle/>
            <a:p>
              <a:pPr algn="l">
                <a:lnSpc>
                  <a:spcPts val="3919"/>
                </a:lnSpc>
              </a:pPr>
              <a:r>
                <a:rPr lang="en-US" sz="2799" b="true">
                  <a:solidFill>
                    <a:srgbClr val="1B1B1B"/>
                  </a:solidFill>
                  <a:latin typeface="Muli Semi-Bold"/>
                  <a:ea typeface="Muli Semi-Bold"/>
                  <a:cs typeface="Muli Semi-Bold"/>
                  <a:sym typeface="Muli Semi-Bold"/>
                </a:rPr>
                <a:t>Dr. Mi</a:t>
              </a:r>
              <a:r>
                <a:rPr lang="en-US" b="true" sz="2799">
                  <a:solidFill>
                    <a:srgbClr val="1B1B1B"/>
                  </a:solidFill>
                  <a:latin typeface="Muli Semi-Bold"/>
                  <a:ea typeface="Muli Semi-Bold"/>
                  <a:cs typeface="Muli Semi-Bold"/>
                  <a:sym typeface="Muli Semi-Bold"/>
                </a:rPr>
                <a:t>ftahuddin, S.Si, M.Si</a:t>
              </a:r>
            </a:p>
          </p:txBody>
        </p:sp>
        <p:sp>
          <p:nvSpPr>
            <p:cNvPr name="TextBox 28" id="28"/>
            <p:cNvSpPr txBox="true"/>
            <p:nvPr/>
          </p:nvSpPr>
          <p:spPr>
            <a:xfrm rot="0">
              <a:off x="0" y="72738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9" id="29"/>
          <p:cNvGrpSpPr/>
          <p:nvPr/>
        </p:nvGrpSpPr>
        <p:grpSpPr>
          <a:xfrm rot="0">
            <a:off x="3646219" y="4278979"/>
            <a:ext cx="4748209" cy="972360"/>
            <a:chOff x="0" y="0"/>
            <a:chExt cx="6330946" cy="1296480"/>
          </a:xfrm>
        </p:grpSpPr>
        <p:sp>
          <p:nvSpPr>
            <p:cNvPr name="TextBox 30" id="30"/>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S</a:t>
              </a:r>
              <a:r>
                <a:rPr lang="en-US" b="true" sz="3000">
                  <a:solidFill>
                    <a:srgbClr val="1B1B1B"/>
                  </a:solidFill>
                  <a:latin typeface="Muli Semi-Bold"/>
                  <a:ea typeface="Muli Semi-Bold"/>
                  <a:cs typeface="Muli Semi-Bold"/>
                  <a:sym typeface="Muli Semi-Bold"/>
                </a:rPr>
                <a:t>ayed Yunus, S.Psi., M.Si</a:t>
              </a:r>
            </a:p>
          </p:txBody>
        </p:sp>
        <p:sp>
          <p:nvSpPr>
            <p:cNvPr name="TextBox 31" id="31"/>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32" id="32"/>
          <p:cNvGrpSpPr/>
          <p:nvPr/>
        </p:nvGrpSpPr>
        <p:grpSpPr>
          <a:xfrm rot="0">
            <a:off x="3646219" y="7004878"/>
            <a:ext cx="4748209" cy="972360"/>
            <a:chOff x="0" y="0"/>
            <a:chExt cx="6330946" cy="1296480"/>
          </a:xfrm>
        </p:grpSpPr>
        <p:sp>
          <p:nvSpPr>
            <p:cNvPr name="TextBox 33" id="33"/>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Eka Oktavianus, M.Si</a:t>
              </a:r>
            </a:p>
          </p:txBody>
        </p:sp>
        <p:sp>
          <p:nvSpPr>
            <p:cNvPr name="TextBox 34" id="34"/>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sp>
        <p:nvSpPr>
          <p:cNvPr name="TextBox 35" id="3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B1B1B"/>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93572" y="1028700"/>
            <a:ext cx="2021129" cy="2021121"/>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0" r="0" b="-12766"/>
              </a:stretch>
            </a:blipFill>
          </p:spPr>
        </p:sp>
      </p:grpSp>
      <p:grpSp>
        <p:nvGrpSpPr>
          <p:cNvPr name="Group 4" id="4"/>
          <p:cNvGrpSpPr/>
          <p:nvPr/>
        </p:nvGrpSpPr>
        <p:grpSpPr>
          <a:xfrm rot="0">
            <a:off x="9893572" y="3754599"/>
            <a:ext cx="2021129" cy="202112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30769"/>
              </a:stretch>
            </a:blipFill>
          </p:spPr>
        </p:sp>
      </p:grpSp>
      <p:grpSp>
        <p:nvGrpSpPr>
          <p:cNvPr name="Group 6" id="6"/>
          <p:cNvGrpSpPr/>
          <p:nvPr/>
        </p:nvGrpSpPr>
        <p:grpSpPr>
          <a:xfrm rot="0">
            <a:off x="9893572" y="6480498"/>
            <a:ext cx="2021129" cy="2021121"/>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35228" t="0" r="-36749" b="-71978"/>
              </a:stretch>
            </a:blipFill>
          </p:spPr>
        </p:sp>
      </p:grpSp>
      <p:grpSp>
        <p:nvGrpSpPr>
          <p:cNvPr name="Group 8" id="8"/>
          <p:cNvGrpSpPr/>
          <p:nvPr/>
        </p:nvGrpSpPr>
        <p:grpSpPr>
          <a:xfrm rot="0">
            <a:off x="-446052" y="9606259"/>
            <a:ext cx="19180103" cy="1556799"/>
            <a:chOff x="0" y="0"/>
            <a:chExt cx="3946523" cy="320329"/>
          </a:xfrm>
        </p:grpSpPr>
        <p:sp>
          <p:nvSpPr>
            <p:cNvPr name="Freeform 9" id="9"/>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10" id="10"/>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511091" y="1321896"/>
            <a:ext cx="4748209" cy="1434730"/>
            <a:chOff x="0" y="0"/>
            <a:chExt cx="6330946" cy="1912973"/>
          </a:xfrm>
        </p:grpSpPr>
        <p:sp>
          <p:nvSpPr>
            <p:cNvPr name="TextBox 12" id="12"/>
            <p:cNvSpPr txBox="true"/>
            <p:nvPr/>
          </p:nvSpPr>
          <p:spPr>
            <a:xfrm rot="0">
              <a:off x="0" y="-57150"/>
              <a:ext cx="6330946" cy="1283283"/>
            </a:xfrm>
            <a:prstGeom prst="rect">
              <a:avLst/>
            </a:prstGeom>
          </p:spPr>
          <p:txBody>
            <a:bodyPr anchor="t" rtlCol="false" tIns="0" lIns="0" bIns="0" rIns="0">
              <a:spAutoFit/>
            </a:bodyPr>
            <a:lstStyle/>
            <a:p>
              <a:pPr algn="l">
                <a:lnSpc>
                  <a:spcPts val="3919"/>
                </a:lnSpc>
              </a:pPr>
              <a:r>
                <a:rPr lang="en-US" sz="2799" b="true">
                  <a:solidFill>
                    <a:srgbClr val="1B1B1B"/>
                  </a:solidFill>
                  <a:latin typeface="Muli Semi-Bold"/>
                  <a:ea typeface="Muli Semi-Bold"/>
                  <a:cs typeface="Muli Semi-Bold"/>
                  <a:sym typeface="Muli Semi-Bold"/>
                </a:rPr>
                <a:t>Mu</a:t>
              </a:r>
              <a:r>
                <a:rPr lang="en-US" b="true" sz="2799">
                  <a:solidFill>
                    <a:srgbClr val="1B1B1B"/>
                  </a:solidFill>
                  <a:latin typeface="Muli Semi-Bold"/>
                  <a:ea typeface="Muli Semi-Bold"/>
                  <a:cs typeface="Muli Semi-Bold"/>
                  <a:sym typeface="Muli Semi-Bold"/>
                </a:rPr>
                <a:t>hammad Iqbal Fajri, S.I.Kom., M.M.</a:t>
              </a:r>
            </a:p>
          </p:txBody>
        </p:sp>
        <p:sp>
          <p:nvSpPr>
            <p:cNvPr name="TextBox 13" id="13"/>
            <p:cNvSpPr txBox="true"/>
            <p:nvPr/>
          </p:nvSpPr>
          <p:spPr>
            <a:xfrm rot="0">
              <a:off x="0" y="138786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14" id="14"/>
          <p:cNvGrpSpPr/>
          <p:nvPr/>
        </p:nvGrpSpPr>
        <p:grpSpPr>
          <a:xfrm rot="0">
            <a:off x="12511091" y="4278979"/>
            <a:ext cx="4748209" cy="972360"/>
            <a:chOff x="0" y="0"/>
            <a:chExt cx="6330946" cy="1296480"/>
          </a:xfrm>
        </p:grpSpPr>
        <p:sp>
          <p:nvSpPr>
            <p:cNvPr name="TextBox 15" id="15"/>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Newto</a:t>
              </a:r>
              <a:r>
                <a:rPr lang="en-US" b="true" sz="3000">
                  <a:solidFill>
                    <a:srgbClr val="1B1B1B"/>
                  </a:solidFill>
                  <a:latin typeface="Muli Semi-Bold"/>
                  <a:ea typeface="Muli Semi-Bold"/>
                  <a:cs typeface="Muli Semi-Bold"/>
                  <a:sym typeface="Muli Semi-Bold"/>
                </a:rPr>
                <a:t>n, S.Si, MSi </a:t>
              </a:r>
            </a:p>
          </p:txBody>
        </p:sp>
        <p:sp>
          <p:nvSpPr>
            <p:cNvPr name="TextBox 16" id="16"/>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17" id="17"/>
          <p:cNvGrpSpPr/>
          <p:nvPr/>
        </p:nvGrpSpPr>
        <p:grpSpPr>
          <a:xfrm rot="0">
            <a:off x="12511091" y="7004878"/>
            <a:ext cx="4748209" cy="972360"/>
            <a:chOff x="0" y="0"/>
            <a:chExt cx="6330946" cy="1296480"/>
          </a:xfrm>
        </p:grpSpPr>
        <p:sp>
          <p:nvSpPr>
            <p:cNvPr name="TextBox 18" id="18"/>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Risk</a:t>
              </a:r>
              <a:r>
                <a:rPr lang="en-US" b="true" sz="3000">
                  <a:solidFill>
                    <a:srgbClr val="1B1B1B"/>
                  </a:solidFill>
                  <a:latin typeface="Muli Semi-Bold"/>
                  <a:ea typeface="Muli Semi-Bold"/>
                  <a:cs typeface="Muli Semi-Bold"/>
                  <a:sym typeface="Muli Semi-Bold"/>
                </a:rPr>
                <a:t>a Mulyani, S.Pd., M.Si </a:t>
              </a:r>
            </a:p>
          </p:txBody>
        </p:sp>
        <p:sp>
          <p:nvSpPr>
            <p:cNvPr name="TextBox 19" id="19"/>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0" id="20"/>
          <p:cNvGrpSpPr/>
          <p:nvPr/>
        </p:nvGrpSpPr>
        <p:grpSpPr>
          <a:xfrm rot="0">
            <a:off x="1028700" y="2182340"/>
            <a:ext cx="7181649" cy="2324232"/>
            <a:chOff x="0" y="0"/>
            <a:chExt cx="9575532" cy="3098976"/>
          </a:xfrm>
        </p:grpSpPr>
        <p:sp>
          <p:nvSpPr>
            <p:cNvPr name="TextBox 21" id="21"/>
            <p:cNvSpPr txBox="true"/>
            <p:nvPr/>
          </p:nvSpPr>
          <p:spPr>
            <a:xfrm rot="0">
              <a:off x="0" y="-76200"/>
              <a:ext cx="9575532" cy="1536788"/>
            </a:xfrm>
            <a:prstGeom prst="rect">
              <a:avLst/>
            </a:prstGeom>
          </p:spPr>
          <p:txBody>
            <a:bodyPr anchor="t" rtlCol="false" tIns="0" lIns="0" bIns="0" rIns="0">
              <a:spAutoFit/>
            </a:bodyPr>
            <a:lstStyle/>
            <a:p>
              <a:pPr algn="l">
                <a:lnSpc>
                  <a:spcPts val="8640"/>
                </a:lnSpc>
              </a:pPr>
            </a:p>
          </p:txBody>
        </p:sp>
        <p:sp>
          <p:nvSpPr>
            <p:cNvPr name="TextBox 22" id="22"/>
            <p:cNvSpPr txBox="true"/>
            <p:nvPr/>
          </p:nvSpPr>
          <p:spPr>
            <a:xfrm rot="0">
              <a:off x="0" y="1720947"/>
              <a:ext cx="9575532"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Mee</a:t>
              </a:r>
              <a:r>
                <a:rPr lang="en-US" b="true" sz="3000">
                  <a:solidFill>
                    <a:srgbClr val="1B1B1B"/>
                  </a:solidFill>
                  <a:latin typeface="Muli Semi-Bold"/>
                  <a:ea typeface="Muli Semi-Bold"/>
                  <a:cs typeface="Muli Semi-Bold"/>
                  <a:sym typeface="Muli Semi-Bold"/>
                </a:rPr>
                <a:t>t the multidisciplinary team behind Strategic Risk Governance</a:t>
              </a:r>
            </a:p>
          </p:txBody>
        </p:sp>
      </p:grpSp>
      <p:grpSp>
        <p:nvGrpSpPr>
          <p:cNvPr name="Group 23" id="23"/>
          <p:cNvGrpSpPr/>
          <p:nvPr/>
        </p:nvGrpSpPr>
        <p:grpSpPr>
          <a:xfrm rot="0">
            <a:off x="1028700" y="472819"/>
            <a:ext cx="2655903" cy="1111762"/>
            <a:chOff x="0" y="0"/>
            <a:chExt cx="3541204" cy="1482349"/>
          </a:xfrm>
        </p:grpSpPr>
        <p:grpSp>
          <p:nvGrpSpPr>
            <p:cNvPr name="Group 24" id="24"/>
            <p:cNvGrpSpPr/>
            <p:nvPr/>
          </p:nvGrpSpPr>
          <p:grpSpPr>
            <a:xfrm rot="0">
              <a:off x="0" y="0"/>
              <a:ext cx="3541204" cy="1482349"/>
              <a:chOff x="0" y="0"/>
              <a:chExt cx="867283" cy="362966"/>
            </a:xfrm>
          </p:grpSpPr>
          <p:sp>
            <p:nvSpPr>
              <p:cNvPr name="Freeform 25" id="25"/>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26" id="26"/>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B1B1B"/>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34390" y="5876139"/>
            <a:ext cx="6122404" cy="2063750"/>
            <a:chOff x="0" y="0"/>
            <a:chExt cx="948521" cy="319729"/>
          </a:xfrm>
        </p:grpSpPr>
        <p:sp>
          <p:nvSpPr>
            <p:cNvPr name="Freeform 3" id="3"/>
            <p:cNvSpPr/>
            <p:nvPr/>
          </p:nvSpPr>
          <p:spPr>
            <a:xfrm flipH="false" flipV="false" rot="0">
              <a:off x="0" y="0"/>
              <a:ext cx="948521" cy="319729"/>
            </a:xfrm>
            <a:custGeom>
              <a:avLst/>
              <a:gdLst/>
              <a:ahLst/>
              <a:cxnLst/>
              <a:rect r="r" b="b" t="t" l="l"/>
              <a:pathLst>
                <a:path h="319729" w="948521">
                  <a:moveTo>
                    <a:pt x="29084" y="0"/>
                  </a:moveTo>
                  <a:lnTo>
                    <a:pt x="919437" y="0"/>
                  </a:lnTo>
                  <a:cubicBezTo>
                    <a:pt x="927150" y="0"/>
                    <a:pt x="934548" y="3064"/>
                    <a:pt x="940002" y="8519"/>
                  </a:cubicBezTo>
                  <a:cubicBezTo>
                    <a:pt x="945457" y="13973"/>
                    <a:pt x="948521" y="21370"/>
                    <a:pt x="948521" y="29084"/>
                  </a:cubicBezTo>
                  <a:lnTo>
                    <a:pt x="948521" y="290645"/>
                  </a:lnTo>
                  <a:cubicBezTo>
                    <a:pt x="948521" y="306707"/>
                    <a:pt x="935499" y="319729"/>
                    <a:pt x="919437" y="319729"/>
                  </a:cubicBezTo>
                  <a:lnTo>
                    <a:pt x="29084" y="319729"/>
                  </a:lnTo>
                  <a:cubicBezTo>
                    <a:pt x="13021" y="319729"/>
                    <a:pt x="0" y="306707"/>
                    <a:pt x="0" y="290645"/>
                  </a:cubicBezTo>
                  <a:lnTo>
                    <a:pt x="0" y="29084"/>
                  </a:lnTo>
                  <a:cubicBezTo>
                    <a:pt x="0" y="13021"/>
                    <a:pt x="13021" y="0"/>
                    <a:pt x="29084" y="0"/>
                  </a:cubicBezTo>
                  <a:close/>
                </a:path>
              </a:pathLst>
            </a:custGeom>
            <a:blipFill>
              <a:blip r:embed="rId2"/>
              <a:stretch>
                <a:fillRect l="0" t="-47965" r="0" b="-74532"/>
              </a:stretch>
            </a:blipFill>
          </p:spPr>
        </p:sp>
      </p:grpSp>
      <p:sp>
        <p:nvSpPr>
          <p:cNvPr name="Freeform 4" id="4"/>
          <p:cNvSpPr/>
          <p:nvPr/>
        </p:nvSpPr>
        <p:spPr>
          <a:xfrm flipH="false" flipV="false" rot="0">
            <a:off x="416335" y="2079854"/>
            <a:ext cx="9405690" cy="2684897"/>
          </a:xfrm>
          <a:custGeom>
            <a:avLst/>
            <a:gdLst/>
            <a:ahLst/>
            <a:cxnLst/>
            <a:rect r="r" b="b" t="t" l="l"/>
            <a:pathLst>
              <a:path h="2684897" w="9405690">
                <a:moveTo>
                  <a:pt x="0" y="0"/>
                </a:moveTo>
                <a:lnTo>
                  <a:pt x="9405691" y="0"/>
                </a:lnTo>
                <a:lnTo>
                  <a:pt x="9405691" y="2684897"/>
                </a:lnTo>
                <a:lnTo>
                  <a:pt x="0" y="26848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46052" y="9606259"/>
            <a:ext cx="19180103" cy="1556799"/>
            <a:chOff x="0" y="0"/>
            <a:chExt cx="3946523" cy="320329"/>
          </a:xfrm>
        </p:grpSpPr>
        <p:sp>
          <p:nvSpPr>
            <p:cNvPr name="Freeform 6" id="6"/>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7" id="7"/>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96029" y="32495"/>
            <a:ext cx="1224729" cy="1537902"/>
          </a:xfrm>
          <a:custGeom>
            <a:avLst/>
            <a:gdLst/>
            <a:ahLst/>
            <a:cxnLst/>
            <a:rect r="r" b="b" t="t" l="l"/>
            <a:pathLst>
              <a:path h="1537902" w="1224729">
                <a:moveTo>
                  <a:pt x="0" y="0"/>
                </a:moveTo>
                <a:lnTo>
                  <a:pt x="1224729" y="0"/>
                </a:lnTo>
                <a:lnTo>
                  <a:pt x="1224729" y="1537902"/>
                </a:lnTo>
                <a:lnTo>
                  <a:pt x="0" y="1537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472819"/>
            <a:ext cx="2655903" cy="1111762"/>
            <a:chOff x="0" y="0"/>
            <a:chExt cx="3541204" cy="1482349"/>
          </a:xfrm>
        </p:grpSpPr>
        <p:grpSp>
          <p:nvGrpSpPr>
            <p:cNvPr name="Group 10" id="10"/>
            <p:cNvGrpSpPr/>
            <p:nvPr/>
          </p:nvGrpSpPr>
          <p:grpSpPr>
            <a:xfrm rot="0">
              <a:off x="0" y="0"/>
              <a:ext cx="3541204" cy="1482349"/>
              <a:chOff x="0" y="0"/>
              <a:chExt cx="867283" cy="362966"/>
            </a:xfrm>
          </p:grpSpPr>
          <p:sp>
            <p:nvSpPr>
              <p:cNvPr name="Freeform 11" id="1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2" id="1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7"/>
              <a:stretch>
                <a:fillRect l="0" t="0" r="0" b="0"/>
              </a:stretch>
            </a:blipFill>
          </p:spPr>
        </p:sp>
      </p:grpSp>
      <p:sp>
        <p:nvSpPr>
          <p:cNvPr name="TextBox 14" id="14"/>
          <p:cNvSpPr txBox="true"/>
          <p:nvPr/>
        </p:nvSpPr>
        <p:spPr>
          <a:xfrm rot="0">
            <a:off x="1443158" y="4874110"/>
            <a:ext cx="7949043" cy="4950661"/>
          </a:xfrm>
          <a:prstGeom prst="rect">
            <a:avLst/>
          </a:prstGeom>
        </p:spPr>
        <p:txBody>
          <a:bodyPr anchor="t" rtlCol="false" tIns="0" lIns="0" bIns="0" rIns="0">
            <a:spAutoFit/>
          </a:bodyPr>
          <a:lstStyle/>
          <a:p>
            <a:pPr algn="just">
              <a:lnSpc>
                <a:spcPts val="2800"/>
              </a:lnSpc>
            </a:pPr>
            <a:r>
              <a:rPr lang="en-US" sz="2000" b="true">
                <a:solidFill>
                  <a:srgbClr val="25671E"/>
                </a:solidFill>
                <a:latin typeface="Poppins Bold"/>
                <a:ea typeface="Poppins Bold"/>
                <a:cs typeface="Poppins Bold"/>
                <a:sym typeface="Poppins Bold"/>
              </a:rPr>
              <a:t>(Risk Gov</a:t>
            </a:r>
            <a:r>
              <a:rPr lang="en-US" b="true" sz="2000">
                <a:solidFill>
                  <a:srgbClr val="25671E"/>
                </a:solidFill>
                <a:latin typeface="Poppins Bold"/>
                <a:ea typeface="Poppins Bold"/>
                <a:cs typeface="Poppins Bold"/>
                <a:sym typeface="Poppins Bold"/>
              </a:rPr>
              <a:t>ernance)</a:t>
            </a:r>
            <a:r>
              <a:rPr lang="en-US" sz="2000">
                <a:solidFill>
                  <a:srgbClr val="25671E"/>
                </a:solidFill>
                <a:latin typeface="Poppins"/>
                <a:ea typeface="Poppins"/>
                <a:cs typeface="Poppins"/>
                <a:sym typeface="Poppins"/>
              </a:rPr>
              <a:t> merupakan kerangka kerja yang mengintegrasikan proses identifikasi, analisis, pengelolaan, pengendalian, prediksi, dan pemantauan risiko untuk mendukung pengambilan keputusan yang efektif. </a:t>
            </a:r>
          </a:p>
          <a:p>
            <a:pPr algn="just">
              <a:lnSpc>
                <a:spcPts val="2800"/>
              </a:lnSpc>
            </a:pPr>
          </a:p>
          <a:p>
            <a:pPr algn="just">
              <a:lnSpc>
                <a:spcPts val="2800"/>
              </a:lnSpc>
            </a:pPr>
            <a:r>
              <a:rPr lang="en-US" sz="2000">
                <a:solidFill>
                  <a:srgbClr val="25671E"/>
                </a:solidFill>
                <a:latin typeface="Poppins"/>
                <a:ea typeface="Poppins"/>
                <a:cs typeface="Poppins"/>
                <a:sym typeface="Poppins"/>
              </a:rPr>
              <a:t>Dalam konteks kebencanaan, tata kelola risiko melibatkan kolaborasi pemerintah, akademisi, sektor swasta, organisasi non-pemerintah (NGO), dan masyarakat guna memperkuat ketahanan serta mengurangi dampak bencana.</a:t>
            </a:r>
          </a:p>
          <a:p>
            <a:pPr algn="just">
              <a:lnSpc>
                <a:spcPts val="2800"/>
              </a:lnSpc>
            </a:pPr>
          </a:p>
          <a:p>
            <a:pPr algn="just">
              <a:lnSpc>
                <a:spcPts val="2800"/>
              </a:lnSpc>
            </a:pPr>
            <a:r>
              <a:rPr lang="en-US" sz="2000">
                <a:solidFill>
                  <a:srgbClr val="25671E"/>
                </a:solidFill>
                <a:latin typeface="Poppins"/>
                <a:ea typeface="Poppins"/>
                <a:cs typeface="Poppins"/>
                <a:sym typeface="Poppins"/>
              </a:rPr>
              <a:t>     </a:t>
            </a:r>
            <a:r>
              <a:rPr lang="en-US" b="true" sz="2000">
                <a:solidFill>
                  <a:srgbClr val="25671E"/>
                </a:solidFill>
                <a:latin typeface="Poppins Bold"/>
                <a:ea typeface="Poppins Bold"/>
                <a:cs typeface="Poppins Bold"/>
                <a:sym typeface="Poppins Bold"/>
              </a:rPr>
              <a:t>🟢 Preparedness (Pre-Disaster)</a:t>
            </a:r>
          </a:p>
          <a:p>
            <a:pPr algn="just">
              <a:lnSpc>
                <a:spcPts val="2800"/>
              </a:lnSpc>
            </a:pPr>
            <a:r>
              <a:rPr lang="en-US" b="true" sz="2000">
                <a:solidFill>
                  <a:srgbClr val="25671E"/>
                </a:solidFill>
                <a:latin typeface="Poppins Bold"/>
                <a:ea typeface="Poppins Bold"/>
                <a:cs typeface="Poppins Bold"/>
                <a:sym typeface="Poppins Bold"/>
              </a:rPr>
              <a:t>      🟠 Emergency Response (During Disaster)</a:t>
            </a:r>
          </a:p>
          <a:p>
            <a:pPr algn="just">
              <a:lnSpc>
                <a:spcPts val="2800"/>
              </a:lnSpc>
            </a:pPr>
            <a:r>
              <a:rPr lang="en-US" b="true" sz="2000">
                <a:solidFill>
                  <a:srgbClr val="25671E"/>
                </a:solidFill>
                <a:latin typeface="Poppins Bold"/>
                <a:ea typeface="Poppins Bold"/>
                <a:cs typeface="Poppins Bold"/>
                <a:sym typeface="Poppins Bold"/>
              </a:rPr>
              <a:t>      </a:t>
            </a:r>
            <a:r>
              <a:rPr lang="en-US" b="true" sz="2000">
                <a:solidFill>
                  <a:srgbClr val="25671E"/>
                </a:solidFill>
                <a:latin typeface="Poppins Bold"/>
                <a:ea typeface="Poppins Bold"/>
                <a:cs typeface="Poppins Bold"/>
                <a:sym typeface="Poppins Bold"/>
              </a:rPr>
              <a:t>🔵 R</a:t>
            </a:r>
            <a:r>
              <a:rPr lang="en-US" b="true" sz="2000">
                <a:solidFill>
                  <a:srgbClr val="25671E"/>
                </a:solidFill>
                <a:latin typeface="Poppins Bold"/>
                <a:ea typeface="Poppins Bold"/>
                <a:cs typeface="Poppins Bold"/>
                <a:sym typeface="Poppins Bold"/>
              </a:rPr>
              <a:t>ecovery (Post-Disaster)</a:t>
            </a:r>
          </a:p>
          <a:p>
            <a:pPr algn="just">
              <a:lnSpc>
                <a:spcPts val="2800"/>
              </a:lnSpc>
              <a:spcBef>
                <a:spcPct val="0"/>
              </a:spcBef>
            </a:pPr>
          </a:p>
        </p:txBody>
      </p:sp>
      <p:sp>
        <p:nvSpPr>
          <p:cNvPr name="TextBox 15" id="15"/>
          <p:cNvSpPr txBox="true"/>
          <p:nvPr/>
        </p:nvSpPr>
        <p:spPr>
          <a:xfrm rot="0">
            <a:off x="1660159" y="3035904"/>
            <a:ext cx="8161867" cy="1762005"/>
          </a:xfrm>
          <a:prstGeom prst="rect">
            <a:avLst/>
          </a:prstGeom>
        </p:spPr>
        <p:txBody>
          <a:bodyPr anchor="t" rtlCol="false" tIns="0" lIns="0" bIns="0" rIns="0">
            <a:spAutoFit/>
          </a:bodyPr>
          <a:lstStyle/>
          <a:p>
            <a:pPr algn="l">
              <a:lnSpc>
                <a:spcPts val="6600"/>
              </a:lnSpc>
            </a:pPr>
            <a:r>
              <a:rPr lang="en-US" sz="7500" b="true">
                <a:solidFill>
                  <a:srgbClr val="25671E"/>
                </a:solidFill>
                <a:latin typeface="Montserrat Bold"/>
                <a:ea typeface="Montserrat Bold"/>
                <a:cs typeface="Montserrat Bold"/>
                <a:sym typeface="Montserrat Bold"/>
              </a:rPr>
              <a:t>PERAN DIVISI SRG</a:t>
            </a:r>
          </a:p>
        </p:txBody>
      </p:sp>
      <p:sp>
        <p:nvSpPr>
          <p:cNvPr name="TextBox 16" id="16"/>
          <p:cNvSpPr txBox="true"/>
          <p:nvPr/>
        </p:nvSpPr>
        <p:spPr>
          <a:xfrm rot="0">
            <a:off x="10434390" y="2486092"/>
            <a:ext cx="6379508" cy="2483268"/>
          </a:xfrm>
          <a:prstGeom prst="rect">
            <a:avLst/>
          </a:prstGeom>
        </p:spPr>
        <p:txBody>
          <a:bodyPr anchor="t" rtlCol="false" tIns="0" lIns="0" bIns="0" rIns="0">
            <a:spAutoFit/>
          </a:bodyPr>
          <a:lstStyle/>
          <a:p>
            <a:pPr algn="just">
              <a:lnSpc>
                <a:spcPts val="2800"/>
              </a:lnSpc>
            </a:pPr>
            <a:r>
              <a:rPr lang="en-US" sz="2000">
                <a:solidFill>
                  <a:srgbClr val="25671E"/>
                </a:solidFill>
                <a:latin typeface="Poppins"/>
                <a:ea typeface="Poppins"/>
                <a:cs typeface="Poppins"/>
                <a:sym typeface="Poppins"/>
              </a:rPr>
              <a:t>Divisi St</a:t>
            </a:r>
            <a:r>
              <a:rPr lang="en-US" sz="2000">
                <a:solidFill>
                  <a:srgbClr val="25671E"/>
                </a:solidFill>
                <a:latin typeface="Poppins"/>
                <a:ea typeface="Poppins"/>
                <a:cs typeface="Poppins"/>
                <a:sym typeface="Poppins"/>
              </a:rPr>
              <a:t>rategic Risk Governance (SRG) di </a:t>
            </a:r>
          </a:p>
          <a:p>
            <a:pPr algn="just">
              <a:lnSpc>
                <a:spcPts val="2800"/>
              </a:lnSpc>
              <a:spcBef>
                <a:spcPct val="0"/>
              </a:spcBef>
            </a:pPr>
            <a:r>
              <a:rPr lang="en-US" sz="2000">
                <a:solidFill>
                  <a:srgbClr val="25671E"/>
                </a:solidFill>
                <a:latin typeface="Poppins"/>
                <a:ea typeface="Poppins"/>
                <a:cs typeface="Poppins"/>
                <a:sym typeface="Poppins"/>
              </a:rPr>
              <a:t>Tsunami and Disaster Mitigation Research Center (TDMRC), Universitas Syiah Kuala, berperan dalam </a:t>
            </a:r>
            <a:r>
              <a:rPr lang="en-US" b="true" sz="2000">
                <a:solidFill>
                  <a:srgbClr val="25671E"/>
                </a:solidFill>
                <a:latin typeface="Poppins Bold"/>
                <a:ea typeface="Poppins Bold"/>
                <a:cs typeface="Poppins Bold"/>
                <a:sym typeface="Poppins Bold"/>
              </a:rPr>
              <a:t>mengembangkan tata kelola risiko berbasis data dan informasi yang kolaboratif, sinergis, serta berorientasi pada peningkatan ketahanan masyarakat terhadap bencana</a:t>
            </a:r>
            <a:r>
              <a:rPr lang="en-US" sz="2000">
                <a:solidFill>
                  <a:srgbClr val="25671E"/>
                </a:solidFill>
                <a:latin typeface="Poppins"/>
                <a:ea typeface="Poppins"/>
                <a:cs typeface="Poppins"/>
                <a:sym typeface="Poppins"/>
              </a:rPr>
              <a:t>.</a:t>
            </a:r>
          </a:p>
        </p:txBody>
      </p:sp>
      <p:grpSp>
        <p:nvGrpSpPr>
          <p:cNvPr name="Group 17" id="17"/>
          <p:cNvGrpSpPr/>
          <p:nvPr/>
        </p:nvGrpSpPr>
        <p:grpSpPr>
          <a:xfrm rot="0">
            <a:off x="14873845" y="472819"/>
            <a:ext cx="2655903" cy="1111762"/>
            <a:chOff x="0" y="0"/>
            <a:chExt cx="3541204" cy="1482349"/>
          </a:xfrm>
        </p:grpSpPr>
        <p:grpSp>
          <p:nvGrpSpPr>
            <p:cNvPr name="Group 18" id="18"/>
            <p:cNvGrpSpPr/>
            <p:nvPr/>
          </p:nvGrpSpPr>
          <p:grpSpPr>
            <a:xfrm rot="0">
              <a:off x="0" y="0"/>
              <a:ext cx="3541204" cy="1482349"/>
              <a:chOff x="0" y="0"/>
              <a:chExt cx="867283" cy="362966"/>
            </a:xfrm>
          </p:grpSpPr>
          <p:sp>
            <p:nvSpPr>
              <p:cNvPr name="Freeform 19" id="19"/>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0" id="20"/>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1" id="21"/>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8"/>
              <a:stretch>
                <a:fillRect l="0" t="0" r="0" b="0"/>
              </a:stretch>
            </a:blipFill>
          </p:spPr>
        </p:sp>
      </p:gr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0"/>
            <a:ext cx="6981710" cy="9606259"/>
            <a:chOff x="0" y="0"/>
            <a:chExt cx="1081650" cy="1488261"/>
          </a:xfrm>
        </p:grpSpPr>
        <p:sp>
          <p:nvSpPr>
            <p:cNvPr name="Freeform 3" id="3"/>
            <p:cNvSpPr/>
            <p:nvPr/>
          </p:nvSpPr>
          <p:spPr>
            <a:xfrm flipH="false" flipV="false" rot="0">
              <a:off x="0" y="0"/>
              <a:ext cx="1081650" cy="1488261"/>
            </a:xfrm>
            <a:custGeom>
              <a:avLst/>
              <a:gdLst/>
              <a:ahLst/>
              <a:cxnLst/>
              <a:rect r="r" b="b" t="t" l="l"/>
              <a:pathLst>
                <a:path h="1488261" w="1081650">
                  <a:moveTo>
                    <a:pt x="25504" y="0"/>
                  </a:moveTo>
                  <a:lnTo>
                    <a:pt x="1056145" y="0"/>
                  </a:lnTo>
                  <a:cubicBezTo>
                    <a:pt x="1062909" y="0"/>
                    <a:pt x="1069397" y="2687"/>
                    <a:pt x="1074180" y="7470"/>
                  </a:cubicBezTo>
                  <a:cubicBezTo>
                    <a:pt x="1078963" y="12253"/>
                    <a:pt x="1081650" y="18740"/>
                    <a:pt x="1081650" y="25504"/>
                  </a:cubicBezTo>
                  <a:lnTo>
                    <a:pt x="1081650" y="1462756"/>
                  </a:lnTo>
                  <a:cubicBezTo>
                    <a:pt x="1081650" y="1476842"/>
                    <a:pt x="1070231" y="1488261"/>
                    <a:pt x="1056145" y="1488261"/>
                  </a:cubicBezTo>
                  <a:lnTo>
                    <a:pt x="25504" y="1488261"/>
                  </a:lnTo>
                  <a:cubicBezTo>
                    <a:pt x="11419" y="1488261"/>
                    <a:pt x="0" y="1476842"/>
                    <a:pt x="0" y="1462756"/>
                  </a:cubicBezTo>
                  <a:lnTo>
                    <a:pt x="0" y="25504"/>
                  </a:lnTo>
                  <a:cubicBezTo>
                    <a:pt x="0" y="11419"/>
                    <a:pt x="11419" y="0"/>
                    <a:pt x="25504" y="0"/>
                  </a:cubicBezTo>
                  <a:close/>
                </a:path>
              </a:pathLst>
            </a:custGeom>
            <a:blipFill>
              <a:blip r:embed="rId2"/>
              <a:stretch>
                <a:fillRect l="-42510" t="0" r="-35948" b="0"/>
              </a:stretch>
            </a:blipFill>
          </p:spPr>
        </p:sp>
      </p:grpSp>
      <p:grpSp>
        <p:nvGrpSpPr>
          <p:cNvPr name="Group 4" id="4"/>
          <p:cNvGrpSpPr/>
          <p:nvPr/>
        </p:nvGrpSpPr>
        <p:grpSpPr>
          <a:xfrm rot="0">
            <a:off x="-446052" y="9606259"/>
            <a:ext cx="19180103" cy="1556799"/>
            <a:chOff x="0" y="0"/>
            <a:chExt cx="3946523" cy="320329"/>
          </a:xfrm>
        </p:grpSpPr>
        <p:sp>
          <p:nvSpPr>
            <p:cNvPr name="Freeform 5" id="5"/>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6" id="6"/>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675606" y="1143223"/>
            <a:ext cx="3044379" cy="509242"/>
          </a:xfrm>
          <a:custGeom>
            <a:avLst/>
            <a:gdLst/>
            <a:ahLst/>
            <a:cxnLst/>
            <a:rect r="r" b="b" t="t" l="l"/>
            <a:pathLst>
              <a:path h="509242" w="3044379">
                <a:moveTo>
                  <a:pt x="0" y="0"/>
                </a:moveTo>
                <a:lnTo>
                  <a:pt x="3044379" y="0"/>
                </a:lnTo>
                <a:lnTo>
                  <a:pt x="3044379" y="509242"/>
                </a:lnTo>
                <a:lnTo>
                  <a:pt x="0" y="5092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3181418" y="4991100"/>
            <a:ext cx="3354240" cy="4615159"/>
            <a:chOff x="0" y="0"/>
            <a:chExt cx="1081650" cy="1488261"/>
          </a:xfrm>
        </p:grpSpPr>
        <p:sp>
          <p:nvSpPr>
            <p:cNvPr name="Freeform 9" id="9"/>
            <p:cNvSpPr/>
            <p:nvPr/>
          </p:nvSpPr>
          <p:spPr>
            <a:xfrm flipH="false" flipV="false" rot="0">
              <a:off x="0" y="0"/>
              <a:ext cx="1081650" cy="1488261"/>
            </a:xfrm>
            <a:custGeom>
              <a:avLst/>
              <a:gdLst/>
              <a:ahLst/>
              <a:cxnLst/>
              <a:rect r="r" b="b" t="t" l="l"/>
              <a:pathLst>
                <a:path h="1488261" w="1081650">
                  <a:moveTo>
                    <a:pt x="53086" y="0"/>
                  </a:moveTo>
                  <a:lnTo>
                    <a:pt x="1028563" y="0"/>
                  </a:lnTo>
                  <a:cubicBezTo>
                    <a:pt x="1042643" y="0"/>
                    <a:pt x="1056145" y="5593"/>
                    <a:pt x="1066101" y="15549"/>
                  </a:cubicBezTo>
                  <a:cubicBezTo>
                    <a:pt x="1076057" y="25504"/>
                    <a:pt x="1081650" y="39007"/>
                    <a:pt x="1081650" y="53086"/>
                  </a:cubicBezTo>
                  <a:lnTo>
                    <a:pt x="1081650" y="1435175"/>
                  </a:lnTo>
                  <a:cubicBezTo>
                    <a:pt x="1081650" y="1449254"/>
                    <a:pt x="1076057" y="1462757"/>
                    <a:pt x="1066101" y="1472712"/>
                  </a:cubicBezTo>
                  <a:cubicBezTo>
                    <a:pt x="1056145" y="1482668"/>
                    <a:pt x="1042643" y="1488261"/>
                    <a:pt x="1028563" y="1488261"/>
                  </a:cubicBezTo>
                  <a:lnTo>
                    <a:pt x="53086" y="1488261"/>
                  </a:lnTo>
                  <a:cubicBezTo>
                    <a:pt x="23768" y="1488261"/>
                    <a:pt x="0" y="1464493"/>
                    <a:pt x="0" y="1435175"/>
                  </a:cubicBezTo>
                  <a:lnTo>
                    <a:pt x="0" y="53086"/>
                  </a:lnTo>
                  <a:cubicBezTo>
                    <a:pt x="0" y="39007"/>
                    <a:pt x="5593" y="25504"/>
                    <a:pt x="15549" y="15549"/>
                  </a:cubicBezTo>
                  <a:cubicBezTo>
                    <a:pt x="25504" y="5593"/>
                    <a:pt x="39007" y="0"/>
                    <a:pt x="53086" y="0"/>
                  </a:cubicBezTo>
                  <a:close/>
                </a:path>
              </a:pathLst>
            </a:custGeom>
            <a:blipFill>
              <a:blip r:embed="rId5"/>
              <a:stretch>
                <a:fillRect l="-69726" t="0" r="-74880" b="0"/>
              </a:stretch>
            </a:blipFill>
            <a:ln w="133350" cap="rnd">
              <a:solidFill>
                <a:srgbClr val="FFFFFF"/>
              </a:solidFill>
              <a:prstDash val="solid"/>
              <a:round/>
            </a:ln>
          </p:spPr>
        </p:sp>
      </p:grpSp>
      <p:sp>
        <p:nvSpPr>
          <p:cNvPr name="Freeform 10" id="10"/>
          <p:cNvSpPr/>
          <p:nvPr/>
        </p:nvSpPr>
        <p:spPr>
          <a:xfrm flipH="false" flipV="false" rot="0">
            <a:off x="7222550" y="7855780"/>
            <a:ext cx="7315200" cy="704919"/>
          </a:xfrm>
          <a:custGeom>
            <a:avLst/>
            <a:gdLst/>
            <a:ahLst/>
            <a:cxnLst/>
            <a:rect r="r" b="b" t="t" l="l"/>
            <a:pathLst>
              <a:path h="704919" w="7315200">
                <a:moveTo>
                  <a:pt x="0" y="0"/>
                </a:moveTo>
                <a:lnTo>
                  <a:pt x="7315200" y="0"/>
                </a:lnTo>
                <a:lnTo>
                  <a:pt x="7315200" y="704919"/>
                </a:lnTo>
                <a:lnTo>
                  <a:pt x="0" y="704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7222550" y="6446234"/>
            <a:ext cx="8709357" cy="1762005"/>
          </a:xfrm>
          <a:prstGeom prst="rect">
            <a:avLst/>
          </a:prstGeom>
        </p:spPr>
        <p:txBody>
          <a:bodyPr anchor="t" rtlCol="false" tIns="0" lIns="0" bIns="0" rIns="0">
            <a:spAutoFit/>
          </a:bodyPr>
          <a:lstStyle/>
          <a:p>
            <a:pPr algn="l">
              <a:lnSpc>
                <a:spcPts val="6600"/>
              </a:lnSpc>
            </a:pPr>
            <a:r>
              <a:rPr lang="en-US" sz="7500" b="true">
                <a:solidFill>
                  <a:srgbClr val="FFFFFF"/>
                </a:solidFill>
                <a:latin typeface="Montserrat Bold"/>
                <a:ea typeface="Montserrat Bold"/>
                <a:cs typeface="Montserrat Bold"/>
                <a:sym typeface="Montserrat Bold"/>
              </a:rPr>
              <a:t>TUJUAN DIVISI SRG</a:t>
            </a:r>
          </a:p>
        </p:txBody>
      </p:sp>
      <p:sp>
        <p:nvSpPr>
          <p:cNvPr name="TextBox 12" id="12"/>
          <p:cNvSpPr txBox="true"/>
          <p:nvPr/>
        </p:nvSpPr>
        <p:spPr>
          <a:xfrm rot="0">
            <a:off x="1428750" y="1200509"/>
            <a:ext cx="2142187"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Larana, Inc.</a:t>
            </a:r>
          </a:p>
        </p:txBody>
      </p:sp>
      <p:grpSp>
        <p:nvGrpSpPr>
          <p:cNvPr name="Group 13" id="13"/>
          <p:cNvGrpSpPr/>
          <p:nvPr/>
        </p:nvGrpSpPr>
        <p:grpSpPr>
          <a:xfrm rot="0">
            <a:off x="7021225" y="1561501"/>
            <a:ext cx="9651129" cy="1881160"/>
            <a:chOff x="0" y="0"/>
            <a:chExt cx="2552820" cy="497585"/>
          </a:xfrm>
        </p:grpSpPr>
        <p:sp>
          <p:nvSpPr>
            <p:cNvPr name="Freeform 14" id="14"/>
            <p:cNvSpPr/>
            <p:nvPr/>
          </p:nvSpPr>
          <p:spPr>
            <a:xfrm flipH="false" flipV="false" rot="0">
              <a:off x="0" y="0"/>
              <a:ext cx="2552820" cy="497585"/>
            </a:xfrm>
            <a:custGeom>
              <a:avLst/>
              <a:gdLst/>
              <a:ahLst/>
              <a:cxnLst/>
              <a:rect r="r" b="b" t="t" l="l"/>
              <a:pathLst>
                <a:path h="497585" w="2552820">
                  <a:moveTo>
                    <a:pt x="15668" y="0"/>
                  </a:moveTo>
                  <a:lnTo>
                    <a:pt x="2537152" y="0"/>
                  </a:lnTo>
                  <a:cubicBezTo>
                    <a:pt x="2545805" y="0"/>
                    <a:pt x="2552820" y="7015"/>
                    <a:pt x="2552820" y="15668"/>
                  </a:cubicBezTo>
                  <a:lnTo>
                    <a:pt x="2552820" y="481918"/>
                  </a:lnTo>
                  <a:cubicBezTo>
                    <a:pt x="2552820" y="486073"/>
                    <a:pt x="2551169" y="490058"/>
                    <a:pt x="2548231" y="492997"/>
                  </a:cubicBezTo>
                  <a:cubicBezTo>
                    <a:pt x="2545293" y="495935"/>
                    <a:pt x="2541307" y="497585"/>
                    <a:pt x="2537152" y="497585"/>
                  </a:cubicBezTo>
                  <a:lnTo>
                    <a:pt x="15668" y="497585"/>
                  </a:lnTo>
                  <a:cubicBezTo>
                    <a:pt x="7015" y="497585"/>
                    <a:pt x="0" y="490571"/>
                    <a:pt x="0" y="481918"/>
                  </a:cubicBezTo>
                  <a:lnTo>
                    <a:pt x="0" y="15668"/>
                  </a:lnTo>
                  <a:cubicBezTo>
                    <a:pt x="0" y="7015"/>
                    <a:pt x="7015" y="0"/>
                    <a:pt x="15668" y="0"/>
                  </a:cubicBezTo>
                  <a:close/>
                </a:path>
              </a:pathLst>
            </a:custGeom>
            <a:solidFill>
              <a:srgbClr val="FFFFFF"/>
            </a:solidFill>
          </p:spPr>
        </p:sp>
        <p:sp>
          <p:nvSpPr>
            <p:cNvPr name="TextBox 15" id="15"/>
            <p:cNvSpPr txBox="true"/>
            <p:nvPr/>
          </p:nvSpPr>
          <p:spPr>
            <a:xfrm>
              <a:off x="0" y="-38100"/>
              <a:ext cx="2552820" cy="53568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7021225" y="4125136"/>
            <a:ext cx="9548326" cy="1759181"/>
            <a:chOff x="0" y="0"/>
            <a:chExt cx="2525627" cy="465321"/>
          </a:xfrm>
        </p:grpSpPr>
        <p:sp>
          <p:nvSpPr>
            <p:cNvPr name="Freeform 17" id="17"/>
            <p:cNvSpPr/>
            <p:nvPr/>
          </p:nvSpPr>
          <p:spPr>
            <a:xfrm flipH="false" flipV="false" rot="0">
              <a:off x="0" y="0"/>
              <a:ext cx="2525627" cy="465321"/>
            </a:xfrm>
            <a:custGeom>
              <a:avLst/>
              <a:gdLst/>
              <a:ahLst/>
              <a:cxnLst/>
              <a:rect r="r" b="b" t="t" l="l"/>
              <a:pathLst>
                <a:path h="465321" w="2525627">
                  <a:moveTo>
                    <a:pt x="15836" y="0"/>
                  </a:moveTo>
                  <a:lnTo>
                    <a:pt x="2509791" y="0"/>
                  </a:lnTo>
                  <a:cubicBezTo>
                    <a:pt x="2513991" y="0"/>
                    <a:pt x="2518019" y="1668"/>
                    <a:pt x="2520989" y="4638"/>
                  </a:cubicBezTo>
                  <a:cubicBezTo>
                    <a:pt x="2523959" y="7608"/>
                    <a:pt x="2525627" y="11636"/>
                    <a:pt x="2525627" y="15836"/>
                  </a:cubicBezTo>
                  <a:lnTo>
                    <a:pt x="2525627" y="449485"/>
                  </a:lnTo>
                  <a:cubicBezTo>
                    <a:pt x="2525627" y="453685"/>
                    <a:pt x="2523959" y="457713"/>
                    <a:pt x="2520989" y="460682"/>
                  </a:cubicBezTo>
                  <a:cubicBezTo>
                    <a:pt x="2518019" y="463652"/>
                    <a:pt x="2513991" y="465321"/>
                    <a:pt x="2509791" y="465321"/>
                  </a:cubicBezTo>
                  <a:lnTo>
                    <a:pt x="15836" y="465321"/>
                  </a:lnTo>
                  <a:cubicBezTo>
                    <a:pt x="11636" y="465321"/>
                    <a:pt x="7608" y="463652"/>
                    <a:pt x="4638" y="460682"/>
                  </a:cubicBezTo>
                  <a:cubicBezTo>
                    <a:pt x="1668" y="457713"/>
                    <a:pt x="0" y="453685"/>
                    <a:pt x="0" y="449485"/>
                  </a:cubicBezTo>
                  <a:lnTo>
                    <a:pt x="0" y="15836"/>
                  </a:lnTo>
                  <a:cubicBezTo>
                    <a:pt x="0" y="11636"/>
                    <a:pt x="1668" y="7608"/>
                    <a:pt x="4638" y="4638"/>
                  </a:cubicBezTo>
                  <a:cubicBezTo>
                    <a:pt x="7608" y="1668"/>
                    <a:pt x="11636" y="0"/>
                    <a:pt x="15836" y="0"/>
                  </a:cubicBezTo>
                  <a:close/>
                </a:path>
              </a:pathLst>
            </a:custGeom>
            <a:solidFill>
              <a:srgbClr val="FFFFFF"/>
            </a:solidFill>
          </p:spPr>
        </p:sp>
        <p:sp>
          <p:nvSpPr>
            <p:cNvPr name="TextBox 18" id="18"/>
            <p:cNvSpPr txBox="true"/>
            <p:nvPr/>
          </p:nvSpPr>
          <p:spPr>
            <a:xfrm>
              <a:off x="0" y="-38100"/>
              <a:ext cx="2525627" cy="50342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7222550" y="1763109"/>
            <a:ext cx="9347002" cy="4244975"/>
          </a:xfrm>
          <a:prstGeom prst="rect">
            <a:avLst/>
          </a:prstGeom>
        </p:spPr>
        <p:txBody>
          <a:bodyPr anchor="t" rtlCol="false" tIns="0" lIns="0" bIns="0" rIns="0">
            <a:spAutoFit/>
          </a:bodyPr>
          <a:lstStyle/>
          <a:p>
            <a:pPr algn="just" marL="431801" indent="-215900" lvl="1">
              <a:lnSpc>
                <a:spcPts val="2800"/>
              </a:lnSpc>
              <a:buAutoNum type="arabicPeriod" startAt="1"/>
            </a:pPr>
            <a:r>
              <a:rPr lang="en-US" b="true" sz="2000">
                <a:solidFill>
                  <a:srgbClr val="25671E"/>
                </a:solidFill>
                <a:latin typeface="Poppins Bold"/>
                <a:ea typeface="Poppins Bold"/>
                <a:cs typeface="Poppins Bold"/>
                <a:sym typeface="Poppins Bold"/>
              </a:rPr>
              <a:t> Mengembangkan Tata Kelola Risiko Strategis</a:t>
            </a:r>
          </a:p>
          <a:p>
            <a:pPr algn="just">
              <a:lnSpc>
                <a:spcPts val="2800"/>
              </a:lnSpc>
            </a:pPr>
            <a:r>
              <a:rPr lang="en-US" sz="2000">
                <a:solidFill>
                  <a:srgbClr val="25671E"/>
                </a:solidFill>
                <a:latin typeface="Poppins"/>
                <a:ea typeface="Poppins"/>
                <a:cs typeface="Poppins"/>
                <a:sym typeface="Poppins"/>
              </a:rPr>
              <a:t>Menghasilkan kebijakan, strategi, dan instrumen tata kelola risiko berbasis bukti untuk mendukung pemerintah, sektor swasta, organisasi, dan masyarakat dalam menghadapi risiko bencana.</a:t>
            </a:r>
          </a:p>
          <a:p>
            <a:pPr algn="just">
              <a:lnSpc>
                <a:spcPts val="2800"/>
              </a:lnSpc>
            </a:pPr>
          </a:p>
          <a:p>
            <a:pPr algn="just">
              <a:lnSpc>
                <a:spcPts val="2800"/>
              </a:lnSpc>
            </a:pPr>
          </a:p>
          <a:p>
            <a:pPr algn="just">
              <a:lnSpc>
                <a:spcPts val="2800"/>
              </a:lnSpc>
            </a:pPr>
          </a:p>
          <a:p>
            <a:pPr algn="l" marL="431801" indent="-215900" lvl="1">
              <a:lnSpc>
                <a:spcPts val="2800"/>
              </a:lnSpc>
              <a:buAutoNum type="arabicPeriod" startAt="1"/>
            </a:pPr>
            <a:r>
              <a:rPr lang="en-US" sz="2000">
                <a:solidFill>
                  <a:srgbClr val="25671E"/>
                </a:solidFill>
                <a:latin typeface="Poppins"/>
                <a:ea typeface="Poppins"/>
                <a:cs typeface="Poppins"/>
                <a:sym typeface="Poppins"/>
              </a:rPr>
              <a:t> </a:t>
            </a:r>
            <a:r>
              <a:rPr lang="en-US" b="true" sz="2000">
                <a:solidFill>
                  <a:srgbClr val="25671E"/>
                </a:solidFill>
                <a:latin typeface="Poppins Bold"/>
                <a:ea typeface="Poppins Bold"/>
                <a:cs typeface="Poppins Bold"/>
                <a:sym typeface="Poppins Bold"/>
              </a:rPr>
              <a:t>Mendorong Pengambilan Keputusan Berbasis Data</a:t>
            </a:r>
          </a:p>
          <a:p>
            <a:pPr algn="l">
              <a:lnSpc>
                <a:spcPts val="2800"/>
              </a:lnSpc>
            </a:pPr>
            <a:r>
              <a:rPr lang="en-US" sz="2000">
                <a:solidFill>
                  <a:srgbClr val="25671E"/>
                </a:solidFill>
                <a:latin typeface="Poppins"/>
                <a:ea typeface="Poppins"/>
                <a:cs typeface="Poppins"/>
                <a:sym typeface="Poppins"/>
              </a:rPr>
              <a:t>Memanfaatkan data, model prediktif, dan mekanisme pendanaan risiko untuk mendukung pengambilan keputusan yang efektif serta meningkatkan ketahanan terhadap bencana.</a:t>
            </a:r>
          </a:p>
          <a:p>
            <a:pPr algn="l">
              <a:lnSpc>
                <a:spcPts val="2800"/>
              </a:lnSpc>
              <a:spcBef>
                <a:spcPct val="0"/>
              </a:spcBef>
            </a:pPr>
          </a:p>
        </p:txBody>
      </p:sp>
      <p:grpSp>
        <p:nvGrpSpPr>
          <p:cNvPr name="Group 20" id="20"/>
          <p:cNvGrpSpPr/>
          <p:nvPr/>
        </p:nvGrpSpPr>
        <p:grpSpPr>
          <a:xfrm rot="0">
            <a:off x="1028700" y="472819"/>
            <a:ext cx="2655903" cy="1111762"/>
            <a:chOff x="0" y="0"/>
            <a:chExt cx="3541204" cy="1482349"/>
          </a:xfrm>
        </p:grpSpPr>
        <p:grpSp>
          <p:nvGrpSpPr>
            <p:cNvPr name="Group 21" id="21"/>
            <p:cNvGrpSpPr/>
            <p:nvPr/>
          </p:nvGrpSpPr>
          <p:grpSpPr>
            <a:xfrm rot="0">
              <a:off x="0" y="0"/>
              <a:ext cx="3541204" cy="1482349"/>
              <a:chOff x="0" y="0"/>
              <a:chExt cx="867283" cy="362966"/>
            </a:xfrm>
          </p:grpSpPr>
          <p:sp>
            <p:nvSpPr>
              <p:cNvPr name="Freeform 22" id="22"/>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23" id="23"/>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8"/>
              <a:stretch>
                <a:fillRect l="0" t="0" r="0" b="0"/>
              </a:stretch>
            </a:blipFill>
          </p:spPr>
        </p:sp>
      </p:grpSp>
      <p:sp>
        <p:nvSpPr>
          <p:cNvPr name="TextBox 25" id="2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005358" y="2556065"/>
            <a:ext cx="6547656" cy="940481"/>
          </a:xfrm>
          <a:custGeom>
            <a:avLst/>
            <a:gdLst/>
            <a:ahLst/>
            <a:cxnLst/>
            <a:rect r="r" b="b" t="t" l="l"/>
            <a:pathLst>
              <a:path h="940481" w="6547656">
                <a:moveTo>
                  <a:pt x="0" y="0"/>
                </a:moveTo>
                <a:lnTo>
                  <a:pt x="6547655" y="0"/>
                </a:lnTo>
                <a:lnTo>
                  <a:pt x="6547655" y="940481"/>
                </a:lnTo>
                <a:lnTo>
                  <a:pt x="0" y="940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4349861" y="4203019"/>
            <a:ext cx="6547656" cy="940481"/>
          </a:xfrm>
          <a:custGeom>
            <a:avLst/>
            <a:gdLst/>
            <a:ahLst/>
            <a:cxnLst/>
            <a:rect r="r" b="b" t="t" l="l"/>
            <a:pathLst>
              <a:path h="940481" w="6547656">
                <a:moveTo>
                  <a:pt x="6547656" y="0"/>
                </a:moveTo>
                <a:lnTo>
                  <a:pt x="0" y="0"/>
                </a:lnTo>
                <a:lnTo>
                  <a:pt x="0" y="940481"/>
                </a:lnTo>
                <a:lnTo>
                  <a:pt x="6547656" y="940481"/>
                </a:lnTo>
                <a:lnTo>
                  <a:pt x="654765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163303" y="2710222"/>
            <a:ext cx="6103308" cy="6369676"/>
          </a:xfrm>
          <a:custGeom>
            <a:avLst/>
            <a:gdLst/>
            <a:ahLst/>
            <a:cxnLst/>
            <a:rect r="r" b="b" t="t" l="l"/>
            <a:pathLst>
              <a:path h="6369676" w="6103308">
                <a:moveTo>
                  <a:pt x="0" y="0"/>
                </a:moveTo>
                <a:lnTo>
                  <a:pt x="6103308" y="0"/>
                </a:lnTo>
                <a:lnTo>
                  <a:pt x="6103308" y="6369676"/>
                </a:lnTo>
                <a:lnTo>
                  <a:pt x="0" y="63696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063067" y="797284"/>
            <a:ext cx="8161867" cy="1762125"/>
          </a:xfrm>
          <a:prstGeom prst="rect">
            <a:avLst/>
          </a:prstGeom>
        </p:spPr>
        <p:txBody>
          <a:bodyPr anchor="t" rtlCol="false" tIns="0" lIns="0" bIns="0" rIns="0">
            <a:spAutoFit/>
          </a:bodyPr>
          <a:lstStyle/>
          <a:p>
            <a:pPr algn="ctr">
              <a:lnSpc>
                <a:spcPts val="6600"/>
              </a:lnSpc>
            </a:pPr>
            <a:r>
              <a:rPr lang="en-US" b="true" sz="7500">
                <a:solidFill>
                  <a:srgbClr val="FFFFFF"/>
                </a:solidFill>
                <a:latin typeface="Montserrat Bold"/>
                <a:ea typeface="Montserrat Bold"/>
                <a:cs typeface="Montserrat Bold"/>
                <a:sym typeface="Montserrat Bold"/>
              </a:rPr>
              <a:t>OUTCOME RESEARCH</a:t>
            </a:r>
          </a:p>
        </p:txBody>
      </p:sp>
      <p:sp>
        <p:nvSpPr>
          <p:cNvPr name="TextBox 9" id="9"/>
          <p:cNvSpPr txBox="true"/>
          <p:nvPr/>
        </p:nvSpPr>
        <p:spPr>
          <a:xfrm rot="0">
            <a:off x="8315441" y="3435415"/>
            <a:ext cx="1719099" cy="578319"/>
          </a:xfrm>
          <a:prstGeom prst="rect">
            <a:avLst/>
          </a:prstGeom>
        </p:spPr>
        <p:txBody>
          <a:bodyPr anchor="t" rtlCol="false" tIns="0" lIns="0" bIns="0" rIns="0">
            <a:spAutoFit/>
          </a:bodyPr>
          <a:lstStyle/>
          <a:p>
            <a:pPr algn="ctr">
              <a:lnSpc>
                <a:spcPts val="2364"/>
              </a:lnSpc>
              <a:spcBef>
                <a:spcPct val="0"/>
              </a:spcBef>
            </a:pPr>
            <a:r>
              <a:rPr lang="en-US" sz="1688">
                <a:solidFill>
                  <a:srgbClr val="FFFFFF"/>
                </a:solidFill>
                <a:latin typeface="Open Sans"/>
                <a:ea typeface="Open Sans"/>
                <a:cs typeface="Open Sans"/>
                <a:sym typeface="Open Sans"/>
              </a:rPr>
              <a:t>🏛 </a:t>
            </a:r>
            <a:r>
              <a:rPr lang="en-US" b="true" sz="1688">
                <a:solidFill>
                  <a:srgbClr val="FFFFFF"/>
                </a:solidFill>
                <a:latin typeface="Open Sans Bold"/>
                <a:ea typeface="Open Sans Bold"/>
                <a:cs typeface="Open Sans Bold"/>
                <a:sym typeface="Open Sans Bold"/>
              </a:rPr>
              <a:t>Policy &amp; Governance</a:t>
            </a:r>
          </a:p>
        </p:txBody>
      </p:sp>
      <p:sp>
        <p:nvSpPr>
          <p:cNvPr name="TextBox 10" id="10"/>
          <p:cNvSpPr txBox="true"/>
          <p:nvPr/>
        </p:nvSpPr>
        <p:spPr>
          <a:xfrm rot="0">
            <a:off x="6419279" y="4666631"/>
            <a:ext cx="1719099"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Partnership</a:t>
            </a:r>
          </a:p>
        </p:txBody>
      </p:sp>
      <p:sp>
        <p:nvSpPr>
          <p:cNvPr name="TextBox 11" id="11"/>
          <p:cNvSpPr txBox="true"/>
          <p:nvPr/>
        </p:nvSpPr>
        <p:spPr>
          <a:xfrm rot="0">
            <a:off x="6534261" y="6818411"/>
            <a:ext cx="1631074"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a:t>
            </a:r>
            <a:r>
              <a:rPr lang="en-US" b="true" sz="1688">
                <a:solidFill>
                  <a:srgbClr val="FFFFFF"/>
                </a:solidFill>
                <a:latin typeface="Open Sans Bold"/>
                <a:ea typeface="Open Sans Bold"/>
                <a:cs typeface="Open Sans Bold"/>
                <a:sym typeface="Open Sans Bold"/>
              </a:rPr>
              <a:t>Community </a:t>
            </a:r>
          </a:p>
        </p:txBody>
      </p:sp>
      <p:sp>
        <p:nvSpPr>
          <p:cNvPr name="TextBox 12" id="12"/>
          <p:cNvSpPr txBox="true"/>
          <p:nvPr/>
        </p:nvSpPr>
        <p:spPr>
          <a:xfrm rot="0">
            <a:off x="8424182" y="7952494"/>
            <a:ext cx="1581550" cy="286644"/>
          </a:xfrm>
          <a:prstGeom prst="rect">
            <a:avLst/>
          </a:prstGeom>
        </p:spPr>
        <p:txBody>
          <a:bodyPr anchor="t" rtlCol="false" tIns="0" lIns="0" bIns="0" rIns="0">
            <a:spAutoFit/>
          </a:bodyPr>
          <a:lstStyle/>
          <a:p>
            <a:pPr algn="ctr">
              <a:lnSpc>
                <a:spcPts val="2496"/>
              </a:lnSpc>
              <a:spcBef>
                <a:spcPct val="0"/>
              </a:spcBef>
            </a:pPr>
            <a:r>
              <a:rPr lang="en-US" b="true" sz="1783">
                <a:solidFill>
                  <a:srgbClr val="FFFFFF"/>
                </a:solidFill>
                <a:latin typeface="Open Sans Bold"/>
                <a:ea typeface="Open Sans Bold"/>
                <a:cs typeface="Open Sans Bold"/>
                <a:sym typeface="Open Sans Bold"/>
              </a:rPr>
              <a:t>🎓 Kn</a:t>
            </a:r>
            <a:r>
              <a:rPr lang="en-US" b="true" sz="1783">
                <a:solidFill>
                  <a:srgbClr val="FFFFFF"/>
                </a:solidFill>
                <a:latin typeface="Open Sans Bold"/>
                <a:ea typeface="Open Sans Bold"/>
                <a:cs typeface="Open Sans Bold"/>
                <a:sym typeface="Open Sans Bold"/>
              </a:rPr>
              <a:t>owledge</a:t>
            </a:r>
          </a:p>
        </p:txBody>
      </p:sp>
      <p:sp>
        <p:nvSpPr>
          <p:cNvPr name="TextBox 13" id="13"/>
          <p:cNvSpPr txBox="true"/>
          <p:nvPr/>
        </p:nvSpPr>
        <p:spPr>
          <a:xfrm rot="0">
            <a:off x="10420528" y="6818411"/>
            <a:ext cx="1324682"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Data &amp; AI</a:t>
            </a:r>
          </a:p>
        </p:txBody>
      </p:sp>
      <p:sp>
        <p:nvSpPr>
          <p:cNvPr name="TextBox 14" id="14"/>
          <p:cNvSpPr txBox="true"/>
          <p:nvPr/>
        </p:nvSpPr>
        <p:spPr>
          <a:xfrm rot="0">
            <a:off x="10223320" y="4708444"/>
            <a:ext cx="1719099"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DRFI</a:t>
            </a:r>
          </a:p>
        </p:txBody>
      </p:sp>
      <p:sp>
        <p:nvSpPr>
          <p:cNvPr name="TextBox 15" id="15"/>
          <p:cNvSpPr txBox="true"/>
          <p:nvPr/>
        </p:nvSpPr>
        <p:spPr>
          <a:xfrm rot="0">
            <a:off x="8266251" y="5633098"/>
            <a:ext cx="1897412" cy="57831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Strategic Risk Governance</a:t>
            </a: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7"/>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8"/>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58175" y="4325701"/>
            <a:ext cx="23665598" cy="5043363"/>
            <a:chOff x="0" y="0"/>
            <a:chExt cx="2852399" cy="607873"/>
          </a:xfrm>
        </p:grpSpPr>
        <p:sp>
          <p:nvSpPr>
            <p:cNvPr name="Freeform 3" id="3"/>
            <p:cNvSpPr/>
            <p:nvPr/>
          </p:nvSpPr>
          <p:spPr>
            <a:xfrm flipH="false" flipV="false" rot="0">
              <a:off x="0" y="0"/>
              <a:ext cx="2852399" cy="607873"/>
            </a:xfrm>
            <a:custGeom>
              <a:avLst/>
              <a:gdLst/>
              <a:ahLst/>
              <a:cxnLst/>
              <a:rect r="r" b="b" t="t" l="l"/>
              <a:pathLst>
                <a:path h="607873" w="2852399">
                  <a:moveTo>
                    <a:pt x="7524" y="0"/>
                  </a:moveTo>
                  <a:lnTo>
                    <a:pt x="2844874" y="0"/>
                  </a:lnTo>
                  <a:cubicBezTo>
                    <a:pt x="2846870" y="0"/>
                    <a:pt x="2848784" y="793"/>
                    <a:pt x="2850195" y="2204"/>
                  </a:cubicBezTo>
                  <a:cubicBezTo>
                    <a:pt x="2851606" y="3615"/>
                    <a:pt x="2852399" y="5529"/>
                    <a:pt x="2852399" y="7524"/>
                  </a:cubicBezTo>
                  <a:lnTo>
                    <a:pt x="2852399" y="600349"/>
                  </a:lnTo>
                  <a:cubicBezTo>
                    <a:pt x="2852399" y="602345"/>
                    <a:pt x="2851606" y="604258"/>
                    <a:pt x="2850195" y="605669"/>
                  </a:cubicBezTo>
                  <a:cubicBezTo>
                    <a:pt x="2848784" y="607080"/>
                    <a:pt x="2846870" y="607873"/>
                    <a:pt x="2844874" y="607873"/>
                  </a:cubicBezTo>
                  <a:lnTo>
                    <a:pt x="7524" y="607873"/>
                  </a:lnTo>
                  <a:cubicBezTo>
                    <a:pt x="5529" y="607873"/>
                    <a:pt x="3615" y="607080"/>
                    <a:pt x="2204" y="605669"/>
                  </a:cubicBezTo>
                  <a:cubicBezTo>
                    <a:pt x="793" y="604258"/>
                    <a:pt x="0" y="602345"/>
                    <a:pt x="0" y="600349"/>
                  </a:cubicBezTo>
                  <a:lnTo>
                    <a:pt x="0" y="7524"/>
                  </a:lnTo>
                  <a:cubicBezTo>
                    <a:pt x="0" y="5529"/>
                    <a:pt x="793" y="3615"/>
                    <a:pt x="2204" y="2204"/>
                  </a:cubicBezTo>
                  <a:cubicBezTo>
                    <a:pt x="3615" y="793"/>
                    <a:pt x="5529" y="0"/>
                    <a:pt x="7524" y="0"/>
                  </a:cubicBezTo>
                  <a:close/>
                </a:path>
              </a:pathLst>
            </a:custGeom>
            <a:blipFill>
              <a:blip r:embed="rId2"/>
              <a:stretch>
                <a:fillRect l="0" t="-106556" r="0" b="-106556"/>
              </a:stretch>
            </a:blipFill>
          </p:spPr>
        </p:sp>
      </p:grpSp>
      <p:sp>
        <p:nvSpPr>
          <p:cNvPr name="Freeform 4" id="4"/>
          <p:cNvSpPr/>
          <p:nvPr/>
        </p:nvSpPr>
        <p:spPr>
          <a:xfrm flipH="false" flipV="false" rot="0">
            <a:off x="675606" y="1143223"/>
            <a:ext cx="3044379" cy="509242"/>
          </a:xfrm>
          <a:custGeom>
            <a:avLst/>
            <a:gdLst/>
            <a:ahLst/>
            <a:cxnLst/>
            <a:rect r="r" b="b" t="t" l="l"/>
            <a:pathLst>
              <a:path h="509242" w="3044379">
                <a:moveTo>
                  <a:pt x="0" y="0"/>
                </a:moveTo>
                <a:lnTo>
                  <a:pt x="3044379" y="0"/>
                </a:lnTo>
                <a:lnTo>
                  <a:pt x="3044379" y="509242"/>
                </a:lnTo>
                <a:lnTo>
                  <a:pt x="0" y="5092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67350" y="4599743"/>
            <a:ext cx="7325343" cy="2247404"/>
            <a:chOff x="0" y="0"/>
            <a:chExt cx="1507272" cy="462429"/>
          </a:xfrm>
        </p:grpSpPr>
        <p:sp>
          <p:nvSpPr>
            <p:cNvPr name="Freeform 6" id="6"/>
            <p:cNvSpPr/>
            <p:nvPr/>
          </p:nvSpPr>
          <p:spPr>
            <a:xfrm flipH="false" flipV="false" rot="0">
              <a:off x="0" y="0"/>
              <a:ext cx="1507272" cy="462429"/>
            </a:xfrm>
            <a:custGeom>
              <a:avLst/>
              <a:gdLst/>
              <a:ahLst/>
              <a:cxnLst/>
              <a:rect r="r" b="b" t="t" l="l"/>
              <a:pathLst>
                <a:path h="462429" w="1507272">
                  <a:moveTo>
                    <a:pt x="20642" y="0"/>
                  </a:moveTo>
                  <a:lnTo>
                    <a:pt x="1486630" y="0"/>
                  </a:lnTo>
                  <a:cubicBezTo>
                    <a:pt x="1492105" y="0"/>
                    <a:pt x="1497355" y="2175"/>
                    <a:pt x="1501226" y="6046"/>
                  </a:cubicBezTo>
                  <a:cubicBezTo>
                    <a:pt x="1505097" y="9917"/>
                    <a:pt x="1507272" y="15167"/>
                    <a:pt x="1507272" y="20642"/>
                  </a:cubicBezTo>
                  <a:lnTo>
                    <a:pt x="1507272" y="441787"/>
                  </a:lnTo>
                  <a:cubicBezTo>
                    <a:pt x="1507272" y="447261"/>
                    <a:pt x="1505097" y="452512"/>
                    <a:pt x="1501226" y="456383"/>
                  </a:cubicBezTo>
                  <a:cubicBezTo>
                    <a:pt x="1497355" y="460254"/>
                    <a:pt x="1492105" y="462429"/>
                    <a:pt x="1486630" y="462429"/>
                  </a:cubicBezTo>
                  <a:lnTo>
                    <a:pt x="20642" y="462429"/>
                  </a:lnTo>
                  <a:cubicBezTo>
                    <a:pt x="15167" y="462429"/>
                    <a:pt x="9917" y="460254"/>
                    <a:pt x="6046" y="456383"/>
                  </a:cubicBezTo>
                  <a:cubicBezTo>
                    <a:pt x="2175" y="452512"/>
                    <a:pt x="0" y="447261"/>
                    <a:pt x="0" y="441787"/>
                  </a:cubicBezTo>
                  <a:lnTo>
                    <a:pt x="0" y="20642"/>
                  </a:lnTo>
                  <a:cubicBezTo>
                    <a:pt x="0" y="15167"/>
                    <a:pt x="2175" y="9917"/>
                    <a:pt x="6046" y="6046"/>
                  </a:cubicBezTo>
                  <a:cubicBezTo>
                    <a:pt x="9917" y="2175"/>
                    <a:pt x="15167" y="0"/>
                    <a:pt x="20642" y="0"/>
                  </a:cubicBezTo>
                  <a:close/>
                </a:path>
              </a:pathLst>
            </a:custGeom>
            <a:solidFill>
              <a:srgbClr val="25671E"/>
            </a:solidFill>
          </p:spPr>
        </p:sp>
        <p:sp>
          <p:nvSpPr>
            <p:cNvPr name="TextBox 7" id="7"/>
            <p:cNvSpPr txBox="true"/>
            <p:nvPr/>
          </p:nvSpPr>
          <p:spPr>
            <a:xfrm>
              <a:off x="0" y="-38100"/>
              <a:ext cx="1507272" cy="5005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572570" y="4599743"/>
            <a:ext cx="5133815" cy="2247640"/>
            <a:chOff x="0" y="0"/>
            <a:chExt cx="1056340" cy="462477"/>
          </a:xfrm>
        </p:grpSpPr>
        <p:sp>
          <p:nvSpPr>
            <p:cNvPr name="Freeform 9" id="9"/>
            <p:cNvSpPr/>
            <p:nvPr/>
          </p:nvSpPr>
          <p:spPr>
            <a:xfrm flipH="false" flipV="false" rot="0">
              <a:off x="0" y="0"/>
              <a:ext cx="1056340" cy="462477"/>
            </a:xfrm>
            <a:custGeom>
              <a:avLst/>
              <a:gdLst/>
              <a:ahLst/>
              <a:cxnLst/>
              <a:rect r="r" b="b" t="t" l="l"/>
              <a:pathLst>
                <a:path h="462477" w="1056340">
                  <a:moveTo>
                    <a:pt x="29454" y="0"/>
                  </a:moveTo>
                  <a:lnTo>
                    <a:pt x="1026887" y="0"/>
                  </a:lnTo>
                  <a:cubicBezTo>
                    <a:pt x="1043154" y="0"/>
                    <a:pt x="1056340" y="13187"/>
                    <a:pt x="1056340" y="29454"/>
                  </a:cubicBezTo>
                  <a:lnTo>
                    <a:pt x="1056340" y="433024"/>
                  </a:lnTo>
                  <a:cubicBezTo>
                    <a:pt x="1056340" y="449290"/>
                    <a:pt x="1043154" y="462477"/>
                    <a:pt x="1026887" y="462477"/>
                  </a:cubicBezTo>
                  <a:lnTo>
                    <a:pt x="29454" y="462477"/>
                  </a:lnTo>
                  <a:cubicBezTo>
                    <a:pt x="21642" y="462477"/>
                    <a:pt x="14150" y="459374"/>
                    <a:pt x="8627" y="453851"/>
                  </a:cubicBezTo>
                  <a:cubicBezTo>
                    <a:pt x="3103" y="448327"/>
                    <a:pt x="0" y="440835"/>
                    <a:pt x="0" y="433024"/>
                  </a:cubicBezTo>
                  <a:lnTo>
                    <a:pt x="0" y="29454"/>
                  </a:lnTo>
                  <a:cubicBezTo>
                    <a:pt x="0" y="13187"/>
                    <a:pt x="13187" y="0"/>
                    <a:pt x="29454" y="0"/>
                  </a:cubicBezTo>
                  <a:close/>
                </a:path>
              </a:pathLst>
            </a:custGeom>
            <a:solidFill>
              <a:srgbClr val="25671E"/>
            </a:solidFill>
          </p:spPr>
        </p:sp>
        <p:sp>
          <p:nvSpPr>
            <p:cNvPr name="TextBox 10" id="10"/>
            <p:cNvSpPr txBox="true"/>
            <p:nvPr/>
          </p:nvSpPr>
          <p:spPr>
            <a:xfrm>
              <a:off x="0" y="-38100"/>
              <a:ext cx="1056340" cy="5005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125485" y="4599743"/>
            <a:ext cx="5133815" cy="2228354"/>
            <a:chOff x="0" y="0"/>
            <a:chExt cx="1056340" cy="458509"/>
          </a:xfrm>
        </p:grpSpPr>
        <p:sp>
          <p:nvSpPr>
            <p:cNvPr name="Freeform 12" id="12"/>
            <p:cNvSpPr/>
            <p:nvPr/>
          </p:nvSpPr>
          <p:spPr>
            <a:xfrm flipH="false" flipV="false" rot="0">
              <a:off x="0" y="0"/>
              <a:ext cx="1056340" cy="458509"/>
            </a:xfrm>
            <a:custGeom>
              <a:avLst/>
              <a:gdLst/>
              <a:ahLst/>
              <a:cxnLst/>
              <a:rect r="r" b="b" t="t" l="l"/>
              <a:pathLst>
                <a:path h="458509" w="1056340">
                  <a:moveTo>
                    <a:pt x="29454" y="0"/>
                  </a:moveTo>
                  <a:lnTo>
                    <a:pt x="1026887" y="0"/>
                  </a:lnTo>
                  <a:cubicBezTo>
                    <a:pt x="1043154" y="0"/>
                    <a:pt x="1056340" y="13187"/>
                    <a:pt x="1056340" y="29454"/>
                  </a:cubicBezTo>
                  <a:lnTo>
                    <a:pt x="1056340" y="429055"/>
                  </a:lnTo>
                  <a:cubicBezTo>
                    <a:pt x="1056340" y="445322"/>
                    <a:pt x="1043154" y="458509"/>
                    <a:pt x="1026887" y="458509"/>
                  </a:cubicBezTo>
                  <a:lnTo>
                    <a:pt x="29454" y="458509"/>
                  </a:lnTo>
                  <a:cubicBezTo>
                    <a:pt x="13187" y="458509"/>
                    <a:pt x="0" y="445322"/>
                    <a:pt x="0" y="429055"/>
                  </a:cubicBezTo>
                  <a:lnTo>
                    <a:pt x="0" y="29454"/>
                  </a:lnTo>
                  <a:cubicBezTo>
                    <a:pt x="0" y="13187"/>
                    <a:pt x="13187" y="0"/>
                    <a:pt x="29454" y="0"/>
                  </a:cubicBezTo>
                  <a:close/>
                </a:path>
              </a:pathLst>
            </a:custGeom>
            <a:solidFill>
              <a:srgbClr val="25671E"/>
            </a:solidFill>
          </p:spPr>
        </p:sp>
        <p:sp>
          <p:nvSpPr>
            <p:cNvPr name="TextBox 13" id="13"/>
            <p:cNvSpPr txBox="true"/>
            <p:nvPr/>
          </p:nvSpPr>
          <p:spPr>
            <a:xfrm>
              <a:off x="0" y="-38100"/>
              <a:ext cx="1056340" cy="49660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78510" y="2578231"/>
            <a:ext cx="8161867" cy="2356866"/>
          </a:xfrm>
          <a:prstGeom prst="rect">
            <a:avLst/>
          </a:prstGeom>
        </p:spPr>
        <p:txBody>
          <a:bodyPr anchor="t" rtlCol="false" tIns="0" lIns="0" bIns="0" rIns="0">
            <a:spAutoFit/>
          </a:bodyPr>
          <a:lstStyle/>
          <a:p>
            <a:pPr algn="l">
              <a:lnSpc>
                <a:spcPts val="6072"/>
              </a:lnSpc>
            </a:pPr>
            <a:r>
              <a:rPr lang="en-US" sz="6900" b="true">
                <a:solidFill>
                  <a:srgbClr val="25671E"/>
                </a:solidFill>
                <a:latin typeface="Montserrat Bold"/>
                <a:ea typeface="Montserrat Bold"/>
                <a:cs typeface="Montserrat Bold"/>
                <a:sym typeface="Montserrat Bold"/>
              </a:rPr>
              <a:t>RESEARCH OF INTEREST </a:t>
            </a:r>
          </a:p>
          <a:p>
            <a:pPr algn="l">
              <a:lnSpc>
                <a:spcPts val="6072"/>
              </a:lnSpc>
            </a:pPr>
          </a:p>
        </p:txBody>
      </p:sp>
      <p:sp>
        <p:nvSpPr>
          <p:cNvPr name="TextBox 15" id="15"/>
          <p:cNvSpPr txBox="true"/>
          <p:nvPr/>
        </p:nvSpPr>
        <p:spPr>
          <a:xfrm rot="0">
            <a:off x="12438450" y="8806461"/>
            <a:ext cx="2142187" cy="368300"/>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Poppins Bold"/>
                <a:ea typeface="Poppins Bold"/>
                <a:cs typeface="Poppins Bold"/>
                <a:sym typeface="Poppins Bold"/>
              </a:rPr>
              <a:t>Page 06</a:t>
            </a:r>
          </a:p>
        </p:txBody>
      </p:sp>
      <p:sp>
        <p:nvSpPr>
          <p:cNvPr name="TextBox 16" id="16"/>
          <p:cNvSpPr txBox="true"/>
          <p:nvPr/>
        </p:nvSpPr>
        <p:spPr>
          <a:xfrm rot="0">
            <a:off x="9590617" y="2400367"/>
            <a:ext cx="7223282" cy="2127160"/>
          </a:xfrm>
          <a:prstGeom prst="rect">
            <a:avLst/>
          </a:prstGeom>
        </p:spPr>
        <p:txBody>
          <a:bodyPr anchor="t" rtlCol="false" tIns="0" lIns="0" bIns="0" rIns="0">
            <a:spAutoFit/>
          </a:bodyPr>
          <a:lstStyle/>
          <a:p>
            <a:pPr algn="just">
              <a:lnSpc>
                <a:spcPts val="5599"/>
              </a:lnSpc>
              <a:spcBef>
                <a:spcPct val="0"/>
              </a:spcBef>
            </a:pPr>
            <a:r>
              <a:rPr lang="en-US" sz="3999">
                <a:solidFill>
                  <a:srgbClr val="25671E"/>
                </a:solidFill>
                <a:latin typeface="Poppins"/>
                <a:ea typeface="Poppins"/>
                <a:cs typeface="Poppins"/>
                <a:sym typeface="Poppins"/>
              </a:rPr>
              <a:t>P</a:t>
            </a:r>
            <a:r>
              <a:rPr lang="en-US" sz="3999">
                <a:solidFill>
                  <a:srgbClr val="25671E"/>
                </a:solidFill>
                <a:latin typeface="Poppins"/>
                <a:ea typeface="Poppins"/>
                <a:cs typeface="Poppins"/>
                <a:sym typeface="Poppins"/>
              </a:rPr>
              <a:t>r</a:t>
            </a:r>
            <a:r>
              <a:rPr lang="en-US" sz="3999">
                <a:solidFill>
                  <a:srgbClr val="25671E"/>
                </a:solidFill>
                <a:latin typeface="Poppins"/>
                <a:ea typeface="Poppins"/>
                <a:cs typeface="Poppins"/>
                <a:sym typeface="Poppins"/>
              </a:rPr>
              <a:t>ogram Divisi STRATEGIC RISK GOVERNANCE</a:t>
            </a:r>
          </a:p>
          <a:p>
            <a:pPr algn="just">
              <a:lnSpc>
                <a:spcPts val="5599"/>
              </a:lnSpc>
              <a:spcBef>
                <a:spcPct val="0"/>
              </a:spcBef>
            </a:pPr>
          </a:p>
        </p:txBody>
      </p:sp>
      <p:grpSp>
        <p:nvGrpSpPr>
          <p:cNvPr name="Group 17" id="17"/>
          <p:cNvGrpSpPr/>
          <p:nvPr/>
        </p:nvGrpSpPr>
        <p:grpSpPr>
          <a:xfrm rot="0">
            <a:off x="675606" y="5114299"/>
            <a:ext cx="4357669" cy="1437367"/>
            <a:chOff x="0" y="0"/>
            <a:chExt cx="5810225" cy="1916490"/>
          </a:xfrm>
        </p:grpSpPr>
        <p:sp>
          <p:nvSpPr>
            <p:cNvPr name="TextBox 18" id="18"/>
            <p:cNvSpPr txBox="true"/>
            <p:nvPr/>
          </p:nvSpPr>
          <p:spPr>
            <a:xfrm rot="0">
              <a:off x="0" y="95250"/>
              <a:ext cx="1555568" cy="511810"/>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01</a:t>
              </a:r>
            </a:p>
          </p:txBody>
        </p:sp>
        <p:sp>
          <p:nvSpPr>
            <p:cNvPr name="TextBox 19" id="19"/>
            <p:cNvSpPr txBox="true"/>
            <p:nvPr/>
          </p:nvSpPr>
          <p:spPr>
            <a:xfrm rot="0">
              <a:off x="245043" y="517134"/>
              <a:ext cx="5565182" cy="139935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Pe</a:t>
              </a:r>
              <a:r>
                <a:rPr lang="en-US" sz="1999">
                  <a:solidFill>
                    <a:srgbClr val="FFFFFF"/>
                  </a:solidFill>
                  <a:latin typeface="Poppins"/>
                  <a:ea typeface="Poppins"/>
                  <a:cs typeface="Poppins"/>
                  <a:sym typeface="Poppins"/>
                </a:rPr>
                <a:t>nguatan dan Pengembangan Kebijakan dan Tata Kelola Risiko Strategis</a:t>
              </a:r>
            </a:p>
          </p:txBody>
        </p:sp>
      </p:grpSp>
      <p:grpSp>
        <p:nvGrpSpPr>
          <p:cNvPr name="Group 20" id="20"/>
          <p:cNvGrpSpPr/>
          <p:nvPr/>
        </p:nvGrpSpPr>
        <p:grpSpPr>
          <a:xfrm rot="0">
            <a:off x="6993644" y="5162744"/>
            <a:ext cx="4403931" cy="1165000"/>
            <a:chOff x="0" y="0"/>
            <a:chExt cx="5871908" cy="1553333"/>
          </a:xfrm>
        </p:grpSpPr>
        <p:sp>
          <p:nvSpPr>
            <p:cNvPr name="TextBox 21" id="21"/>
            <p:cNvSpPr txBox="true"/>
            <p:nvPr/>
          </p:nvSpPr>
          <p:spPr>
            <a:xfrm rot="0">
              <a:off x="289152" y="623957"/>
              <a:ext cx="5582756" cy="92937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D</a:t>
              </a:r>
              <a:r>
                <a:rPr lang="en-US" sz="1999">
                  <a:solidFill>
                    <a:srgbClr val="FFFFFF"/>
                  </a:solidFill>
                  <a:latin typeface="Poppins"/>
                  <a:ea typeface="Poppins"/>
                  <a:cs typeface="Poppins"/>
                  <a:sym typeface="Poppins"/>
                </a:rPr>
                <a:t>isaster Risk Financing and Insurance (DRFI)</a:t>
              </a:r>
            </a:p>
          </p:txBody>
        </p:sp>
        <p:sp>
          <p:nvSpPr>
            <p:cNvPr name="TextBox 22" id="22"/>
            <p:cNvSpPr txBox="true"/>
            <p:nvPr/>
          </p:nvSpPr>
          <p:spPr>
            <a:xfrm rot="0">
              <a:off x="0" y="95250"/>
              <a:ext cx="1411028" cy="511810"/>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02</a:t>
              </a:r>
            </a:p>
          </p:txBody>
        </p:sp>
      </p:grpSp>
      <p:grpSp>
        <p:nvGrpSpPr>
          <p:cNvPr name="Group 23" id="23"/>
          <p:cNvGrpSpPr/>
          <p:nvPr/>
        </p:nvGrpSpPr>
        <p:grpSpPr>
          <a:xfrm rot="0">
            <a:off x="12438450" y="5054303"/>
            <a:ext cx="4327673" cy="1519260"/>
            <a:chOff x="0" y="0"/>
            <a:chExt cx="5770231" cy="2025679"/>
          </a:xfrm>
        </p:grpSpPr>
        <p:sp>
          <p:nvSpPr>
            <p:cNvPr name="TextBox 24" id="24"/>
            <p:cNvSpPr txBox="true"/>
            <p:nvPr/>
          </p:nvSpPr>
          <p:spPr>
            <a:xfrm rot="0">
              <a:off x="187475" y="626324"/>
              <a:ext cx="5582756" cy="139935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Ma</a:t>
              </a:r>
              <a:r>
                <a:rPr lang="en-US" sz="1999">
                  <a:solidFill>
                    <a:srgbClr val="FFFFFF"/>
                  </a:solidFill>
                  <a:latin typeface="Poppins"/>
                  <a:ea typeface="Poppins"/>
                  <a:cs typeface="Poppins"/>
                  <a:sym typeface="Poppins"/>
                </a:rPr>
                <a:t>najemen Risiko Berbasis Data dan Informasi, serta Model Prediktif</a:t>
              </a:r>
            </a:p>
          </p:txBody>
        </p:sp>
        <p:sp>
          <p:nvSpPr>
            <p:cNvPr name="TextBox 25" id="25"/>
            <p:cNvSpPr txBox="true"/>
            <p:nvPr/>
          </p:nvSpPr>
          <p:spPr>
            <a:xfrm rot="0">
              <a:off x="0" y="95250"/>
              <a:ext cx="1411028" cy="511810"/>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03</a:t>
              </a:r>
            </a:p>
          </p:txBody>
        </p:sp>
      </p:grpSp>
      <p:grpSp>
        <p:nvGrpSpPr>
          <p:cNvPr name="Group 26" id="26"/>
          <p:cNvGrpSpPr/>
          <p:nvPr/>
        </p:nvGrpSpPr>
        <p:grpSpPr>
          <a:xfrm rot="0">
            <a:off x="-446052" y="9606259"/>
            <a:ext cx="19180103" cy="1556799"/>
            <a:chOff x="0" y="0"/>
            <a:chExt cx="3946523" cy="320329"/>
          </a:xfrm>
        </p:grpSpPr>
        <p:sp>
          <p:nvSpPr>
            <p:cNvPr name="Freeform 27" id="27"/>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28" id="28"/>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4005663" y="7066222"/>
            <a:ext cx="5133815" cy="2322403"/>
            <a:chOff x="0" y="0"/>
            <a:chExt cx="1056340" cy="477861"/>
          </a:xfrm>
        </p:grpSpPr>
        <p:sp>
          <p:nvSpPr>
            <p:cNvPr name="Freeform 30" id="30"/>
            <p:cNvSpPr/>
            <p:nvPr/>
          </p:nvSpPr>
          <p:spPr>
            <a:xfrm flipH="false" flipV="false" rot="0">
              <a:off x="0" y="0"/>
              <a:ext cx="1056340" cy="477861"/>
            </a:xfrm>
            <a:custGeom>
              <a:avLst/>
              <a:gdLst/>
              <a:ahLst/>
              <a:cxnLst/>
              <a:rect r="r" b="b" t="t" l="l"/>
              <a:pathLst>
                <a:path h="477861" w="1056340">
                  <a:moveTo>
                    <a:pt x="29454" y="0"/>
                  </a:moveTo>
                  <a:lnTo>
                    <a:pt x="1026887" y="0"/>
                  </a:lnTo>
                  <a:cubicBezTo>
                    <a:pt x="1043154" y="0"/>
                    <a:pt x="1056340" y="13187"/>
                    <a:pt x="1056340" y="29454"/>
                  </a:cubicBezTo>
                  <a:lnTo>
                    <a:pt x="1056340" y="448407"/>
                  </a:lnTo>
                  <a:cubicBezTo>
                    <a:pt x="1056340" y="464674"/>
                    <a:pt x="1043154" y="477861"/>
                    <a:pt x="1026887" y="477861"/>
                  </a:cubicBezTo>
                  <a:lnTo>
                    <a:pt x="29454" y="477861"/>
                  </a:lnTo>
                  <a:cubicBezTo>
                    <a:pt x="13187" y="477861"/>
                    <a:pt x="0" y="464674"/>
                    <a:pt x="0" y="448407"/>
                  </a:cubicBezTo>
                  <a:lnTo>
                    <a:pt x="0" y="29454"/>
                  </a:lnTo>
                  <a:cubicBezTo>
                    <a:pt x="0" y="13187"/>
                    <a:pt x="13187" y="0"/>
                    <a:pt x="29454" y="0"/>
                  </a:cubicBezTo>
                  <a:close/>
                </a:path>
              </a:pathLst>
            </a:custGeom>
            <a:solidFill>
              <a:srgbClr val="25671E"/>
            </a:solidFill>
          </p:spPr>
        </p:sp>
        <p:sp>
          <p:nvSpPr>
            <p:cNvPr name="TextBox 31" id="31"/>
            <p:cNvSpPr txBox="true"/>
            <p:nvPr/>
          </p:nvSpPr>
          <p:spPr>
            <a:xfrm>
              <a:off x="0" y="-38100"/>
              <a:ext cx="1056340" cy="515961"/>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4535860" y="7996657"/>
            <a:ext cx="4187067" cy="1063804"/>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Kolabo</a:t>
            </a:r>
            <a:r>
              <a:rPr lang="en-US" sz="1999">
                <a:solidFill>
                  <a:srgbClr val="FFFFFF"/>
                </a:solidFill>
                <a:latin typeface="Poppins"/>
                <a:ea typeface="Poppins"/>
                <a:cs typeface="Poppins"/>
                <a:sym typeface="Poppins"/>
              </a:rPr>
              <a:t>rasi dalam Penguatan dan Pengembangan Kapasitas Institusi</a:t>
            </a:r>
          </a:p>
        </p:txBody>
      </p:sp>
      <p:sp>
        <p:nvSpPr>
          <p:cNvPr name="TextBox 33" id="33"/>
          <p:cNvSpPr txBox="true"/>
          <p:nvPr/>
        </p:nvSpPr>
        <p:spPr>
          <a:xfrm rot="0">
            <a:off x="4422214" y="7640116"/>
            <a:ext cx="1058271" cy="360045"/>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04</a:t>
            </a:r>
          </a:p>
        </p:txBody>
      </p:sp>
      <p:grpSp>
        <p:nvGrpSpPr>
          <p:cNvPr name="Group 34" id="34"/>
          <p:cNvGrpSpPr/>
          <p:nvPr/>
        </p:nvGrpSpPr>
        <p:grpSpPr>
          <a:xfrm rot="0">
            <a:off x="9558578" y="7066222"/>
            <a:ext cx="5133815" cy="2300791"/>
            <a:chOff x="0" y="0"/>
            <a:chExt cx="1056340" cy="473414"/>
          </a:xfrm>
        </p:grpSpPr>
        <p:sp>
          <p:nvSpPr>
            <p:cNvPr name="Freeform 35" id="35"/>
            <p:cNvSpPr/>
            <p:nvPr/>
          </p:nvSpPr>
          <p:spPr>
            <a:xfrm flipH="false" flipV="false" rot="0">
              <a:off x="0" y="0"/>
              <a:ext cx="1056340" cy="473414"/>
            </a:xfrm>
            <a:custGeom>
              <a:avLst/>
              <a:gdLst/>
              <a:ahLst/>
              <a:cxnLst/>
              <a:rect r="r" b="b" t="t" l="l"/>
              <a:pathLst>
                <a:path h="473414" w="1056340">
                  <a:moveTo>
                    <a:pt x="29454" y="0"/>
                  </a:moveTo>
                  <a:lnTo>
                    <a:pt x="1026887" y="0"/>
                  </a:lnTo>
                  <a:cubicBezTo>
                    <a:pt x="1043154" y="0"/>
                    <a:pt x="1056340" y="13187"/>
                    <a:pt x="1056340" y="29454"/>
                  </a:cubicBezTo>
                  <a:lnTo>
                    <a:pt x="1056340" y="443960"/>
                  </a:lnTo>
                  <a:cubicBezTo>
                    <a:pt x="1056340" y="451772"/>
                    <a:pt x="1053237" y="459263"/>
                    <a:pt x="1047714" y="464787"/>
                  </a:cubicBezTo>
                  <a:cubicBezTo>
                    <a:pt x="1042190" y="470311"/>
                    <a:pt x="1034698" y="473414"/>
                    <a:pt x="1026887" y="473414"/>
                  </a:cubicBezTo>
                  <a:lnTo>
                    <a:pt x="29454" y="473414"/>
                  </a:lnTo>
                  <a:cubicBezTo>
                    <a:pt x="13187" y="473414"/>
                    <a:pt x="0" y="460227"/>
                    <a:pt x="0" y="443960"/>
                  </a:cubicBezTo>
                  <a:lnTo>
                    <a:pt x="0" y="29454"/>
                  </a:lnTo>
                  <a:cubicBezTo>
                    <a:pt x="0" y="13187"/>
                    <a:pt x="13187" y="0"/>
                    <a:pt x="29454" y="0"/>
                  </a:cubicBezTo>
                  <a:close/>
                </a:path>
              </a:pathLst>
            </a:custGeom>
            <a:solidFill>
              <a:srgbClr val="25671E"/>
            </a:solidFill>
          </p:spPr>
        </p:sp>
        <p:sp>
          <p:nvSpPr>
            <p:cNvPr name="TextBox 36" id="36"/>
            <p:cNvSpPr txBox="true"/>
            <p:nvPr/>
          </p:nvSpPr>
          <p:spPr>
            <a:xfrm>
              <a:off x="0" y="-38100"/>
              <a:ext cx="1056340" cy="511514"/>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0088774" y="8097659"/>
            <a:ext cx="4187067" cy="71132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Mo</a:t>
            </a:r>
            <a:r>
              <a:rPr lang="en-US" sz="1999">
                <a:solidFill>
                  <a:srgbClr val="FFFFFF"/>
                </a:solidFill>
                <a:latin typeface="Poppins"/>
                <a:ea typeface="Poppins"/>
                <a:cs typeface="Poppins"/>
                <a:sym typeface="Poppins"/>
              </a:rPr>
              <a:t>nitoring dan Evaluasi Tata Kelola Risiko</a:t>
            </a:r>
          </a:p>
        </p:txBody>
      </p:sp>
      <p:sp>
        <p:nvSpPr>
          <p:cNvPr name="TextBox 38" id="38"/>
          <p:cNvSpPr txBox="true"/>
          <p:nvPr/>
        </p:nvSpPr>
        <p:spPr>
          <a:xfrm rot="0">
            <a:off x="9975129" y="7741118"/>
            <a:ext cx="1058271" cy="360045"/>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05</a:t>
            </a:r>
          </a:p>
        </p:txBody>
      </p:sp>
      <p:grpSp>
        <p:nvGrpSpPr>
          <p:cNvPr name="Group 39" id="39"/>
          <p:cNvGrpSpPr/>
          <p:nvPr/>
        </p:nvGrpSpPr>
        <p:grpSpPr>
          <a:xfrm rot="0">
            <a:off x="1028700" y="472819"/>
            <a:ext cx="2655903" cy="1111762"/>
            <a:chOff x="0" y="0"/>
            <a:chExt cx="3541204" cy="1482349"/>
          </a:xfrm>
        </p:grpSpPr>
        <p:grpSp>
          <p:nvGrpSpPr>
            <p:cNvPr name="Group 40" id="40"/>
            <p:cNvGrpSpPr/>
            <p:nvPr/>
          </p:nvGrpSpPr>
          <p:grpSpPr>
            <a:xfrm rot="0">
              <a:off x="0" y="0"/>
              <a:ext cx="3541204" cy="1482349"/>
              <a:chOff x="0" y="0"/>
              <a:chExt cx="867283" cy="362966"/>
            </a:xfrm>
          </p:grpSpPr>
          <p:sp>
            <p:nvSpPr>
              <p:cNvPr name="Freeform 41" id="4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42" id="4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grpSp>
        <p:nvGrpSpPr>
          <p:cNvPr name="Group 44" id="44"/>
          <p:cNvGrpSpPr/>
          <p:nvPr/>
        </p:nvGrpSpPr>
        <p:grpSpPr>
          <a:xfrm rot="0">
            <a:off x="14873845" y="472819"/>
            <a:ext cx="2655903" cy="1111762"/>
            <a:chOff x="0" y="0"/>
            <a:chExt cx="3541204" cy="1482349"/>
          </a:xfrm>
        </p:grpSpPr>
        <p:grpSp>
          <p:nvGrpSpPr>
            <p:cNvPr name="Group 45" id="45"/>
            <p:cNvGrpSpPr/>
            <p:nvPr/>
          </p:nvGrpSpPr>
          <p:grpSpPr>
            <a:xfrm rot="0">
              <a:off x="0" y="0"/>
              <a:ext cx="3541204" cy="1482349"/>
              <a:chOff x="0" y="0"/>
              <a:chExt cx="867283" cy="362966"/>
            </a:xfrm>
          </p:grpSpPr>
          <p:sp>
            <p:nvSpPr>
              <p:cNvPr name="Freeform 46" id="4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47" id="4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48" id="4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6"/>
              <a:stretch>
                <a:fillRect l="0" t="0" r="0" b="0"/>
              </a:stretch>
            </a:blipFill>
          </p:spPr>
        </p:sp>
      </p:grpSp>
      <p:sp>
        <p:nvSpPr>
          <p:cNvPr name="Freeform 49" id="49"/>
          <p:cNvSpPr/>
          <p:nvPr/>
        </p:nvSpPr>
        <p:spPr>
          <a:xfrm flipH="true" flipV="false" rot="0">
            <a:off x="5170341" y="4853796"/>
            <a:ext cx="678329" cy="617896"/>
          </a:xfrm>
          <a:custGeom>
            <a:avLst/>
            <a:gdLst/>
            <a:ahLst/>
            <a:cxnLst/>
            <a:rect r="r" b="b" t="t" l="l"/>
            <a:pathLst>
              <a:path h="617896" w="678329">
                <a:moveTo>
                  <a:pt x="678329" y="0"/>
                </a:moveTo>
                <a:lnTo>
                  <a:pt x="0" y="0"/>
                </a:lnTo>
                <a:lnTo>
                  <a:pt x="0" y="617897"/>
                </a:lnTo>
                <a:lnTo>
                  <a:pt x="678329" y="617897"/>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0" id="50"/>
          <p:cNvSpPr/>
          <p:nvPr/>
        </p:nvSpPr>
        <p:spPr>
          <a:xfrm flipH="true" flipV="false" rot="0">
            <a:off x="10694235" y="4853796"/>
            <a:ext cx="678329" cy="617896"/>
          </a:xfrm>
          <a:custGeom>
            <a:avLst/>
            <a:gdLst/>
            <a:ahLst/>
            <a:cxnLst/>
            <a:rect r="r" b="b" t="t" l="l"/>
            <a:pathLst>
              <a:path h="617896" w="678329">
                <a:moveTo>
                  <a:pt x="678329" y="0"/>
                </a:moveTo>
                <a:lnTo>
                  <a:pt x="0" y="0"/>
                </a:lnTo>
                <a:lnTo>
                  <a:pt x="0" y="617897"/>
                </a:lnTo>
                <a:lnTo>
                  <a:pt x="678329" y="617897"/>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1" id="51"/>
          <p:cNvSpPr/>
          <p:nvPr/>
        </p:nvSpPr>
        <p:spPr>
          <a:xfrm flipH="true" flipV="false" rot="0">
            <a:off x="16426959" y="4853796"/>
            <a:ext cx="678329" cy="617896"/>
          </a:xfrm>
          <a:custGeom>
            <a:avLst/>
            <a:gdLst/>
            <a:ahLst/>
            <a:cxnLst/>
            <a:rect r="r" b="b" t="t" l="l"/>
            <a:pathLst>
              <a:path h="617896" w="678329">
                <a:moveTo>
                  <a:pt x="678329" y="0"/>
                </a:moveTo>
                <a:lnTo>
                  <a:pt x="0" y="0"/>
                </a:lnTo>
                <a:lnTo>
                  <a:pt x="0" y="617897"/>
                </a:lnTo>
                <a:lnTo>
                  <a:pt x="678329" y="617897"/>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2" id="52"/>
          <p:cNvSpPr/>
          <p:nvPr/>
        </p:nvSpPr>
        <p:spPr>
          <a:xfrm flipH="true" flipV="false" rot="0">
            <a:off x="5033274" y="7154617"/>
            <a:ext cx="678329" cy="617896"/>
          </a:xfrm>
          <a:custGeom>
            <a:avLst/>
            <a:gdLst/>
            <a:ahLst/>
            <a:cxnLst/>
            <a:rect r="r" b="b" t="t" l="l"/>
            <a:pathLst>
              <a:path h="617896" w="678329">
                <a:moveTo>
                  <a:pt x="678329" y="0"/>
                </a:moveTo>
                <a:lnTo>
                  <a:pt x="0" y="0"/>
                </a:lnTo>
                <a:lnTo>
                  <a:pt x="0" y="617896"/>
                </a:lnTo>
                <a:lnTo>
                  <a:pt x="678329" y="617896"/>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3" id="53"/>
          <p:cNvSpPr/>
          <p:nvPr/>
        </p:nvSpPr>
        <p:spPr>
          <a:xfrm flipH="true" flipV="false" rot="0">
            <a:off x="10594027" y="7255619"/>
            <a:ext cx="678329" cy="617896"/>
          </a:xfrm>
          <a:custGeom>
            <a:avLst/>
            <a:gdLst/>
            <a:ahLst/>
            <a:cxnLst/>
            <a:rect r="r" b="b" t="t" l="l"/>
            <a:pathLst>
              <a:path h="617896" w="678329">
                <a:moveTo>
                  <a:pt x="678329" y="0"/>
                </a:moveTo>
                <a:lnTo>
                  <a:pt x="0" y="0"/>
                </a:lnTo>
                <a:lnTo>
                  <a:pt x="0" y="617896"/>
                </a:lnTo>
                <a:lnTo>
                  <a:pt x="678329" y="617896"/>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4" id="54"/>
          <p:cNvSpPr txBox="true"/>
          <p:nvPr/>
        </p:nvSpPr>
        <p:spPr>
          <a:xfrm rot="0">
            <a:off x="17259300" y="9256943"/>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13327" y="0"/>
            <a:ext cx="6931794" cy="1978712"/>
          </a:xfrm>
          <a:custGeom>
            <a:avLst/>
            <a:gdLst/>
            <a:ahLst/>
            <a:cxnLst/>
            <a:rect r="r" b="b" t="t" l="l"/>
            <a:pathLst>
              <a:path h="1978712" w="6931794">
                <a:moveTo>
                  <a:pt x="0" y="0"/>
                </a:moveTo>
                <a:lnTo>
                  <a:pt x="6931794" y="0"/>
                </a:lnTo>
                <a:lnTo>
                  <a:pt x="6931794" y="1978712"/>
                </a:lnTo>
                <a:lnTo>
                  <a:pt x="0" y="19787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6052" y="9606259"/>
            <a:ext cx="19180103" cy="1556799"/>
            <a:chOff x="0" y="0"/>
            <a:chExt cx="3946523" cy="320329"/>
          </a:xfrm>
        </p:grpSpPr>
        <p:sp>
          <p:nvSpPr>
            <p:cNvPr name="Freeform 4" id="4"/>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5" id="5"/>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835868" y="2130832"/>
          <a:ext cx="15651166" cy="8229600"/>
        </p:xfrm>
        <a:graphic>
          <a:graphicData uri="http://schemas.openxmlformats.org/presentationml/2006/ole">
            <p:oleObj imgW="18783300" imgH="1135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pSp>
        <p:nvGrpSpPr>
          <p:cNvPr name="Group 7" id="7"/>
          <p:cNvGrpSpPr/>
          <p:nvPr/>
        </p:nvGrpSpPr>
        <p:grpSpPr>
          <a:xfrm rot="0">
            <a:off x="13456678" y="2048817"/>
            <a:ext cx="3802622" cy="2689040"/>
            <a:chOff x="0" y="0"/>
            <a:chExt cx="1122842" cy="794023"/>
          </a:xfrm>
        </p:grpSpPr>
        <p:sp>
          <p:nvSpPr>
            <p:cNvPr name="Freeform 8" id="8"/>
            <p:cNvSpPr/>
            <p:nvPr/>
          </p:nvSpPr>
          <p:spPr>
            <a:xfrm flipH="false" flipV="false" rot="0">
              <a:off x="0" y="0"/>
              <a:ext cx="1122842" cy="794023"/>
            </a:xfrm>
            <a:custGeom>
              <a:avLst/>
              <a:gdLst/>
              <a:ahLst/>
              <a:cxnLst/>
              <a:rect r="r" b="b" t="t" l="l"/>
              <a:pathLst>
                <a:path h="794023" w="1122842">
                  <a:moveTo>
                    <a:pt x="124192" y="0"/>
                  </a:moveTo>
                  <a:lnTo>
                    <a:pt x="998650" y="0"/>
                  </a:lnTo>
                  <a:cubicBezTo>
                    <a:pt x="1031588" y="0"/>
                    <a:pt x="1063177" y="13085"/>
                    <a:pt x="1086467" y="36375"/>
                  </a:cubicBezTo>
                  <a:cubicBezTo>
                    <a:pt x="1109758" y="59666"/>
                    <a:pt x="1122842" y="91255"/>
                    <a:pt x="1122842" y="124192"/>
                  </a:cubicBezTo>
                  <a:lnTo>
                    <a:pt x="1122842" y="669830"/>
                  </a:lnTo>
                  <a:cubicBezTo>
                    <a:pt x="1122842" y="702768"/>
                    <a:pt x="1109758" y="734357"/>
                    <a:pt x="1086467" y="757647"/>
                  </a:cubicBezTo>
                  <a:cubicBezTo>
                    <a:pt x="1063177" y="780938"/>
                    <a:pt x="1031588" y="794023"/>
                    <a:pt x="998650" y="794023"/>
                  </a:cubicBezTo>
                  <a:lnTo>
                    <a:pt x="124192" y="794023"/>
                  </a:lnTo>
                  <a:cubicBezTo>
                    <a:pt x="91255" y="794023"/>
                    <a:pt x="59666" y="780938"/>
                    <a:pt x="36375" y="757647"/>
                  </a:cubicBezTo>
                  <a:cubicBezTo>
                    <a:pt x="13085" y="734357"/>
                    <a:pt x="0" y="702768"/>
                    <a:pt x="0" y="669830"/>
                  </a:cubicBezTo>
                  <a:lnTo>
                    <a:pt x="0" y="124192"/>
                  </a:lnTo>
                  <a:cubicBezTo>
                    <a:pt x="0" y="91255"/>
                    <a:pt x="13085" y="59666"/>
                    <a:pt x="36375" y="36375"/>
                  </a:cubicBezTo>
                  <a:cubicBezTo>
                    <a:pt x="59666" y="13085"/>
                    <a:pt x="91255" y="0"/>
                    <a:pt x="124192" y="0"/>
                  </a:cubicBezTo>
                  <a:close/>
                </a:path>
              </a:pathLst>
            </a:custGeom>
            <a:blipFill>
              <a:blip r:embed="rId6"/>
              <a:stretch>
                <a:fillRect l="-13200" t="0" r="-11646" b="0"/>
              </a:stretch>
            </a:blipFill>
          </p:spPr>
        </p:sp>
      </p:grpSp>
      <p:grpSp>
        <p:nvGrpSpPr>
          <p:cNvPr name="Group 9" id="9"/>
          <p:cNvGrpSpPr/>
          <p:nvPr/>
        </p:nvGrpSpPr>
        <p:grpSpPr>
          <a:xfrm rot="0">
            <a:off x="1028700" y="472819"/>
            <a:ext cx="2655903" cy="1111762"/>
            <a:chOff x="0" y="0"/>
            <a:chExt cx="3541204" cy="1482349"/>
          </a:xfrm>
        </p:grpSpPr>
        <p:grpSp>
          <p:nvGrpSpPr>
            <p:cNvPr name="Group 10" id="10"/>
            <p:cNvGrpSpPr/>
            <p:nvPr/>
          </p:nvGrpSpPr>
          <p:grpSpPr>
            <a:xfrm rot="0">
              <a:off x="0" y="0"/>
              <a:ext cx="3541204" cy="1482349"/>
              <a:chOff x="0" y="0"/>
              <a:chExt cx="867283" cy="362966"/>
            </a:xfrm>
          </p:grpSpPr>
          <p:sp>
            <p:nvSpPr>
              <p:cNvPr name="Freeform 11" id="1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2" id="1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7"/>
              <a:stretch>
                <a:fillRect l="0" t="0" r="0" b="0"/>
              </a:stretch>
            </a:blipFill>
          </p:spPr>
        </p:sp>
      </p:grpSp>
      <p:grpSp>
        <p:nvGrpSpPr>
          <p:cNvPr name="Group 14" id="14"/>
          <p:cNvGrpSpPr/>
          <p:nvPr/>
        </p:nvGrpSpPr>
        <p:grpSpPr>
          <a:xfrm rot="0">
            <a:off x="14873845" y="472819"/>
            <a:ext cx="2655903" cy="1111762"/>
            <a:chOff x="0" y="0"/>
            <a:chExt cx="3541204" cy="1482349"/>
          </a:xfrm>
        </p:grpSpPr>
        <p:grpSp>
          <p:nvGrpSpPr>
            <p:cNvPr name="Group 15" id="15"/>
            <p:cNvGrpSpPr/>
            <p:nvPr/>
          </p:nvGrpSpPr>
          <p:grpSpPr>
            <a:xfrm rot="0">
              <a:off x="0" y="0"/>
              <a:ext cx="3541204" cy="1482349"/>
              <a:chOff x="0" y="0"/>
              <a:chExt cx="867283" cy="362966"/>
            </a:xfrm>
          </p:grpSpPr>
          <p:sp>
            <p:nvSpPr>
              <p:cNvPr name="Freeform 16" id="1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7" id="1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8" id="1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8"/>
              <a:stretch>
                <a:fillRect l="0" t="0" r="0" b="0"/>
              </a:stretch>
            </a:blipFill>
          </p:spPr>
        </p:sp>
      </p:grpSp>
      <p:grpSp>
        <p:nvGrpSpPr>
          <p:cNvPr name="Group 19" id="19"/>
          <p:cNvGrpSpPr/>
          <p:nvPr/>
        </p:nvGrpSpPr>
        <p:grpSpPr>
          <a:xfrm rot="0">
            <a:off x="13269885" y="5004557"/>
            <a:ext cx="4207631" cy="420763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358" r="0" b="-358"/>
              </a:stretch>
            </a:blipFill>
          </p:spPr>
        </p:sp>
      </p:grpSp>
      <p:grpSp>
        <p:nvGrpSpPr>
          <p:cNvPr name="Group 21" id="21"/>
          <p:cNvGrpSpPr/>
          <p:nvPr/>
        </p:nvGrpSpPr>
        <p:grpSpPr>
          <a:xfrm rot="0">
            <a:off x="15842077" y="8386964"/>
            <a:ext cx="1219295" cy="121929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863637" y="7935945"/>
            <a:ext cx="666111" cy="66611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6832577" y="712089"/>
            <a:ext cx="5815587" cy="905787"/>
          </a:xfrm>
          <a:prstGeom prst="rect">
            <a:avLst/>
          </a:prstGeom>
        </p:spPr>
        <p:txBody>
          <a:bodyPr anchor="t" rtlCol="false" tIns="0" lIns="0" bIns="0" rIns="0">
            <a:spAutoFit/>
          </a:bodyPr>
          <a:lstStyle/>
          <a:p>
            <a:pPr algn="l">
              <a:lnSpc>
                <a:spcPts val="3414"/>
              </a:lnSpc>
            </a:pPr>
            <a:r>
              <a:rPr lang="en-US" sz="3880" b="true">
                <a:solidFill>
                  <a:srgbClr val="25671E"/>
                </a:solidFill>
                <a:latin typeface="Montserrat Bold"/>
                <a:ea typeface="Montserrat Bold"/>
                <a:cs typeface="Montserrat Bold"/>
                <a:sym typeface="Montserrat Bold"/>
              </a:rPr>
              <a:t>RESEARCH COLLABORATIO</a:t>
            </a:r>
            <a:r>
              <a:rPr lang="en-US" b="true" sz="3880">
                <a:solidFill>
                  <a:srgbClr val="25671E"/>
                </a:solidFill>
                <a:latin typeface="Montserrat Bold"/>
                <a:ea typeface="Montserrat Bold"/>
                <a:cs typeface="Montserrat Bold"/>
                <a:sym typeface="Montserrat Bold"/>
              </a:rPr>
              <a:t>N </a:t>
            </a:r>
          </a:p>
        </p:txBody>
      </p:sp>
      <p:sp>
        <p:nvSpPr>
          <p:cNvPr name="Freeform 28" id="28"/>
          <p:cNvSpPr/>
          <p:nvPr/>
        </p:nvSpPr>
        <p:spPr>
          <a:xfrm flipH="false" flipV="false" rot="0">
            <a:off x="17147544" y="8929086"/>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17584794" y="460954"/>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4475362" y="254798"/>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13327" y="0"/>
            <a:ext cx="6931794" cy="1978712"/>
          </a:xfrm>
          <a:custGeom>
            <a:avLst/>
            <a:gdLst/>
            <a:ahLst/>
            <a:cxnLst/>
            <a:rect r="r" b="b" t="t" l="l"/>
            <a:pathLst>
              <a:path h="1978712" w="6931794">
                <a:moveTo>
                  <a:pt x="0" y="0"/>
                </a:moveTo>
                <a:lnTo>
                  <a:pt x="6931794" y="0"/>
                </a:lnTo>
                <a:lnTo>
                  <a:pt x="6931794" y="1978712"/>
                </a:lnTo>
                <a:lnTo>
                  <a:pt x="0" y="19787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6052" y="9606259"/>
            <a:ext cx="19180103" cy="1556799"/>
            <a:chOff x="0" y="0"/>
            <a:chExt cx="3946523" cy="320329"/>
          </a:xfrm>
        </p:grpSpPr>
        <p:sp>
          <p:nvSpPr>
            <p:cNvPr name="Freeform 4" id="4"/>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5" id="5"/>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835868" y="2130832"/>
          <a:ext cx="15651166" cy="8229600"/>
        </p:xfrm>
        <a:graphic>
          <a:graphicData uri="http://schemas.openxmlformats.org/presentationml/2006/ole">
            <p:oleObj imgW="18783300" imgH="1135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pSp>
        <p:nvGrpSpPr>
          <p:cNvPr name="Group 7" id="7"/>
          <p:cNvGrpSpPr/>
          <p:nvPr/>
        </p:nvGrpSpPr>
        <p:grpSpPr>
          <a:xfrm rot="0">
            <a:off x="1028700" y="472819"/>
            <a:ext cx="2655903" cy="1111762"/>
            <a:chOff x="0" y="0"/>
            <a:chExt cx="3541204" cy="1482349"/>
          </a:xfrm>
        </p:grpSpPr>
        <p:grpSp>
          <p:nvGrpSpPr>
            <p:cNvPr name="Group 8" id="8"/>
            <p:cNvGrpSpPr/>
            <p:nvPr/>
          </p:nvGrpSpPr>
          <p:grpSpPr>
            <a:xfrm rot="0">
              <a:off x="0" y="0"/>
              <a:ext cx="3541204" cy="1482349"/>
              <a:chOff x="0" y="0"/>
              <a:chExt cx="867283" cy="362966"/>
            </a:xfrm>
          </p:grpSpPr>
          <p:sp>
            <p:nvSpPr>
              <p:cNvPr name="Freeform 9" id="9"/>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0" id="10"/>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6"/>
              <a:stretch>
                <a:fillRect l="0" t="0" r="0" b="0"/>
              </a:stretch>
            </a:blipFill>
          </p:spPr>
        </p:sp>
      </p:grpSp>
      <p:grpSp>
        <p:nvGrpSpPr>
          <p:cNvPr name="Group 12" id="12"/>
          <p:cNvGrpSpPr/>
          <p:nvPr/>
        </p:nvGrpSpPr>
        <p:grpSpPr>
          <a:xfrm rot="0">
            <a:off x="14873845" y="472819"/>
            <a:ext cx="2655903" cy="1111762"/>
            <a:chOff x="0" y="0"/>
            <a:chExt cx="3541204" cy="1482349"/>
          </a:xfrm>
        </p:grpSpPr>
        <p:grpSp>
          <p:nvGrpSpPr>
            <p:cNvPr name="Group 13" id="13"/>
            <p:cNvGrpSpPr/>
            <p:nvPr/>
          </p:nvGrpSpPr>
          <p:grpSpPr>
            <a:xfrm rot="0">
              <a:off x="0" y="0"/>
              <a:ext cx="3541204" cy="1482349"/>
              <a:chOff x="0" y="0"/>
              <a:chExt cx="867283" cy="362966"/>
            </a:xfrm>
          </p:grpSpPr>
          <p:sp>
            <p:nvSpPr>
              <p:cNvPr name="Freeform 14" id="14"/>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5" id="15"/>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6" id="16"/>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7"/>
              <a:stretch>
                <a:fillRect l="0" t="0" r="0" b="0"/>
              </a:stretch>
            </a:blipFill>
          </p:spPr>
        </p:sp>
      </p:grpSp>
      <p:grpSp>
        <p:nvGrpSpPr>
          <p:cNvPr name="Group 17" id="17"/>
          <p:cNvGrpSpPr/>
          <p:nvPr/>
        </p:nvGrpSpPr>
        <p:grpSpPr>
          <a:xfrm rot="0">
            <a:off x="13324932" y="3536192"/>
            <a:ext cx="4207631" cy="420763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5842" r="0" b="-20311"/>
              </a:stretch>
            </a:blipFill>
          </p:spPr>
        </p:sp>
      </p:grpSp>
      <p:grpSp>
        <p:nvGrpSpPr>
          <p:cNvPr name="Group 19" id="19"/>
          <p:cNvGrpSpPr/>
          <p:nvPr/>
        </p:nvGrpSpPr>
        <p:grpSpPr>
          <a:xfrm rot="0">
            <a:off x="15897124" y="6918599"/>
            <a:ext cx="1219295" cy="121929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6918683" y="6467580"/>
            <a:ext cx="666111" cy="66611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6832577" y="712089"/>
            <a:ext cx="5815587" cy="905787"/>
          </a:xfrm>
          <a:prstGeom prst="rect">
            <a:avLst/>
          </a:prstGeom>
        </p:spPr>
        <p:txBody>
          <a:bodyPr anchor="t" rtlCol="false" tIns="0" lIns="0" bIns="0" rIns="0">
            <a:spAutoFit/>
          </a:bodyPr>
          <a:lstStyle/>
          <a:p>
            <a:pPr algn="l">
              <a:lnSpc>
                <a:spcPts val="3414"/>
              </a:lnSpc>
            </a:pPr>
            <a:r>
              <a:rPr lang="en-US" sz="3880" b="true">
                <a:solidFill>
                  <a:srgbClr val="25671E"/>
                </a:solidFill>
                <a:latin typeface="Montserrat Bold"/>
                <a:ea typeface="Montserrat Bold"/>
                <a:cs typeface="Montserrat Bold"/>
                <a:sym typeface="Montserrat Bold"/>
              </a:rPr>
              <a:t>RESEARCH COLLABORATIO</a:t>
            </a:r>
            <a:r>
              <a:rPr lang="en-US" b="true" sz="3880">
                <a:solidFill>
                  <a:srgbClr val="25671E"/>
                </a:solidFill>
                <a:latin typeface="Montserrat Bold"/>
                <a:ea typeface="Montserrat Bold"/>
                <a:cs typeface="Montserrat Bold"/>
                <a:sym typeface="Montserrat Bold"/>
              </a:rPr>
              <a:t>N </a:t>
            </a:r>
          </a:p>
        </p:txBody>
      </p:sp>
      <p:sp>
        <p:nvSpPr>
          <p:cNvPr name="Freeform 26" id="26"/>
          <p:cNvSpPr/>
          <p:nvPr/>
        </p:nvSpPr>
        <p:spPr>
          <a:xfrm flipH="false" flipV="false" rot="0">
            <a:off x="17584794" y="460954"/>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17147544" y="8929086"/>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false" flipV="false" rot="0">
            <a:off x="-4475362" y="254798"/>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1</a:t>
            </a:r>
          </a:p>
        </p:txBody>
      </p:sp>
      <p:sp>
        <p:nvSpPr>
          <p:cNvPr name="TextBox 6" id="6"/>
          <p:cNvSpPr txBox="true"/>
          <p:nvPr/>
        </p:nvSpPr>
        <p:spPr>
          <a:xfrm rot="0">
            <a:off x="8117926" y="1841183"/>
            <a:ext cx="6776396"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endukung penguatan tata kelola risiko bencana melalui kebijakan berbasis bukti, evaluasi regulasi, dan kolaborasi lintas sektor.</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1102490"/>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“P</a:t>
            </a:r>
            <a:r>
              <a:rPr lang="en-US" b="true" sz="3100">
                <a:solidFill>
                  <a:srgbClr val="FFFFFF"/>
                </a:solidFill>
                <a:latin typeface="Poppins Bold"/>
                <a:ea typeface="Poppins Bold"/>
                <a:cs typeface="Poppins Bold"/>
                <a:sym typeface="Poppins Bold"/>
              </a:rPr>
              <a:t>enguatan dan Pengembangan Kebijakan dan Tata Kelola Risiko Strategis”</a:t>
            </a:r>
          </a:p>
        </p:txBody>
      </p:sp>
      <p:grpSp>
        <p:nvGrpSpPr>
          <p:cNvPr name="Group 11" id="11"/>
          <p:cNvGrpSpPr/>
          <p:nvPr/>
        </p:nvGrpSpPr>
        <p:grpSpPr>
          <a:xfrm rot="0">
            <a:off x="816126" y="4518579"/>
            <a:ext cx="11238250" cy="3474107"/>
            <a:chOff x="0" y="0"/>
            <a:chExt cx="14984334" cy="4632143"/>
          </a:xfrm>
        </p:grpSpPr>
        <p:sp>
          <p:nvSpPr>
            <p:cNvPr name="TextBox 12" id="12"/>
            <p:cNvSpPr txBox="true"/>
            <p:nvPr/>
          </p:nvSpPr>
          <p:spPr>
            <a:xfrm rot="0">
              <a:off x="0" y="-57150"/>
              <a:ext cx="8474819" cy="4689293"/>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a:t>
              </a:r>
              <a:r>
                <a:rPr lang="en-US" sz="1999">
                  <a:solidFill>
                    <a:srgbClr val="FFFFFF"/>
                  </a:solidFill>
                  <a:latin typeface="Poppins"/>
                  <a:ea typeface="Poppins"/>
                  <a:cs typeface="Poppins"/>
                  <a:sym typeface="Poppins"/>
                </a:rPr>
                <a:t>enelitian dan penyusunan rekomendasi kebijakan pengelolaan risiko bencana nasional maupun daerah.</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Analisis efektivitas regulasi serta penyusunan rekomendasi perbaikan kebijakan.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Workshop dan diskusi kebijakan bersama pemerintah, akademisi, dan sektor swasta di tingkat lokal maupun nasional.</a:t>
              </a:r>
            </a:p>
            <a:p>
              <a:pPr algn="just">
                <a:lnSpc>
                  <a:spcPts val="2799"/>
                </a:lnSpc>
                <a:spcBef>
                  <a:spcPct val="0"/>
                </a:spcBef>
              </a:pPr>
            </a:p>
          </p:txBody>
        </p:sp>
        <p:sp>
          <p:nvSpPr>
            <p:cNvPr name="TextBox 13" id="13"/>
            <p:cNvSpPr txBox="true"/>
            <p:nvPr/>
          </p:nvSpPr>
          <p:spPr>
            <a:xfrm rot="0">
              <a:off x="9461829" y="2695042"/>
              <a:ext cx="5255283" cy="1869367"/>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Januari – Desember </a:t>
              </a:r>
            </a:p>
            <a:p>
              <a:pPr algn="just">
                <a:lnSpc>
                  <a:spcPts val="2799"/>
                </a:lnSpc>
                <a:spcBef>
                  <a:spcPct val="0"/>
                </a:spcBef>
              </a:pPr>
              <a:r>
                <a:rPr lang="en-US" sz="1999">
                  <a:solidFill>
                    <a:srgbClr val="FFFFFF"/>
                  </a:solidFill>
                  <a:latin typeface="Poppins"/>
                  <a:ea typeface="Poppins"/>
                  <a:cs typeface="Poppins"/>
                  <a:sym typeface="Poppins"/>
                </a:rPr>
                <a:t>2026–2027</a:t>
              </a:r>
            </a:p>
            <a:p>
              <a:pPr algn="just">
                <a:lnSpc>
                  <a:spcPts val="2799"/>
                </a:lnSpc>
                <a:spcBef>
                  <a:spcPct val="0"/>
                </a:spcBef>
              </a:pPr>
            </a:p>
          </p:txBody>
        </p:sp>
        <p:sp>
          <p:nvSpPr>
            <p:cNvPr name="TextBox 14" id="14"/>
            <p:cNvSpPr txBox="true"/>
            <p:nvPr/>
          </p:nvSpPr>
          <p:spPr>
            <a:xfrm rot="0">
              <a:off x="9461829" y="-57150"/>
              <a:ext cx="5522505" cy="2809342"/>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t>
              </a:r>
              <a:r>
                <a:rPr lang="en-US" sz="1999">
                  <a:solidFill>
                    <a:srgbClr val="FFFFFF"/>
                  </a:solidFill>
                  <a:latin typeface="Poppins"/>
                  <a:ea typeface="Poppins"/>
                  <a:cs typeface="Poppins"/>
                  <a:sym typeface="Poppins"/>
                </a:rPr>
                <a:t>ah penelitian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Kerja sama pemerintah</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Lembaga donor</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a:p>
              <a:pPr algn="just">
                <a:lnSpc>
                  <a:spcPts val="2799"/>
                </a:lnSpc>
                <a:spcBef>
                  <a:spcPct val="0"/>
                </a:spcBef>
              </a:pPr>
            </a:p>
          </p:txBody>
        </p:sp>
      </p:grpSp>
      <p:sp>
        <p:nvSpPr>
          <p:cNvPr name="TextBox 15" id="15"/>
          <p:cNvSpPr txBox="true"/>
          <p:nvPr/>
        </p:nvSpPr>
        <p:spPr>
          <a:xfrm rot="0">
            <a:off x="12170990" y="4244415"/>
            <a:ext cx="5668735" cy="3531257"/>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Rekomendasi kebijakan berbas</a:t>
            </a:r>
            <a:r>
              <a:rPr lang="en-US" sz="1999">
                <a:solidFill>
                  <a:srgbClr val="FFFFFF"/>
                </a:solidFill>
                <a:latin typeface="Poppins"/>
                <a:ea typeface="Poppins"/>
                <a:cs typeface="Poppins"/>
                <a:sym typeface="Poppins"/>
              </a:rPr>
              <a:t>is bukti d</a:t>
            </a:r>
            <a:r>
              <a:rPr lang="en-US" sz="1999">
                <a:solidFill>
                  <a:srgbClr val="FFFFFF"/>
                </a:solidFill>
                <a:latin typeface="Poppins"/>
                <a:ea typeface="Poppins"/>
                <a:cs typeface="Poppins"/>
                <a:sym typeface="Poppins"/>
              </a:rPr>
              <a:t>alam tata kelola risiko bencana.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Int</a:t>
            </a:r>
            <a:r>
              <a:rPr lang="en-US" sz="1999">
                <a:solidFill>
                  <a:srgbClr val="FFFFFF"/>
                </a:solidFill>
                <a:latin typeface="Poppins"/>
                <a:ea typeface="Poppins"/>
                <a:cs typeface="Poppins"/>
                <a:sym typeface="Poppins"/>
              </a:rPr>
              <a:t>egrasi aspek mitigasi risiko ke dalam kebijakan perencanaan pembangunan.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Dokumentasi lesson learned bencana besar, meliputi Gempa dan Tsunami Aceh 2004 serta Banjir dan Longsor Siklon Tropis Senyar 2025.</a:t>
            </a: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2</a:t>
            </a:r>
          </a:p>
        </p:txBody>
      </p:sp>
      <p:sp>
        <p:nvSpPr>
          <p:cNvPr name="TextBox 6" id="6"/>
          <p:cNvSpPr txBox="true"/>
          <p:nvPr/>
        </p:nvSpPr>
        <p:spPr>
          <a:xfrm rot="0">
            <a:off x="8117926" y="1841183"/>
            <a:ext cx="7461621"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engembangkan mekanisme pendanaan risiko bencana yang inovatif dan berkelanjutan untuk meningkatkan ketahanan pemerintah, sektor swasta, dan masyarakat.</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559499"/>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“Dis</a:t>
            </a:r>
            <a:r>
              <a:rPr lang="en-US" b="true" sz="3100">
                <a:solidFill>
                  <a:srgbClr val="FFFFFF"/>
                </a:solidFill>
                <a:latin typeface="Poppins Bold"/>
                <a:ea typeface="Poppins Bold"/>
                <a:cs typeface="Poppins Bold"/>
                <a:sym typeface="Poppins Bold"/>
              </a:rPr>
              <a:t>aster Risk Financing and Insurance (DRFI)”</a:t>
            </a:r>
          </a:p>
        </p:txBody>
      </p:sp>
      <p:grpSp>
        <p:nvGrpSpPr>
          <p:cNvPr name="Group 11" id="11"/>
          <p:cNvGrpSpPr/>
          <p:nvPr/>
        </p:nvGrpSpPr>
        <p:grpSpPr>
          <a:xfrm rot="0">
            <a:off x="816126" y="4518579"/>
            <a:ext cx="11238250" cy="4531579"/>
            <a:chOff x="0" y="0"/>
            <a:chExt cx="14984334" cy="6042106"/>
          </a:xfrm>
        </p:grpSpPr>
        <p:sp>
          <p:nvSpPr>
            <p:cNvPr name="TextBox 12" id="12"/>
            <p:cNvSpPr txBox="true"/>
            <p:nvPr/>
          </p:nvSpPr>
          <p:spPr>
            <a:xfrm rot="0">
              <a:off x="0" y="-57150"/>
              <a:ext cx="8474819" cy="6099256"/>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Kaj</a:t>
              </a:r>
              <a:r>
                <a:rPr lang="en-US" sz="1999">
                  <a:solidFill>
                    <a:srgbClr val="FFFFFF"/>
                  </a:solidFill>
                  <a:latin typeface="Poppins"/>
                  <a:ea typeface="Poppins"/>
                  <a:cs typeface="Poppins"/>
                  <a:sym typeface="Poppins"/>
                </a:rPr>
                <a:t>ian model pembiayaan risiko bencana, meliputi asuransi parametris, dana kontinjensi, catastrophe bonds, dan pooling fund bencana.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D</a:t>
              </a:r>
              <a:r>
                <a:rPr lang="en-US" sz="1999">
                  <a:solidFill>
                    <a:srgbClr val="FFFFFF"/>
                  </a:solidFill>
                  <a:latin typeface="Poppins"/>
                  <a:ea typeface="Poppins"/>
                  <a:cs typeface="Poppins"/>
                  <a:sym typeface="Poppins"/>
                </a:rPr>
                <a:t>iskusi bersama sektor keuangan dan pemerintah dalam penyusunan skema implementasi Disaster Risk Financing and Insurance (DRFI).</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Simula</a:t>
              </a:r>
              <a:r>
                <a:rPr lang="en-US" sz="1999">
                  <a:solidFill>
                    <a:srgbClr val="FFFFFF"/>
                  </a:solidFill>
                  <a:latin typeface="Poppins"/>
                  <a:ea typeface="Poppins"/>
                  <a:cs typeface="Poppins"/>
                  <a:sym typeface="Poppins"/>
                </a:rPr>
                <a:t>si dan uji coba model asuransi berbasis indeks cuaca dan kerugian (misalnya SuperRISKA).</a:t>
              </a:r>
            </a:p>
            <a:p>
              <a:pPr algn="just">
                <a:lnSpc>
                  <a:spcPts val="2799"/>
                </a:lnSpc>
                <a:spcBef>
                  <a:spcPct val="0"/>
                </a:spcBef>
              </a:pPr>
            </a:p>
          </p:txBody>
        </p:sp>
        <p:sp>
          <p:nvSpPr>
            <p:cNvPr name="TextBox 13" id="13"/>
            <p:cNvSpPr txBox="true"/>
            <p:nvPr/>
          </p:nvSpPr>
          <p:spPr>
            <a:xfrm rot="0">
              <a:off x="9461829" y="2695042"/>
              <a:ext cx="5255283" cy="1869367"/>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Maret</a:t>
              </a:r>
              <a:r>
                <a:rPr lang="en-US" sz="1999">
                  <a:solidFill>
                    <a:srgbClr val="FFFFFF"/>
                  </a:solidFill>
                  <a:latin typeface="Poppins"/>
                  <a:ea typeface="Poppins"/>
                  <a:cs typeface="Poppins"/>
                  <a:sym typeface="Poppins"/>
                </a:rPr>
                <a:t> – November </a:t>
              </a:r>
            </a:p>
            <a:p>
              <a:pPr algn="just">
                <a:lnSpc>
                  <a:spcPts val="2799"/>
                </a:lnSpc>
                <a:spcBef>
                  <a:spcPct val="0"/>
                </a:spcBef>
              </a:pPr>
              <a:r>
                <a:rPr lang="en-US" sz="1999">
                  <a:solidFill>
                    <a:srgbClr val="FFFFFF"/>
                  </a:solidFill>
                  <a:latin typeface="Poppins"/>
                  <a:ea typeface="Poppins"/>
                  <a:cs typeface="Poppins"/>
                  <a:sym typeface="Poppins"/>
                </a:rPr>
                <a:t>2026–2027</a:t>
              </a:r>
            </a:p>
            <a:p>
              <a:pPr algn="just">
                <a:lnSpc>
                  <a:spcPts val="2799"/>
                </a:lnSpc>
                <a:spcBef>
                  <a:spcPct val="0"/>
                </a:spcBef>
              </a:pPr>
            </a:p>
          </p:txBody>
        </p:sp>
        <p:sp>
          <p:nvSpPr>
            <p:cNvPr name="TextBox 14" id="14"/>
            <p:cNvSpPr txBox="true"/>
            <p:nvPr/>
          </p:nvSpPr>
          <p:spPr>
            <a:xfrm rot="0">
              <a:off x="9461829" y="-57150"/>
              <a:ext cx="5522505" cy="3279330"/>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Hibah riset</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a:t>
              </a:r>
              <a:r>
                <a:rPr lang="en-US" sz="1999">
                  <a:solidFill>
                    <a:srgbClr val="FFFFFF"/>
                  </a:solidFill>
                  <a:latin typeface="Poppins"/>
                  <a:ea typeface="Poppins"/>
                  <a:cs typeface="Poppins"/>
                  <a:sym typeface="Poppins"/>
                </a:rPr>
                <a:t>ektor keuangan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Lembaga internasional</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a:p>
              <a:pPr algn="just">
                <a:lnSpc>
                  <a:spcPts val="2799"/>
                </a:lnSpc>
                <a:spcBef>
                  <a:spcPct val="0"/>
                </a:spcBef>
              </a:pPr>
            </a:p>
            <a:p>
              <a:pPr algn="just">
                <a:lnSpc>
                  <a:spcPts val="2799"/>
                </a:lnSpc>
                <a:spcBef>
                  <a:spcPct val="0"/>
                </a:spcBef>
              </a:pPr>
            </a:p>
          </p:txBody>
        </p:sp>
      </p:grpSp>
      <p:sp>
        <p:nvSpPr>
          <p:cNvPr name="TextBox 15" id="15"/>
          <p:cNvSpPr txBox="true"/>
          <p:nvPr/>
        </p:nvSpPr>
        <p:spPr>
          <a:xfrm rot="0">
            <a:off x="12170990" y="4244415"/>
            <a:ext cx="5668735" cy="3178766"/>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Mekanisme pendanaan bencana yang lebih efisien, seperti dana kontinjensi dan asuransi risiko bencana.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Model implementasi Disaster Risk Financing and Insurance (DRFI) bagi pemerintah daerah dan sektor swasta.</a:t>
            </a:r>
          </a:p>
          <a:p>
            <a:pPr algn="just">
              <a:lnSpc>
                <a:spcPts val="2799"/>
              </a:lnSpc>
              <a:spcBef>
                <a:spcPct val="0"/>
              </a:spcBef>
            </a:pP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3</a:t>
            </a:r>
          </a:p>
        </p:txBody>
      </p:sp>
      <p:sp>
        <p:nvSpPr>
          <p:cNvPr name="TextBox 6" id="6"/>
          <p:cNvSpPr txBox="true"/>
          <p:nvPr/>
        </p:nvSpPr>
        <p:spPr>
          <a:xfrm rot="0">
            <a:off x="7828563" y="1791189"/>
            <a:ext cx="8451626"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engembangkan sistem manajemen risiko berbasis data, kecerdasan buatan, dan model prediktif untuk mendukung pengambilan keputusan yang cepat, akurat, dan berbasis bukti.</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1102490"/>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“M</a:t>
            </a:r>
            <a:r>
              <a:rPr lang="en-US" b="true" sz="3100">
                <a:solidFill>
                  <a:srgbClr val="FFFFFF"/>
                </a:solidFill>
                <a:latin typeface="Poppins Bold"/>
                <a:ea typeface="Poppins Bold"/>
                <a:cs typeface="Poppins Bold"/>
                <a:sym typeface="Poppins Bold"/>
              </a:rPr>
              <a:t>anajemen Risiko Berbasis Data dan Model Prediktif”</a:t>
            </a:r>
          </a:p>
        </p:txBody>
      </p:sp>
      <p:grpSp>
        <p:nvGrpSpPr>
          <p:cNvPr name="Group 11" id="11"/>
          <p:cNvGrpSpPr/>
          <p:nvPr/>
        </p:nvGrpSpPr>
        <p:grpSpPr>
          <a:xfrm rot="0">
            <a:off x="816126" y="4518579"/>
            <a:ext cx="11238250" cy="4531579"/>
            <a:chOff x="0" y="0"/>
            <a:chExt cx="14984334" cy="6042106"/>
          </a:xfrm>
        </p:grpSpPr>
        <p:sp>
          <p:nvSpPr>
            <p:cNvPr name="TextBox 12" id="12"/>
            <p:cNvSpPr txBox="true"/>
            <p:nvPr/>
          </p:nvSpPr>
          <p:spPr>
            <a:xfrm rot="0">
              <a:off x="0" y="-57150"/>
              <a:ext cx="8474819" cy="6099256"/>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a:t>
              </a:r>
              <a:r>
                <a:rPr lang="en-US" sz="1999">
                  <a:solidFill>
                    <a:srgbClr val="FFFFFF"/>
                  </a:solidFill>
                  <a:latin typeface="Poppins"/>
                  <a:ea typeface="Poppins"/>
                  <a:cs typeface="Poppins"/>
                  <a:sym typeface="Poppins"/>
                </a:rPr>
                <a:t>engembangan sistem pemantauan risiko berbasis data, informasi, serta teknologi Machine Learning dan Artificial Intelligence (AI).</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Analisis dampak ekonomi akibat bencana (loss analysis) sebagai dasar perencanaan pemulihan.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Pengembangan dashboard pemantauan risiko bencana untuk mendukung pengambilan keputusan (misalny</a:t>
              </a:r>
              <a:r>
                <a:rPr lang="en-US" sz="1999">
                  <a:solidFill>
                    <a:srgbClr val="FFFFFF"/>
                  </a:solidFill>
                  <a:latin typeface="Poppins"/>
                  <a:ea typeface="Poppins"/>
                  <a:cs typeface="Poppins"/>
                  <a:sym typeface="Poppins"/>
                </a:rPr>
                <a:t>a</a:t>
              </a:r>
              <a:r>
                <a:rPr lang="en-US" sz="1999">
                  <a:solidFill>
                    <a:srgbClr val="FFFFFF"/>
                  </a:solidFill>
                  <a:latin typeface="Poppins"/>
                  <a:ea typeface="Poppins"/>
                  <a:cs typeface="Poppins"/>
                  <a:sym typeface="Poppins"/>
                </a:rPr>
                <a:t> SuperRISKA).</a:t>
              </a:r>
            </a:p>
            <a:p>
              <a:pPr algn="just">
                <a:lnSpc>
                  <a:spcPts val="2799"/>
                </a:lnSpc>
                <a:spcBef>
                  <a:spcPct val="0"/>
                </a:spcBef>
              </a:pPr>
            </a:p>
          </p:txBody>
        </p:sp>
        <p:sp>
          <p:nvSpPr>
            <p:cNvPr name="TextBox 13" id="13"/>
            <p:cNvSpPr txBox="true"/>
            <p:nvPr/>
          </p:nvSpPr>
          <p:spPr>
            <a:xfrm rot="0">
              <a:off x="9461829" y="2695042"/>
              <a:ext cx="5255283" cy="3279330"/>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Februari</a:t>
              </a:r>
              <a:r>
                <a:rPr lang="en-US" sz="1999">
                  <a:solidFill>
                    <a:srgbClr val="FFFFFF"/>
                  </a:solidFill>
                  <a:latin typeface="Poppins"/>
                  <a:ea typeface="Poppins"/>
                  <a:cs typeface="Poppins"/>
                  <a:sym typeface="Poppins"/>
                </a:rPr>
                <a:t> – Oktober</a:t>
              </a:r>
            </a:p>
            <a:p>
              <a:pPr algn="just">
                <a:lnSpc>
                  <a:spcPts val="2799"/>
                </a:lnSpc>
                <a:spcBef>
                  <a:spcPct val="0"/>
                </a:spcBef>
              </a:pPr>
              <a:r>
                <a:rPr lang="en-US" sz="1999">
                  <a:solidFill>
                    <a:srgbClr val="FFFFFF"/>
                  </a:solidFill>
                  <a:latin typeface="Poppins"/>
                  <a:ea typeface="Poppins"/>
                  <a:cs typeface="Poppins"/>
                  <a:sym typeface="Poppins"/>
                </a:rPr>
                <a:t>2026–2027</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Pengembangan sistem berlangsung sepanjang Q1–Q4</a:t>
              </a:r>
            </a:p>
            <a:p>
              <a:pPr algn="just">
                <a:lnSpc>
                  <a:spcPts val="2799"/>
                </a:lnSpc>
                <a:spcBef>
                  <a:spcPct val="0"/>
                </a:spcBef>
              </a:pPr>
            </a:p>
          </p:txBody>
        </p:sp>
        <p:sp>
          <p:nvSpPr>
            <p:cNvPr name="TextBox 14" id="14"/>
            <p:cNvSpPr txBox="true"/>
            <p:nvPr/>
          </p:nvSpPr>
          <p:spPr>
            <a:xfrm rot="0">
              <a:off x="9461829" y="-57150"/>
              <a:ext cx="5522505" cy="3279330"/>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Hibah penelitian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Pendanaan s</a:t>
              </a:r>
              <a:r>
                <a:rPr lang="en-US" sz="1999">
                  <a:solidFill>
                    <a:srgbClr val="FFFFFF"/>
                  </a:solidFill>
                  <a:latin typeface="Poppins"/>
                  <a:ea typeface="Poppins"/>
                  <a:cs typeface="Poppins"/>
                  <a:sym typeface="Poppins"/>
                </a:rPr>
                <a:t>ektor swasta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CSR p</a:t>
              </a:r>
              <a:r>
                <a:rPr lang="en-US" sz="1999">
                  <a:solidFill>
                    <a:srgbClr val="FFFFFF"/>
                  </a:solidFill>
                  <a:latin typeface="Poppins"/>
                  <a:ea typeface="Poppins"/>
                  <a:cs typeface="Poppins"/>
                  <a:sym typeface="Poppins"/>
                </a:rPr>
                <a:t>erusahaan teknologi</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a:p>
              <a:pPr algn="just">
                <a:lnSpc>
                  <a:spcPts val="2799"/>
                </a:lnSpc>
                <a:spcBef>
                  <a:spcPct val="0"/>
                </a:spcBef>
              </a:pPr>
            </a:p>
            <a:p>
              <a:pPr algn="just">
                <a:lnSpc>
                  <a:spcPts val="2799"/>
                </a:lnSpc>
                <a:spcBef>
                  <a:spcPct val="0"/>
                </a:spcBef>
              </a:pPr>
            </a:p>
          </p:txBody>
        </p:sp>
      </p:grpSp>
      <p:sp>
        <p:nvSpPr>
          <p:cNvPr name="TextBox 15" id="15"/>
          <p:cNvSpPr txBox="true"/>
          <p:nvPr/>
        </p:nvSpPr>
        <p:spPr>
          <a:xfrm rot="0">
            <a:off x="12170990" y="4244415"/>
            <a:ext cx="5668735" cy="3531257"/>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Sistem manajemen risiko berbasis data dan model prediktif untuk pemetaan risiko bencana melalui Event Loss Table.</a:t>
            </a:r>
          </a:p>
          <a:p>
            <a:pPr algn="just">
              <a:lnSpc>
                <a:spcPts val="2799"/>
              </a:lnSpc>
              <a:spcBef>
                <a:spcPct val="0"/>
              </a:spcBef>
            </a:pP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Integrasi sistem informasi manajemen risiko ke dalam kebijakan dan praktik mitigasi bencana.</a:t>
            </a:r>
          </a:p>
          <a:p>
            <a:pPr algn="just">
              <a:lnSpc>
                <a:spcPts val="2799"/>
              </a:lnSpc>
              <a:spcBef>
                <a:spcPct val="0"/>
              </a:spcBef>
            </a:pP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4</a:t>
            </a:r>
          </a:p>
        </p:txBody>
      </p:sp>
      <p:sp>
        <p:nvSpPr>
          <p:cNvPr name="TextBox 6" id="6"/>
          <p:cNvSpPr txBox="true"/>
          <p:nvPr/>
        </p:nvSpPr>
        <p:spPr>
          <a:xfrm rot="0">
            <a:off x="7828563" y="1791189"/>
            <a:ext cx="8451626"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embangun kolaborasi strategis dan meningkatkan kapasitas institusi melalui kemitraan, pelatihan, serta pengembangan sumber daya manusia dalam tata kelola risiko bencana.</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1102490"/>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“Kol</a:t>
            </a:r>
            <a:r>
              <a:rPr lang="en-US" b="true" sz="3100">
                <a:solidFill>
                  <a:srgbClr val="FFFFFF"/>
                </a:solidFill>
                <a:latin typeface="Poppins Bold"/>
                <a:ea typeface="Poppins Bold"/>
                <a:cs typeface="Poppins Bold"/>
                <a:sym typeface="Poppins Bold"/>
              </a:rPr>
              <a:t>aborasi dalam Penguatan dan Pengembangan Kapasitas Institusi”</a:t>
            </a:r>
          </a:p>
        </p:txBody>
      </p:sp>
      <p:grpSp>
        <p:nvGrpSpPr>
          <p:cNvPr name="Group 11" id="11"/>
          <p:cNvGrpSpPr/>
          <p:nvPr/>
        </p:nvGrpSpPr>
        <p:grpSpPr>
          <a:xfrm rot="0">
            <a:off x="816126" y="4518579"/>
            <a:ext cx="11238250" cy="4531579"/>
            <a:chOff x="0" y="0"/>
            <a:chExt cx="14984334" cy="6042106"/>
          </a:xfrm>
        </p:grpSpPr>
        <p:sp>
          <p:nvSpPr>
            <p:cNvPr name="TextBox 12" id="12"/>
            <p:cNvSpPr txBox="true"/>
            <p:nvPr/>
          </p:nvSpPr>
          <p:spPr>
            <a:xfrm rot="0">
              <a:off x="0" y="-57150"/>
              <a:ext cx="8474819" cy="6099256"/>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embangun kemitraan dengan lembaga nasional dan internasional, seperti World Bank, UNDP, dan ADB, dalam pengembangan tata kelola risiko strategis.</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Memf</a:t>
              </a:r>
              <a:r>
                <a:rPr lang="en-US" sz="1999">
                  <a:solidFill>
                    <a:srgbClr val="FFFFFF"/>
                  </a:solidFill>
                  <a:latin typeface="Poppins"/>
                  <a:ea typeface="Poppins"/>
                  <a:cs typeface="Poppins"/>
                  <a:sym typeface="Poppins"/>
                </a:rPr>
                <a:t>asilitasi dialog lintas sektor untuk mendukung kebijakan mitigasi bencana dan kesiapsiagaan finansial.</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enyelenggarakan workshop dan pelatihan manajemen risiko bagi pemerintah daerah, sektor swasta, dan pemangku kepentingan lainny</a:t>
              </a:r>
              <a:r>
                <a:rPr lang="en-US" sz="1999">
                  <a:solidFill>
                    <a:srgbClr val="FFFFFF"/>
                  </a:solidFill>
                  <a:latin typeface="Poppins"/>
                  <a:ea typeface="Poppins"/>
                  <a:cs typeface="Poppins"/>
                  <a:sym typeface="Poppins"/>
                </a:rPr>
                <a:t>a</a:t>
              </a:r>
              <a:r>
                <a:rPr lang="en-US" sz="1999">
                  <a:solidFill>
                    <a:srgbClr val="FFFFFF"/>
                  </a:solidFill>
                  <a:latin typeface="Poppins"/>
                  <a:ea typeface="Poppins"/>
                  <a:cs typeface="Poppins"/>
                  <a:sym typeface="Poppins"/>
                </a:rPr>
                <a:t>.</a:t>
              </a:r>
            </a:p>
          </p:txBody>
        </p:sp>
        <p:sp>
          <p:nvSpPr>
            <p:cNvPr name="TextBox 13" id="13"/>
            <p:cNvSpPr txBox="true"/>
            <p:nvPr/>
          </p:nvSpPr>
          <p:spPr>
            <a:xfrm rot="0">
              <a:off x="9461829" y="2695042"/>
              <a:ext cx="5255283" cy="2339355"/>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2026–2027</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Pertemuan koordinasi dan pelatihan dilaksanakan setiap kuartal.</a:t>
              </a:r>
            </a:p>
          </p:txBody>
        </p:sp>
        <p:sp>
          <p:nvSpPr>
            <p:cNvPr name="TextBox 14" id="14"/>
            <p:cNvSpPr txBox="true"/>
            <p:nvPr/>
          </p:nvSpPr>
          <p:spPr>
            <a:xfrm rot="0">
              <a:off x="9461829" y="-57150"/>
              <a:ext cx="5522505" cy="1869367"/>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Sponsor lembaga donor</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Hibah penguatan kapasitas</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p:txBody>
        </p:sp>
      </p:grpSp>
      <p:sp>
        <p:nvSpPr>
          <p:cNvPr name="TextBox 15" id="15"/>
          <p:cNvSpPr txBox="true"/>
          <p:nvPr/>
        </p:nvSpPr>
        <p:spPr>
          <a:xfrm rot="0">
            <a:off x="12054376" y="3612099"/>
            <a:ext cx="5668735" cy="5646201"/>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Terbentuknya kemitraan strategis dengan lembaga nasional dan internasional.</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Terselenggaranya program pelatihan dan workshop untuk meningkatkan kapasitas institusi dalam tata kelola risiko.</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Terlaksananya sosialisasi dan edukasi manajemen risiko di kabupaten/kota di Aceh.</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Terinisiasinya pembentukan Program Studi/Departemen Aktuaria Terapan di Universitas Syiah Kuala.</a:t>
            </a:r>
          </a:p>
          <a:p>
            <a:pPr algn="just">
              <a:lnSpc>
                <a:spcPts val="2799"/>
              </a:lnSpc>
              <a:spcBef>
                <a:spcPct val="0"/>
              </a:spcBef>
            </a:pP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892103" y="2045651"/>
            <a:ext cx="19626155" cy="7560608"/>
            <a:chOff x="0" y="0"/>
            <a:chExt cx="4038303" cy="1555681"/>
          </a:xfrm>
        </p:grpSpPr>
        <p:sp>
          <p:nvSpPr>
            <p:cNvPr name="Freeform 3" id="3"/>
            <p:cNvSpPr/>
            <p:nvPr/>
          </p:nvSpPr>
          <p:spPr>
            <a:xfrm flipH="false" flipV="false" rot="0">
              <a:off x="0" y="0"/>
              <a:ext cx="4038304" cy="1555681"/>
            </a:xfrm>
            <a:custGeom>
              <a:avLst/>
              <a:gdLst/>
              <a:ahLst/>
              <a:cxnLst/>
              <a:rect r="r" b="b" t="t" l="l"/>
              <a:pathLst>
                <a:path h="1555681" w="4038304">
                  <a:moveTo>
                    <a:pt x="7704" y="0"/>
                  </a:moveTo>
                  <a:lnTo>
                    <a:pt x="4030599" y="0"/>
                  </a:lnTo>
                  <a:cubicBezTo>
                    <a:pt x="4034854" y="0"/>
                    <a:pt x="4038304" y="3449"/>
                    <a:pt x="4038304" y="7704"/>
                  </a:cubicBezTo>
                  <a:lnTo>
                    <a:pt x="4038304" y="1547976"/>
                  </a:lnTo>
                  <a:cubicBezTo>
                    <a:pt x="4038304" y="1550020"/>
                    <a:pt x="4037492" y="1551979"/>
                    <a:pt x="4036047" y="1553424"/>
                  </a:cubicBezTo>
                  <a:cubicBezTo>
                    <a:pt x="4034602" y="1554869"/>
                    <a:pt x="4032642" y="1555681"/>
                    <a:pt x="4030599" y="1555681"/>
                  </a:cubicBezTo>
                  <a:lnTo>
                    <a:pt x="7704" y="1555681"/>
                  </a:lnTo>
                  <a:cubicBezTo>
                    <a:pt x="5661" y="1555681"/>
                    <a:pt x="3701" y="1554869"/>
                    <a:pt x="2257" y="1553424"/>
                  </a:cubicBezTo>
                  <a:cubicBezTo>
                    <a:pt x="812" y="1551979"/>
                    <a:pt x="0" y="1550020"/>
                    <a:pt x="0" y="1547976"/>
                  </a:cubicBezTo>
                  <a:lnTo>
                    <a:pt x="0" y="7704"/>
                  </a:lnTo>
                  <a:cubicBezTo>
                    <a:pt x="0" y="5661"/>
                    <a:pt x="812" y="3701"/>
                    <a:pt x="2257" y="2257"/>
                  </a:cubicBezTo>
                  <a:cubicBezTo>
                    <a:pt x="3701" y="812"/>
                    <a:pt x="5661" y="0"/>
                    <a:pt x="7704" y="0"/>
                  </a:cubicBezTo>
                  <a:close/>
                </a:path>
              </a:pathLst>
            </a:custGeom>
            <a:solidFill>
              <a:srgbClr val="FFFFFF"/>
            </a:solidFill>
          </p:spPr>
        </p:sp>
        <p:sp>
          <p:nvSpPr>
            <p:cNvPr name="TextBox 4" id="4"/>
            <p:cNvSpPr txBox="true"/>
            <p:nvPr/>
          </p:nvSpPr>
          <p:spPr>
            <a:xfrm>
              <a:off x="0" y="-38100"/>
              <a:ext cx="4038303" cy="15937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46052" y="9606259"/>
            <a:ext cx="19180103" cy="1556799"/>
            <a:chOff x="0" y="0"/>
            <a:chExt cx="3946523" cy="320329"/>
          </a:xfrm>
        </p:grpSpPr>
        <p:sp>
          <p:nvSpPr>
            <p:cNvPr name="Freeform 6" id="6"/>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7" id="7"/>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293668"/>
            <a:ext cx="4089990" cy="2868957"/>
            <a:chOff x="0" y="0"/>
            <a:chExt cx="633646" cy="444476"/>
          </a:xfrm>
        </p:grpSpPr>
        <p:sp>
          <p:nvSpPr>
            <p:cNvPr name="Freeform 9" id="9"/>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2"/>
              <a:stretch>
                <a:fillRect l="-14650" t="0" r="-14650" b="0"/>
              </a:stretch>
            </a:blipFill>
            <a:ln w="190500" cap="rnd">
              <a:solidFill>
                <a:srgbClr val="25671E"/>
              </a:solidFill>
              <a:prstDash val="solid"/>
              <a:round/>
            </a:ln>
          </p:spPr>
        </p:sp>
      </p:grpSp>
      <p:grpSp>
        <p:nvGrpSpPr>
          <p:cNvPr name="Group 10" id="10"/>
          <p:cNvGrpSpPr/>
          <p:nvPr/>
        </p:nvGrpSpPr>
        <p:grpSpPr>
          <a:xfrm rot="0">
            <a:off x="1028700" y="472819"/>
            <a:ext cx="2655903" cy="1111762"/>
            <a:chOff x="0" y="0"/>
            <a:chExt cx="3541204" cy="1482349"/>
          </a:xfrm>
        </p:grpSpPr>
        <p:grpSp>
          <p:nvGrpSpPr>
            <p:cNvPr name="Group 11" id="11"/>
            <p:cNvGrpSpPr/>
            <p:nvPr/>
          </p:nvGrpSpPr>
          <p:grpSpPr>
            <a:xfrm rot="0">
              <a:off x="0" y="0"/>
              <a:ext cx="3541204" cy="1482349"/>
              <a:chOff x="0" y="0"/>
              <a:chExt cx="867283" cy="362966"/>
            </a:xfrm>
          </p:grpSpPr>
          <p:sp>
            <p:nvSpPr>
              <p:cNvPr name="Freeform 12" id="12"/>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3" id="13"/>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3"/>
              <a:stretch>
                <a:fillRect l="0" t="0" r="0" b="0"/>
              </a:stretch>
            </a:blipFill>
          </p:spPr>
        </p:sp>
      </p:grpSp>
      <p:grpSp>
        <p:nvGrpSpPr>
          <p:cNvPr name="Group 15" id="15"/>
          <p:cNvGrpSpPr/>
          <p:nvPr/>
        </p:nvGrpSpPr>
        <p:grpSpPr>
          <a:xfrm rot="0">
            <a:off x="14873845" y="472819"/>
            <a:ext cx="2655903" cy="1111762"/>
            <a:chOff x="0" y="0"/>
            <a:chExt cx="3541204" cy="1482349"/>
          </a:xfrm>
        </p:grpSpPr>
        <p:grpSp>
          <p:nvGrpSpPr>
            <p:cNvPr name="Group 16" id="16"/>
            <p:cNvGrpSpPr/>
            <p:nvPr/>
          </p:nvGrpSpPr>
          <p:grpSpPr>
            <a:xfrm rot="0">
              <a:off x="0" y="0"/>
              <a:ext cx="3541204" cy="1482349"/>
              <a:chOff x="0" y="0"/>
              <a:chExt cx="867283" cy="362966"/>
            </a:xfrm>
          </p:grpSpPr>
          <p:sp>
            <p:nvSpPr>
              <p:cNvPr name="Freeform 17" id="17"/>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8" id="18"/>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9" id="19"/>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4"/>
              <a:stretch>
                <a:fillRect l="0" t="0" r="0" b="0"/>
              </a:stretch>
            </a:blipFill>
          </p:spPr>
        </p:sp>
      </p:grpSp>
      <p:grpSp>
        <p:nvGrpSpPr>
          <p:cNvPr name="Group 20" id="20"/>
          <p:cNvGrpSpPr/>
          <p:nvPr/>
        </p:nvGrpSpPr>
        <p:grpSpPr>
          <a:xfrm rot="0">
            <a:off x="7099005" y="3293668"/>
            <a:ext cx="4089990" cy="2868957"/>
            <a:chOff x="0" y="0"/>
            <a:chExt cx="633646" cy="444476"/>
          </a:xfrm>
        </p:grpSpPr>
        <p:sp>
          <p:nvSpPr>
            <p:cNvPr name="Freeform 21" id="21"/>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5"/>
              <a:stretch>
                <a:fillRect l="-1846" t="0" r="-1846" b="0"/>
              </a:stretch>
            </a:blipFill>
            <a:ln w="190500" cap="rnd">
              <a:solidFill>
                <a:srgbClr val="25671E"/>
              </a:solidFill>
              <a:prstDash val="solid"/>
              <a:round/>
            </a:ln>
          </p:spPr>
        </p:sp>
      </p:grpSp>
      <p:grpSp>
        <p:nvGrpSpPr>
          <p:cNvPr name="Group 22" id="22"/>
          <p:cNvGrpSpPr/>
          <p:nvPr/>
        </p:nvGrpSpPr>
        <p:grpSpPr>
          <a:xfrm rot="0">
            <a:off x="13169310" y="3293668"/>
            <a:ext cx="4089990" cy="2868957"/>
            <a:chOff x="0" y="0"/>
            <a:chExt cx="633646" cy="444476"/>
          </a:xfrm>
        </p:grpSpPr>
        <p:sp>
          <p:nvSpPr>
            <p:cNvPr name="Freeform 23" id="23"/>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6"/>
              <a:stretch>
                <a:fillRect l="-3214" t="0" r="-3214" b="0"/>
              </a:stretch>
            </a:blipFill>
            <a:ln w="190500" cap="rnd">
              <a:solidFill>
                <a:srgbClr val="25671E"/>
              </a:solidFill>
              <a:prstDash val="solid"/>
              <a:round/>
            </a:ln>
          </p:spPr>
        </p:sp>
      </p:grpSp>
      <p:sp>
        <p:nvSpPr>
          <p:cNvPr name="TextBox 24" id="24"/>
          <p:cNvSpPr txBox="true"/>
          <p:nvPr/>
        </p:nvSpPr>
        <p:spPr>
          <a:xfrm rot="0">
            <a:off x="5664316" y="2236151"/>
            <a:ext cx="6959368" cy="747275"/>
          </a:xfrm>
          <a:prstGeom prst="rect">
            <a:avLst/>
          </a:prstGeom>
        </p:spPr>
        <p:txBody>
          <a:bodyPr anchor="t" rtlCol="false" tIns="0" lIns="0" bIns="0" rIns="0">
            <a:spAutoFit/>
          </a:bodyPr>
          <a:lstStyle/>
          <a:p>
            <a:pPr algn="l">
              <a:lnSpc>
                <a:spcPts val="5456"/>
              </a:lnSpc>
            </a:pPr>
            <a:r>
              <a:rPr lang="en-US" sz="6200" b="true">
                <a:solidFill>
                  <a:srgbClr val="25671E"/>
                </a:solidFill>
                <a:latin typeface="Montserrat Bold"/>
                <a:ea typeface="Montserrat Bold"/>
                <a:cs typeface="Montserrat Bold"/>
                <a:sym typeface="Montserrat Bold"/>
              </a:rPr>
              <a:t>FOTO KEGIATAN</a:t>
            </a:r>
          </a:p>
        </p:txBody>
      </p:sp>
      <p:grpSp>
        <p:nvGrpSpPr>
          <p:cNvPr name="Group 25" id="25"/>
          <p:cNvGrpSpPr/>
          <p:nvPr/>
        </p:nvGrpSpPr>
        <p:grpSpPr>
          <a:xfrm rot="0">
            <a:off x="3910346" y="6476950"/>
            <a:ext cx="4089990" cy="2868957"/>
            <a:chOff x="0" y="0"/>
            <a:chExt cx="633646" cy="444476"/>
          </a:xfrm>
        </p:grpSpPr>
        <p:sp>
          <p:nvSpPr>
            <p:cNvPr name="Freeform 26" id="26"/>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7"/>
              <a:stretch>
                <a:fillRect l="-35896" t="0" r="-8176" b="0"/>
              </a:stretch>
            </a:blipFill>
            <a:ln w="190500" cap="rnd">
              <a:solidFill>
                <a:srgbClr val="25671E"/>
              </a:solidFill>
              <a:prstDash val="solid"/>
              <a:round/>
            </a:ln>
          </p:spPr>
        </p:sp>
      </p:grpSp>
      <p:grpSp>
        <p:nvGrpSpPr>
          <p:cNvPr name="Group 27" id="27"/>
          <p:cNvGrpSpPr/>
          <p:nvPr/>
        </p:nvGrpSpPr>
        <p:grpSpPr>
          <a:xfrm rot="0">
            <a:off x="10783855" y="6449963"/>
            <a:ext cx="4089990" cy="2868957"/>
            <a:chOff x="0" y="0"/>
            <a:chExt cx="633646" cy="444476"/>
          </a:xfrm>
        </p:grpSpPr>
        <p:sp>
          <p:nvSpPr>
            <p:cNvPr name="Freeform 28" id="28"/>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8"/>
              <a:stretch>
                <a:fillRect l="0" t="0" r="0" b="-90310"/>
              </a:stretch>
            </a:blipFill>
            <a:ln w="190500" cap="rnd">
              <a:solidFill>
                <a:srgbClr val="25671E"/>
              </a:solidFill>
              <a:prstDash val="solid"/>
              <a:round/>
            </a:ln>
          </p:spPr>
        </p:sp>
      </p:gr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647735" y="3316070"/>
            <a:ext cx="8992529" cy="963362"/>
          </a:xfrm>
          <a:prstGeom prst="rect">
            <a:avLst/>
          </a:prstGeom>
        </p:spPr>
        <p:txBody>
          <a:bodyPr anchor="t" rtlCol="false" tIns="0" lIns="0" bIns="0" rIns="0">
            <a:spAutoFit/>
          </a:bodyPr>
          <a:lstStyle/>
          <a:p>
            <a:pPr algn="ctr">
              <a:lnSpc>
                <a:spcPts val="7040"/>
              </a:lnSpc>
            </a:pPr>
            <a:r>
              <a:rPr lang="en-US" b="true" sz="8000">
                <a:solidFill>
                  <a:srgbClr val="25671E"/>
                </a:solidFill>
                <a:latin typeface="Montserrat Bold"/>
                <a:ea typeface="Montserrat Bold"/>
                <a:cs typeface="Montserrat Bold"/>
                <a:sym typeface="Montserrat Bold"/>
              </a:rPr>
              <a:t>PENUTUP</a:t>
            </a:r>
          </a:p>
        </p:txBody>
      </p:sp>
      <p:sp>
        <p:nvSpPr>
          <p:cNvPr name="TextBox 6" id="6"/>
          <p:cNvSpPr txBox="true"/>
          <p:nvPr/>
        </p:nvSpPr>
        <p:spPr>
          <a:xfrm rot="0">
            <a:off x="1889177" y="4883253"/>
            <a:ext cx="14509646" cy="2789555"/>
          </a:xfrm>
          <a:prstGeom prst="rect">
            <a:avLst/>
          </a:prstGeom>
        </p:spPr>
        <p:txBody>
          <a:bodyPr anchor="t" rtlCol="false" tIns="0" lIns="0" bIns="0" rIns="0">
            <a:spAutoFit/>
          </a:bodyPr>
          <a:lstStyle/>
          <a:p>
            <a:pPr algn="ctr">
              <a:lnSpc>
                <a:spcPts val="3219"/>
              </a:lnSpc>
              <a:spcBef>
                <a:spcPct val="0"/>
              </a:spcBef>
            </a:pPr>
            <a:r>
              <a:rPr lang="en-US" sz="2299">
                <a:solidFill>
                  <a:srgbClr val="25671E"/>
                </a:solidFill>
                <a:latin typeface="Open Sans"/>
                <a:ea typeface="Open Sans"/>
                <a:cs typeface="Open Sans"/>
                <a:sym typeface="Open Sans"/>
              </a:rPr>
              <a:t>Dengan menjalankan program-program ini, Divisi </a:t>
            </a:r>
            <a:r>
              <a:rPr lang="en-US" b="true" sz="2299">
                <a:solidFill>
                  <a:srgbClr val="25671E"/>
                </a:solidFill>
                <a:latin typeface="Open Sans Bold"/>
                <a:ea typeface="Open Sans Bold"/>
                <a:cs typeface="Open Sans Bold"/>
                <a:sym typeface="Open Sans Bold"/>
              </a:rPr>
              <a:t>Strategic Risk Governance</a:t>
            </a:r>
            <a:r>
              <a:rPr lang="en-US" sz="2299">
                <a:solidFill>
                  <a:srgbClr val="25671E"/>
                </a:solidFill>
                <a:latin typeface="Open Sans"/>
                <a:ea typeface="Open Sans"/>
                <a:cs typeface="Open Sans"/>
                <a:sym typeface="Open Sans"/>
              </a:rPr>
              <a:t> bertujuan untuk menciptakan sistem tata kelola risiko bencana yang lebih efektif, berbasis data dan informasi, memiliki mekanisme pendanaan yang berkelanjutan (updating). </a:t>
            </a:r>
          </a:p>
          <a:p>
            <a:pPr algn="ctr">
              <a:lnSpc>
                <a:spcPts val="3219"/>
              </a:lnSpc>
              <a:spcBef>
                <a:spcPct val="0"/>
              </a:spcBef>
            </a:pPr>
          </a:p>
          <a:p>
            <a:pPr algn="ctr">
              <a:lnSpc>
                <a:spcPts val="3219"/>
              </a:lnSpc>
              <a:spcBef>
                <a:spcPct val="0"/>
              </a:spcBef>
            </a:pPr>
            <a:r>
              <a:rPr lang="en-US" sz="2299">
                <a:solidFill>
                  <a:srgbClr val="25671E"/>
                </a:solidFill>
                <a:latin typeface="Open Sans"/>
                <a:ea typeface="Open Sans"/>
                <a:cs typeface="Open Sans"/>
                <a:sym typeface="Open Sans"/>
              </a:rPr>
              <a:t>Program ini juga mendukung penguatan dan pengembangan kapasitas kelembagaan dalam pengelolaan risiko bencana, sehingga Indonesia lebih siap menghadapi bencana dan mengurangi dampak ekonomi serta sosialnya.</a:t>
            </a:r>
          </a:p>
        </p:txBody>
      </p:sp>
      <p:grpSp>
        <p:nvGrpSpPr>
          <p:cNvPr name="Group 7" id="7"/>
          <p:cNvGrpSpPr/>
          <p:nvPr/>
        </p:nvGrpSpPr>
        <p:grpSpPr>
          <a:xfrm rot="0">
            <a:off x="1028700" y="472819"/>
            <a:ext cx="2655903" cy="1111762"/>
            <a:chOff x="0" y="0"/>
            <a:chExt cx="3541204" cy="1482349"/>
          </a:xfrm>
        </p:grpSpPr>
        <p:grpSp>
          <p:nvGrpSpPr>
            <p:cNvPr name="Group 8" id="8"/>
            <p:cNvGrpSpPr/>
            <p:nvPr/>
          </p:nvGrpSpPr>
          <p:grpSpPr>
            <a:xfrm rot="0">
              <a:off x="0" y="0"/>
              <a:ext cx="3541204" cy="1482349"/>
              <a:chOff x="0" y="0"/>
              <a:chExt cx="867283" cy="362966"/>
            </a:xfrm>
          </p:grpSpPr>
          <p:sp>
            <p:nvSpPr>
              <p:cNvPr name="Freeform 9" id="9"/>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0" id="10"/>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12" id="12"/>
          <p:cNvGrpSpPr/>
          <p:nvPr/>
        </p:nvGrpSpPr>
        <p:grpSpPr>
          <a:xfrm rot="0">
            <a:off x="14873845" y="472819"/>
            <a:ext cx="2655903" cy="1111762"/>
            <a:chOff x="0" y="0"/>
            <a:chExt cx="3541204" cy="1482349"/>
          </a:xfrm>
        </p:grpSpPr>
        <p:grpSp>
          <p:nvGrpSpPr>
            <p:cNvPr name="Group 13" id="13"/>
            <p:cNvGrpSpPr/>
            <p:nvPr/>
          </p:nvGrpSpPr>
          <p:grpSpPr>
            <a:xfrm rot="0">
              <a:off x="0" y="0"/>
              <a:ext cx="3541204" cy="1482349"/>
              <a:chOff x="0" y="0"/>
              <a:chExt cx="867283" cy="362966"/>
            </a:xfrm>
          </p:grpSpPr>
          <p:sp>
            <p:nvSpPr>
              <p:cNvPr name="Freeform 14" id="14"/>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5" id="15"/>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6" id="16"/>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2294631" y="2811135"/>
            <a:ext cx="13807750" cy="5161251"/>
            <a:chOff x="0" y="0"/>
            <a:chExt cx="1946900" cy="727739"/>
          </a:xfrm>
        </p:grpSpPr>
        <p:sp>
          <p:nvSpPr>
            <p:cNvPr name="Freeform 3" id="3"/>
            <p:cNvSpPr/>
            <p:nvPr/>
          </p:nvSpPr>
          <p:spPr>
            <a:xfrm flipH="false" flipV="false" rot="0">
              <a:off x="0" y="0"/>
              <a:ext cx="1946900" cy="727739"/>
            </a:xfrm>
            <a:custGeom>
              <a:avLst/>
              <a:gdLst/>
              <a:ahLst/>
              <a:cxnLst/>
              <a:rect r="r" b="b" t="t" l="l"/>
              <a:pathLst>
                <a:path h="727739" w="1946900">
                  <a:moveTo>
                    <a:pt x="56069" y="0"/>
                  </a:moveTo>
                  <a:lnTo>
                    <a:pt x="1890831" y="0"/>
                  </a:lnTo>
                  <a:cubicBezTo>
                    <a:pt x="1921797" y="0"/>
                    <a:pt x="1946900" y="25103"/>
                    <a:pt x="1946900" y="56069"/>
                  </a:cubicBezTo>
                  <a:lnTo>
                    <a:pt x="1946900" y="671670"/>
                  </a:lnTo>
                  <a:cubicBezTo>
                    <a:pt x="1946900" y="686540"/>
                    <a:pt x="1940993" y="700802"/>
                    <a:pt x="1930478" y="711317"/>
                  </a:cubicBezTo>
                  <a:cubicBezTo>
                    <a:pt x="1919963" y="721832"/>
                    <a:pt x="1905701" y="727739"/>
                    <a:pt x="1890831" y="727739"/>
                  </a:cubicBezTo>
                  <a:lnTo>
                    <a:pt x="56069" y="727739"/>
                  </a:lnTo>
                  <a:cubicBezTo>
                    <a:pt x="41199" y="727739"/>
                    <a:pt x="26937" y="721832"/>
                    <a:pt x="16422" y="711317"/>
                  </a:cubicBezTo>
                  <a:cubicBezTo>
                    <a:pt x="5907" y="700802"/>
                    <a:pt x="0" y="686540"/>
                    <a:pt x="0" y="671670"/>
                  </a:cubicBezTo>
                  <a:lnTo>
                    <a:pt x="0" y="56069"/>
                  </a:lnTo>
                  <a:cubicBezTo>
                    <a:pt x="0" y="41199"/>
                    <a:pt x="5907" y="26937"/>
                    <a:pt x="16422" y="16422"/>
                  </a:cubicBezTo>
                  <a:cubicBezTo>
                    <a:pt x="26937" y="5907"/>
                    <a:pt x="41199" y="0"/>
                    <a:pt x="56069" y="0"/>
                  </a:cubicBezTo>
                  <a:close/>
                </a:path>
              </a:pathLst>
            </a:custGeom>
            <a:blipFill>
              <a:blip r:embed="rId2"/>
              <a:stretch>
                <a:fillRect l="0" t="-190054" r="0" b="-66648"/>
              </a:stretch>
            </a:blipFill>
          </p:spPr>
        </p:sp>
      </p:grpSp>
      <p:sp>
        <p:nvSpPr>
          <p:cNvPr name="TextBox 4" id="4"/>
          <p:cNvSpPr txBox="true"/>
          <p:nvPr/>
        </p:nvSpPr>
        <p:spPr>
          <a:xfrm rot="0">
            <a:off x="1428750" y="4954081"/>
            <a:ext cx="15445876" cy="1943549"/>
          </a:xfrm>
          <a:prstGeom prst="rect">
            <a:avLst/>
          </a:prstGeom>
        </p:spPr>
        <p:txBody>
          <a:bodyPr anchor="t" rtlCol="false" tIns="0" lIns="0" bIns="0" rIns="0">
            <a:spAutoFit/>
          </a:bodyPr>
          <a:lstStyle/>
          <a:p>
            <a:pPr algn="ctr">
              <a:lnSpc>
                <a:spcPts val="14052"/>
              </a:lnSpc>
            </a:pPr>
            <a:r>
              <a:rPr lang="en-US" b="true" sz="15968">
                <a:solidFill>
                  <a:srgbClr val="FFFFFF"/>
                </a:solidFill>
                <a:latin typeface="Montserrat Bold"/>
                <a:ea typeface="Montserrat Bold"/>
                <a:cs typeface="Montserrat Bold"/>
                <a:sym typeface="Montserrat Bold"/>
              </a:rPr>
              <a:t>THANK YOU</a:t>
            </a:r>
          </a:p>
        </p:txBody>
      </p:sp>
      <p:sp>
        <p:nvSpPr>
          <p:cNvPr name="Freeform 5" id="5"/>
          <p:cNvSpPr/>
          <p:nvPr/>
        </p:nvSpPr>
        <p:spPr>
          <a:xfrm flipH="false" flipV="false" rot="0">
            <a:off x="-4390654" y="7422384"/>
            <a:ext cx="7315200" cy="1356637"/>
          </a:xfrm>
          <a:custGeom>
            <a:avLst/>
            <a:gdLst/>
            <a:ahLst/>
            <a:cxnLst/>
            <a:rect r="r" b="b" t="t" l="l"/>
            <a:pathLst>
              <a:path h="1356637" w="7315200">
                <a:moveTo>
                  <a:pt x="0" y="0"/>
                </a:moveTo>
                <a:lnTo>
                  <a:pt x="7315200" y="0"/>
                </a:lnTo>
                <a:lnTo>
                  <a:pt x="7315200" y="1356637"/>
                </a:lnTo>
                <a:lnTo>
                  <a:pt x="0" y="13566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6292577" y="2230110"/>
            <a:ext cx="7315200" cy="1356637"/>
          </a:xfrm>
          <a:custGeom>
            <a:avLst/>
            <a:gdLst/>
            <a:ahLst/>
            <a:cxnLst/>
            <a:rect r="r" b="b" t="t" l="l"/>
            <a:pathLst>
              <a:path h="1356637" w="7315200">
                <a:moveTo>
                  <a:pt x="7315200" y="0"/>
                </a:moveTo>
                <a:lnTo>
                  <a:pt x="0" y="0"/>
                </a:lnTo>
                <a:lnTo>
                  <a:pt x="0" y="1356637"/>
                </a:lnTo>
                <a:lnTo>
                  <a:pt x="7315200" y="1356637"/>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891732" y="2230110"/>
            <a:ext cx="16504536" cy="0"/>
          </a:xfrm>
          <a:prstGeom prst="line">
            <a:avLst/>
          </a:prstGeom>
          <a:ln cap="flat" w="38100">
            <a:solidFill>
              <a:srgbClr val="FFFFFF"/>
            </a:solidFill>
            <a:prstDash val="solid"/>
            <a:headEnd type="none" len="sm" w="sm"/>
            <a:tailEnd type="none" len="sm" w="sm"/>
          </a:ln>
        </p:spPr>
      </p:sp>
      <p:sp>
        <p:nvSpPr>
          <p:cNvPr name="TextBox 8" id="8"/>
          <p:cNvSpPr txBox="true"/>
          <p:nvPr/>
        </p:nvSpPr>
        <p:spPr>
          <a:xfrm rot="0">
            <a:off x="2810407" y="6935730"/>
            <a:ext cx="12667186" cy="262321"/>
          </a:xfrm>
          <a:prstGeom prst="rect">
            <a:avLst/>
          </a:prstGeom>
        </p:spPr>
        <p:txBody>
          <a:bodyPr anchor="t" rtlCol="false" tIns="0" lIns="0" bIns="0" rIns="0">
            <a:spAutoFit/>
          </a:bodyPr>
          <a:lstStyle/>
          <a:p>
            <a:pPr algn="ctr">
              <a:lnSpc>
                <a:spcPts val="1760"/>
              </a:lnSpc>
            </a:pPr>
            <a:r>
              <a:rPr lang="en-US" b="true" sz="2000">
                <a:solidFill>
                  <a:srgbClr val="FFFFFF"/>
                </a:solidFill>
                <a:latin typeface="Poppins Bold"/>
                <a:ea typeface="Poppins Bold"/>
                <a:cs typeface="Poppins Bold"/>
                <a:sym typeface="Poppins Bold"/>
              </a:rPr>
              <a:t>BUILDI</a:t>
            </a:r>
            <a:r>
              <a:rPr lang="en-US" b="true" sz="2000">
                <a:solidFill>
                  <a:srgbClr val="FFFFFF"/>
                </a:solidFill>
                <a:latin typeface="Poppins Bold"/>
                <a:ea typeface="Poppins Bold"/>
                <a:cs typeface="Poppins Bold"/>
                <a:sym typeface="Poppins Bold"/>
              </a:rPr>
              <a:t>NG RESILIENCE THROUGH RESEARCH, INNOVATION, AND COLLABORATION</a:t>
            </a:r>
          </a:p>
        </p:txBody>
      </p:sp>
      <p:grpSp>
        <p:nvGrpSpPr>
          <p:cNvPr name="Group 9" id="9"/>
          <p:cNvGrpSpPr/>
          <p:nvPr/>
        </p:nvGrpSpPr>
        <p:grpSpPr>
          <a:xfrm rot="0">
            <a:off x="1028700" y="472819"/>
            <a:ext cx="2655903" cy="1111762"/>
            <a:chOff x="0" y="0"/>
            <a:chExt cx="3541204" cy="1482349"/>
          </a:xfrm>
        </p:grpSpPr>
        <p:grpSp>
          <p:nvGrpSpPr>
            <p:cNvPr name="Group 10" id="10"/>
            <p:cNvGrpSpPr/>
            <p:nvPr/>
          </p:nvGrpSpPr>
          <p:grpSpPr>
            <a:xfrm rot="0">
              <a:off x="0" y="0"/>
              <a:ext cx="3541204" cy="1482349"/>
              <a:chOff x="0" y="0"/>
              <a:chExt cx="867283" cy="362966"/>
            </a:xfrm>
          </p:grpSpPr>
          <p:sp>
            <p:nvSpPr>
              <p:cNvPr name="Freeform 11" id="1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2" id="1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grpSp>
        <p:nvGrpSpPr>
          <p:cNvPr name="Group 14" id="14"/>
          <p:cNvGrpSpPr/>
          <p:nvPr/>
        </p:nvGrpSpPr>
        <p:grpSpPr>
          <a:xfrm rot="0">
            <a:off x="14873845" y="472819"/>
            <a:ext cx="2655903" cy="1111762"/>
            <a:chOff x="0" y="0"/>
            <a:chExt cx="3541204" cy="1482349"/>
          </a:xfrm>
        </p:grpSpPr>
        <p:grpSp>
          <p:nvGrpSpPr>
            <p:cNvPr name="Group 15" id="15"/>
            <p:cNvGrpSpPr/>
            <p:nvPr/>
          </p:nvGrpSpPr>
          <p:grpSpPr>
            <a:xfrm rot="0">
              <a:off x="0" y="0"/>
              <a:ext cx="3541204" cy="1482349"/>
              <a:chOff x="0" y="0"/>
              <a:chExt cx="867283" cy="362966"/>
            </a:xfrm>
          </p:grpSpPr>
          <p:sp>
            <p:nvSpPr>
              <p:cNvPr name="Freeform 16" id="1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7" id="1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8" id="1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6"/>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DAHPRym09fU</dc:identifier>
  <dcterms:modified xsi:type="dcterms:W3CDTF">2011-08-01T06:04:30Z</dcterms:modified>
  <cp:revision>1</cp:revision>
  <dc:title>Divisi Strategic Risk Governance</dc:title>
</cp:coreProperties>
</file>