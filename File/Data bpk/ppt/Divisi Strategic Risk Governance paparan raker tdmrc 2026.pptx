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sldIdLst>
    <p:sldId id="260" r:id="rId2"/>
    <p:sldId id="279" r:id="rId3"/>
    <p:sldId id="282" r:id="rId4"/>
    <p:sldId id="269" r:id="rId5"/>
    <p:sldId id="270" r:id="rId6"/>
    <p:sldId id="280" r:id="rId7"/>
    <p:sldId id="281" r:id="rId8"/>
    <p:sldId id="275" r:id="rId9"/>
    <p:sldId id="276" r:id="rId10"/>
    <p:sldId id="277"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4040"/>
    <a:srgbClr val="FE6601"/>
    <a:srgbClr val="FE7E2A"/>
    <a:srgbClr val="FFCE2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294" autoAdjust="0"/>
    <p:restoredTop sz="94660"/>
  </p:normalViewPr>
  <p:slideViewPr>
    <p:cSldViewPr snapToGrid="0">
      <p:cViewPr varScale="1">
        <p:scale>
          <a:sx n="107" d="100"/>
          <a:sy n="107" d="100"/>
        </p:scale>
        <p:origin x="132" y="2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9B4115AB-DD5C-4502-8B18-91996984670E}" type="datetimeFigureOut">
              <a:rPr lang="en-ID" smtClean="0"/>
              <a:t>13/07/2026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D3536706-5CF5-4966-82FF-8244EE5FA9CE}" type="slidenum">
              <a:rPr lang="en-ID" smtClean="0"/>
              <a:t>‹#›</a:t>
            </a:fld>
            <a:endParaRPr lang="en-ID"/>
          </a:p>
        </p:txBody>
      </p:sp>
    </p:spTree>
    <p:extLst>
      <p:ext uri="{BB962C8B-B14F-4D97-AF65-F5344CB8AC3E}">
        <p14:creationId xmlns:p14="http://schemas.microsoft.com/office/powerpoint/2010/main" val="12181537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B4115AB-DD5C-4502-8B18-91996984670E}" type="datetimeFigureOut">
              <a:rPr lang="en-ID" smtClean="0"/>
              <a:t>13/07/2026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D3536706-5CF5-4966-82FF-8244EE5FA9CE}" type="slidenum">
              <a:rPr lang="en-ID" smtClean="0"/>
              <a:t>‹#›</a:t>
            </a:fld>
            <a:endParaRPr lang="en-ID"/>
          </a:p>
        </p:txBody>
      </p:sp>
    </p:spTree>
    <p:extLst>
      <p:ext uri="{BB962C8B-B14F-4D97-AF65-F5344CB8AC3E}">
        <p14:creationId xmlns:p14="http://schemas.microsoft.com/office/powerpoint/2010/main" val="48968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B4115AB-DD5C-4502-8B18-91996984670E}" type="datetimeFigureOut">
              <a:rPr lang="en-ID" smtClean="0"/>
              <a:t>13/07/2026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D3536706-5CF5-4966-82FF-8244EE5FA9CE}" type="slidenum">
              <a:rPr lang="en-ID" smtClean="0"/>
              <a:t>‹#›</a:t>
            </a:fld>
            <a:endParaRPr lang="en-ID"/>
          </a:p>
        </p:txBody>
      </p:sp>
    </p:spTree>
    <p:extLst>
      <p:ext uri="{BB962C8B-B14F-4D97-AF65-F5344CB8AC3E}">
        <p14:creationId xmlns:p14="http://schemas.microsoft.com/office/powerpoint/2010/main" val="3344494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B4115AB-DD5C-4502-8B18-91996984670E}" type="datetimeFigureOut">
              <a:rPr lang="en-ID" smtClean="0"/>
              <a:t>13/07/2026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D3536706-5CF5-4966-82FF-8244EE5FA9CE}" type="slidenum">
              <a:rPr lang="en-ID" smtClean="0"/>
              <a:t>‹#›</a:t>
            </a:fld>
            <a:endParaRPr lang="en-ID"/>
          </a:p>
        </p:txBody>
      </p:sp>
    </p:spTree>
    <p:extLst>
      <p:ext uri="{BB962C8B-B14F-4D97-AF65-F5344CB8AC3E}">
        <p14:creationId xmlns:p14="http://schemas.microsoft.com/office/powerpoint/2010/main" val="5253078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B4115AB-DD5C-4502-8B18-91996984670E}" type="datetimeFigureOut">
              <a:rPr lang="en-ID" smtClean="0"/>
              <a:t>13/07/2026</a:t>
            </a:fld>
            <a:endParaRPr lang="en-ID"/>
          </a:p>
        </p:txBody>
      </p:sp>
      <p:sp>
        <p:nvSpPr>
          <p:cNvPr id="8" name="Footer Placeholder 7"/>
          <p:cNvSpPr>
            <a:spLocks noGrp="1"/>
          </p:cNvSpPr>
          <p:nvPr>
            <p:ph type="ftr" sz="quarter" idx="11"/>
          </p:nvPr>
        </p:nvSpPr>
        <p:spPr/>
        <p:txBody>
          <a:bodyPr/>
          <a:lstStyle/>
          <a:p>
            <a:endParaRPr lang="en-ID"/>
          </a:p>
        </p:txBody>
      </p:sp>
      <p:sp>
        <p:nvSpPr>
          <p:cNvPr id="9" name="Slide Number Placeholder 8"/>
          <p:cNvSpPr>
            <a:spLocks noGrp="1"/>
          </p:cNvSpPr>
          <p:nvPr>
            <p:ph type="sldNum" sz="quarter" idx="12"/>
          </p:nvPr>
        </p:nvSpPr>
        <p:spPr/>
        <p:txBody>
          <a:bodyPr/>
          <a:lstStyle/>
          <a:p>
            <a:fld id="{D3536706-5CF5-4966-82FF-8244EE5FA9CE}" type="slidenum">
              <a:rPr lang="en-ID" smtClean="0"/>
              <a:t>‹#›</a:t>
            </a:fld>
            <a:endParaRPr lang="en-ID"/>
          </a:p>
        </p:txBody>
      </p:sp>
    </p:spTree>
    <p:extLst>
      <p:ext uri="{BB962C8B-B14F-4D97-AF65-F5344CB8AC3E}">
        <p14:creationId xmlns:p14="http://schemas.microsoft.com/office/powerpoint/2010/main" val="31032324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B4115AB-DD5C-4502-8B18-91996984670E}" type="datetimeFigureOut">
              <a:rPr lang="en-ID" smtClean="0"/>
              <a:t>13/07/2026</a:t>
            </a:fld>
            <a:endParaRPr lang="en-ID"/>
          </a:p>
        </p:txBody>
      </p:sp>
      <p:sp>
        <p:nvSpPr>
          <p:cNvPr id="4" name="Footer Placeholder 3"/>
          <p:cNvSpPr>
            <a:spLocks noGrp="1"/>
          </p:cNvSpPr>
          <p:nvPr>
            <p:ph type="ftr" sz="quarter" idx="11"/>
          </p:nvPr>
        </p:nvSpPr>
        <p:spPr/>
        <p:txBody>
          <a:bodyPr/>
          <a:lstStyle/>
          <a:p>
            <a:endParaRPr lang="en-ID"/>
          </a:p>
        </p:txBody>
      </p:sp>
      <p:sp>
        <p:nvSpPr>
          <p:cNvPr id="5" name="Slide Number Placeholder 4"/>
          <p:cNvSpPr>
            <a:spLocks noGrp="1"/>
          </p:cNvSpPr>
          <p:nvPr>
            <p:ph type="sldNum" sz="quarter" idx="12"/>
          </p:nvPr>
        </p:nvSpPr>
        <p:spPr/>
        <p:txBody>
          <a:bodyPr/>
          <a:lstStyle/>
          <a:p>
            <a:fld id="{D3536706-5CF5-4966-82FF-8244EE5FA9CE}" type="slidenum">
              <a:rPr lang="en-ID" smtClean="0"/>
              <a:t>‹#›</a:t>
            </a:fld>
            <a:endParaRPr lang="en-ID"/>
          </a:p>
        </p:txBody>
      </p:sp>
    </p:spTree>
    <p:extLst>
      <p:ext uri="{BB962C8B-B14F-4D97-AF65-F5344CB8AC3E}">
        <p14:creationId xmlns:p14="http://schemas.microsoft.com/office/powerpoint/2010/main" val="2740079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4115AB-DD5C-4502-8B18-91996984670E}" type="datetimeFigureOut">
              <a:rPr lang="en-ID" smtClean="0"/>
              <a:t>13/07/2026</a:t>
            </a:fld>
            <a:endParaRPr lang="en-ID"/>
          </a:p>
        </p:txBody>
      </p:sp>
      <p:sp>
        <p:nvSpPr>
          <p:cNvPr id="3" name="Footer Placeholder 2"/>
          <p:cNvSpPr>
            <a:spLocks noGrp="1"/>
          </p:cNvSpPr>
          <p:nvPr>
            <p:ph type="ftr" sz="quarter" idx="11"/>
          </p:nvPr>
        </p:nvSpPr>
        <p:spPr/>
        <p:txBody>
          <a:bodyPr/>
          <a:lstStyle/>
          <a:p>
            <a:endParaRPr lang="en-ID"/>
          </a:p>
        </p:txBody>
      </p:sp>
      <p:sp>
        <p:nvSpPr>
          <p:cNvPr id="4" name="Slide Number Placeholder 3"/>
          <p:cNvSpPr>
            <a:spLocks noGrp="1"/>
          </p:cNvSpPr>
          <p:nvPr>
            <p:ph type="sldNum" sz="quarter" idx="12"/>
          </p:nvPr>
        </p:nvSpPr>
        <p:spPr/>
        <p:txBody>
          <a:bodyPr/>
          <a:lstStyle/>
          <a:p>
            <a:fld id="{D3536706-5CF5-4966-82FF-8244EE5FA9CE}" type="slidenum">
              <a:rPr lang="en-ID" smtClean="0"/>
              <a:t>‹#›</a:t>
            </a:fld>
            <a:endParaRPr lang="en-ID"/>
          </a:p>
        </p:txBody>
      </p:sp>
    </p:spTree>
    <p:extLst>
      <p:ext uri="{BB962C8B-B14F-4D97-AF65-F5344CB8AC3E}">
        <p14:creationId xmlns:p14="http://schemas.microsoft.com/office/powerpoint/2010/main" val="31547971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B4115AB-DD5C-4502-8B18-91996984670E}" type="datetimeFigureOut">
              <a:rPr lang="en-ID" smtClean="0"/>
              <a:t>13/07/2026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D3536706-5CF5-4966-82FF-8244EE5FA9CE}" type="slidenum">
              <a:rPr lang="en-ID" smtClean="0"/>
              <a:t>‹#›</a:t>
            </a:fld>
            <a:endParaRPr lang="en-ID"/>
          </a:p>
        </p:txBody>
      </p:sp>
    </p:spTree>
    <p:extLst>
      <p:ext uri="{BB962C8B-B14F-4D97-AF65-F5344CB8AC3E}">
        <p14:creationId xmlns:p14="http://schemas.microsoft.com/office/powerpoint/2010/main" val="33495702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B4115AB-DD5C-4502-8B18-91996984670E}" type="datetimeFigureOut">
              <a:rPr lang="en-ID" smtClean="0"/>
              <a:t>13/07/2026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D3536706-5CF5-4966-82FF-8244EE5FA9CE}" type="slidenum">
              <a:rPr lang="en-ID" smtClean="0"/>
              <a:t>‹#›</a:t>
            </a:fld>
            <a:endParaRPr lang="en-ID"/>
          </a:p>
        </p:txBody>
      </p:sp>
    </p:spTree>
    <p:extLst>
      <p:ext uri="{BB962C8B-B14F-4D97-AF65-F5344CB8AC3E}">
        <p14:creationId xmlns:p14="http://schemas.microsoft.com/office/powerpoint/2010/main" val="36920563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B4115AB-DD5C-4502-8B18-91996984670E}" type="datetimeFigureOut">
              <a:rPr lang="en-ID" smtClean="0"/>
              <a:t>13/07/2026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D3536706-5CF5-4966-82FF-8244EE5FA9CE}" type="slidenum">
              <a:rPr lang="en-ID" smtClean="0"/>
              <a:t>‹#›</a:t>
            </a:fld>
            <a:endParaRPr lang="en-ID"/>
          </a:p>
        </p:txBody>
      </p:sp>
    </p:spTree>
    <p:extLst>
      <p:ext uri="{BB962C8B-B14F-4D97-AF65-F5344CB8AC3E}">
        <p14:creationId xmlns:p14="http://schemas.microsoft.com/office/powerpoint/2010/main" val="4003930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B4115AB-DD5C-4502-8B18-91996984670E}" type="datetimeFigureOut">
              <a:rPr lang="en-ID" smtClean="0"/>
              <a:t>13/07/2026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D3536706-5CF5-4966-82FF-8244EE5FA9CE}" type="slidenum">
              <a:rPr lang="en-ID" smtClean="0"/>
              <a:t>‹#›</a:t>
            </a:fld>
            <a:endParaRPr lang="en-ID"/>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9473319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B4115AB-DD5C-4502-8B18-91996984670E}" type="datetimeFigureOut">
              <a:rPr lang="en-ID" smtClean="0"/>
              <a:t>13/07/2026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D3536706-5CF5-4966-82FF-8244EE5FA9CE}" type="slidenum">
              <a:rPr lang="en-ID" smtClean="0"/>
              <a:t>‹#›</a:t>
            </a:fld>
            <a:endParaRPr lang="en-ID"/>
          </a:p>
        </p:txBody>
      </p:sp>
    </p:spTree>
    <p:extLst>
      <p:ext uri="{BB962C8B-B14F-4D97-AF65-F5344CB8AC3E}">
        <p14:creationId xmlns:p14="http://schemas.microsoft.com/office/powerpoint/2010/main" val="9486245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B4115AB-DD5C-4502-8B18-91996984670E}" type="datetimeFigureOut">
              <a:rPr lang="en-ID" smtClean="0"/>
              <a:t>13/07/2026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D3536706-5CF5-4966-82FF-8244EE5FA9CE}" type="slidenum">
              <a:rPr lang="en-ID" smtClean="0"/>
              <a:t>‹#›</a:t>
            </a:fld>
            <a:endParaRPr lang="en-ID"/>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2743374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B4115AB-DD5C-4502-8B18-91996984670E}" type="datetimeFigureOut">
              <a:rPr lang="en-ID" smtClean="0"/>
              <a:t>13/07/2026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D3536706-5CF5-4966-82FF-8244EE5FA9CE}" type="slidenum">
              <a:rPr lang="en-ID" smtClean="0"/>
              <a:t>‹#›</a:t>
            </a:fld>
            <a:endParaRPr lang="en-ID"/>
          </a:p>
        </p:txBody>
      </p:sp>
    </p:spTree>
    <p:extLst>
      <p:ext uri="{BB962C8B-B14F-4D97-AF65-F5344CB8AC3E}">
        <p14:creationId xmlns:p14="http://schemas.microsoft.com/office/powerpoint/2010/main" val="9656386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B4115AB-DD5C-4502-8B18-91996984670E}" type="datetimeFigureOut">
              <a:rPr lang="en-ID" smtClean="0"/>
              <a:t>13/07/2026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D3536706-5CF5-4966-82FF-8244EE5FA9CE}" type="slidenum">
              <a:rPr lang="en-ID" smtClean="0"/>
              <a:t>‹#›</a:t>
            </a:fld>
            <a:endParaRPr lang="en-ID"/>
          </a:p>
        </p:txBody>
      </p:sp>
    </p:spTree>
    <p:extLst>
      <p:ext uri="{BB962C8B-B14F-4D97-AF65-F5344CB8AC3E}">
        <p14:creationId xmlns:p14="http://schemas.microsoft.com/office/powerpoint/2010/main" val="24521507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B4115AB-DD5C-4502-8B18-91996984670E}" type="datetimeFigureOut">
              <a:rPr lang="en-ID" smtClean="0"/>
              <a:t>13/07/2026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D3536706-5CF5-4966-82FF-8244EE5FA9CE}" type="slidenum">
              <a:rPr lang="en-ID" smtClean="0"/>
              <a:t>‹#›</a:t>
            </a:fld>
            <a:endParaRPr lang="en-ID"/>
          </a:p>
        </p:txBody>
      </p:sp>
    </p:spTree>
    <p:extLst>
      <p:ext uri="{BB962C8B-B14F-4D97-AF65-F5344CB8AC3E}">
        <p14:creationId xmlns:p14="http://schemas.microsoft.com/office/powerpoint/2010/main" val="23386603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Basic Layout">
    <p:bg>
      <p:bgRef idx="1003">
        <a:schemeClr val="bg1"/>
      </p:bgRef>
    </p:bg>
    <p:spTree>
      <p:nvGrpSpPr>
        <p:cNvPr id="1" name=""/>
        <p:cNvGrpSpPr/>
        <p:nvPr/>
      </p:nvGrpSpPr>
      <p:grpSpPr>
        <a:xfrm>
          <a:off x="0" y="0"/>
          <a:ext cx="0" cy="0"/>
          <a:chOff x="0" y="0"/>
          <a:chExt cx="0" cy="0"/>
        </a:xfrm>
      </p:grpSpPr>
      <p:sp>
        <p:nvSpPr>
          <p:cNvPr id="4" name="Rectangle 3"/>
          <p:cNvSpPr/>
          <p:nvPr userDrawn="1"/>
        </p:nvSpPr>
        <p:spPr>
          <a:xfrm>
            <a:off x="-4995" y="0"/>
            <a:ext cx="1893001" cy="685800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ko-KR" altLang="en-US" sz="2400" dirty="0"/>
          </a:p>
        </p:txBody>
      </p:sp>
      <p:grpSp>
        <p:nvGrpSpPr>
          <p:cNvPr id="7" name="Group 6">
            <a:extLst>
              <a:ext uri="{FF2B5EF4-FFF2-40B4-BE49-F238E27FC236}">
                <a16:creationId xmlns:a16="http://schemas.microsoft.com/office/drawing/2014/main" xmlns="" id="{6E598134-9052-DB33-D0FA-FA62A04D772A}"/>
              </a:ext>
            </a:extLst>
          </p:cNvPr>
          <p:cNvGrpSpPr/>
          <p:nvPr userDrawn="1"/>
        </p:nvGrpSpPr>
        <p:grpSpPr>
          <a:xfrm rot="16200000" flipH="1">
            <a:off x="-2149237" y="2735114"/>
            <a:ext cx="4793711" cy="1387774"/>
            <a:chOff x="2982910" y="-574674"/>
            <a:chExt cx="6216652" cy="1935163"/>
          </a:xfrm>
          <a:solidFill>
            <a:schemeClr val="accent4">
              <a:lumMod val="60000"/>
              <a:lumOff val="40000"/>
            </a:schemeClr>
          </a:solidFill>
        </p:grpSpPr>
        <p:sp>
          <p:nvSpPr>
            <p:cNvPr id="11" name="Полилиния: фигура 12">
              <a:extLst>
                <a:ext uri="{FF2B5EF4-FFF2-40B4-BE49-F238E27FC236}">
                  <a16:creationId xmlns:a16="http://schemas.microsoft.com/office/drawing/2014/main" xmlns="" id="{9AD2C994-3D25-7073-F9ED-D3D50A0FBCDC}"/>
                </a:ext>
              </a:extLst>
            </p:cNvPr>
            <p:cNvSpPr/>
            <p:nvPr/>
          </p:nvSpPr>
          <p:spPr>
            <a:xfrm rot="2688700">
              <a:off x="5514971" y="-574674"/>
              <a:ext cx="1157288" cy="1149349"/>
            </a:xfrm>
            <a:custGeom>
              <a:avLst/>
              <a:gdLst>
                <a:gd name="connsiteX0" fmla="*/ 0 w 1157505"/>
                <a:gd name="connsiteY0" fmla="*/ 1149920 h 1149920"/>
                <a:gd name="connsiteX1" fmla="*/ 1157505 w 1157505"/>
                <a:gd name="connsiteY1" fmla="*/ 0 h 1149920"/>
                <a:gd name="connsiteX2" fmla="*/ 1157505 w 1157505"/>
                <a:gd name="connsiteY2" fmla="*/ 1149920 h 1149920"/>
              </a:gdLst>
              <a:ahLst/>
              <a:cxnLst>
                <a:cxn ang="0">
                  <a:pos x="connsiteX0" y="connsiteY0"/>
                </a:cxn>
                <a:cxn ang="0">
                  <a:pos x="connsiteX1" y="connsiteY1"/>
                </a:cxn>
                <a:cxn ang="0">
                  <a:pos x="connsiteX2" y="connsiteY2"/>
                </a:cxn>
              </a:cxnLst>
              <a:rect l="l" t="t" r="r" b="b"/>
              <a:pathLst>
                <a:path w="1157505" h="1149920">
                  <a:moveTo>
                    <a:pt x="0" y="1149920"/>
                  </a:moveTo>
                  <a:lnTo>
                    <a:pt x="1157505" y="0"/>
                  </a:lnTo>
                  <a:lnTo>
                    <a:pt x="1157505" y="114992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00" noProof="0" dirty="0"/>
            </a:p>
          </p:txBody>
        </p:sp>
        <p:sp>
          <p:nvSpPr>
            <p:cNvPr id="13" name="Полилиния: фигура 17">
              <a:extLst>
                <a:ext uri="{FF2B5EF4-FFF2-40B4-BE49-F238E27FC236}">
                  <a16:creationId xmlns:a16="http://schemas.microsoft.com/office/drawing/2014/main" xmlns="" id="{70A47423-1AEA-AA06-83C3-B7162E54FCA2}"/>
                </a:ext>
              </a:extLst>
            </p:cNvPr>
            <p:cNvSpPr/>
            <p:nvPr/>
          </p:nvSpPr>
          <p:spPr>
            <a:xfrm rot="2688700">
              <a:off x="6907208" y="-128587"/>
              <a:ext cx="1490661" cy="1489075"/>
            </a:xfrm>
            <a:custGeom>
              <a:avLst/>
              <a:gdLst>
                <a:gd name="connsiteX0" fmla="*/ 0 w 1489710"/>
                <a:gd name="connsiteY0" fmla="*/ 616739 h 1489710"/>
                <a:gd name="connsiteX1" fmla="*/ 620807 w 1489710"/>
                <a:gd name="connsiteY1" fmla="*/ 0 h 1489710"/>
                <a:gd name="connsiteX2" fmla="*/ 1489710 w 1489710"/>
                <a:gd name="connsiteY2" fmla="*/ 0 h 1489710"/>
                <a:gd name="connsiteX3" fmla="*/ 1489710 w 1489710"/>
                <a:gd name="connsiteY3" fmla="*/ 1489710 h 1489710"/>
                <a:gd name="connsiteX4" fmla="*/ 0 w 1489710"/>
                <a:gd name="connsiteY4" fmla="*/ 1489710 h 1489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9710" h="1489710">
                  <a:moveTo>
                    <a:pt x="0" y="616739"/>
                  </a:moveTo>
                  <a:lnTo>
                    <a:pt x="620807" y="0"/>
                  </a:lnTo>
                  <a:lnTo>
                    <a:pt x="1489710" y="0"/>
                  </a:lnTo>
                  <a:lnTo>
                    <a:pt x="1489710" y="1489710"/>
                  </a:lnTo>
                  <a:lnTo>
                    <a:pt x="0" y="148971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00" noProof="0" dirty="0"/>
            </a:p>
          </p:txBody>
        </p:sp>
        <p:sp>
          <p:nvSpPr>
            <p:cNvPr id="14" name="Полилиния: фигура 15">
              <a:extLst>
                <a:ext uri="{FF2B5EF4-FFF2-40B4-BE49-F238E27FC236}">
                  <a16:creationId xmlns:a16="http://schemas.microsoft.com/office/drawing/2014/main" xmlns="" id="{C0E15DC2-9099-6337-5CC1-3B0B2B117A07}"/>
                </a:ext>
              </a:extLst>
            </p:cNvPr>
            <p:cNvSpPr/>
            <p:nvPr/>
          </p:nvSpPr>
          <p:spPr>
            <a:xfrm rot="2688700">
              <a:off x="3794122" y="-128586"/>
              <a:ext cx="1490663" cy="1489075"/>
            </a:xfrm>
            <a:custGeom>
              <a:avLst/>
              <a:gdLst>
                <a:gd name="connsiteX0" fmla="*/ 0 w 1489710"/>
                <a:gd name="connsiteY0" fmla="*/ 616740 h 1489710"/>
                <a:gd name="connsiteX1" fmla="*/ 620808 w 1489710"/>
                <a:gd name="connsiteY1" fmla="*/ 0 h 1489710"/>
                <a:gd name="connsiteX2" fmla="*/ 1489710 w 1489710"/>
                <a:gd name="connsiteY2" fmla="*/ 0 h 1489710"/>
                <a:gd name="connsiteX3" fmla="*/ 1489710 w 1489710"/>
                <a:gd name="connsiteY3" fmla="*/ 1489710 h 1489710"/>
                <a:gd name="connsiteX4" fmla="*/ 0 w 1489710"/>
                <a:gd name="connsiteY4" fmla="*/ 1489710 h 1489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9710" h="1489710">
                  <a:moveTo>
                    <a:pt x="0" y="616740"/>
                  </a:moveTo>
                  <a:lnTo>
                    <a:pt x="620808" y="0"/>
                  </a:lnTo>
                  <a:lnTo>
                    <a:pt x="1489710" y="0"/>
                  </a:lnTo>
                  <a:lnTo>
                    <a:pt x="1489710" y="1489710"/>
                  </a:lnTo>
                  <a:lnTo>
                    <a:pt x="0" y="148971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00" noProof="0" dirty="0"/>
            </a:p>
          </p:txBody>
        </p:sp>
        <p:sp>
          <p:nvSpPr>
            <p:cNvPr id="24" name="Полилиния: фигура 10">
              <a:extLst>
                <a:ext uri="{FF2B5EF4-FFF2-40B4-BE49-F238E27FC236}">
                  <a16:creationId xmlns:a16="http://schemas.microsoft.com/office/drawing/2014/main" xmlns="" id="{0D5292CE-FF7A-F2B2-54D6-C36D25926686}"/>
                </a:ext>
              </a:extLst>
            </p:cNvPr>
            <p:cNvSpPr/>
            <p:nvPr/>
          </p:nvSpPr>
          <p:spPr>
            <a:xfrm rot="2688700">
              <a:off x="2982910" y="-320675"/>
              <a:ext cx="646112" cy="641349"/>
            </a:xfrm>
            <a:custGeom>
              <a:avLst/>
              <a:gdLst>
                <a:gd name="connsiteX0" fmla="*/ 0 w 646332"/>
                <a:gd name="connsiteY0" fmla="*/ 642097 h 642097"/>
                <a:gd name="connsiteX1" fmla="*/ 646332 w 646332"/>
                <a:gd name="connsiteY1" fmla="*/ 0 h 642097"/>
                <a:gd name="connsiteX2" fmla="*/ 646332 w 646332"/>
                <a:gd name="connsiteY2" fmla="*/ 642097 h 642097"/>
              </a:gdLst>
              <a:ahLst/>
              <a:cxnLst>
                <a:cxn ang="0">
                  <a:pos x="connsiteX0" y="connsiteY0"/>
                </a:cxn>
                <a:cxn ang="0">
                  <a:pos x="connsiteX1" y="connsiteY1"/>
                </a:cxn>
                <a:cxn ang="0">
                  <a:pos x="connsiteX2" y="connsiteY2"/>
                </a:cxn>
              </a:cxnLst>
              <a:rect l="l" t="t" r="r" b="b"/>
              <a:pathLst>
                <a:path w="646332" h="642097">
                  <a:moveTo>
                    <a:pt x="0" y="642097"/>
                  </a:moveTo>
                  <a:lnTo>
                    <a:pt x="646332" y="0"/>
                  </a:lnTo>
                  <a:lnTo>
                    <a:pt x="646332" y="642097"/>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00" noProof="0" dirty="0"/>
            </a:p>
          </p:txBody>
        </p:sp>
        <p:sp>
          <p:nvSpPr>
            <p:cNvPr id="25" name="Полилиния: фигура 13">
              <a:extLst>
                <a:ext uri="{FF2B5EF4-FFF2-40B4-BE49-F238E27FC236}">
                  <a16:creationId xmlns:a16="http://schemas.microsoft.com/office/drawing/2014/main" xmlns="" id="{932CE69D-F456-152D-EE1A-DA1B28725C79}"/>
                </a:ext>
              </a:extLst>
            </p:cNvPr>
            <p:cNvSpPr/>
            <p:nvPr/>
          </p:nvSpPr>
          <p:spPr>
            <a:xfrm rot="2688700">
              <a:off x="8551863" y="-320675"/>
              <a:ext cx="647699" cy="641349"/>
            </a:xfrm>
            <a:custGeom>
              <a:avLst/>
              <a:gdLst>
                <a:gd name="connsiteX0" fmla="*/ 0 w 646332"/>
                <a:gd name="connsiteY0" fmla="*/ 642097 h 642097"/>
                <a:gd name="connsiteX1" fmla="*/ 646332 w 646332"/>
                <a:gd name="connsiteY1" fmla="*/ 0 h 642097"/>
                <a:gd name="connsiteX2" fmla="*/ 646332 w 646332"/>
                <a:gd name="connsiteY2" fmla="*/ 642097 h 642097"/>
              </a:gdLst>
              <a:ahLst/>
              <a:cxnLst>
                <a:cxn ang="0">
                  <a:pos x="connsiteX0" y="connsiteY0"/>
                </a:cxn>
                <a:cxn ang="0">
                  <a:pos x="connsiteX1" y="connsiteY1"/>
                </a:cxn>
                <a:cxn ang="0">
                  <a:pos x="connsiteX2" y="connsiteY2"/>
                </a:cxn>
              </a:cxnLst>
              <a:rect l="l" t="t" r="r" b="b"/>
              <a:pathLst>
                <a:path w="646332" h="642097">
                  <a:moveTo>
                    <a:pt x="0" y="642097"/>
                  </a:moveTo>
                  <a:lnTo>
                    <a:pt x="646332" y="0"/>
                  </a:lnTo>
                  <a:lnTo>
                    <a:pt x="646332" y="642097"/>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00" noProof="0" dirty="0"/>
            </a:p>
          </p:txBody>
        </p:sp>
      </p:grpSp>
      <p:pic>
        <p:nvPicPr>
          <p:cNvPr id="1028" name="Picture 4" descr="MBKM Registration - TDMRC">
            <a:extLst>
              <a:ext uri="{FF2B5EF4-FFF2-40B4-BE49-F238E27FC236}">
                <a16:creationId xmlns:a16="http://schemas.microsoft.com/office/drawing/2014/main" xmlns="" id="{9AE1AC55-D3FC-C3CD-9693-7BA3BE28FD3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5370" y="6143612"/>
            <a:ext cx="1649104" cy="486142"/>
          </a:xfrm>
          <a:prstGeom prst="rect">
            <a:avLst/>
          </a:prstGeom>
          <a:noFill/>
          <a:extLst>
            <a:ext uri="{909E8E84-426E-40DD-AFC4-6F175D3DCCD1}">
              <a14:hiddenFill xmlns:a14="http://schemas.microsoft.com/office/drawing/2010/main">
                <a:solidFill>
                  <a:srgbClr val="FFFFFF"/>
                </a:solidFill>
              </a14:hiddenFill>
            </a:ext>
          </a:extLst>
        </p:spPr>
      </p:pic>
      <p:sp>
        <p:nvSpPr>
          <p:cNvPr id="29" name="Rectangle 28">
            <a:extLst>
              <a:ext uri="{FF2B5EF4-FFF2-40B4-BE49-F238E27FC236}">
                <a16:creationId xmlns:a16="http://schemas.microsoft.com/office/drawing/2014/main" xmlns="" id="{44F6AB0D-8FDF-7474-2354-A17E79D91162}"/>
              </a:ext>
            </a:extLst>
          </p:cNvPr>
          <p:cNvSpPr/>
          <p:nvPr userDrawn="1"/>
        </p:nvSpPr>
        <p:spPr>
          <a:xfrm>
            <a:off x="1915800" y="0"/>
            <a:ext cx="45719" cy="685800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ko-KR" altLang="en-US" sz="2400" dirty="0"/>
          </a:p>
        </p:txBody>
      </p:sp>
      <p:sp>
        <p:nvSpPr>
          <p:cNvPr id="30" name="Title Placeholder 1">
            <a:extLst>
              <a:ext uri="{FF2B5EF4-FFF2-40B4-BE49-F238E27FC236}">
                <a16:creationId xmlns:a16="http://schemas.microsoft.com/office/drawing/2014/main" xmlns="" id="{D8024415-C404-B341-FE73-4F3B42CB9A0A}"/>
              </a:ext>
            </a:extLst>
          </p:cNvPr>
          <p:cNvSpPr>
            <a:spLocks noGrp="1"/>
          </p:cNvSpPr>
          <p:nvPr>
            <p:ph type="title"/>
          </p:nvPr>
        </p:nvSpPr>
        <p:spPr>
          <a:xfrm>
            <a:off x="2094678" y="161194"/>
            <a:ext cx="9727398" cy="661108"/>
          </a:xfrm>
          <a:prstGeom prst="rect">
            <a:avLst/>
          </a:prstGeom>
        </p:spPr>
        <p:txBody>
          <a:bodyPr vert="horz" lIns="91440" tIns="45720" rIns="91440" bIns="45720" rtlCol="0" anchor="ctr">
            <a:normAutofit/>
          </a:bodyPr>
          <a:lstStyle>
            <a:lvl1pPr>
              <a:defRPr sz="2400" b="1">
                <a:solidFill>
                  <a:schemeClr val="tx1">
                    <a:lumMod val="75000"/>
                    <a:lumOff val="25000"/>
                  </a:schemeClr>
                </a:solidFill>
                <a:latin typeface="Arial (Headings)"/>
              </a:defRPr>
            </a:lvl1pPr>
          </a:lstStyle>
          <a:p>
            <a:r>
              <a:rPr lang="en-US" dirty="0"/>
              <a:t>Click to edit Master title style</a:t>
            </a:r>
          </a:p>
        </p:txBody>
      </p:sp>
    </p:spTree>
    <p:extLst>
      <p:ext uri="{BB962C8B-B14F-4D97-AF65-F5344CB8AC3E}">
        <p14:creationId xmlns:p14="http://schemas.microsoft.com/office/powerpoint/2010/main" val="837146806"/>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Basic Layout">
    <p:bg>
      <p:bgRef idx="1002">
        <a:schemeClr val="bg1"/>
      </p:bgRef>
    </p:bg>
    <p:spTree>
      <p:nvGrpSpPr>
        <p:cNvPr id="1" name=""/>
        <p:cNvGrpSpPr/>
        <p:nvPr/>
      </p:nvGrpSpPr>
      <p:grpSpPr>
        <a:xfrm>
          <a:off x="0" y="0"/>
          <a:ext cx="0" cy="0"/>
          <a:chOff x="0" y="0"/>
          <a:chExt cx="0" cy="0"/>
        </a:xfrm>
      </p:grpSpPr>
      <p:sp>
        <p:nvSpPr>
          <p:cNvPr id="4" name="Rectangle 3"/>
          <p:cNvSpPr/>
          <p:nvPr userDrawn="1"/>
        </p:nvSpPr>
        <p:spPr>
          <a:xfrm>
            <a:off x="0" y="6597352"/>
            <a:ext cx="12192000" cy="260648"/>
          </a:xfrm>
          <a:prstGeom prst="rect">
            <a:avLst/>
          </a:prstGeom>
          <a:gradFill flip="none" rotWithShape="1">
            <a:gsLst>
              <a:gs pos="9000">
                <a:schemeClr val="bg1">
                  <a:alpha val="49000"/>
                </a:schemeClr>
              </a:gs>
              <a:gs pos="48000">
                <a:schemeClr val="accent4">
                  <a:lumMod val="97000"/>
                  <a:lumOff val="3000"/>
                </a:schemeClr>
              </a:gs>
              <a:gs pos="100000">
                <a:srgbClr val="FFC000"/>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ko-KR" altLang="en-US" sz="2400"/>
          </a:p>
        </p:txBody>
      </p:sp>
      <p:sp>
        <p:nvSpPr>
          <p:cNvPr id="32" name="Title Placeholder 1">
            <a:extLst>
              <a:ext uri="{FF2B5EF4-FFF2-40B4-BE49-F238E27FC236}">
                <a16:creationId xmlns:a16="http://schemas.microsoft.com/office/drawing/2014/main" xmlns="" id="{3E5DB908-9783-8EDA-0AF3-09E1BE81D213}"/>
              </a:ext>
            </a:extLst>
          </p:cNvPr>
          <p:cNvSpPr>
            <a:spLocks noGrp="1"/>
          </p:cNvSpPr>
          <p:nvPr>
            <p:ph type="title"/>
          </p:nvPr>
        </p:nvSpPr>
        <p:spPr>
          <a:xfrm>
            <a:off x="421096" y="211565"/>
            <a:ext cx="11432548" cy="318660"/>
          </a:xfrm>
          <a:prstGeom prst="rect">
            <a:avLst/>
          </a:prstGeom>
        </p:spPr>
        <p:txBody>
          <a:bodyPr vert="horz" lIns="91440" tIns="45720" rIns="91440" bIns="45720" rtlCol="0" anchor="ctr">
            <a:normAutofit/>
          </a:bodyPr>
          <a:lstStyle>
            <a:lvl1pPr>
              <a:defRPr sz="2400" b="1">
                <a:solidFill>
                  <a:schemeClr val="tx1">
                    <a:lumMod val="75000"/>
                    <a:lumOff val="25000"/>
                  </a:schemeClr>
                </a:solidFill>
                <a:latin typeface="Arial (Headings)"/>
              </a:defRPr>
            </a:lvl1pPr>
          </a:lstStyle>
          <a:p>
            <a:r>
              <a:rPr lang="en-US" dirty="0"/>
              <a:t>Click to edit Master title style</a:t>
            </a:r>
          </a:p>
        </p:txBody>
      </p:sp>
      <p:pic>
        <p:nvPicPr>
          <p:cNvPr id="9" name="Picture 4" descr="MBKM Registration - TDMRC">
            <a:extLst>
              <a:ext uri="{FF2B5EF4-FFF2-40B4-BE49-F238E27FC236}">
                <a16:creationId xmlns:a16="http://schemas.microsoft.com/office/drawing/2014/main" xmlns="" id="{DF40DC1B-8F93-7BF1-43B1-05A86ECA5EF9}"/>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35258" y="6312336"/>
            <a:ext cx="1649104" cy="486142"/>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xmlns="" id="{71DB923C-9E80-9F61-E6E7-FFD07AED3128}"/>
              </a:ext>
            </a:extLst>
          </p:cNvPr>
          <p:cNvSpPr/>
          <p:nvPr userDrawn="1"/>
        </p:nvSpPr>
        <p:spPr>
          <a:xfrm>
            <a:off x="398236" y="211565"/>
            <a:ext cx="45719" cy="318660"/>
          </a:xfrm>
          <a:prstGeom prst="rect">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2548045819"/>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Break Layout">
    <p:spTree>
      <p:nvGrpSpPr>
        <p:cNvPr id="1" name=""/>
        <p:cNvGrpSpPr/>
        <p:nvPr/>
      </p:nvGrpSpPr>
      <p:grpSpPr>
        <a:xfrm>
          <a:off x="0" y="0"/>
          <a:ext cx="0" cy="0"/>
          <a:chOff x="0" y="0"/>
          <a:chExt cx="0" cy="0"/>
        </a:xfrm>
      </p:grpSpPr>
      <p:grpSp>
        <p:nvGrpSpPr>
          <p:cNvPr id="4" name="그룹 3">
            <a:extLst>
              <a:ext uri="{FF2B5EF4-FFF2-40B4-BE49-F238E27FC236}">
                <a16:creationId xmlns:a16="http://schemas.microsoft.com/office/drawing/2014/main" xmlns="" id="{46628553-F51C-4CE7-A3A6-AB374655DC97}"/>
              </a:ext>
            </a:extLst>
          </p:cNvPr>
          <p:cNvGrpSpPr/>
          <p:nvPr userDrawn="1"/>
        </p:nvGrpSpPr>
        <p:grpSpPr>
          <a:xfrm>
            <a:off x="1048701" y="1486620"/>
            <a:ext cx="3094425" cy="3637565"/>
            <a:chOff x="5364088" y="1450891"/>
            <a:chExt cx="2320819" cy="2728174"/>
          </a:xfrm>
        </p:grpSpPr>
        <p:sp>
          <p:nvSpPr>
            <p:cNvPr id="22" name="자유형: 도형 21">
              <a:extLst>
                <a:ext uri="{FF2B5EF4-FFF2-40B4-BE49-F238E27FC236}">
                  <a16:creationId xmlns:a16="http://schemas.microsoft.com/office/drawing/2014/main" xmlns="" id="{B5880087-04C4-411C-AEAA-74B23548761F}"/>
                </a:ext>
              </a:extLst>
            </p:cNvPr>
            <p:cNvSpPr/>
            <p:nvPr userDrawn="1"/>
          </p:nvSpPr>
          <p:spPr>
            <a:xfrm>
              <a:off x="5399290" y="2150906"/>
              <a:ext cx="2261257" cy="2028159"/>
            </a:xfrm>
            <a:custGeom>
              <a:avLst/>
              <a:gdLst>
                <a:gd name="connsiteX0" fmla="*/ 1012851 w 2261257"/>
                <a:gd name="connsiteY0" fmla="*/ 0 h 2028159"/>
                <a:gd name="connsiteX1" fmla="*/ 1226850 w 2261257"/>
                <a:gd name="connsiteY1" fmla="*/ 0 h 2028159"/>
                <a:gd name="connsiteX2" fmla="*/ 1283043 w 2261257"/>
                <a:gd name="connsiteY2" fmla="*/ 449131 h 2028159"/>
                <a:gd name="connsiteX3" fmla="*/ 1318239 w 2261257"/>
                <a:gd name="connsiteY3" fmla="*/ 455866 h 2028159"/>
                <a:gd name="connsiteX4" fmla="*/ 1530113 w 2261257"/>
                <a:gd name="connsiteY4" fmla="*/ 605602 h 2028159"/>
                <a:gd name="connsiteX5" fmla="*/ 1548314 w 2261257"/>
                <a:gd name="connsiteY5" fmla="*/ 639136 h 2028159"/>
                <a:gd name="connsiteX6" fmla="*/ 1577154 w 2261257"/>
                <a:gd name="connsiteY6" fmla="*/ 636229 h 2028159"/>
                <a:gd name="connsiteX7" fmla="*/ 1914152 w 2261257"/>
                <a:gd name="connsiteY7" fmla="*/ 859606 h 2028159"/>
                <a:gd name="connsiteX8" fmla="*/ 1919810 w 2261257"/>
                <a:gd name="connsiteY8" fmla="*/ 877832 h 2028159"/>
                <a:gd name="connsiteX9" fmla="*/ 1932155 w 2261257"/>
                <a:gd name="connsiteY9" fmla="*/ 874000 h 2028159"/>
                <a:gd name="connsiteX10" fmla="*/ 1981836 w 2261257"/>
                <a:gd name="connsiteY10" fmla="*/ 868991 h 2028159"/>
                <a:gd name="connsiteX11" fmla="*/ 2223343 w 2261257"/>
                <a:gd name="connsiteY11" fmla="*/ 1065825 h 2028159"/>
                <a:gd name="connsiteX12" fmla="*/ 2225319 w 2261257"/>
                <a:gd name="connsiteY12" fmla="*/ 1085429 h 2028159"/>
                <a:gd name="connsiteX13" fmla="*/ 2261257 w 2261257"/>
                <a:gd name="connsiteY13" fmla="*/ 1089052 h 2028159"/>
                <a:gd name="connsiteX14" fmla="*/ 2259340 w 2261257"/>
                <a:gd name="connsiteY14" fmla="*/ 1101612 h 2028159"/>
                <a:gd name="connsiteX15" fmla="*/ 1122505 w 2261257"/>
                <a:gd name="connsiteY15" fmla="*/ 2028159 h 2028159"/>
                <a:gd name="connsiteX16" fmla="*/ 14265 w 2261257"/>
                <a:gd name="connsiteY16" fmla="*/ 1212820 h 2028159"/>
                <a:gd name="connsiteX17" fmla="*/ 0 w 2261257"/>
                <a:gd name="connsiteY17" fmla="*/ 1157341 h 2028159"/>
                <a:gd name="connsiteX18" fmla="*/ 3235 w 2261257"/>
                <a:gd name="connsiteY18" fmla="*/ 1157015 h 2028159"/>
                <a:gd name="connsiteX19" fmla="*/ 87605 w 2261257"/>
                <a:gd name="connsiteY19" fmla="*/ 1165520 h 2028159"/>
                <a:gd name="connsiteX20" fmla="*/ 113456 w 2261257"/>
                <a:gd name="connsiteY20" fmla="*/ 1173545 h 2028159"/>
                <a:gd name="connsiteX21" fmla="*/ 128106 w 2261257"/>
                <a:gd name="connsiteY21" fmla="*/ 1155791 h 2028159"/>
                <a:gd name="connsiteX22" fmla="*/ 424127 w 2261257"/>
                <a:gd name="connsiteY22" fmla="*/ 1033175 h 2028159"/>
                <a:gd name="connsiteX23" fmla="*/ 435940 w 2261257"/>
                <a:gd name="connsiteY23" fmla="*/ 1034366 h 2028159"/>
                <a:gd name="connsiteX24" fmla="*/ 427636 w 2261257"/>
                <a:gd name="connsiteY24" fmla="*/ 1007613 h 2028159"/>
                <a:gd name="connsiteX25" fmla="*/ 424127 w 2261257"/>
                <a:gd name="connsiteY25" fmla="*/ 972807 h 2028159"/>
                <a:gd name="connsiteX26" fmla="*/ 562024 w 2261257"/>
                <a:gd name="connsiteY26" fmla="*/ 803613 h 2028159"/>
                <a:gd name="connsiteX27" fmla="*/ 569156 w 2261257"/>
                <a:gd name="connsiteY27" fmla="*/ 802894 h 2028159"/>
                <a:gd name="connsiteX28" fmla="*/ 573923 w 2261257"/>
                <a:gd name="connsiteY28" fmla="*/ 755602 h 2028159"/>
                <a:gd name="connsiteX29" fmla="*/ 903523 w 2261257"/>
                <a:gd name="connsiteY29" fmla="*/ 486970 h 2028159"/>
                <a:gd name="connsiteX30" fmla="*/ 951321 w 2261257"/>
                <a:gd name="connsiteY30" fmla="*/ 491789 h 202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61257" h="2028159">
                  <a:moveTo>
                    <a:pt x="1012851" y="0"/>
                  </a:moveTo>
                  <a:lnTo>
                    <a:pt x="1226850" y="0"/>
                  </a:lnTo>
                  <a:lnTo>
                    <a:pt x="1283043" y="449131"/>
                  </a:lnTo>
                  <a:lnTo>
                    <a:pt x="1318239" y="455866"/>
                  </a:lnTo>
                  <a:cubicBezTo>
                    <a:pt x="1405884" y="478416"/>
                    <a:pt x="1480818" y="532637"/>
                    <a:pt x="1530113" y="605602"/>
                  </a:cubicBezTo>
                  <a:lnTo>
                    <a:pt x="1548314" y="639136"/>
                  </a:lnTo>
                  <a:lnTo>
                    <a:pt x="1577154" y="636229"/>
                  </a:lnTo>
                  <a:cubicBezTo>
                    <a:pt x="1728648" y="636229"/>
                    <a:pt x="1858629" y="728337"/>
                    <a:pt x="1914152" y="859606"/>
                  </a:cubicBezTo>
                  <a:lnTo>
                    <a:pt x="1919810" y="877832"/>
                  </a:lnTo>
                  <a:lnTo>
                    <a:pt x="1932155" y="874000"/>
                  </a:lnTo>
                  <a:cubicBezTo>
                    <a:pt x="1948202" y="870716"/>
                    <a:pt x="1964818" y="868991"/>
                    <a:pt x="1981836" y="868991"/>
                  </a:cubicBezTo>
                  <a:cubicBezTo>
                    <a:pt x="2100964" y="868991"/>
                    <a:pt x="2200356" y="953493"/>
                    <a:pt x="2223343" y="1065825"/>
                  </a:cubicBezTo>
                  <a:lnTo>
                    <a:pt x="2225319" y="1085429"/>
                  </a:lnTo>
                  <a:lnTo>
                    <a:pt x="2261257" y="1089052"/>
                  </a:lnTo>
                  <a:lnTo>
                    <a:pt x="2259340" y="1101612"/>
                  </a:lnTo>
                  <a:cubicBezTo>
                    <a:pt x="2151136" y="1630392"/>
                    <a:pt x="1683273" y="2028159"/>
                    <a:pt x="1122505" y="2028159"/>
                  </a:cubicBezTo>
                  <a:cubicBezTo>
                    <a:pt x="601793" y="2028159"/>
                    <a:pt x="161186" y="1685186"/>
                    <a:pt x="14265" y="1212820"/>
                  </a:cubicBezTo>
                  <a:lnTo>
                    <a:pt x="0" y="1157341"/>
                  </a:lnTo>
                  <a:lnTo>
                    <a:pt x="3235" y="1157015"/>
                  </a:lnTo>
                  <a:cubicBezTo>
                    <a:pt x="32136" y="1157015"/>
                    <a:pt x="60353" y="1159944"/>
                    <a:pt x="87605" y="1165520"/>
                  </a:cubicBezTo>
                  <a:lnTo>
                    <a:pt x="113456" y="1173545"/>
                  </a:lnTo>
                  <a:lnTo>
                    <a:pt x="128106" y="1155791"/>
                  </a:lnTo>
                  <a:cubicBezTo>
                    <a:pt x="203864" y="1080032"/>
                    <a:pt x="308523" y="1033175"/>
                    <a:pt x="424127" y="1033175"/>
                  </a:cubicBezTo>
                  <a:lnTo>
                    <a:pt x="435940" y="1034366"/>
                  </a:lnTo>
                  <a:lnTo>
                    <a:pt x="427636" y="1007613"/>
                  </a:lnTo>
                  <a:cubicBezTo>
                    <a:pt x="425335" y="996370"/>
                    <a:pt x="424127" y="984730"/>
                    <a:pt x="424127" y="972807"/>
                  </a:cubicBezTo>
                  <a:cubicBezTo>
                    <a:pt x="424127" y="889349"/>
                    <a:pt x="483326" y="819717"/>
                    <a:pt x="562024" y="803613"/>
                  </a:cubicBezTo>
                  <a:lnTo>
                    <a:pt x="569156" y="802894"/>
                  </a:lnTo>
                  <a:lnTo>
                    <a:pt x="573923" y="755602"/>
                  </a:lnTo>
                  <a:cubicBezTo>
                    <a:pt x="605295" y="602294"/>
                    <a:pt x="740941" y="486970"/>
                    <a:pt x="903523" y="486970"/>
                  </a:cubicBezTo>
                  <a:lnTo>
                    <a:pt x="951321" y="49178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sz="2400"/>
            </a:p>
          </p:txBody>
        </p:sp>
        <p:sp>
          <p:nvSpPr>
            <p:cNvPr id="3" name="타원 2">
              <a:extLst>
                <a:ext uri="{FF2B5EF4-FFF2-40B4-BE49-F238E27FC236}">
                  <a16:creationId xmlns:a16="http://schemas.microsoft.com/office/drawing/2014/main" xmlns="" id="{7EF498E6-9850-42A0-8643-E6250BB46DE0}"/>
                </a:ext>
              </a:extLst>
            </p:cNvPr>
            <p:cNvSpPr/>
            <p:nvPr userDrawn="1"/>
          </p:nvSpPr>
          <p:spPr>
            <a:xfrm>
              <a:off x="5364088" y="1858246"/>
              <a:ext cx="2320819" cy="2320819"/>
            </a:xfrm>
            <a:prstGeom prst="ellipse">
              <a:avLst/>
            </a:prstGeom>
            <a:noFill/>
            <a:ln w="254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grpSp>
          <p:nvGrpSpPr>
            <p:cNvPr id="8" name="그룹 7">
              <a:extLst>
                <a:ext uri="{FF2B5EF4-FFF2-40B4-BE49-F238E27FC236}">
                  <a16:creationId xmlns:a16="http://schemas.microsoft.com/office/drawing/2014/main" xmlns="" id="{AF789A84-B899-484F-ADA6-1B784064DB8A}"/>
                </a:ext>
              </a:extLst>
            </p:cNvPr>
            <p:cNvGrpSpPr/>
            <p:nvPr userDrawn="1"/>
          </p:nvGrpSpPr>
          <p:grpSpPr>
            <a:xfrm>
              <a:off x="6280305" y="1450891"/>
              <a:ext cx="477626" cy="918140"/>
              <a:chOff x="5304862" y="-789923"/>
              <a:chExt cx="645890" cy="1241591"/>
            </a:xfrm>
          </p:grpSpPr>
          <p:grpSp>
            <p:nvGrpSpPr>
              <p:cNvPr id="9" name="그룹 8">
                <a:extLst>
                  <a:ext uri="{FF2B5EF4-FFF2-40B4-BE49-F238E27FC236}">
                    <a16:creationId xmlns:a16="http://schemas.microsoft.com/office/drawing/2014/main" xmlns="" id="{6DDA03B1-B885-4EB8-9AC5-617A33E28AA0}"/>
                  </a:ext>
                </a:extLst>
              </p:cNvPr>
              <p:cNvGrpSpPr/>
              <p:nvPr userDrawn="1"/>
            </p:nvGrpSpPr>
            <p:grpSpPr>
              <a:xfrm>
                <a:off x="5377232" y="-789923"/>
                <a:ext cx="495969" cy="1052585"/>
                <a:chOff x="5868144" y="-857099"/>
                <a:chExt cx="495969" cy="1052585"/>
              </a:xfrm>
            </p:grpSpPr>
            <p:sp>
              <p:nvSpPr>
                <p:cNvPr id="16" name="이등변 삼각형 49">
                  <a:extLst>
                    <a:ext uri="{FF2B5EF4-FFF2-40B4-BE49-F238E27FC236}">
                      <a16:creationId xmlns:a16="http://schemas.microsoft.com/office/drawing/2014/main" xmlns="" id="{50824863-8B90-4264-9AEB-19AE04C9A70D}"/>
                    </a:ext>
                  </a:extLst>
                </p:cNvPr>
                <p:cNvSpPr/>
                <p:nvPr userDrawn="1"/>
              </p:nvSpPr>
              <p:spPr>
                <a:xfrm>
                  <a:off x="5868144" y="-853769"/>
                  <a:ext cx="495969" cy="1049255"/>
                </a:xfrm>
                <a:custGeom>
                  <a:avLst/>
                  <a:gdLst>
                    <a:gd name="connsiteX0" fmla="*/ 0 w 311344"/>
                    <a:gd name="connsiteY0" fmla="*/ 1049255 h 1049255"/>
                    <a:gd name="connsiteX1" fmla="*/ 155672 w 311344"/>
                    <a:gd name="connsiteY1" fmla="*/ 0 h 1049255"/>
                    <a:gd name="connsiteX2" fmla="*/ 311344 w 311344"/>
                    <a:gd name="connsiteY2" fmla="*/ 1049255 h 1049255"/>
                    <a:gd name="connsiteX3" fmla="*/ 0 w 311344"/>
                    <a:gd name="connsiteY3" fmla="*/ 1049255 h 1049255"/>
                    <a:gd name="connsiteX0" fmla="*/ 45684 w 357028"/>
                    <a:gd name="connsiteY0" fmla="*/ 1049255 h 1049255"/>
                    <a:gd name="connsiteX1" fmla="*/ 201356 w 357028"/>
                    <a:gd name="connsiteY1" fmla="*/ 0 h 1049255"/>
                    <a:gd name="connsiteX2" fmla="*/ 357028 w 357028"/>
                    <a:gd name="connsiteY2" fmla="*/ 1049255 h 1049255"/>
                    <a:gd name="connsiteX3" fmla="*/ 45684 w 357028"/>
                    <a:gd name="connsiteY3" fmla="*/ 1049255 h 1049255"/>
                    <a:gd name="connsiteX0" fmla="*/ 45684 w 416158"/>
                    <a:gd name="connsiteY0" fmla="*/ 1049255 h 1049255"/>
                    <a:gd name="connsiteX1" fmla="*/ 201356 w 416158"/>
                    <a:gd name="connsiteY1" fmla="*/ 0 h 1049255"/>
                    <a:gd name="connsiteX2" fmla="*/ 357028 w 416158"/>
                    <a:gd name="connsiteY2" fmla="*/ 1049255 h 1049255"/>
                    <a:gd name="connsiteX3" fmla="*/ 45684 w 416158"/>
                    <a:gd name="connsiteY3" fmla="*/ 1049255 h 1049255"/>
                    <a:gd name="connsiteX0" fmla="*/ 87161 w 457635"/>
                    <a:gd name="connsiteY0" fmla="*/ 1049255 h 1049255"/>
                    <a:gd name="connsiteX1" fmla="*/ 242833 w 457635"/>
                    <a:gd name="connsiteY1" fmla="*/ 0 h 1049255"/>
                    <a:gd name="connsiteX2" fmla="*/ 398505 w 457635"/>
                    <a:gd name="connsiteY2" fmla="*/ 1049255 h 1049255"/>
                    <a:gd name="connsiteX3" fmla="*/ 87161 w 457635"/>
                    <a:gd name="connsiteY3" fmla="*/ 1049255 h 1049255"/>
                    <a:gd name="connsiteX0" fmla="*/ 87161 w 500627"/>
                    <a:gd name="connsiteY0" fmla="*/ 1049255 h 1049255"/>
                    <a:gd name="connsiteX1" fmla="*/ 242833 w 500627"/>
                    <a:gd name="connsiteY1" fmla="*/ 0 h 1049255"/>
                    <a:gd name="connsiteX2" fmla="*/ 398505 w 500627"/>
                    <a:gd name="connsiteY2" fmla="*/ 1049255 h 1049255"/>
                    <a:gd name="connsiteX3" fmla="*/ 87161 w 500627"/>
                    <a:gd name="connsiteY3" fmla="*/ 1049255 h 1049255"/>
                    <a:gd name="connsiteX0" fmla="*/ 91187 w 504653"/>
                    <a:gd name="connsiteY0" fmla="*/ 1049255 h 1049255"/>
                    <a:gd name="connsiteX1" fmla="*/ 246859 w 504653"/>
                    <a:gd name="connsiteY1" fmla="*/ 0 h 1049255"/>
                    <a:gd name="connsiteX2" fmla="*/ 402531 w 504653"/>
                    <a:gd name="connsiteY2" fmla="*/ 1049255 h 1049255"/>
                    <a:gd name="connsiteX3" fmla="*/ 91187 w 504653"/>
                    <a:gd name="connsiteY3" fmla="*/ 1049255 h 1049255"/>
                    <a:gd name="connsiteX0" fmla="*/ 91187 w 500775"/>
                    <a:gd name="connsiteY0" fmla="*/ 1049255 h 1049255"/>
                    <a:gd name="connsiteX1" fmla="*/ 246859 w 500775"/>
                    <a:gd name="connsiteY1" fmla="*/ 0 h 1049255"/>
                    <a:gd name="connsiteX2" fmla="*/ 402531 w 500775"/>
                    <a:gd name="connsiteY2" fmla="*/ 1049255 h 1049255"/>
                    <a:gd name="connsiteX3" fmla="*/ 91187 w 500775"/>
                    <a:gd name="connsiteY3" fmla="*/ 1049255 h 1049255"/>
                    <a:gd name="connsiteX0" fmla="*/ 91187 w 484758"/>
                    <a:gd name="connsiteY0" fmla="*/ 1049255 h 1049255"/>
                    <a:gd name="connsiteX1" fmla="*/ 246859 w 484758"/>
                    <a:gd name="connsiteY1" fmla="*/ 0 h 1049255"/>
                    <a:gd name="connsiteX2" fmla="*/ 402531 w 484758"/>
                    <a:gd name="connsiteY2" fmla="*/ 1049255 h 1049255"/>
                    <a:gd name="connsiteX3" fmla="*/ 91187 w 484758"/>
                    <a:gd name="connsiteY3" fmla="*/ 1049255 h 1049255"/>
                    <a:gd name="connsiteX0" fmla="*/ 91187 w 488692"/>
                    <a:gd name="connsiteY0" fmla="*/ 1049255 h 1049255"/>
                    <a:gd name="connsiteX1" fmla="*/ 246859 w 488692"/>
                    <a:gd name="connsiteY1" fmla="*/ 0 h 1049255"/>
                    <a:gd name="connsiteX2" fmla="*/ 402531 w 488692"/>
                    <a:gd name="connsiteY2" fmla="*/ 1049255 h 1049255"/>
                    <a:gd name="connsiteX3" fmla="*/ 91187 w 488692"/>
                    <a:gd name="connsiteY3" fmla="*/ 1049255 h 1049255"/>
                    <a:gd name="connsiteX0" fmla="*/ 91187 w 492707"/>
                    <a:gd name="connsiteY0" fmla="*/ 1049255 h 1049255"/>
                    <a:gd name="connsiteX1" fmla="*/ 246859 w 492707"/>
                    <a:gd name="connsiteY1" fmla="*/ 0 h 1049255"/>
                    <a:gd name="connsiteX2" fmla="*/ 402531 w 492707"/>
                    <a:gd name="connsiteY2" fmla="*/ 1049255 h 1049255"/>
                    <a:gd name="connsiteX3" fmla="*/ 91187 w 492707"/>
                    <a:gd name="connsiteY3" fmla="*/ 1049255 h 1049255"/>
                    <a:gd name="connsiteX0" fmla="*/ 95257 w 496777"/>
                    <a:gd name="connsiteY0" fmla="*/ 1049255 h 1049255"/>
                    <a:gd name="connsiteX1" fmla="*/ 250929 w 496777"/>
                    <a:gd name="connsiteY1" fmla="*/ 0 h 1049255"/>
                    <a:gd name="connsiteX2" fmla="*/ 406601 w 496777"/>
                    <a:gd name="connsiteY2" fmla="*/ 1049255 h 1049255"/>
                    <a:gd name="connsiteX3" fmla="*/ 95257 w 496777"/>
                    <a:gd name="connsiteY3" fmla="*/ 1049255 h 1049255"/>
                    <a:gd name="connsiteX0" fmla="*/ 95257 w 485293"/>
                    <a:gd name="connsiteY0" fmla="*/ 1049255 h 1049255"/>
                    <a:gd name="connsiteX1" fmla="*/ 250929 w 485293"/>
                    <a:gd name="connsiteY1" fmla="*/ 0 h 1049255"/>
                    <a:gd name="connsiteX2" fmla="*/ 406601 w 485293"/>
                    <a:gd name="connsiteY2" fmla="*/ 1049255 h 1049255"/>
                    <a:gd name="connsiteX3" fmla="*/ 95257 w 485293"/>
                    <a:gd name="connsiteY3" fmla="*/ 1049255 h 1049255"/>
                    <a:gd name="connsiteX0" fmla="*/ 95257 w 494828"/>
                    <a:gd name="connsiteY0" fmla="*/ 1049255 h 1049255"/>
                    <a:gd name="connsiteX1" fmla="*/ 250929 w 494828"/>
                    <a:gd name="connsiteY1" fmla="*/ 0 h 1049255"/>
                    <a:gd name="connsiteX2" fmla="*/ 406601 w 494828"/>
                    <a:gd name="connsiteY2" fmla="*/ 1049255 h 1049255"/>
                    <a:gd name="connsiteX3" fmla="*/ 95257 w 494828"/>
                    <a:gd name="connsiteY3" fmla="*/ 1049255 h 1049255"/>
                    <a:gd name="connsiteX0" fmla="*/ 95257 w 493814"/>
                    <a:gd name="connsiteY0" fmla="*/ 1049255 h 1049255"/>
                    <a:gd name="connsiteX1" fmla="*/ 250929 w 493814"/>
                    <a:gd name="connsiteY1" fmla="*/ 0 h 1049255"/>
                    <a:gd name="connsiteX2" fmla="*/ 406601 w 493814"/>
                    <a:gd name="connsiteY2" fmla="*/ 1049255 h 1049255"/>
                    <a:gd name="connsiteX3" fmla="*/ 95257 w 493814"/>
                    <a:gd name="connsiteY3" fmla="*/ 1049255 h 1049255"/>
                    <a:gd name="connsiteX0" fmla="*/ 95257 w 496864"/>
                    <a:gd name="connsiteY0" fmla="*/ 1049255 h 1049255"/>
                    <a:gd name="connsiteX1" fmla="*/ 250929 w 496864"/>
                    <a:gd name="connsiteY1" fmla="*/ 0 h 1049255"/>
                    <a:gd name="connsiteX2" fmla="*/ 406601 w 496864"/>
                    <a:gd name="connsiteY2" fmla="*/ 1049255 h 1049255"/>
                    <a:gd name="connsiteX3" fmla="*/ 95257 w 496864"/>
                    <a:gd name="connsiteY3" fmla="*/ 1049255 h 1049255"/>
                    <a:gd name="connsiteX0" fmla="*/ 95257 w 497887"/>
                    <a:gd name="connsiteY0" fmla="*/ 1049255 h 1049255"/>
                    <a:gd name="connsiteX1" fmla="*/ 250929 w 497887"/>
                    <a:gd name="connsiteY1" fmla="*/ 0 h 1049255"/>
                    <a:gd name="connsiteX2" fmla="*/ 406601 w 497887"/>
                    <a:gd name="connsiteY2" fmla="*/ 1049255 h 1049255"/>
                    <a:gd name="connsiteX3" fmla="*/ 95257 w 497887"/>
                    <a:gd name="connsiteY3" fmla="*/ 1049255 h 1049255"/>
                    <a:gd name="connsiteX0" fmla="*/ 95257 w 495969"/>
                    <a:gd name="connsiteY0" fmla="*/ 1049255 h 1049255"/>
                    <a:gd name="connsiteX1" fmla="*/ 250929 w 495969"/>
                    <a:gd name="connsiteY1" fmla="*/ 0 h 1049255"/>
                    <a:gd name="connsiteX2" fmla="*/ 406601 w 495969"/>
                    <a:gd name="connsiteY2" fmla="*/ 1049255 h 1049255"/>
                    <a:gd name="connsiteX3" fmla="*/ 95257 w 495969"/>
                    <a:gd name="connsiteY3" fmla="*/ 1049255 h 1049255"/>
                  </a:gdLst>
                  <a:ahLst/>
                  <a:cxnLst>
                    <a:cxn ang="0">
                      <a:pos x="connsiteX0" y="connsiteY0"/>
                    </a:cxn>
                    <a:cxn ang="0">
                      <a:pos x="connsiteX1" y="connsiteY1"/>
                    </a:cxn>
                    <a:cxn ang="0">
                      <a:pos x="connsiteX2" y="connsiteY2"/>
                    </a:cxn>
                    <a:cxn ang="0">
                      <a:pos x="connsiteX3" y="connsiteY3"/>
                    </a:cxn>
                  </a:cxnLst>
                  <a:rect l="l" t="t" r="r" b="b"/>
                  <a:pathLst>
                    <a:path w="495969" h="1049255">
                      <a:moveTo>
                        <a:pt x="95257" y="1049255"/>
                      </a:moveTo>
                      <a:cubicBezTo>
                        <a:pt x="6676" y="723357"/>
                        <a:pt x="-121664" y="317947"/>
                        <a:pt x="250929" y="0"/>
                      </a:cubicBezTo>
                      <a:cubicBezTo>
                        <a:pt x="612920" y="328549"/>
                        <a:pt x="489882" y="781667"/>
                        <a:pt x="406601" y="1049255"/>
                      </a:cubicBezTo>
                      <a:lnTo>
                        <a:pt x="95257" y="1049255"/>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dirty="0"/>
                </a:p>
              </p:txBody>
            </p:sp>
            <p:sp>
              <p:nvSpPr>
                <p:cNvPr id="17" name="자유형: 도형 16">
                  <a:extLst>
                    <a:ext uri="{FF2B5EF4-FFF2-40B4-BE49-F238E27FC236}">
                      <a16:creationId xmlns:a16="http://schemas.microsoft.com/office/drawing/2014/main" xmlns="" id="{3B003EFC-13D2-4BB4-8625-D6DD1D26689C}"/>
                    </a:ext>
                  </a:extLst>
                </p:cNvPr>
                <p:cNvSpPr/>
                <p:nvPr userDrawn="1"/>
              </p:nvSpPr>
              <p:spPr>
                <a:xfrm>
                  <a:off x="5939427" y="102551"/>
                  <a:ext cx="364003" cy="92935"/>
                </a:xfrm>
                <a:custGeom>
                  <a:avLst/>
                  <a:gdLst>
                    <a:gd name="connsiteX0" fmla="*/ 0 w 364003"/>
                    <a:gd name="connsiteY0" fmla="*/ 0 h 92935"/>
                    <a:gd name="connsiteX1" fmla="*/ 364003 w 364003"/>
                    <a:gd name="connsiteY1" fmla="*/ 0 h 92935"/>
                    <a:gd name="connsiteX2" fmla="*/ 336518 w 364003"/>
                    <a:gd name="connsiteY2" fmla="*/ 92935 h 92935"/>
                    <a:gd name="connsiteX3" fmla="*/ 25174 w 364003"/>
                    <a:gd name="connsiteY3" fmla="*/ 92935 h 92935"/>
                  </a:gdLst>
                  <a:ahLst/>
                  <a:cxnLst>
                    <a:cxn ang="0">
                      <a:pos x="connsiteX0" y="connsiteY0"/>
                    </a:cxn>
                    <a:cxn ang="0">
                      <a:pos x="connsiteX1" y="connsiteY1"/>
                    </a:cxn>
                    <a:cxn ang="0">
                      <a:pos x="connsiteX2" y="connsiteY2"/>
                    </a:cxn>
                    <a:cxn ang="0">
                      <a:pos x="connsiteX3" y="connsiteY3"/>
                    </a:cxn>
                  </a:cxnLst>
                  <a:rect l="l" t="t" r="r" b="b"/>
                  <a:pathLst>
                    <a:path w="364003" h="92935">
                      <a:moveTo>
                        <a:pt x="0" y="0"/>
                      </a:moveTo>
                      <a:lnTo>
                        <a:pt x="364003" y="0"/>
                      </a:lnTo>
                      <a:lnTo>
                        <a:pt x="336518" y="92935"/>
                      </a:lnTo>
                      <a:lnTo>
                        <a:pt x="25174" y="92935"/>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18" name="자유형: 도형 17">
                  <a:extLst>
                    <a:ext uri="{FF2B5EF4-FFF2-40B4-BE49-F238E27FC236}">
                      <a16:creationId xmlns:a16="http://schemas.microsoft.com/office/drawing/2014/main" xmlns="" id="{639551A5-A416-4935-A4CA-A8FCF74BAE6A}"/>
                    </a:ext>
                  </a:extLst>
                </p:cNvPr>
                <p:cNvSpPr/>
                <p:nvPr userDrawn="1"/>
              </p:nvSpPr>
              <p:spPr>
                <a:xfrm>
                  <a:off x="5893989" y="-857099"/>
                  <a:ext cx="444279" cy="350537"/>
                </a:xfrm>
                <a:custGeom>
                  <a:avLst/>
                  <a:gdLst>
                    <a:gd name="connsiteX0" fmla="*/ 227272 w 444279"/>
                    <a:gd name="connsiteY0" fmla="*/ 0 h 350537"/>
                    <a:gd name="connsiteX1" fmla="*/ 440556 w 444279"/>
                    <a:gd name="connsiteY1" fmla="*/ 335046 h 350537"/>
                    <a:gd name="connsiteX2" fmla="*/ 444279 w 444279"/>
                    <a:gd name="connsiteY2" fmla="*/ 350537 h 350537"/>
                    <a:gd name="connsiteX3" fmla="*/ 0 w 444279"/>
                    <a:gd name="connsiteY3" fmla="*/ 350537 h 350537"/>
                    <a:gd name="connsiteX4" fmla="*/ 8223 w 444279"/>
                    <a:gd name="connsiteY4" fmla="*/ 318604 h 350537"/>
                    <a:gd name="connsiteX5" fmla="*/ 227272 w 444279"/>
                    <a:gd name="connsiteY5" fmla="*/ 0 h 350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4279" h="350537">
                      <a:moveTo>
                        <a:pt x="227272" y="0"/>
                      </a:moveTo>
                      <a:cubicBezTo>
                        <a:pt x="340394" y="102672"/>
                        <a:pt x="406151" y="217508"/>
                        <a:pt x="440556" y="335046"/>
                      </a:cubicBezTo>
                      <a:lnTo>
                        <a:pt x="444279" y="350537"/>
                      </a:lnTo>
                      <a:lnTo>
                        <a:pt x="0" y="350537"/>
                      </a:lnTo>
                      <a:lnTo>
                        <a:pt x="8223" y="318604"/>
                      </a:lnTo>
                      <a:cubicBezTo>
                        <a:pt x="43321" y="207258"/>
                        <a:pt x="110837" y="99358"/>
                        <a:pt x="227272"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grpSp>
          <p:sp>
            <p:nvSpPr>
              <p:cNvPr id="12" name="타원 11">
                <a:extLst>
                  <a:ext uri="{FF2B5EF4-FFF2-40B4-BE49-F238E27FC236}">
                    <a16:creationId xmlns:a16="http://schemas.microsoft.com/office/drawing/2014/main" xmlns="" id="{A0F64586-2454-49D0-905D-B01E2B155554}"/>
                  </a:ext>
                </a:extLst>
              </p:cNvPr>
              <p:cNvSpPr/>
              <p:nvPr userDrawn="1"/>
            </p:nvSpPr>
            <p:spPr>
              <a:xfrm>
                <a:off x="5535216" y="-351600"/>
                <a:ext cx="180000" cy="180000"/>
              </a:xfrm>
              <a:prstGeom prst="ellipse">
                <a:avLst/>
              </a:prstGeom>
              <a:solidFill>
                <a:schemeClr val="bg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13" name="직사각형 12">
                <a:extLst>
                  <a:ext uri="{FF2B5EF4-FFF2-40B4-BE49-F238E27FC236}">
                    <a16:creationId xmlns:a16="http://schemas.microsoft.com/office/drawing/2014/main" xmlns="" id="{90010C14-1AD7-40EC-9EFB-091EB548BC40}"/>
                  </a:ext>
                </a:extLst>
              </p:cNvPr>
              <p:cNvSpPr/>
              <p:nvPr userDrawn="1"/>
            </p:nvSpPr>
            <p:spPr>
              <a:xfrm flipH="1">
                <a:off x="5614416" y="6445"/>
                <a:ext cx="21600" cy="432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14" name="자유형: 도형 13">
                <a:extLst>
                  <a:ext uri="{FF2B5EF4-FFF2-40B4-BE49-F238E27FC236}">
                    <a16:creationId xmlns:a16="http://schemas.microsoft.com/office/drawing/2014/main" xmlns="" id="{54B0A336-7C2F-4F98-ABF5-299D91E12C13}"/>
                  </a:ext>
                </a:extLst>
              </p:cNvPr>
              <p:cNvSpPr/>
              <p:nvPr userDrawn="1"/>
            </p:nvSpPr>
            <p:spPr>
              <a:xfrm>
                <a:off x="5304862" y="-1556"/>
                <a:ext cx="143653" cy="453224"/>
              </a:xfrm>
              <a:custGeom>
                <a:avLst/>
                <a:gdLst>
                  <a:gd name="connsiteX0" fmla="*/ 71561 w 116619"/>
                  <a:gd name="connsiteY0" fmla="*/ 0 h 453224"/>
                  <a:gd name="connsiteX1" fmla="*/ 116619 w 116619"/>
                  <a:gd name="connsiteY1" fmla="*/ 145774 h 453224"/>
                  <a:gd name="connsiteX2" fmla="*/ 0 w 116619"/>
                  <a:gd name="connsiteY2" fmla="*/ 453224 h 453224"/>
                  <a:gd name="connsiteX3" fmla="*/ 71561 w 116619"/>
                  <a:gd name="connsiteY3" fmla="*/ 0 h 453224"/>
                  <a:gd name="connsiteX0" fmla="*/ 78782 w 123840"/>
                  <a:gd name="connsiteY0" fmla="*/ 0 h 453224"/>
                  <a:gd name="connsiteX1" fmla="*/ 123840 w 123840"/>
                  <a:gd name="connsiteY1" fmla="*/ 145774 h 453224"/>
                  <a:gd name="connsiteX2" fmla="*/ 7221 w 123840"/>
                  <a:gd name="connsiteY2" fmla="*/ 453224 h 453224"/>
                  <a:gd name="connsiteX3" fmla="*/ 78782 w 123840"/>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5845 w 140903"/>
                  <a:gd name="connsiteY0" fmla="*/ 0 h 453224"/>
                  <a:gd name="connsiteX1" fmla="*/ 140903 w 140903"/>
                  <a:gd name="connsiteY1" fmla="*/ 145774 h 453224"/>
                  <a:gd name="connsiteX2" fmla="*/ 24284 w 140903"/>
                  <a:gd name="connsiteY2" fmla="*/ 453224 h 453224"/>
                  <a:gd name="connsiteX3" fmla="*/ 95845 w 140903"/>
                  <a:gd name="connsiteY3" fmla="*/ 0 h 453224"/>
                  <a:gd name="connsiteX0" fmla="*/ 98595 w 143653"/>
                  <a:gd name="connsiteY0" fmla="*/ 0 h 453224"/>
                  <a:gd name="connsiteX1" fmla="*/ 143653 w 143653"/>
                  <a:gd name="connsiteY1" fmla="*/ 145774 h 453224"/>
                  <a:gd name="connsiteX2" fmla="*/ 27034 w 143653"/>
                  <a:gd name="connsiteY2" fmla="*/ 453224 h 453224"/>
                  <a:gd name="connsiteX3" fmla="*/ 98595 w 143653"/>
                  <a:gd name="connsiteY3" fmla="*/ 0 h 453224"/>
                </a:gdLst>
                <a:ahLst/>
                <a:cxnLst>
                  <a:cxn ang="0">
                    <a:pos x="connsiteX0" y="connsiteY0"/>
                  </a:cxn>
                  <a:cxn ang="0">
                    <a:pos x="connsiteX1" y="connsiteY1"/>
                  </a:cxn>
                  <a:cxn ang="0">
                    <a:pos x="connsiteX2" y="connsiteY2"/>
                  </a:cxn>
                  <a:cxn ang="0">
                    <a:pos x="connsiteX3" y="connsiteY3"/>
                  </a:cxn>
                </a:cxnLst>
                <a:rect l="l" t="t" r="r" b="b"/>
                <a:pathLst>
                  <a:path w="143653" h="453224">
                    <a:moveTo>
                      <a:pt x="98595" y="0"/>
                    </a:moveTo>
                    <a:lnTo>
                      <a:pt x="143653" y="145774"/>
                    </a:lnTo>
                    <a:cubicBezTo>
                      <a:pt x="38518" y="232356"/>
                      <a:pt x="50005" y="387847"/>
                      <a:pt x="27034" y="453224"/>
                    </a:cubicBezTo>
                    <a:cubicBezTo>
                      <a:pt x="5831" y="365759"/>
                      <a:pt x="-47179" y="100716"/>
                      <a:pt x="98595"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15" name="자유형: 도형 14">
                <a:extLst>
                  <a:ext uri="{FF2B5EF4-FFF2-40B4-BE49-F238E27FC236}">
                    <a16:creationId xmlns:a16="http://schemas.microsoft.com/office/drawing/2014/main" xmlns="" id="{2528A48D-D724-4DF8-B31C-D26E111E5960}"/>
                  </a:ext>
                </a:extLst>
              </p:cNvPr>
              <p:cNvSpPr/>
              <p:nvPr userDrawn="1"/>
            </p:nvSpPr>
            <p:spPr>
              <a:xfrm flipH="1">
                <a:off x="5807099" y="-1556"/>
                <a:ext cx="143653" cy="453224"/>
              </a:xfrm>
              <a:custGeom>
                <a:avLst/>
                <a:gdLst>
                  <a:gd name="connsiteX0" fmla="*/ 71561 w 116619"/>
                  <a:gd name="connsiteY0" fmla="*/ 0 h 453224"/>
                  <a:gd name="connsiteX1" fmla="*/ 116619 w 116619"/>
                  <a:gd name="connsiteY1" fmla="*/ 145774 h 453224"/>
                  <a:gd name="connsiteX2" fmla="*/ 0 w 116619"/>
                  <a:gd name="connsiteY2" fmla="*/ 453224 h 453224"/>
                  <a:gd name="connsiteX3" fmla="*/ 71561 w 116619"/>
                  <a:gd name="connsiteY3" fmla="*/ 0 h 453224"/>
                  <a:gd name="connsiteX0" fmla="*/ 78782 w 123840"/>
                  <a:gd name="connsiteY0" fmla="*/ 0 h 453224"/>
                  <a:gd name="connsiteX1" fmla="*/ 123840 w 123840"/>
                  <a:gd name="connsiteY1" fmla="*/ 145774 h 453224"/>
                  <a:gd name="connsiteX2" fmla="*/ 7221 w 123840"/>
                  <a:gd name="connsiteY2" fmla="*/ 453224 h 453224"/>
                  <a:gd name="connsiteX3" fmla="*/ 78782 w 123840"/>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5845 w 140903"/>
                  <a:gd name="connsiteY0" fmla="*/ 0 h 453224"/>
                  <a:gd name="connsiteX1" fmla="*/ 140903 w 140903"/>
                  <a:gd name="connsiteY1" fmla="*/ 145774 h 453224"/>
                  <a:gd name="connsiteX2" fmla="*/ 24284 w 140903"/>
                  <a:gd name="connsiteY2" fmla="*/ 453224 h 453224"/>
                  <a:gd name="connsiteX3" fmla="*/ 95845 w 140903"/>
                  <a:gd name="connsiteY3" fmla="*/ 0 h 453224"/>
                  <a:gd name="connsiteX0" fmla="*/ 98595 w 143653"/>
                  <a:gd name="connsiteY0" fmla="*/ 0 h 453224"/>
                  <a:gd name="connsiteX1" fmla="*/ 143653 w 143653"/>
                  <a:gd name="connsiteY1" fmla="*/ 145774 h 453224"/>
                  <a:gd name="connsiteX2" fmla="*/ 27034 w 143653"/>
                  <a:gd name="connsiteY2" fmla="*/ 453224 h 453224"/>
                  <a:gd name="connsiteX3" fmla="*/ 98595 w 143653"/>
                  <a:gd name="connsiteY3" fmla="*/ 0 h 453224"/>
                </a:gdLst>
                <a:ahLst/>
                <a:cxnLst>
                  <a:cxn ang="0">
                    <a:pos x="connsiteX0" y="connsiteY0"/>
                  </a:cxn>
                  <a:cxn ang="0">
                    <a:pos x="connsiteX1" y="connsiteY1"/>
                  </a:cxn>
                  <a:cxn ang="0">
                    <a:pos x="connsiteX2" y="connsiteY2"/>
                  </a:cxn>
                  <a:cxn ang="0">
                    <a:pos x="connsiteX3" y="connsiteY3"/>
                  </a:cxn>
                </a:cxnLst>
                <a:rect l="l" t="t" r="r" b="b"/>
                <a:pathLst>
                  <a:path w="143653" h="453224">
                    <a:moveTo>
                      <a:pt x="98595" y="0"/>
                    </a:moveTo>
                    <a:lnTo>
                      <a:pt x="143653" y="145774"/>
                    </a:lnTo>
                    <a:cubicBezTo>
                      <a:pt x="38518" y="232356"/>
                      <a:pt x="50005" y="387847"/>
                      <a:pt x="27034" y="453224"/>
                    </a:cubicBezTo>
                    <a:cubicBezTo>
                      <a:pt x="5831" y="365759"/>
                      <a:pt x="-47179" y="100716"/>
                      <a:pt x="98595"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grpSp>
      </p:grpSp>
      <p:sp>
        <p:nvSpPr>
          <p:cNvPr id="2" name="Rectangle 1"/>
          <p:cNvSpPr/>
          <p:nvPr userDrawn="1"/>
        </p:nvSpPr>
        <p:spPr>
          <a:xfrm>
            <a:off x="5135893" y="2526804"/>
            <a:ext cx="7056107" cy="18242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10" name="Text Placeholder 9"/>
          <p:cNvSpPr>
            <a:spLocks noGrp="1"/>
          </p:cNvSpPr>
          <p:nvPr>
            <p:ph type="body" sz="quarter" idx="10" hasCustomPrompt="1"/>
          </p:nvPr>
        </p:nvSpPr>
        <p:spPr>
          <a:xfrm>
            <a:off x="5500112" y="2872747"/>
            <a:ext cx="6691888"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SECTION BREAK</a:t>
            </a:r>
          </a:p>
        </p:txBody>
      </p:sp>
      <p:sp>
        <p:nvSpPr>
          <p:cNvPr id="11" name="Text Placeholder 9"/>
          <p:cNvSpPr>
            <a:spLocks noGrp="1"/>
          </p:cNvSpPr>
          <p:nvPr>
            <p:ph type="body" sz="quarter" idx="11" hasCustomPrompt="1"/>
          </p:nvPr>
        </p:nvSpPr>
        <p:spPr>
          <a:xfrm>
            <a:off x="5500112" y="3640832"/>
            <a:ext cx="6691888"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36038976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B4115AB-DD5C-4502-8B18-91996984670E}" type="datetimeFigureOut">
              <a:rPr lang="en-ID" smtClean="0"/>
              <a:t>13/07/2026</a:t>
            </a:fld>
            <a:endParaRPr lang="en-ID"/>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D"/>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3536706-5CF5-4966-82FF-8244EE5FA9CE}" type="slidenum">
              <a:rPr lang="en-ID" smtClean="0"/>
              <a:t>‹#›</a:t>
            </a:fld>
            <a:endParaRPr lang="en-ID"/>
          </a:p>
        </p:txBody>
      </p:sp>
    </p:spTree>
    <p:extLst>
      <p:ext uri="{BB962C8B-B14F-4D97-AF65-F5344CB8AC3E}">
        <p14:creationId xmlns:p14="http://schemas.microsoft.com/office/powerpoint/2010/main" val="1392833206"/>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 id="2147483681" r:id="rId18"/>
    <p:sldLayoutId id="2147483662" r:id="rId19"/>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BCEBF6AC-4307-A1CA-3A68-2C762CABC309}"/>
              </a:ext>
            </a:extLst>
          </p:cNvPr>
          <p:cNvSpPr>
            <a:spLocks noGrp="1"/>
          </p:cNvSpPr>
          <p:nvPr>
            <p:ph type="title"/>
          </p:nvPr>
        </p:nvSpPr>
        <p:spPr>
          <a:xfrm>
            <a:off x="2175958" y="604662"/>
            <a:ext cx="9727398" cy="1362806"/>
          </a:xfrm>
        </p:spPr>
        <p:txBody>
          <a:bodyPr>
            <a:noAutofit/>
          </a:bodyPr>
          <a:lstStyle/>
          <a:p>
            <a:r>
              <a:rPr lang="en-US" sz="4000" dirty="0">
                <a:latin typeface="Cambria" panose="02040503050406030204" pitchFamily="18" charset="0"/>
                <a:ea typeface="Cambria" panose="02040503050406030204" pitchFamily="18" charset="0"/>
              </a:rPr>
              <a:t/>
            </a:r>
            <a:br>
              <a:rPr lang="en-US" sz="4000" dirty="0">
                <a:latin typeface="Cambria" panose="02040503050406030204" pitchFamily="18" charset="0"/>
                <a:ea typeface="Cambria" panose="02040503050406030204" pitchFamily="18" charset="0"/>
              </a:rPr>
            </a:br>
            <a:r>
              <a:rPr lang="en-US" sz="4000" dirty="0">
                <a:latin typeface="Cambria" panose="02040503050406030204" pitchFamily="18" charset="0"/>
                <a:ea typeface="Cambria" panose="02040503050406030204" pitchFamily="18" charset="0"/>
              </a:rPr>
              <a:t/>
            </a:r>
            <a:br>
              <a:rPr lang="en-US" sz="4000" dirty="0">
                <a:latin typeface="Cambria" panose="02040503050406030204" pitchFamily="18" charset="0"/>
                <a:ea typeface="Cambria" panose="02040503050406030204" pitchFamily="18" charset="0"/>
              </a:rPr>
            </a:br>
            <a:r>
              <a:rPr lang="en-US" sz="2800" dirty="0">
                <a:latin typeface="Cambria" panose="02040503050406030204" pitchFamily="18" charset="0"/>
                <a:ea typeface="Cambria" panose="02040503050406030204" pitchFamily="18" charset="0"/>
              </a:rPr>
              <a:t>PROGRAM KERJA</a:t>
            </a:r>
            <a:r>
              <a:rPr lang="en-US" sz="4000" dirty="0">
                <a:latin typeface="Cambria" panose="02040503050406030204" pitchFamily="18" charset="0"/>
                <a:ea typeface="Cambria" panose="02040503050406030204" pitchFamily="18" charset="0"/>
              </a:rPr>
              <a:t/>
            </a:r>
            <a:br>
              <a:rPr lang="en-US" sz="4000" dirty="0">
                <a:latin typeface="Cambria" panose="02040503050406030204" pitchFamily="18" charset="0"/>
                <a:ea typeface="Cambria" panose="02040503050406030204" pitchFamily="18" charset="0"/>
              </a:rPr>
            </a:br>
            <a:r>
              <a:rPr lang="en-US" sz="4000" dirty="0">
                <a:latin typeface="Cambria" panose="02040503050406030204" pitchFamily="18" charset="0"/>
                <a:ea typeface="Cambria" panose="02040503050406030204" pitchFamily="18" charset="0"/>
              </a:rPr>
              <a:t>DIVISI STRATEGIC RISK GOVERNANCE</a:t>
            </a:r>
            <a:br>
              <a:rPr lang="en-US" sz="4000" dirty="0">
                <a:latin typeface="Cambria" panose="02040503050406030204" pitchFamily="18" charset="0"/>
                <a:ea typeface="Cambria" panose="02040503050406030204" pitchFamily="18" charset="0"/>
              </a:rPr>
            </a:br>
            <a:endParaRPr lang="en-US" sz="4000" dirty="0">
              <a:latin typeface="Cambria" panose="02040503050406030204" pitchFamily="18" charset="0"/>
              <a:ea typeface="Cambria" panose="02040503050406030204" pitchFamily="18" charset="0"/>
            </a:endParaRPr>
          </a:p>
        </p:txBody>
      </p:sp>
      <p:sp>
        <p:nvSpPr>
          <p:cNvPr id="6" name="Text Placeholder 3">
            <a:extLst>
              <a:ext uri="{FF2B5EF4-FFF2-40B4-BE49-F238E27FC236}">
                <a16:creationId xmlns:a16="http://schemas.microsoft.com/office/drawing/2014/main" xmlns="" id="{4EF3DF27-979F-AD7D-0600-7693E1D84237}"/>
              </a:ext>
            </a:extLst>
          </p:cNvPr>
          <p:cNvSpPr txBox="1">
            <a:spLocks/>
          </p:cNvSpPr>
          <p:nvPr/>
        </p:nvSpPr>
        <p:spPr>
          <a:xfrm>
            <a:off x="2243427" y="2485380"/>
            <a:ext cx="1476911" cy="973442"/>
          </a:xfrm>
          <a:prstGeom prst="rect">
            <a:avLst/>
          </a:prstGeom>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20204" pitchFamily="34" charset="0"/>
              <a:buNone/>
              <a:defRPr sz="4400" b="1" kern="1200" baseline="0">
                <a:solidFill>
                  <a:schemeClr val="tx1">
                    <a:lumMod val="75000"/>
                    <a:lumOff val="25000"/>
                  </a:schemeClr>
                </a:solidFill>
                <a:latin typeface="Arial (Headings)"/>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err="1" smtClean="0">
                <a:latin typeface="Cambria" panose="02040503050406030204" pitchFamily="18" charset="0"/>
                <a:ea typeface="Cambria" panose="02040503050406030204" pitchFamily="18" charset="0"/>
              </a:rPr>
              <a:t>Kepala</a:t>
            </a:r>
            <a:r>
              <a:rPr lang="en-US" sz="2000" dirty="0" smtClean="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a:t>
            </a:r>
          </a:p>
          <a:p>
            <a:r>
              <a:rPr lang="en-US" sz="2000" dirty="0" err="1">
                <a:latin typeface="Cambria" panose="02040503050406030204" pitchFamily="18" charset="0"/>
                <a:ea typeface="Cambria" panose="02040503050406030204" pitchFamily="18" charset="0"/>
              </a:rPr>
              <a:t>Anggota</a:t>
            </a:r>
            <a:r>
              <a:rPr lang="en-US" sz="2000" dirty="0">
                <a:latin typeface="Cambria" panose="02040503050406030204" pitchFamily="18" charset="0"/>
                <a:ea typeface="Cambria" panose="02040503050406030204" pitchFamily="18" charset="0"/>
              </a:rPr>
              <a:t>  :</a:t>
            </a:r>
            <a:endParaRPr lang="en-ID" sz="2000" dirty="0">
              <a:latin typeface="Cambria" panose="02040503050406030204" pitchFamily="18" charset="0"/>
              <a:ea typeface="Cambria" panose="02040503050406030204" pitchFamily="18" charset="0"/>
            </a:endParaRPr>
          </a:p>
        </p:txBody>
      </p:sp>
      <p:sp>
        <p:nvSpPr>
          <p:cNvPr id="8" name="Text Placeholder 3">
            <a:extLst>
              <a:ext uri="{FF2B5EF4-FFF2-40B4-BE49-F238E27FC236}">
                <a16:creationId xmlns:a16="http://schemas.microsoft.com/office/drawing/2014/main" xmlns="" id="{28CFB0C3-B761-A19E-D40A-AC76193FF9BA}"/>
              </a:ext>
            </a:extLst>
          </p:cNvPr>
          <p:cNvSpPr txBox="1">
            <a:spLocks/>
          </p:cNvSpPr>
          <p:nvPr/>
        </p:nvSpPr>
        <p:spPr>
          <a:xfrm>
            <a:off x="4028789" y="2600302"/>
            <a:ext cx="5181328" cy="3401738"/>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4400" b="1" kern="1200" baseline="0">
                <a:solidFill>
                  <a:schemeClr val="tx1">
                    <a:lumMod val="75000"/>
                    <a:lumOff val="25000"/>
                  </a:schemeClr>
                </a:solidFill>
                <a:latin typeface="Arial (Headings)"/>
                <a:ea typeface="+mn-ea"/>
                <a:cs typeface="Arial"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2000" b="0" dirty="0">
                <a:latin typeface="Cambria" panose="02040503050406030204" pitchFamily="18" charset="0"/>
                <a:ea typeface="Cambria" panose="02040503050406030204" pitchFamily="18" charset="0"/>
              </a:rPr>
              <a:t>Dr. Syafruddin, S.E., MBA</a:t>
            </a:r>
          </a:p>
          <a:p>
            <a:pPr>
              <a:spcBef>
                <a:spcPts val="0"/>
              </a:spcBef>
            </a:pPr>
            <a:r>
              <a:rPr lang="en-US" sz="2000" b="0" dirty="0">
                <a:latin typeface="Cambria" panose="02040503050406030204" pitchFamily="18" charset="0"/>
                <a:ea typeface="Cambria" panose="02040503050406030204" pitchFamily="18" charset="0"/>
              </a:rPr>
              <a:t>Prof. Dr. </a:t>
            </a:r>
            <a:r>
              <a:rPr lang="en-US" sz="2000" b="0" dirty="0" err="1">
                <a:latin typeface="Cambria" panose="02040503050406030204" pitchFamily="18" charset="0"/>
                <a:ea typeface="Cambria" panose="02040503050406030204" pitchFamily="18" charset="0"/>
              </a:rPr>
              <a:t>Nazamuddin</a:t>
            </a:r>
            <a:r>
              <a:rPr lang="en-US" sz="2000" b="0" dirty="0">
                <a:latin typeface="Cambria" panose="02040503050406030204" pitchFamily="18" charset="0"/>
                <a:ea typeface="Cambria" panose="02040503050406030204" pitchFamily="18" charset="0"/>
              </a:rPr>
              <a:t>, S.E, M.A.</a:t>
            </a:r>
          </a:p>
          <a:p>
            <a:pPr>
              <a:spcBef>
                <a:spcPts val="0"/>
              </a:spcBef>
            </a:pPr>
            <a:r>
              <a:rPr lang="en-US" sz="2000" b="0" dirty="0">
                <a:latin typeface="Cambria" panose="02040503050406030204" pitchFamily="18" charset="0"/>
                <a:ea typeface="Cambria" panose="02040503050406030204" pitchFamily="18" charset="0"/>
              </a:rPr>
              <a:t>Prof. Dr. Heru </a:t>
            </a:r>
            <a:r>
              <a:rPr lang="en-US" sz="2000" b="0" dirty="0" err="1">
                <a:latin typeface="Cambria" panose="02040503050406030204" pitchFamily="18" charset="0"/>
                <a:ea typeface="Cambria" panose="02040503050406030204" pitchFamily="18" charset="0"/>
              </a:rPr>
              <a:t>Fahlevi</a:t>
            </a:r>
            <a:r>
              <a:rPr lang="en-US" sz="2000" b="0" dirty="0">
                <a:latin typeface="Cambria" panose="02040503050406030204" pitchFamily="18" charset="0"/>
                <a:ea typeface="Cambria" panose="02040503050406030204" pitchFamily="18" charset="0"/>
              </a:rPr>
              <a:t>, S.E., </a:t>
            </a:r>
            <a:r>
              <a:rPr lang="en-US" sz="2000" b="0" dirty="0" err="1">
                <a:latin typeface="Cambria" panose="02040503050406030204" pitchFamily="18" charset="0"/>
                <a:ea typeface="Cambria" panose="02040503050406030204" pitchFamily="18" charset="0"/>
              </a:rPr>
              <a:t>M.Sc</a:t>
            </a:r>
            <a:endParaRPr lang="en-US" sz="2000" b="0" dirty="0">
              <a:latin typeface="Cambria" panose="02040503050406030204" pitchFamily="18" charset="0"/>
              <a:ea typeface="Cambria" panose="02040503050406030204" pitchFamily="18" charset="0"/>
            </a:endParaRPr>
          </a:p>
          <a:p>
            <a:pPr>
              <a:spcBef>
                <a:spcPts val="0"/>
              </a:spcBef>
            </a:pPr>
            <a:r>
              <a:rPr lang="en-US" sz="2000" b="0" dirty="0">
                <a:latin typeface="Cambria" panose="02040503050406030204" pitchFamily="18" charset="0"/>
                <a:ea typeface="Cambria" panose="02040503050406030204" pitchFamily="18" charset="0"/>
              </a:rPr>
              <a:t>Sayed Yunus, </a:t>
            </a:r>
            <a:r>
              <a:rPr lang="en-US" sz="2000" b="0" dirty="0" err="1">
                <a:latin typeface="Cambria" panose="02040503050406030204" pitchFamily="18" charset="0"/>
                <a:ea typeface="Cambria" panose="02040503050406030204" pitchFamily="18" charset="0"/>
              </a:rPr>
              <a:t>S.Psi</a:t>
            </a:r>
            <a:r>
              <a:rPr lang="en-US" sz="2000" b="0" dirty="0">
                <a:latin typeface="Cambria" panose="02040503050406030204" pitchFamily="18" charset="0"/>
                <a:ea typeface="Cambria" panose="02040503050406030204" pitchFamily="18" charset="0"/>
              </a:rPr>
              <a:t>., </a:t>
            </a:r>
            <a:r>
              <a:rPr lang="en-US" sz="2000" b="0" dirty="0" err="1">
                <a:latin typeface="Cambria" panose="02040503050406030204" pitchFamily="18" charset="0"/>
                <a:ea typeface="Cambria" panose="02040503050406030204" pitchFamily="18" charset="0"/>
              </a:rPr>
              <a:t>M.Si</a:t>
            </a:r>
            <a:endParaRPr lang="en-US" sz="2000" b="0" dirty="0">
              <a:latin typeface="Cambria" panose="02040503050406030204" pitchFamily="18" charset="0"/>
              <a:ea typeface="Cambria" panose="02040503050406030204" pitchFamily="18" charset="0"/>
            </a:endParaRPr>
          </a:p>
          <a:p>
            <a:pPr>
              <a:spcBef>
                <a:spcPts val="0"/>
              </a:spcBef>
            </a:pPr>
            <a:r>
              <a:rPr lang="en-US" sz="2000" b="0" dirty="0" err="1">
                <a:latin typeface="Cambria" panose="02040503050406030204" pitchFamily="18" charset="0"/>
                <a:ea typeface="Cambria" panose="02040503050406030204" pitchFamily="18" charset="0"/>
              </a:rPr>
              <a:t>Raissha</a:t>
            </a:r>
            <a:r>
              <a:rPr lang="en-US" sz="2000" b="0" dirty="0">
                <a:latin typeface="Cambria" panose="02040503050406030204" pitchFamily="18" charset="0"/>
                <a:ea typeface="Cambria" panose="02040503050406030204" pitchFamily="18" charset="0"/>
              </a:rPr>
              <a:t> Amanda </a:t>
            </a:r>
            <a:r>
              <a:rPr lang="en-US" sz="2000" b="0" dirty="0" err="1">
                <a:latin typeface="Cambria" panose="02040503050406030204" pitchFamily="18" charset="0"/>
                <a:ea typeface="Cambria" panose="02040503050406030204" pitchFamily="18" charset="0"/>
              </a:rPr>
              <a:t>Siregar</a:t>
            </a:r>
            <a:r>
              <a:rPr lang="en-US" sz="2000" b="0" dirty="0">
                <a:latin typeface="Cambria" panose="02040503050406030204" pitchFamily="18" charset="0"/>
                <a:ea typeface="Cambria" panose="02040503050406030204" pitchFamily="18" charset="0"/>
              </a:rPr>
              <a:t>, </a:t>
            </a:r>
            <a:r>
              <a:rPr lang="en-US" sz="2000" b="0" dirty="0" err="1">
                <a:latin typeface="Cambria" panose="02040503050406030204" pitchFamily="18" charset="0"/>
                <a:ea typeface="Cambria" panose="02040503050406030204" pitchFamily="18" charset="0"/>
              </a:rPr>
              <a:t>S.Pi</a:t>
            </a:r>
            <a:r>
              <a:rPr lang="en-US" sz="2000" b="0" dirty="0">
                <a:latin typeface="Cambria" panose="02040503050406030204" pitchFamily="18" charset="0"/>
                <a:ea typeface="Cambria" panose="02040503050406030204" pitchFamily="18" charset="0"/>
              </a:rPr>
              <a:t>., </a:t>
            </a:r>
            <a:r>
              <a:rPr lang="en-US" sz="2000" b="0" dirty="0" err="1">
                <a:latin typeface="Cambria" panose="02040503050406030204" pitchFamily="18" charset="0"/>
                <a:ea typeface="Cambria" panose="02040503050406030204" pitchFamily="18" charset="0"/>
              </a:rPr>
              <a:t>M.Si</a:t>
            </a:r>
            <a:endParaRPr lang="en-US" sz="2000" b="0" dirty="0">
              <a:latin typeface="Cambria" panose="02040503050406030204" pitchFamily="18" charset="0"/>
              <a:ea typeface="Cambria" panose="02040503050406030204" pitchFamily="18" charset="0"/>
            </a:endParaRPr>
          </a:p>
          <a:p>
            <a:pPr>
              <a:spcBef>
                <a:spcPts val="0"/>
              </a:spcBef>
            </a:pPr>
            <a:r>
              <a:rPr lang="en-US" sz="2000" b="0" dirty="0">
                <a:latin typeface="Cambria" panose="02040503050406030204" pitchFamily="18" charset="0"/>
                <a:ea typeface="Cambria" panose="02040503050406030204" pitchFamily="18" charset="0"/>
              </a:rPr>
              <a:t>Muhammad Iqbal </a:t>
            </a:r>
            <a:r>
              <a:rPr lang="en-US" sz="2000" b="0" dirty="0" err="1">
                <a:latin typeface="Cambria" panose="02040503050406030204" pitchFamily="18" charset="0"/>
                <a:ea typeface="Cambria" panose="02040503050406030204" pitchFamily="18" charset="0"/>
              </a:rPr>
              <a:t>Fajri</a:t>
            </a:r>
            <a:r>
              <a:rPr lang="en-US" sz="2000" b="0" dirty="0">
                <a:latin typeface="Cambria" panose="02040503050406030204" pitchFamily="18" charset="0"/>
                <a:ea typeface="Cambria" panose="02040503050406030204" pitchFamily="18" charset="0"/>
              </a:rPr>
              <a:t>, </a:t>
            </a:r>
            <a:r>
              <a:rPr lang="en-US" sz="2000" b="0" dirty="0" err="1">
                <a:latin typeface="Cambria" panose="02040503050406030204" pitchFamily="18" charset="0"/>
                <a:ea typeface="Cambria" panose="02040503050406030204" pitchFamily="18" charset="0"/>
              </a:rPr>
              <a:t>S.I.Kom</a:t>
            </a:r>
            <a:r>
              <a:rPr lang="en-US" sz="2000" b="0" dirty="0">
                <a:latin typeface="Cambria" panose="02040503050406030204" pitchFamily="18" charset="0"/>
                <a:ea typeface="Cambria" panose="02040503050406030204" pitchFamily="18" charset="0"/>
              </a:rPr>
              <a:t>., M.M. </a:t>
            </a:r>
          </a:p>
          <a:p>
            <a:pPr>
              <a:spcBef>
                <a:spcPts val="0"/>
              </a:spcBef>
            </a:pPr>
            <a:r>
              <a:rPr lang="en-US" sz="2000" b="0" dirty="0" err="1">
                <a:latin typeface="Cambria" panose="02040503050406030204" pitchFamily="18" charset="0"/>
                <a:ea typeface="Cambria" panose="02040503050406030204" pitchFamily="18" charset="0"/>
              </a:rPr>
              <a:t>Uly</a:t>
            </a:r>
            <a:r>
              <a:rPr lang="en-US" sz="2000" b="0" dirty="0">
                <a:latin typeface="Cambria" panose="02040503050406030204" pitchFamily="18" charset="0"/>
                <a:ea typeface="Cambria" panose="02040503050406030204" pitchFamily="18" charset="0"/>
              </a:rPr>
              <a:t> </a:t>
            </a:r>
            <a:r>
              <a:rPr lang="en-US" sz="2000" b="0" dirty="0" err="1">
                <a:latin typeface="Cambria" panose="02040503050406030204" pitchFamily="18" charset="0"/>
                <a:ea typeface="Cambria" panose="02040503050406030204" pitchFamily="18" charset="0"/>
              </a:rPr>
              <a:t>Handayani</a:t>
            </a:r>
            <a:r>
              <a:rPr lang="en-US" sz="2000" b="0" dirty="0">
                <a:latin typeface="Cambria" panose="02040503050406030204" pitchFamily="18" charset="0"/>
                <a:ea typeface="Cambria" panose="02040503050406030204" pitchFamily="18" charset="0"/>
              </a:rPr>
              <a:t> </a:t>
            </a:r>
            <a:r>
              <a:rPr lang="en-US" sz="2000" b="0" dirty="0" err="1">
                <a:latin typeface="Cambria" panose="02040503050406030204" pitchFamily="18" charset="0"/>
                <a:ea typeface="Cambria" panose="02040503050406030204" pitchFamily="18" charset="0"/>
              </a:rPr>
              <a:t>Mukhra</a:t>
            </a:r>
            <a:r>
              <a:rPr lang="en-US" sz="2000" b="0" dirty="0">
                <a:latin typeface="Cambria" panose="02040503050406030204" pitchFamily="18" charset="0"/>
                <a:ea typeface="Cambria" panose="02040503050406030204" pitchFamily="18" charset="0"/>
              </a:rPr>
              <a:t>, M.M. </a:t>
            </a:r>
          </a:p>
          <a:p>
            <a:pPr>
              <a:spcBef>
                <a:spcPts val="0"/>
              </a:spcBef>
            </a:pPr>
            <a:r>
              <a:rPr lang="en-US" sz="2000" b="0" dirty="0">
                <a:latin typeface="Cambria" panose="02040503050406030204" pitchFamily="18" charset="0"/>
                <a:ea typeface="Cambria" panose="02040503050406030204" pitchFamily="18" charset="0"/>
              </a:rPr>
              <a:t>Dr. </a:t>
            </a:r>
            <a:r>
              <a:rPr lang="en-US" sz="2000" b="0" dirty="0" err="1">
                <a:latin typeface="Cambria" panose="02040503050406030204" pitchFamily="18" charset="0"/>
                <a:ea typeface="Cambria" panose="02040503050406030204" pitchFamily="18" charset="0"/>
              </a:rPr>
              <a:t>Miftahuddin</a:t>
            </a:r>
            <a:r>
              <a:rPr lang="en-US" sz="2000" b="0" dirty="0">
                <a:latin typeface="Cambria" panose="02040503050406030204" pitchFamily="18" charset="0"/>
                <a:ea typeface="Cambria" panose="02040503050406030204" pitchFamily="18" charset="0"/>
              </a:rPr>
              <a:t>, </a:t>
            </a:r>
            <a:r>
              <a:rPr lang="en-US" sz="2000" b="0" dirty="0" err="1">
                <a:latin typeface="Cambria" panose="02040503050406030204" pitchFamily="18" charset="0"/>
                <a:ea typeface="Cambria" panose="02040503050406030204" pitchFamily="18" charset="0"/>
              </a:rPr>
              <a:t>S.Si</a:t>
            </a:r>
            <a:r>
              <a:rPr lang="en-US" sz="2000" b="0" dirty="0">
                <a:latin typeface="Cambria" panose="02040503050406030204" pitchFamily="18" charset="0"/>
                <a:ea typeface="Cambria" panose="02040503050406030204" pitchFamily="18" charset="0"/>
              </a:rPr>
              <a:t>, </a:t>
            </a:r>
            <a:r>
              <a:rPr lang="en-US" sz="2000" b="0" dirty="0" err="1">
                <a:latin typeface="Cambria" panose="02040503050406030204" pitchFamily="18" charset="0"/>
                <a:ea typeface="Cambria" panose="02040503050406030204" pitchFamily="18" charset="0"/>
              </a:rPr>
              <a:t>M.Si</a:t>
            </a:r>
            <a:r>
              <a:rPr lang="en-US" sz="2000" b="0" dirty="0">
                <a:latin typeface="Cambria" panose="02040503050406030204" pitchFamily="18" charset="0"/>
                <a:ea typeface="Cambria" panose="02040503050406030204" pitchFamily="18" charset="0"/>
              </a:rPr>
              <a:t>,</a:t>
            </a:r>
          </a:p>
          <a:p>
            <a:pPr>
              <a:spcBef>
                <a:spcPts val="0"/>
              </a:spcBef>
            </a:pPr>
            <a:r>
              <a:rPr lang="en-US" sz="2000" b="0" dirty="0">
                <a:latin typeface="Cambria" panose="02040503050406030204" pitchFamily="18" charset="0"/>
                <a:ea typeface="Cambria" panose="02040503050406030204" pitchFamily="18" charset="0"/>
              </a:rPr>
              <a:t>Eka </a:t>
            </a:r>
            <a:r>
              <a:rPr lang="en-US" sz="2000" b="0" dirty="0" err="1">
                <a:latin typeface="Cambria" panose="02040503050406030204" pitchFamily="18" charset="0"/>
                <a:ea typeface="Cambria" panose="02040503050406030204" pitchFamily="18" charset="0"/>
              </a:rPr>
              <a:t>Oktavianus</a:t>
            </a:r>
            <a:r>
              <a:rPr lang="en-US" sz="2000" b="0" dirty="0">
                <a:latin typeface="Cambria" panose="02040503050406030204" pitchFamily="18" charset="0"/>
                <a:ea typeface="Cambria" panose="02040503050406030204" pitchFamily="18" charset="0"/>
              </a:rPr>
              <a:t>, </a:t>
            </a:r>
            <a:r>
              <a:rPr lang="en-US" sz="2000" b="0" dirty="0" err="1">
                <a:latin typeface="Cambria" panose="02040503050406030204" pitchFamily="18" charset="0"/>
                <a:ea typeface="Cambria" panose="02040503050406030204" pitchFamily="18" charset="0"/>
              </a:rPr>
              <a:t>M.Si</a:t>
            </a:r>
            <a:endParaRPr lang="en-US" sz="2000" b="0" dirty="0">
              <a:latin typeface="Cambria" panose="02040503050406030204" pitchFamily="18" charset="0"/>
              <a:ea typeface="Cambria" panose="02040503050406030204" pitchFamily="18" charset="0"/>
            </a:endParaRPr>
          </a:p>
          <a:p>
            <a:pPr>
              <a:spcBef>
                <a:spcPts val="0"/>
              </a:spcBef>
            </a:pPr>
            <a:r>
              <a:rPr lang="en-US" sz="2000" b="0" dirty="0">
                <a:latin typeface="Cambria" panose="02040503050406030204" pitchFamily="18" charset="0"/>
                <a:ea typeface="Cambria" panose="02040503050406030204" pitchFamily="18" charset="0"/>
              </a:rPr>
              <a:t>Sophia Imari, S.E.,M.M</a:t>
            </a:r>
          </a:p>
          <a:p>
            <a:pPr>
              <a:spcBef>
                <a:spcPts val="0"/>
              </a:spcBef>
            </a:pPr>
            <a:r>
              <a:rPr lang="en-US" sz="2000" b="0" dirty="0">
                <a:latin typeface="Cambria" panose="02040503050406030204" pitchFamily="18" charset="0"/>
                <a:ea typeface="Cambria" panose="02040503050406030204" pitchFamily="18" charset="0"/>
              </a:rPr>
              <a:t>Newton, </a:t>
            </a:r>
            <a:r>
              <a:rPr lang="en-US" sz="2000" b="0" dirty="0" err="1">
                <a:latin typeface="Cambria" panose="02040503050406030204" pitchFamily="18" charset="0"/>
                <a:ea typeface="Cambria" panose="02040503050406030204" pitchFamily="18" charset="0"/>
              </a:rPr>
              <a:t>S.Si</a:t>
            </a:r>
            <a:r>
              <a:rPr lang="en-US" sz="2000" b="0" dirty="0">
                <a:latin typeface="Cambria" panose="02040503050406030204" pitchFamily="18" charset="0"/>
                <a:ea typeface="Cambria" panose="02040503050406030204" pitchFamily="18" charset="0"/>
              </a:rPr>
              <a:t>, </a:t>
            </a:r>
            <a:r>
              <a:rPr lang="en-US" sz="2000" b="0" dirty="0" err="1">
                <a:latin typeface="Cambria" panose="02040503050406030204" pitchFamily="18" charset="0"/>
                <a:ea typeface="Cambria" panose="02040503050406030204" pitchFamily="18" charset="0"/>
              </a:rPr>
              <a:t>MSi</a:t>
            </a:r>
            <a:r>
              <a:rPr lang="en-US" sz="2000" b="0" dirty="0">
                <a:latin typeface="Cambria" panose="02040503050406030204" pitchFamily="18" charset="0"/>
                <a:ea typeface="Cambria" panose="02040503050406030204" pitchFamily="18" charset="0"/>
              </a:rPr>
              <a:t> </a:t>
            </a:r>
          </a:p>
          <a:p>
            <a:pPr>
              <a:spcBef>
                <a:spcPts val="0"/>
              </a:spcBef>
            </a:pPr>
            <a:r>
              <a:rPr lang="en-US" sz="2000" b="0" dirty="0" err="1">
                <a:latin typeface="Cambria" panose="02040503050406030204" pitchFamily="18" charset="0"/>
                <a:ea typeface="Cambria" panose="02040503050406030204" pitchFamily="18" charset="0"/>
              </a:rPr>
              <a:t>Riska</a:t>
            </a:r>
            <a:r>
              <a:rPr lang="en-US" sz="2000" b="0" dirty="0">
                <a:latin typeface="Cambria" panose="02040503050406030204" pitchFamily="18" charset="0"/>
                <a:ea typeface="Cambria" panose="02040503050406030204" pitchFamily="18" charset="0"/>
              </a:rPr>
              <a:t> </a:t>
            </a:r>
            <a:r>
              <a:rPr lang="en-US" sz="2000" b="0" dirty="0" err="1">
                <a:latin typeface="Cambria" panose="02040503050406030204" pitchFamily="18" charset="0"/>
                <a:ea typeface="Cambria" panose="02040503050406030204" pitchFamily="18" charset="0"/>
              </a:rPr>
              <a:t>Mulyani</a:t>
            </a:r>
            <a:r>
              <a:rPr lang="en-US" sz="2000" b="0" dirty="0">
                <a:latin typeface="Cambria" panose="02040503050406030204" pitchFamily="18" charset="0"/>
                <a:ea typeface="Cambria" panose="02040503050406030204" pitchFamily="18" charset="0"/>
              </a:rPr>
              <a:t>, </a:t>
            </a:r>
            <a:r>
              <a:rPr lang="en-US" sz="2000" b="0" dirty="0" err="1">
                <a:latin typeface="Cambria" panose="02040503050406030204" pitchFamily="18" charset="0"/>
                <a:ea typeface="Cambria" panose="02040503050406030204" pitchFamily="18" charset="0"/>
              </a:rPr>
              <a:t>SPd</a:t>
            </a:r>
            <a:r>
              <a:rPr lang="en-US" sz="2000" b="0" dirty="0">
                <a:latin typeface="Cambria" panose="02040503050406030204" pitchFamily="18" charset="0"/>
                <a:ea typeface="Cambria" panose="02040503050406030204" pitchFamily="18" charset="0"/>
              </a:rPr>
              <a:t>, </a:t>
            </a:r>
            <a:r>
              <a:rPr lang="en-US" sz="2000" b="0" dirty="0" err="1">
                <a:latin typeface="Cambria" panose="02040503050406030204" pitchFamily="18" charset="0"/>
                <a:ea typeface="Cambria" panose="02040503050406030204" pitchFamily="18" charset="0"/>
              </a:rPr>
              <a:t>MSi</a:t>
            </a:r>
            <a:r>
              <a:rPr lang="en-US" sz="2000" b="0" dirty="0">
                <a:latin typeface="Cambria" panose="02040503050406030204" pitchFamily="18" charset="0"/>
                <a:ea typeface="Cambria" panose="02040503050406030204" pitchFamily="18" charset="0"/>
              </a:rPr>
              <a:t>,</a:t>
            </a:r>
            <a:endParaRPr lang="en-ID" sz="2000" b="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2817001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6BE7759-DB78-A64B-FD09-30762142958C}"/>
              </a:ext>
            </a:extLst>
          </p:cNvPr>
          <p:cNvSpPr>
            <a:spLocks noGrp="1"/>
          </p:cNvSpPr>
          <p:nvPr>
            <p:ph type="title"/>
          </p:nvPr>
        </p:nvSpPr>
        <p:spPr>
          <a:xfrm>
            <a:off x="609600" y="211565"/>
            <a:ext cx="11432548" cy="318660"/>
          </a:xfrm>
        </p:spPr>
        <p:txBody>
          <a:bodyPr>
            <a:normAutofit fontScale="90000"/>
          </a:bodyPr>
          <a:lstStyle/>
          <a:p>
            <a:r>
              <a:rPr lang="en-ID" dirty="0"/>
              <a:t>PERAN DIVISI STRATEGIC RISK GOVERNANCE</a:t>
            </a:r>
          </a:p>
        </p:txBody>
      </p:sp>
      <p:sp>
        <p:nvSpPr>
          <p:cNvPr id="4" name="TextBox 3">
            <a:extLst>
              <a:ext uri="{FF2B5EF4-FFF2-40B4-BE49-F238E27FC236}">
                <a16:creationId xmlns:a16="http://schemas.microsoft.com/office/drawing/2014/main" xmlns="" id="{68039E52-A495-6CC2-89A8-387CE4A28BF9}"/>
              </a:ext>
            </a:extLst>
          </p:cNvPr>
          <p:cNvSpPr txBox="1"/>
          <p:nvPr/>
        </p:nvSpPr>
        <p:spPr>
          <a:xfrm>
            <a:off x="782320" y="1755616"/>
            <a:ext cx="10281920" cy="1446550"/>
          </a:xfrm>
          <a:prstGeom prst="rect">
            <a:avLst/>
          </a:prstGeom>
          <a:noFill/>
        </p:spPr>
        <p:txBody>
          <a:bodyPr wrap="square">
            <a:spAutoFit/>
          </a:bodyPr>
          <a:lstStyle/>
          <a:p>
            <a:r>
              <a:rPr lang="en-ID" sz="2200" b="1" i="1" dirty="0">
                <a:solidFill>
                  <a:srgbClr val="0070C0"/>
                </a:solidFill>
                <a:latin typeface="Cambria" panose="02040503050406030204" pitchFamily="18" charset="0"/>
                <a:ea typeface="Cambria" panose="02040503050406030204" pitchFamily="18" charset="0"/>
              </a:rPr>
              <a:t>Divisi Strategic Risk Governance </a:t>
            </a:r>
            <a:r>
              <a:rPr lang="en-ID" sz="2200" dirty="0">
                <a:latin typeface="Cambria" panose="02040503050406030204" pitchFamily="18" charset="0"/>
                <a:ea typeface="Cambria" panose="02040503050406030204" pitchFamily="18" charset="0"/>
              </a:rPr>
              <a:t>(SRG) di Tsunami and Disaster Mitigation Research </a:t>
            </a:r>
            <a:r>
              <a:rPr lang="en-ID" sz="2200" dirty="0" err="1">
                <a:latin typeface="Cambria" panose="02040503050406030204" pitchFamily="18" charset="0"/>
                <a:ea typeface="Cambria" panose="02040503050406030204" pitchFamily="18" charset="0"/>
              </a:rPr>
              <a:t>Center</a:t>
            </a:r>
            <a:r>
              <a:rPr lang="en-ID" sz="2200" dirty="0">
                <a:latin typeface="Cambria" panose="02040503050406030204" pitchFamily="18" charset="0"/>
                <a:ea typeface="Cambria" panose="02040503050406030204" pitchFamily="18" charset="0"/>
              </a:rPr>
              <a:t> (TDMRC), Universitas </a:t>
            </a:r>
            <a:r>
              <a:rPr lang="en-ID" sz="2200" dirty="0" err="1">
                <a:latin typeface="Cambria" panose="02040503050406030204" pitchFamily="18" charset="0"/>
                <a:ea typeface="Cambria" panose="02040503050406030204" pitchFamily="18" charset="0"/>
              </a:rPr>
              <a:t>Syiah</a:t>
            </a:r>
            <a:r>
              <a:rPr lang="en-ID" sz="2200" dirty="0">
                <a:latin typeface="Cambria" panose="02040503050406030204" pitchFamily="18" charset="0"/>
                <a:ea typeface="Cambria" panose="02040503050406030204" pitchFamily="18" charset="0"/>
              </a:rPr>
              <a:t> Kuala, </a:t>
            </a:r>
            <a:r>
              <a:rPr lang="en-ID" sz="2200" dirty="0" err="1">
                <a:latin typeface="Cambria" panose="02040503050406030204" pitchFamily="18" charset="0"/>
                <a:ea typeface="Cambria" panose="02040503050406030204" pitchFamily="18" charset="0"/>
              </a:rPr>
              <a:t>memiliki</a:t>
            </a:r>
            <a:r>
              <a:rPr lang="en-ID" sz="2200" dirty="0">
                <a:latin typeface="Cambria" panose="02040503050406030204" pitchFamily="18" charset="0"/>
                <a:ea typeface="Cambria" panose="02040503050406030204" pitchFamily="18" charset="0"/>
              </a:rPr>
              <a:t> </a:t>
            </a:r>
            <a:r>
              <a:rPr lang="en-ID" sz="2200" dirty="0" err="1">
                <a:latin typeface="Cambria" panose="02040503050406030204" pitchFamily="18" charset="0"/>
                <a:ea typeface="Cambria" panose="02040503050406030204" pitchFamily="18" charset="0"/>
              </a:rPr>
              <a:t>peran</a:t>
            </a:r>
            <a:r>
              <a:rPr lang="en-ID" sz="2200" dirty="0">
                <a:latin typeface="Cambria" panose="02040503050406030204" pitchFamily="18" charset="0"/>
                <a:ea typeface="Cambria" panose="02040503050406030204" pitchFamily="18" charset="0"/>
              </a:rPr>
              <a:t> </a:t>
            </a:r>
            <a:r>
              <a:rPr lang="en-ID" sz="2200" dirty="0" err="1">
                <a:latin typeface="Cambria" panose="02040503050406030204" pitchFamily="18" charset="0"/>
                <a:ea typeface="Cambria" panose="02040503050406030204" pitchFamily="18" charset="0"/>
              </a:rPr>
              <a:t>utama</a:t>
            </a:r>
            <a:r>
              <a:rPr lang="en-ID" sz="2200" dirty="0">
                <a:latin typeface="Cambria" panose="02040503050406030204" pitchFamily="18" charset="0"/>
                <a:ea typeface="Cambria" panose="02040503050406030204" pitchFamily="18" charset="0"/>
              </a:rPr>
              <a:t> </a:t>
            </a:r>
            <a:r>
              <a:rPr lang="en-ID" sz="2200" dirty="0" err="1">
                <a:latin typeface="Cambria" panose="02040503050406030204" pitchFamily="18" charset="0"/>
                <a:ea typeface="Cambria" panose="02040503050406030204" pitchFamily="18" charset="0"/>
              </a:rPr>
              <a:t>dalam</a:t>
            </a:r>
            <a:r>
              <a:rPr lang="en-ID" sz="2200" dirty="0">
                <a:latin typeface="Cambria" panose="02040503050406030204" pitchFamily="18" charset="0"/>
                <a:ea typeface="Cambria" panose="02040503050406030204" pitchFamily="18" charset="0"/>
              </a:rPr>
              <a:t> </a:t>
            </a:r>
            <a:r>
              <a:rPr lang="en-ID" sz="2200" b="1" dirty="0" err="1">
                <a:latin typeface="Cambria" panose="02040503050406030204" pitchFamily="18" charset="0"/>
                <a:ea typeface="Cambria" panose="02040503050406030204" pitchFamily="18" charset="0"/>
              </a:rPr>
              <a:t>mengembangkan</a:t>
            </a:r>
            <a:r>
              <a:rPr lang="en-ID" sz="2200" b="1" dirty="0">
                <a:latin typeface="Cambria" panose="02040503050406030204" pitchFamily="18" charset="0"/>
                <a:ea typeface="Cambria" panose="02040503050406030204" pitchFamily="18" charset="0"/>
              </a:rPr>
              <a:t> tata </a:t>
            </a:r>
            <a:r>
              <a:rPr lang="en-ID" sz="2200" b="1" dirty="0" err="1">
                <a:latin typeface="Cambria" panose="02040503050406030204" pitchFamily="18" charset="0"/>
                <a:ea typeface="Cambria" panose="02040503050406030204" pitchFamily="18" charset="0"/>
              </a:rPr>
              <a:t>kelola</a:t>
            </a:r>
            <a:r>
              <a:rPr lang="en-ID" sz="2200" b="1" dirty="0">
                <a:latin typeface="Cambria" panose="02040503050406030204" pitchFamily="18" charset="0"/>
                <a:ea typeface="Cambria" panose="02040503050406030204" pitchFamily="18" charset="0"/>
              </a:rPr>
              <a:t> </a:t>
            </a:r>
            <a:r>
              <a:rPr lang="en-ID" sz="2200" b="1" dirty="0" err="1">
                <a:latin typeface="Cambria" panose="02040503050406030204" pitchFamily="18" charset="0"/>
                <a:ea typeface="Cambria" panose="02040503050406030204" pitchFamily="18" charset="0"/>
              </a:rPr>
              <a:t>risiko</a:t>
            </a:r>
            <a:r>
              <a:rPr lang="en-ID" sz="2200" b="1" dirty="0">
                <a:latin typeface="Cambria" panose="02040503050406030204" pitchFamily="18" charset="0"/>
                <a:ea typeface="Cambria" panose="02040503050406030204" pitchFamily="18" charset="0"/>
              </a:rPr>
              <a:t> yang </a:t>
            </a:r>
            <a:r>
              <a:rPr lang="en-ID" sz="2200" b="1" dirty="0" err="1">
                <a:latin typeface="Cambria" panose="02040503050406030204" pitchFamily="18" charset="0"/>
                <a:ea typeface="Cambria" panose="02040503050406030204" pitchFamily="18" charset="0"/>
              </a:rPr>
              <a:t>berbasis</a:t>
            </a:r>
            <a:r>
              <a:rPr lang="en-ID" sz="2200" b="1" dirty="0">
                <a:latin typeface="Cambria" panose="02040503050406030204" pitchFamily="18" charset="0"/>
                <a:ea typeface="Cambria" panose="02040503050406030204" pitchFamily="18" charset="0"/>
              </a:rPr>
              <a:t> </a:t>
            </a:r>
            <a:r>
              <a:rPr lang="en-ID" sz="2200" b="1" dirty="0" smtClean="0">
                <a:latin typeface="Cambria" panose="02040503050406030204" pitchFamily="18" charset="0"/>
                <a:ea typeface="Cambria" panose="02040503050406030204" pitchFamily="18" charset="0"/>
              </a:rPr>
              <a:t>data </a:t>
            </a:r>
            <a:r>
              <a:rPr lang="en-ID" sz="2200" b="1" dirty="0" err="1" smtClean="0">
                <a:latin typeface="Cambria" panose="02040503050406030204" pitchFamily="18" charset="0"/>
                <a:ea typeface="Cambria" panose="02040503050406030204" pitchFamily="18" charset="0"/>
              </a:rPr>
              <a:t>dan</a:t>
            </a:r>
            <a:r>
              <a:rPr lang="en-ID" sz="2200" b="1" dirty="0" smtClean="0">
                <a:latin typeface="Cambria" panose="02040503050406030204" pitchFamily="18" charset="0"/>
                <a:ea typeface="Cambria" panose="02040503050406030204" pitchFamily="18" charset="0"/>
              </a:rPr>
              <a:t> </a:t>
            </a:r>
            <a:r>
              <a:rPr lang="en-ID" sz="2200" b="1" dirty="0" err="1" smtClean="0">
                <a:latin typeface="Cambria" panose="02040503050406030204" pitchFamily="18" charset="0"/>
                <a:ea typeface="Cambria" panose="02040503050406030204" pitchFamily="18" charset="0"/>
              </a:rPr>
              <a:t>informasi</a:t>
            </a:r>
            <a:r>
              <a:rPr lang="en-ID" sz="2200" b="1" dirty="0" smtClean="0">
                <a:latin typeface="Cambria" panose="02040503050406030204" pitchFamily="18" charset="0"/>
                <a:ea typeface="Cambria" panose="02040503050406030204" pitchFamily="18" charset="0"/>
              </a:rPr>
              <a:t> yang </a:t>
            </a:r>
            <a:r>
              <a:rPr lang="en-ID" sz="2200" b="1" dirty="0" err="1">
                <a:latin typeface="Cambria" panose="02040503050406030204" pitchFamily="18" charset="0"/>
                <a:ea typeface="Cambria" panose="02040503050406030204" pitchFamily="18" charset="0"/>
              </a:rPr>
              <a:t>kolaboratif</a:t>
            </a:r>
            <a:r>
              <a:rPr lang="en-ID" sz="2200" b="1" dirty="0">
                <a:latin typeface="Cambria" panose="02040503050406030204" pitchFamily="18" charset="0"/>
                <a:ea typeface="Cambria" panose="02040503050406030204" pitchFamily="18" charset="0"/>
              </a:rPr>
              <a:t>, dan </a:t>
            </a:r>
            <a:r>
              <a:rPr lang="en-ID" sz="2200" b="1" dirty="0" err="1">
                <a:latin typeface="Cambria" panose="02040503050406030204" pitchFamily="18" charset="0"/>
                <a:ea typeface="Cambria" panose="02040503050406030204" pitchFamily="18" charset="0"/>
              </a:rPr>
              <a:t>berorientasi</a:t>
            </a:r>
            <a:r>
              <a:rPr lang="en-ID" sz="2200" b="1" dirty="0">
                <a:latin typeface="Cambria" panose="02040503050406030204" pitchFamily="18" charset="0"/>
                <a:ea typeface="Cambria" panose="02040503050406030204" pitchFamily="18" charset="0"/>
              </a:rPr>
              <a:t> pada </a:t>
            </a:r>
            <a:r>
              <a:rPr lang="en-ID" sz="2200" b="1" dirty="0" err="1">
                <a:latin typeface="Cambria" panose="02040503050406030204" pitchFamily="18" charset="0"/>
                <a:ea typeface="Cambria" panose="02040503050406030204" pitchFamily="18" charset="0"/>
              </a:rPr>
              <a:t>ketahanan</a:t>
            </a:r>
            <a:r>
              <a:rPr lang="en-ID" sz="2200" b="1" dirty="0">
                <a:latin typeface="Cambria" panose="02040503050406030204" pitchFamily="18" charset="0"/>
                <a:ea typeface="Cambria" panose="02040503050406030204" pitchFamily="18" charset="0"/>
              </a:rPr>
              <a:t> </a:t>
            </a:r>
            <a:r>
              <a:rPr lang="en-ID" sz="2200" b="1" dirty="0" err="1">
                <a:latin typeface="Cambria" panose="02040503050406030204" pitchFamily="18" charset="0"/>
                <a:ea typeface="Cambria" panose="02040503050406030204" pitchFamily="18" charset="0"/>
              </a:rPr>
              <a:t>masyarakat</a:t>
            </a:r>
            <a:r>
              <a:rPr lang="en-ID" sz="2200" b="1" dirty="0">
                <a:latin typeface="Cambria" panose="02040503050406030204" pitchFamily="18" charset="0"/>
                <a:ea typeface="Cambria" panose="02040503050406030204" pitchFamily="18" charset="0"/>
              </a:rPr>
              <a:t> </a:t>
            </a:r>
            <a:r>
              <a:rPr lang="en-ID" sz="2200" b="1" dirty="0" err="1">
                <a:latin typeface="Cambria" panose="02040503050406030204" pitchFamily="18" charset="0"/>
                <a:ea typeface="Cambria" panose="02040503050406030204" pitchFamily="18" charset="0"/>
              </a:rPr>
              <a:t>terhadap</a:t>
            </a:r>
            <a:r>
              <a:rPr lang="en-ID" sz="2200" b="1" dirty="0">
                <a:latin typeface="Cambria" panose="02040503050406030204" pitchFamily="18" charset="0"/>
                <a:ea typeface="Cambria" panose="02040503050406030204" pitchFamily="18" charset="0"/>
              </a:rPr>
              <a:t> </a:t>
            </a:r>
            <a:r>
              <a:rPr lang="en-ID" sz="2200" b="1" dirty="0" err="1">
                <a:latin typeface="Cambria" panose="02040503050406030204" pitchFamily="18" charset="0"/>
                <a:ea typeface="Cambria" panose="02040503050406030204" pitchFamily="18" charset="0"/>
              </a:rPr>
              <a:t>bencana</a:t>
            </a:r>
            <a:r>
              <a:rPr lang="en-ID" sz="2200"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3476853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0C1CC82-72E1-69B9-856E-C1372B6C1029}"/>
              </a:ext>
            </a:extLst>
          </p:cNvPr>
          <p:cNvSpPr>
            <a:spLocks noGrp="1"/>
          </p:cNvSpPr>
          <p:nvPr>
            <p:ph type="title"/>
          </p:nvPr>
        </p:nvSpPr>
        <p:spPr/>
        <p:txBody>
          <a:bodyPr>
            <a:normAutofit fontScale="90000"/>
          </a:bodyPr>
          <a:lstStyle/>
          <a:p>
            <a:r>
              <a:rPr lang="en-US" dirty="0"/>
              <a:t>Apa </a:t>
            </a:r>
            <a:r>
              <a:rPr lang="en-US" dirty="0" err="1"/>
              <a:t>itu</a:t>
            </a:r>
            <a:r>
              <a:rPr lang="en-US" dirty="0"/>
              <a:t> Tata </a:t>
            </a:r>
            <a:r>
              <a:rPr lang="en-US" dirty="0" err="1"/>
              <a:t>kelola</a:t>
            </a:r>
            <a:r>
              <a:rPr lang="en-US" dirty="0"/>
              <a:t> </a:t>
            </a:r>
            <a:r>
              <a:rPr lang="en-US" dirty="0" err="1"/>
              <a:t>risiko</a:t>
            </a:r>
            <a:r>
              <a:rPr lang="en-US" dirty="0"/>
              <a:t> (</a:t>
            </a:r>
            <a:r>
              <a:rPr lang="en-US" i="1" dirty="0"/>
              <a:t>Risk Governance</a:t>
            </a:r>
            <a:r>
              <a:rPr lang="en-US" dirty="0"/>
              <a:t>) ?</a:t>
            </a:r>
            <a:endParaRPr lang="en-ID" dirty="0"/>
          </a:p>
        </p:txBody>
      </p:sp>
      <p:sp>
        <p:nvSpPr>
          <p:cNvPr id="4" name="TextBox 3">
            <a:extLst>
              <a:ext uri="{FF2B5EF4-FFF2-40B4-BE49-F238E27FC236}">
                <a16:creationId xmlns:a16="http://schemas.microsoft.com/office/drawing/2014/main" xmlns="" id="{3D3BF5EC-CC34-4EE7-D452-96454FD94FC3}"/>
              </a:ext>
            </a:extLst>
          </p:cNvPr>
          <p:cNvSpPr txBox="1"/>
          <p:nvPr/>
        </p:nvSpPr>
        <p:spPr>
          <a:xfrm>
            <a:off x="833120" y="1436360"/>
            <a:ext cx="9966960" cy="3416320"/>
          </a:xfrm>
          <a:prstGeom prst="rect">
            <a:avLst/>
          </a:prstGeom>
          <a:noFill/>
        </p:spPr>
        <p:txBody>
          <a:bodyPr wrap="square">
            <a:spAutoFit/>
          </a:bodyPr>
          <a:lstStyle/>
          <a:p>
            <a:r>
              <a:rPr lang="en-ID" dirty="0">
                <a:latin typeface="Cambria" panose="02040503050406030204" pitchFamily="18" charset="0"/>
                <a:ea typeface="Cambria" panose="02040503050406030204" pitchFamily="18" charset="0"/>
              </a:rPr>
              <a:t>Tata </a:t>
            </a:r>
            <a:r>
              <a:rPr lang="en-ID" dirty="0" err="1">
                <a:latin typeface="Cambria" panose="02040503050406030204" pitchFamily="18" charset="0"/>
                <a:ea typeface="Cambria" panose="02040503050406030204" pitchFamily="18" charset="0"/>
              </a:rPr>
              <a:t>kelola</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risiko</a:t>
            </a:r>
            <a:r>
              <a:rPr lang="en-ID" dirty="0">
                <a:latin typeface="Cambria" panose="02040503050406030204" pitchFamily="18" charset="0"/>
                <a:ea typeface="Cambria" panose="02040503050406030204" pitchFamily="18" charset="0"/>
              </a:rPr>
              <a:t> (</a:t>
            </a:r>
            <a:r>
              <a:rPr lang="en-ID" b="1" i="1" dirty="0">
                <a:latin typeface="Cambria" panose="02040503050406030204" pitchFamily="18" charset="0"/>
                <a:ea typeface="Cambria" panose="02040503050406030204" pitchFamily="18" charset="0"/>
              </a:rPr>
              <a:t>Risk Governance</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adalah</a:t>
            </a:r>
            <a:r>
              <a:rPr lang="en-ID"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kerangka</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kerja</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prinsip</a:t>
            </a:r>
            <a:r>
              <a:rPr lang="en-ID" b="1" dirty="0">
                <a:latin typeface="Cambria" panose="02040503050406030204" pitchFamily="18" charset="0"/>
                <a:ea typeface="Cambria" panose="02040503050406030204" pitchFamily="18" charset="0"/>
              </a:rPr>
              <a:t>, dan proses yang </a:t>
            </a:r>
            <a:r>
              <a:rPr lang="en-ID" b="1" dirty="0" err="1">
                <a:latin typeface="Cambria" panose="02040503050406030204" pitchFamily="18" charset="0"/>
                <a:ea typeface="Cambria" panose="02040503050406030204" pitchFamily="18" charset="0"/>
              </a:rPr>
              <a:t>digunakan</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untuk</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mengidentifikasi</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menganalisis</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mengelola</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serta</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memantau</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risiko</a:t>
            </a:r>
            <a:r>
              <a:rPr lang="en-ID" b="1"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dalam</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suatu</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sistem</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atau</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organisasi</a:t>
            </a:r>
            <a:r>
              <a:rPr lang="en-ID" dirty="0">
                <a:latin typeface="Cambria" panose="02040503050406030204" pitchFamily="18" charset="0"/>
                <a:ea typeface="Cambria" panose="02040503050406030204" pitchFamily="18" charset="0"/>
              </a:rPr>
              <a:t>. </a:t>
            </a:r>
          </a:p>
          <a:p>
            <a:endParaRPr lang="en-ID" dirty="0">
              <a:latin typeface="Cambria" panose="02040503050406030204" pitchFamily="18" charset="0"/>
              <a:ea typeface="Cambria" panose="02040503050406030204" pitchFamily="18" charset="0"/>
            </a:endParaRPr>
          </a:p>
          <a:p>
            <a:r>
              <a:rPr lang="en-ID" dirty="0">
                <a:latin typeface="Cambria" panose="02040503050406030204" pitchFamily="18" charset="0"/>
                <a:ea typeface="Cambria" panose="02040503050406030204" pitchFamily="18" charset="0"/>
              </a:rPr>
              <a:t>Tata </a:t>
            </a:r>
            <a:r>
              <a:rPr lang="en-ID" dirty="0" err="1">
                <a:latin typeface="Cambria" panose="02040503050406030204" pitchFamily="18" charset="0"/>
                <a:ea typeface="Cambria" panose="02040503050406030204" pitchFamily="18" charset="0"/>
              </a:rPr>
              <a:t>kelola</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risiko</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mencakup</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berbagai</a:t>
            </a:r>
            <a:r>
              <a:rPr lang="en-ID"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aktor</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kebijakan</a:t>
            </a:r>
            <a:r>
              <a:rPr lang="en-ID" b="1" dirty="0">
                <a:latin typeface="Cambria" panose="02040503050406030204" pitchFamily="18" charset="0"/>
                <a:ea typeface="Cambria" panose="02040503050406030204" pitchFamily="18" charset="0"/>
              </a:rPr>
              <a:t>, dan </a:t>
            </a:r>
            <a:r>
              <a:rPr lang="en-ID" b="1" dirty="0" err="1">
                <a:latin typeface="Cambria" panose="02040503050406030204" pitchFamily="18" charset="0"/>
                <a:ea typeface="Cambria" panose="02040503050406030204" pitchFamily="18" charset="0"/>
              </a:rPr>
              <a:t>mekanisme</a:t>
            </a:r>
            <a:r>
              <a:rPr lang="en-ID" b="1" dirty="0">
                <a:latin typeface="Cambria" panose="02040503050406030204" pitchFamily="18" charset="0"/>
                <a:ea typeface="Cambria" panose="02040503050406030204" pitchFamily="18" charset="0"/>
              </a:rPr>
              <a:t> </a:t>
            </a:r>
            <a:r>
              <a:rPr lang="en-ID" dirty="0">
                <a:latin typeface="Cambria" panose="02040503050406030204" pitchFamily="18" charset="0"/>
                <a:ea typeface="Cambria" panose="02040503050406030204" pitchFamily="18" charset="0"/>
              </a:rPr>
              <a:t>yang </a:t>
            </a:r>
            <a:r>
              <a:rPr lang="en-ID" dirty="0" err="1">
                <a:latin typeface="Cambria" panose="02040503050406030204" pitchFamily="18" charset="0"/>
                <a:ea typeface="Cambria" panose="02040503050406030204" pitchFamily="18" charset="0"/>
              </a:rPr>
              <a:t>memastikan</a:t>
            </a:r>
            <a:r>
              <a:rPr lang="en-ID"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bahwa</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risiko</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dapat</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dikendalikan</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secara</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efektif</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untuk</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mencapai</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tujuan</a:t>
            </a:r>
            <a:r>
              <a:rPr lang="en-ID" b="1" dirty="0">
                <a:latin typeface="Cambria" panose="02040503050406030204" pitchFamily="18" charset="0"/>
                <a:ea typeface="Cambria" panose="02040503050406030204" pitchFamily="18" charset="0"/>
              </a:rPr>
              <a:t> yang </a:t>
            </a:r>
            <a:r>
              <a:rPr lang="en-ID" b="1" dirty="0" err="1">
                <a:latin typeface="Cambria" panose="02040503050406030204" pitchFamily="18" charset="0"/>
                <a:ea typeface="Cambria" panose="02040503050406030204" pitchFamily="18" charset="0"/>
              </a:rPr>
              <a:t>diharapkan</a:t>
            </a:r>
            <a:r>
              <a:rPr lang="en-ID" dirty="0">
                <a:latin typeface="Cambria" panose="02040503050406030204" pitchFamily="18" charset="0"/>
                <a:ea typeface="Cambria" panose="02040503050406030204" pitchFamily="18" charset="0"/>
              </a:rPr>
              <a:t>.</a:t>
            </a:r>
          </a:p>
          <a:p>
            <a:endParaRPr lang="en-ID" dirty="0">
              <a:latin typeface="Cambria" panose="02040503050406030204" pitchFamily="18" charset="0"/>
              <a:ea typeface="Cambria" panose="02040503050406030204" pitchFamily="18" charset="0"/>
            </a:endParaRPr>
          </a:p>
          <a:p>
            <a:r>
              <a:rPr lang="en-ID" dirty="0" err="1">
                <a:latin typeface="Cambria" panose="02040503050406030204" pitchFamily="18" charset="0"/>
                <a:ea typeface="Cambria" panose="02040503050406030204" pitchFamily="18" charset="0"/>
              </a:rPr>
              <a:t>Dalam</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konteks</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bencana</a:t>
            </a:r>
            <a:r>
              <a:rPr lang="en-ID" dirty="0">
                <a:latin typeface="Cambria" panose="02040503050406030204" pitchFamily="18" charset="0"/>
                <a:ea typeface="Cambria" panose="02040503050406030204" pitchFamily="18" charset="0"/>
              </a:rPr>
              <a:t> dan </a:t>
            </a:r>
            <a:r>
              <a:rPr lang="en-ID" dirty="0" err="1">
                <a:latin typeface="Cambria" panose="02040503050406030204" pitchFamily="18" charset="0"/>
                <a:ea typeface="Cambria" panose="02040503050406030204" pitchFamily="18" charset="0"/>
              </a:rPr>
              <a:t>mitigasi</a:t>
            </a:r>
            <a:r>
              <a:rPr lang="en-ID" dirty="0">
                <a:latin typeface="Cambria" panose="02040503050406030204" pitchFamily="18" charset="0"/>
                <a:ea typeface="Cambria" panose="02040503050406030204" pitchFamily="18" charset="0"/>
              </a:rPr>
              <a:t>, </a:t>
            </a:r>
            <a:r>
              <a:rPr lang="en-ID" b="1" dirty="0">
                <a:latin typeface="Cambria" panose="02040503050406030204" pitchFamily="18" charset="0"/>
                <a:ea typeface="Cambria" panose="02040503050406030204" pitchFamily="18" charset="0"/>
              </a:rPr>
              <a:t>tata </a:t>
            </a:r>
            <a:r>
              <a:rPr lang="en-ID" b="1" dirty="0" err="1">
                <a:latin typeface="Cambria" panose="02040503050406030204" pitchFamily="18" charset="0"/>
                <a:ea typeface="Cambria" panose="02040503050406030204" pitchFamily="18" charset="0"/>
              </a:rPr>
              <a:t>kelola</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risiko</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melibatkan</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berbagai</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pemangku</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kepentingan</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termasuk</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pemerintah</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akademisi</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sektor</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swasta</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organisasi</a:t>
            </a:r>
            <a:r>
              <a:rPr lang="en-ID" dirty="0">
                <a:latin typeface="Cambria" panose="02040503050406030204" pitchFamily="18" charset="0"/>
                <a:ea typeface="Cambria" panose="02040503050406030204" pitchFamily="18" charset="0"/>
              </a:rPr>
              <a:t> non-</a:t>
            </a:r>
            <a:r>
              <a:rPr lang="en-ID" dirty="0" err="1">
                <a:latin typeface="Cambria" panose="02040503050406030204" pitchFamily="18" charset="0"/>
                <a:ea typeface="Cambria" panose="02040503050406030204" pitchFamily="18" charset="0"/>
              </a:rPr>
              <a:t>pemerintah</a:t>
            </a:r>
            <a:r>
              <a:rPr lang="en-ID" dirty="0">
                <a:latin typeface="Cambria" panose="02040503050406030204" pitchFamily="18" charset="0"/>
                <a:ea typeface="Cambria" panose="02040503050406030204" pitchFamily="18" charset="0"/>
              </a:rPr>
              <a:t> (NGO), </a:t>
            </a:r>
            <a:r>
              <a:rPr lang="en-ID" dirty="0" err="1">
                <a:latin typeface="Cambria" panose="02040503050406030204" pitchFamily="18" charset="0"/>
                <a:ea typeface="Cambria" panose="02040503050406030204" pitchFamily="18" charset="0"/>
              </a:rPr>
              <a:t>serta</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masyarakat</a:t>
            </a:r>
            <a:r>
              <a:rPr lang="en-ID"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untuk</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mengurangi</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dampak</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bencana</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meningkatkan</a:t>
            </a:r>
            <a:r>
              <a:rPr lang="en-ID" b="1" dirty="0">
                <a:latin typeface="Cambria" panose="02040503050406030204" pitchFamily="18" charset="0"/>
                <a:ea typeface="Cambria" panose="02040503050406030204" pitchFamily="18" charset="0"/>
              </a:rPr>
              <a:t> </a:t>
            </a:r>
            <a:r>
              <a:rPr lang="en-ID" b="1" dirty="0" err="1" smtClean="0">
                <a:latin typeface="Cambria" panose="02040503050406030204" pitchFamily="18" charset="0"/>
                <a:ea typeface="Cambria" panose="02040503050406030204" pitchFamily="18" charset="0"/>
              </a:rPr>
              <a:t>kesiapsiagaan</a:t>
            </a:r>
            <a:r>
              <a:rPr lang="en-ID" b="1" dirty="0" smtClean="0">
                <a:latin typeface="Cambria" panose="02040503050406030204" pitchFamily="18" charset="0"/>
                <a:ea typeface="Cambria" panose="02040503050406030204" pitchFamily="18" charset="0"/>
              </a:rPr>
              <a:t> (</a:t>
            </a:r>
            <a:r>
              <a:rPr lang="en-ID" b="1" dirty="0" err="1" smtClean="0">
                <a:latin typeface="Cambria" panose="02040503050406030204" pitchFamily="18" charset="0"/>
                <a:ea typeface="Cambria" panose="02040503050406030204" pitchFamily="18" charset="0"/>
              </a:rPr>
              <a:t>pra</a:t>
            </a:r>
            <a:r>
              <a:rPr lang="en-ID" b="1" dirty="0" smtClean="0">
                <a:latin typeface="Cambria" panose="02040503050406030204" pitchFamily="18" charset="0"/>
                <a:ea typeface="Cambria" panose="02040503050406030204" pitchFamily="18" charset="0"/>
              </a:rPr>
              <a:t>),  </a:t>
            </a:r>
            <a:r>
              <a:rPr lang="en-ID" b="1" dirty="0" err="1" smtClean="0">
                <a:latin typeface="Cambria" panose="02040503050406030204" pitchFamily="18" charset="0"/>
                <a:ea typeface="Cambria" panose="02040503050406030204" pitchFamily="18" charset="0"/>
              </a:rPr>
              <a:t>saat</a:t>
            </a:r>
            <a:r>
              <a:rPr lang="en-ID" b="1" dirty="0" smtClean="0">
                <a:latin typeface="Cambria" panose="02040503050406030204" pitchFamily="18" charset="0"/>
                <a:ea typeface="Cambria" panose="02040503050406030204" pitchFamily="18" charset="0"/>
              </a:rPr>
              <a:t> </a:t>
            </a:r>
            <a:r>
              <a:rPr lang="en-ID" b="1" dirty="0" err="1" smtClean="0">
                <a:latin typeface="Cambria" panose="02040503050406030204" pitchFamily="18" charset="0"/>
                <a:ea typeface="Cambria" panose="02040503050406030204" pitchFamily="18" charset="0"/>
              </a:rPr>
              <a:t>bencana</a:t>
            </a:r>
            <a:r>
              <a:rPr lang="en-ID" b="1" dirty="0" smtClean="0">
                <a:latin typeface="Cambria" panose="02040503050406030204" pitchFamily="18" charset="0"/>
                <a:ea typeface="Cambria" panose="02040503050406030204" pitchFamily="18" charset="0"/>
              </a:rPr>
              <a:t> (</a:t>
            </a:r>
            <a:r>
              <a:rPr lang="en-ID" b="1" dirty="0" err="1" smtClean="0">
                <a:latin typeface="Cambria" panose="02040503050406030204" pitchFamily="18" charset="0"/>
                <a:ea typeface="Cambria" panose="02040503050406030204" pitchFamily="18" charset="0"/>
              </a:rPr>
              <a:t>tanggap</a:t>
            </a:r>
            <a:r>
              <a:rPr lang="en-ID" b="1" dirty="0" smtClean="0">
                <a:latin typeface="Cambria" panose="02040503050406030204" pitchFamily="18" charset="0"/>
                <a:ea typeface="Cambria" panose="02040503050406030204" pitchFamily="18" charset="0"/>
              </a:rPr>
              <a:t> </a:t>
            </a:r>
            <a:r>
              <a:rPr lang="en-ID" b="1" dirty="0" err="1" smtClean="0">
                <a:latin typeface="Cambria" panose="02040503050406030204" pitchFamily="18" charset="0"/>
                <a:ea typeface="Cambria" panose="02040503050406030204" pitchFamily="18" charset="0"/>
              </a:rPr>
              <a:t>darurat</a:t>
            </a:r>
            <a:r>
              <a:rPr lang="en-ID" b="1" dirty="0" smtClean="0">
                <a:latin typeface="Cambria" panose="02040503050406030204" pitchFamily="18" charset="0"/>
                <a:ea typeface="Cambria" panose="02040503050406030204" pitchFamily="18" charset="0"/>
              </a:rPr>
              <a:t>/emergency) </a:t>
            </a:r>
            <a:r>
              <a:rPr lang="en-ID" b="1" dirty="0" err="1" smtClean="0">
                <a:latin typeface="Cambria" panose="02040503050406030204" pitchFamily="18" charset="0"/>
                <a:ea typeface="Cambria" panose="02040503050406030204" pitchFamily="18" charset="0"/>
              </a:rPr>
              <a:t>dan</a:t>
            </a:r>
            <a:r>
              <a:rPr lang="en-ID" b="1" dirty="0" smtClean="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mempercepat</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pemulihan</a:t>
            </a:r>
            <a:r>
              <a:rPr lang="en-ID" b="1" dirty="0">
                <a:latin typeface="Cambria" panose="02040503050406030204" pitchFamily="18" charset="0"/>
                <a:ea typeface="Cambria" panose="02040503050406030204" pitchFamily="18" charset="0"/>
              </a:rPr>
              <a:t> </a:t>
            </a:r>
            <a:r>
              <a:rPr lang="en-ID" b="1" dirty="0" err="1" smtClean="0">
                <a:latin typeface="Cambria" panose="02040503050406030204" pitchFamily="18" charset="0"/>
                <a:ea typeface="Cambria" panose="02040503050406030204" pitchFamily="18" charset="0"/>
              </a:rPr>
              <a:t>pasca-bencana</a:t>
            </a:r>
            <a:r>
              <a:rPr lang="en-ID" b="1" dirty="0" smtClean="0">
                <a:latin typeface="Cambria" panose="02040503050406030204" pitchFamily="18" charset="0"/>
                <a:ea typeface="Cambria" panose="02040503050406030204" pitchFamily="18" charset="0"/>
              </a:rPr>
              <a:t> (post).</a:t>
            </a:r>
            <a:endParaRPr lang="en-ID"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365604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7149D72-3246-4C6B-B9B8-26DD9736BF31}"/>
              </a:ext>
            </a:extLst>
          </p:cNvPr>
          <p:cNvSpPr>
            <a:spLocks noGrp="1"/>
          </p:cNvSpPr>
          <p:nvPr>
            <p:ph type="title"/>
          </p:nvPr>
        </p:nvSpPr>
        <p:spPr>
          <a:xfrm>
            <a:off x="532856" y="1843878"/>
            <a:ext cx="10419624" cy="2433482"/>
          </a:xfrm>
        </p:spPr>
        <p:txBody>
          <a:bodyPr>
            <a:normAutofit fontScale="90000"/>
          </a:bodyPr>
          <a:lstStyle/>
          <a:p>
            <a:pPr marL="342900" indent="-342900">
              <a:buFont typeface="Arial" panose="020B0604020202020204" pitchFamily="34" charset="0"/>
              <a:buChar char="•"/>
            </a:pPr>
            <a:r>
              <a:rPr lang="en-US" b="0" dirty="0" err="1">
                <a:latin typeface="Cambria" panose="02040503050406030204" pitchFamily="18" charset="0"/>
                <a:ea typeface="Cambria" panose="02040503050406030204" pitchFamily="18" charset="0"/>
              </a:rPr>
              <a:t>Mengembangkan</a:t>
            </a:r>
            <a:r>
              <a:rPr lang="en-US" b="0" dirty="0">
                <a:latin typeface="Cambria" panose="02040503050406030204" pitchFamily="18" charset="0"/>
                <a:ea typeface="Cambria" panose="02040503050406030204" pitchFamily="18" charset="0"/>
              </a:rPr>
              <a:t> </a:t>
            </a:r>
            <a:r>
              <a:rPr lang="en-US" b="0" dirty="0" err="1">
                <a:latin typeface="Cambria" panose="02040503050406030204" pitchFamily="18" charset="0"/>
                <a:ea typeface="Cambria" panose="02040503050406030204" pitchFamily="18" charset="0"/>
              </a:rPr>
              <a:t>kebijakan</a:t>
            </a:r>
            <a:r>
              <a:rPr lang="en-US" b="0" dirty="0">
                <a:latin typeface="Cambria" panose="02040503050406030204" pitchFamily="18" charset="0"/>
                <a:ea typeface="Cambria" panose="02040503050406030204" pitchFamily="18" charset="0"/>
              </a:rPr>
              <a:t>, strategi, dan </a:t>
            </a:r>
            <a:r>
              <a:rPr lang="en-US" b="0" dirty="0" err="1">
                <a:latin typeface="Cambria" panose="02040503050406030204" pitchFamily="18" charset="0"/>
                <a:ea typeface="Cambria" panose="02040503050406030204" pitchFamily="18" charset="0"/>
              </a:rPr>
              <a:t>instrumen</a:t>
            </a:r>
            <a:r>
              <a:rPr lang="en-US" b="0"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tata </a:t>
            </a:r>
            <a:r>
              <a:rPr lang="en-US" dirty="0" err="1">
                <a:latin typeface="Cambria" panose="02040503050406030204" pitchFamily="18" charset="0"/>
                <a:ea typeface="Cambria" panose="02040503050406030204" pitchFamily="18" charset="0"/>
              </a:rPr>
              <a:t>kelola</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risiko</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bencana</a:t>
            </a:r>
            <a:r>
              <a:rPr lang="en-US" dirty="0">
                <a:latin typeface="Cambria" panose="02040503050406030204" pitchFamily="18" charset="0"/>
                <a:ea typeface="Cambria" panose="02040503050406030204" pitchFamily="18" charset="0"/>
              </a:rPr>
              <a:t> </a:t>
            </a:r>
            <a:r>
              <a:rPr lang="en-US" b="0" dirty="0">
                <a:latin typeface="Cambria" panose="02040503050406030204" pitchFamily="18" charset="0"/>
                <a:ea typeface="Cambria" panose="02040503050406030204" pitchFamily="18" charset="0"/>
              </a:rPr>
              <a:t>yang </a:t>
            </a:r>
            <a:r>
              <a:rPr lang="en-US" b="0" dirty="0" err="1">
                <a:latin typeface="Cambria" panose="02040503050406030204" pitchFamily="18" charset="0"/>
                <a:ea typeface="Cambria" panose="02040503050406030204" pitchFamily="18" charset="0"/>
              </a:rPr>
              <a:t>dapat</a:t>
            </a:r>
            <a:r>
              <a:rPr lang="en-US" b="0" dirty="0">
                <a:latin typeface="Cambria" panose="02040503050406030204" pitchFamily="18" charset="0"/>
                <a:ea typeface="Cambria" panose="02040503050406030204" pitchFamily="18" charset="0"/>
              </a:rPr>
              <a:t> </a:t>
            </a:r>
            <a:r>
              <a:rPr lang="en-US" b="0" dirty="0" err="1">
                <a:latin typeface="Cambria" panose="02040503050406030204" pitchFamily="18" charset="0"/>
                <a:ea typeface="Cambria" panose="02040503050406030204" pitchFamily="18" charset="0"/>
              </a:rPr>
              <a:t>digunakan</a:t>
            </a:r>
            <a:r>
              <a:rPr lang="en-US" b="0" dirty="0">
                <a:latin typeface="Cambria" panose="02040503050406030204" pitchFamily="18" charset="0"/>
                <a:ea typeface="Cambria" panose="02040503050406030204" pitchFamily="18" charset="0"/>
              </a:rPr>
              <a:t> oleh </a:t>
            </a:r>
            <a:r>
              <a:rPr lang="en-US" dirty="0" err="1">
                <a:latin typeface="Cambria" panose="02040503050406030204" pitchFamily="18" charset="0"/>
                <a:ea typeface="Cambria" panose="02040503050406030204" pitchFamily="18" charset="0"/>
              </a:rPr>
              <a:t>pemerintah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sektor</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swasta</a:t>
            </a:r>
            <a:r>
              <a:rPr lang="en-US" dirty="0">
                <a:latin typeface="Cambria" panose="02040503050406030204" pitchFamily="18" charset="0"/>
                <a:ea typeface="Cambria" panose="02040503050406030204" pitchFamily="18" charset="0"/>
              </a:rPr>
              <a:t>, dan </a:t>
            </a:r>
            <a:r>
              <a:rPr lang="en-US" dirty="0" err="1">
                <a:latin typeface="Cambria" panose="02040503050406030204" pitchFamily="18" charset="0"/>
                <a:ea typeface="Cambria" panose="02040503050406030204" pitchFamily="18" charset="0"/>
              </a:rPr>
              <a:t>masyarakat</a:t>
            </a:r>
            <a:r>
              <a:rPr lang="en-US" dirty="0">
                <a:latin typeface="Cambria" panose="02040503050406030204" pitchFamily="18" charset="0"/>
                <a:ea typeface="Cambria" panose="02040503050406030204" pitchFamily="18" charset="0"/>
              </a:rPr>
              <a:t> </a:t>
            </a:r>
            <a:r>
              <a:rPr lang="en-US" b="0" dirty="0" err="1">
                <a:latin typeface="Cambria" panose="02040503050406030204" pitchFamily="18" charset="0"/>
                <a:ea typeface="Cambria" panose="02040503050406030204" pitchFamily="18" charset="0"/>
              </a:rPr>
              <a:t>dalam</a:t>
            </a:r>
            <a:r>
              <a:rPr lang="en-US" b="0" dirty="0">
                <a:latin typeface="Cambria" panose="02040503050406030204" pitchFamily="18" charset="0"/>
                <a:ea typeface="Cambria" panose="02040503050406030204" pitchFamily="18" charset="0"/>
              </a:rPr>
              <a:t> </a:t>
            </a:r>
            <a:r>
              <a:rPr lang="en-US" b="0" dirty="0" err="1">
                <a:latin typeface="Cambria" panose="02040503050406030204" pitchFamily="18" charset="0"/>
                <a:ea typeface="Cambria" panose="02040503050406030204" pitchFamily="18" charset="0"/>
              </a:rPr>
              <a:t>menghadapi</a:t>
            </a:r>
            <a:r>
              <a:rPr lang="en-US" b="0" dirty="0">
                <a:latin typeface="Cambria" panose="02040503050406030204" pitchFamily="18" charset="0"/>
                <a:ea typeface="Cambria" panose="02040503050406030204" pitchFamily="18" charset="0"/>
              </a:rPr>
              <a:t> </a:t>
            </a:r>
            <a:r>
              <a:rPr lang="en-US" b="0" dirty="0" err="1">
                <a:latin typeface="Cambria" panose="02040503050406030204" pitchFamily="18" charset="0"/>
                <a:ea typeface="Cambria" panose="02040503050406030204" pitchFamily="18" charset="0"/>
              </a:rPr>
              <a:t>ancaman</a:t>
            </a:r>
            <a:r>
              <a:rPr lang="en-US" b="0" dirty="0">
                <a:latin typeface="Cambria" panose="02040503050406030204" pitchFamily="18" charset="0"/>
                <a:ea typeface="Cambria" panose="02040503050406030204" pitchFamily="18" charset="0"/>
              </a:rPr>
              <a:t> </a:t>
            </a:r>
            <a:r>
              <a:rPr lang="en-US" b="0" dirty="0" err="1">
                <a:latin typeface="Cambria" panose="02040503050406030204" pitchFamily="18" charset="0"/>
                <a:ea typeface="Cambria" panose="02040503050406030204" pitchFamily="18" charset="0"/>
              </a:rPr>
              <a:t>bencana</a:t>
            </a:r>
            <a:r>
              <a:rPr lang="en-US" b="0" dirty="0">
                <a:latin typeface="Cambria" panose="02040503050406030204" pitchFamily="18" charset="0"/>
                <a:ea typeface="Cambria" panose="02040503050406030204" pitchFamily="18" charset="0"/>
              </a:rPr>
              <a:t> di </a:t>
            </a:r>
            <a:r>
              <a:rPr lang="en-US" b="0" dirty="0" smtClean="0">
                <a:latin typeface="Cambria" panose="02040503050406030204" pitchFamily="18" charset="0"/>
                <a:ea typeface="Cambria" panose="02040503050406030204" pitchFamily="18" charset="0"/>
              </a:rPr>
              <a:t>Indonesia </a:t>
            </a:r>
            <a:r>
              <a:rPr lang="en-US" b="0" dirty="0" err="1" smtClean="0">
                <a:latin typeface="Cambria" panose="02040503050406030204" pitchFamily="18" charset="0"/>
                <a:ea typeface="Cambria" panose="02040503050406030204" pitchFamily="18" charset="0"/>
              </a:rPr>
              <a:t>dan</a:t>
            </a:r>
            <a:r>
              <a:rPr lang="en-US" b="0" dirty="0" smtClean="0">
                <a:latin typeface="Cambria" panose="02040503050406030204" pitchFamily="18" charset="0"/>
                <a:ea typeface="Cambria" panose="02040503050406030204" pitchFamily="18" charset="0"/>
              </a:rPr>
              <a:t> global. </a:t>
            </a:r>
            <a:r>
              <a:rPr lang="en-US" b="0" dirty="0">
                <a:latin typeface="Cambria" panose="02040503050406030204" pitchFamily="18" charset="0"/>
                <a:ea typeface="Cambria" panose="02040503050406030204" pitchFamily="18" charset="0"/>
              </a:rPr>
              <a:t/>
            </a:r>
            <a:br>
              <a:rPr lang="en-US" b="0" dirty="0">
                <a:latin typeface="Cambria" panose="02040503050406030204" pitchFamily="18" charset="0"/>
                <a:ea typeface="Cambria" panose="02040503050406030204" pitchFamily="18" charset="0"/>
              </a:rPr>
            </a:br>
            <a:r>
              <a:rPr lang="en-US" b="0" dirty="0">
                <a:latin typeface="Cambria" panose="02040503050406030204" pitchFamily="18" charset="0"/>
                <a:ea typeface="Cambria" panose="02040503050406030204" pitchFamily="18" charset="0"/>
              </a:rPr>
              <a:t/>
            </a:r>
            <a:br>
              <a:rPr lang="en-US" b="0" dirty="0">
                <a:latin typeface="Cambria" panose="02040503050406030204" pitchFamily="18" charset="0"/>
                <a:ea typeface="Cambria" panose="02040503050406030204" pitchFamily="18" charset="0"/>
              </a:rPr>
            </a:br>
            <a:r>
              <a:rPr lang="en-US" b="0" dirty="0" err="1">
                <a:latin typeface="Cambria" panose="02040503050406030204" pitchFamily="18" charset="0"/>
                <a:ea typeface="Cambria" panose="02040503050406030204" pitchFamily="18" charset="0"/>
              </a:rPr>
              <a:t>Dengan</a:t>
            </a:r>
            <a:r>
              <a:rPr lang="en-US" b="0" dirty="0">
                <a:latin typeface="Cambria" panose="02040503050406030204" pitchFamily="18" charset="0"/>
                <a:ea typeface="Cambria" panose="02040503050406030204" pitchFamily="18" charset="0"/>
              </a:rPr>
              <a:t> </a:t>
            </a:r>
            <a:r>
              <a:rPr lang="en-US" b="0" dirty="0" err="1">
                <a:latin typeface="Cambria" panose="02040503050406030204" pitchFamily="18" charset="0"/>
                <a:ea typeface="Cambria" panose="02040503050406030204" pitchFamily="18" charset="0"/>
              </a:rPr>
              <a:t>pendekatan</a:t>
            </a:r>
            <a:r>
              <a:rPr lang="en-US" b="0" dirty="0">
                <a:latin typeface="Cambria" panose="02040503050406030204" pitchFamily="18" charset="0"/>
                <a:ea typeface="Cambria" panose="02040503050406030204" pitchFamily="18" charset="0"/>
              </a:rPr>
              <a:t> </a:t>
            </a:r>
            <a:r>
              <a:rPr lang="en-US" b="0" dirty="0" err="1">
                <a:latin typeface="Cambria" panose="02040503050406030204" pitchFamily="18" charset="0"/>
                <a:ea typeface="Cambria" panose="02040503050406030204" pitchFamily="18" charset="0"/>
              </a:rPr>
              <a:t>berbasis</a:t>
            </a:r>
            <a:r>
              <a:rPr lang="en-US" b="0"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risiko</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strategis</a:t>
            </a:r>
            <a:r>
              <a:rPr lang="en-US" b="0" dirty="0">
                <a:latin typeface="Cambria" panose="02040503050406030204" pitchFamily="18" charset="0"/>
                <a:ea typeface="Cambria" panose="02040503050406030204" pitchFamily="18" charset="0"/>
              </a:rPr>
              <a:t>, divisi </a:t>
            </a:r>
            <a:r>
              <a:rPr lang="en-US" b="0" dirty="0" err="1">
                <a:latin typeface="Cambria" panose="02040503050406030204" pitchFamily="18" charset="0"/>
                <a:ea typeface="Cambria" panose="02040503050406030204" pitchFamily="18" charset="0"/>
              </a:rPr>
              <a:t>ini</a:t>
            </a:r>
            <a:r>
              <a:rPr lang="en-US" b="0" dirty="0">
                <a:latin typeface="Cambria" panose="02040503050406030204" pitchFamily="18" charset="0"/>
                <a:ea typeface="Cambria" panose="02040503050406030204" pitchFamily="18" charset="0"/>
              </a:rPr>
              <a:t> </a:t>
            </a:r>
            <a:r>
              <a:rPr lang="en-US" b="0" dirty="0" err="1">
                <a:latin typeface="Cambria" panose="02040503050406030204" pitchFamily="18" charset="0"/>
                <a:ea typeface="Cambria" panose="02040503050406030204" pitchFamily="18" charset="0"/>
              </a:rPr>
              <a:t>memastikan</a:t>
            </a:r>
            <a:r>
              <a:rPr lang="en-US" b="0" dirty="0">
                <a:latin typeface="Cambria" panose="02040503050406030204" pitchFamily="18" charset="0"/>
                <a:ea typeface="Cambria" panose="02040503050406030204" pitchFamily="18" charset="0"/>
              </a:rPr>
              <a:t> </a:t>
            </a:r>
            <a:r>
              <a:rPr lang="en-US" b="0" dirty="0" err="1">
                <a:latin typeface="Cambria" panose="02040503050406030204" pitchFamily="18" charset="0"/>
                <a:ea typeface="Cambria" panose="02040503050406030204" pitchFamily="18" charset="0"/>
              </a:rPr>
              <a:t>bahwa</a:t>
            </a:r>
            <a:r>
              <a:rPr lang="en-US" b="0" dirty="0">
                <a:latin typeface="Cambria" panose="02040503050406030204" pitchFamily="18" charset="0"/>
                <a:ea typeface="Cambria" panose="02040503050406030204" pitchFamily="18" charset="0"/>
              </a:rPr>
              <a:t> </a:t>
            </a:r>
            <a:r>
              <a:rPr lang="en-US" b="0" dirty="0" err="1">
                <a:latin typeface="Cambria" panose="02040503050406030204" pitchFamily="18" charset="0"/>
                <a:ea typeface="Cambria" panose="02040503050406030204" pitchFamily="18" charset="0"/>
              </a:rPr>
              <a:t>keputusan</a:t>
            </a:r>
            <a:r>
              <a:rPr lang="en-US" b="0" dirty="0">
                <a:latin typeface="Cambria" panose="02040503050406030204" pitchFamily="18" charset="0"/>
                <a:ea typeface="Cambria" panose="02040503050406030204" pitchFamily="18" charset="0"/>
              </a:rPr>
              <a:t> yang </a:t>
            </a:r>
            <a:r>
              <a:rPr lang="en-US" b="0" dirty="0" err="1">
                <a:latin typeface="Cambria" panose="02040503050406030204" pitchFamily="18" charset="0"/>
                <a:ea typeface="Cambria" panose="02040503050406030204" pitchFamily="18" charset="0"/>
              </a:rPr>
              <a:t>diambil</a:t>
            </a:r>
            <a:r>
              <a:rPr lang="en-US" b="0" dirty="0">
                <a:latin typeface="Cambria" panose="02040503050406030204" pitchFamily="18" charset="0"/>
                <a:ea typeface="Cambria" panose="02040503050406030204" pitchFamily="18" charset="0"/>
              </a:rPr>
              <a:t> </a:t>
            </a:r>
            <a:r>
              <a:rPr lang="en-US" b="0" dirty="0" err="1">
                <a:latin typeface="Cambria" panose="02040503050406030204" pitchFamily="18" charset="0"/>
                <a:ea typeface="Cambria" panose="02040503050406030204" pitchFamily="18" charset="0"/>
              </a:rPr>
              <a:t>dalam</a:t>
            </a:r>
            <a:r>
              <a:rPr lang="en-US" b="0" dirty="0">
                <a:latin typeface="Cambria" panose="02040503050406030204" pitchFamily="18" charset="0"/>
                <a:ea typeface="Cambria" panose="02040503050406030204" pitchFamily="18" charset="0"/>
              </a:rPr>
              <a:t> </a:t>
            </a:r>
            <a:r>
              <a:rPr lang="en-US" b="0" dirty="0" err="1">
                <a:latin typeface="Cambria" panose="02040503050406030204" pitchFamily="18" charset="0"/>
                <a:ea typeface="Cambria" panose="02040503050406030204" pitchFamily="18" charset="0"/>
              </a:rPr>
              <a:t>manajemen</a:t>
            </a:r>
            <a:r>
              <a:rPr lang="en-US" b="0" dirty="0">
                <a:latin typeface="Cambria" panose="02040503050406030204" pitchFamily="18" charset="0"/>
                <a:ea typeface="Cambria" panose="02040503050406030204" pitchFamily="18" charset="0"/>
              </a:rPr>
              <a:t> </a:t>
            </a:r>
            <a:r>
              <a:rPr lang="en-US" b="0" dirty="0" err="1">
                <a:latin typeface="Cambria" panose="02040503050406030204" pitchFamily="18" charset="0"/>
                <a:ea typeface="Cambria" panose="02040503050406030204" pitchFamily="18" charset="0"/>
              </a:rPr>
              <a:t>bencana</a:t>
            </a:r>
            <a:r>
              <a:rPr lang="en-US" b="0" dirty="0">
                <a:latin typeface="Cambria" panose="02040503050406030204" pitchFamily="18" charset="0"/>
                <a:ea typeface="Cambria" panose="02040503050406030204" pitchFamily="18" charset="0"/>
              </a:rPr>
              <a:t> </a:t>
            </a:r>
            <a:r>
              <a:rPr lang="en-US" b="0" dirty="0" err="1">
                <a:latin typeface="Cambria" panose="02040503050406030204" pitchFamily="18" charset="0"/>
                <a:ea typeface="Cambria" panose="02040503050406030204" pitchFamily="18" charset="0"/>
              </a:rPr>
              <a:t>didukung</a:t>
            </a:r>
            <a:r>
              <a:rPr lang="en-US" b="0" dirty="0">
                <a:latin typeface="Cambria" panose="02040503050406030204" pitchFamily="18" charset="0"/>
                <a:ea typeface="Cambria" panose="02040503050406030204" pitchFamily="18" charset="0"/>
              </a:rPr>
              <a:t> </a:t>
            </a:r>
            <a:r>
              <a:rPr lang="en-US" b="0" dirty="0" err="1">
                <a:latin typeface="Cambria" panose="02040503050406030204" pitchFamily="18" charset="0"/>
                <a:ea typeface="Cambria" panose="02040503050406030204" pitchFamily="18" charset="0"/>
              </a:rPr>
              <a:t>oleh</a:t>
            </a:r>
            <a:r>
              <a:rPr lang="en-US" b="0" dirty="0">
                <a:latin typeface="Cambria" panose="02040503050406030204" pitchFamily="18" charset="0"/>
                <a:ea typeface="Cambria" panose="02040503050406030204" pitchFamily="18" charset="0"/>
              </a:rPr>
              <a:t> </a:t>
            </a:r>
            <a:r>
              <a:rPr lang="en-US" dirty="0" smtClean="0">
                <a:latin typeface="Cambria" panose="02040503050406030204" pitchFamily="18" charset="0"/>
                <a:ea typeface="Cambria" panose="02040503050406030204" pitchFamily="18" charset="0"/>
              </a:rPr>
              <a:t>data &amp; </a:t>
            </a:r>
            <a:r>
              <a:rPr lang="en-US" dirty="0" err="1" smtClean="0">
                <a:latin typeface="Cambria" panose="02040503050406030204" pitchFamily="18" charset="0"/>
                <a:ea typeface="Cambria" panose="02040503050406030204" pitchFamily="18" charset="0"/>
              </a:rPr>
              <a:t>informasi</a:t>
            </a:r>
            <a:r>
              <a:rPr lang="en-US" b="0" dirty="0" smtClean="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model </a:t>
            </a:r>
            <a:r>
              <a:rPr lang="en-US" dirty="0" err="1">
                <a:latin typeface="Cambria" panose="02040503050406030204" pitchFamily="18" charset="0"/>
                <a:ea typeface="Cambria" panose="02040503050406030204" pitchFamily="18" charset="0"/>
              </a:rPr>
              <a:t>prediktif</a:t>
            </a:r>
            <a:r>
              <a:rPr lang="en-US" b="0" dirty="0">
                <a:latin typeface="Cambria" panose="02040503050406030204" pitchFamily="18" charset="0"/>
                <a:ea typeface="Cambria" panose="02040503050406030204" pitchFamily="18" charset="0"/>
              </a:rPr>
              <a:t>, dan </a:t>
            </a:r>
            <a:r>
              <a:rPr lang="en-US" dirty="0" err="1">
                <a:latin typeface="Cambria" panose="02040503050406030204" pitchFamily="18" charset="0"/>
                <a:ea typeface="Cambria" panose="02040503050406030204" pitchFamily="18" charset="0"/>
              </a:rPr>
              <a:t>mekanisme</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pendanaan</a:t>
            </a:r>
            <a:r>
              <a:rPr lang="en-US" dirty="0">
                <a:latin typeface="Cambria" panose="02040503050406030204" pitchFamily="18" charset="0"/>
                <a:ea typeface="Cambria" panose="02040503050406030204" pitchFamily="18" charset="0"/>
              </a:rPr>
              <a:t> yang </a:t>
            </a:r>
            <a:r>
              <a:rPr lang="en-US" dirty="0" err="1">
                <a:latin typeface="Cambria" panose="02040503050406030204" pitchFamily="18" charset="0"/>
                <a:ea typeface="Cambria" panose="02040503050406030204" pitchFamily="18" charset="0"/>
              </a:rPr>
              <a:t>efektif</a:t>
            </a:r>
            <a:r>
              <a:rPr lang="en-US" dirty="0">
                <a:latin typeface="Cambria" panose="02040503050406030204" pitchFamily="18" charset="0"/>
                <a:ea typeface="Cambria" panose="02040503050406030204" pitchFamily="18" charset="0"/>
              </a:rPr>
              <a:t> </a:t>
            </a:r>
            <a:r>
              <a:rPr lang="en-US" b="0" dirty="0" err="1">
                <a:latin typeface="Cambria" panose="02040503050406030204" pitchFamily="18" charset="0"/>
                <a:ea typeface="Cambria" panose="02040503050406030204" pitchFamily="18" charset="0"/>
              </a:rPr>
              <a:t>untuk</a:t>
            </a:r>
            <a:r>
              <a:rPr lang="en-US" b="0" dirty="0">
                <a:latin typeface="Cambria" panose="02040503050406030204" pitchFamily="18" charset="0"/>
                <a:ea typeface="Cambria" panose="02040503050406030204" pitchFamily="18" charset="0"/>
              </a:rPr>
              <a:t> </a:t>
            </a:r>
            <a:r>
              <a:rPr lang="en-US" b="0" dirty="0" err="1">
                <a:latin typeface="Cambria" panose="02040503050406030204" pitchFamily="18" charset="0"/>
                <a:ea typeface="Cambria" panose="02040503050406030204" pitchFamily="18" charset="0"/>
              </a:rPr>
              <a:t>meningkatkan</a:t>
            </a:r>
            <a:r>
              <a:rPr lang="en-US" b="0" dirty="0">
                <a:latin typeface="Cambria" panose="02040503050406030204" pitchFamily="18" charset="0"/>
                <a:ea typeface="Cambria" panose="02040503050406030204" pitchFamily="18" charset="0"/>
              </a:rPr>
              <a:t> </a:t>
            </a:r>
            <a:r>
              <a:rPr lang="en-US" b="0" dirty="0" err="1">
                <a:latin typeface="Cambria" panose="02040503050406030204" pitchFamily="18" charset="0"/>
                <a:ea typeface="Cambria" panose="02040503050406030204" pitchFamily="18" charset="0"/>
              </a:rPr>
              <a:t>resiliensi</a:t>
            </a:r>
            <a:r>
              <a:rPr lang="en-US" b="0" dirty="0">
                <a:latin typeface="Cambria" panose="02040503050406030204" pitchFamily="18" charset="0"/>
                <a:ea typeface="Cambria" panose="02040503050406030204" pitchFamily="18" charset="0"/>
              </a:rPr>
              <a:t> </a:t>
            </a:r>
            <a:r>
              <a:rPr lang="en-US" b="0" dirty="0" err="1">
                <a:latin typeface="Cambria" panose="02040503050406030204" pitchFamily="18" charset="0"/>
                <a:ea typeface="Cambria" panose="02040503050406030204" pitchFamily="18" charset="0"/>
              </a:rPr>
              <a:t>nasional</a:t>
            </a:r>
            <a:r>
              <a:rPr lang="en-US" b="0" dirty="0">
                <a:latin typeface="Cambria" panose="02040503050406030204" pitchFamily="18" charset="0"/>
                <a:ea typeface="Cambria" panose="02040503050406030204" pitchFamily="18" charset="0"/>
              </a:rPr>
              <a:t> </a:t>
            </a:r>
            <a:r>
              <a:rPr lang="en-US" b="0" dirty="0" err="1">
                <a:latin typeface="Cambria" panose="02040503050406030204" pitchFamily="18" charset="0"/>
                <a:ea typeface="Cambria" panose="02040503050406030204" pitchFamily="18" charset="0"/>
              </a:rPr>
              <a:t>terhadap</a:t>
            </a:r>
            <a:r>
              <a:rPr lang="en-US" b="0" dirty="0">
                <a:latin typeface="Cambria" panose="02040503050406030204" pitchFamily="18" charset="0"/>
                <a:ea typeface="Cambria" panose="02040503050406030204" pitchFamily="18" charset="0"/>
              </a:rPr>
              <a:t> </a:t>
            </a:r>
            <a:r>
              <a:rPr lang="en-US" b="0" dirty="0" err="1" smtClean="0">
                <a:latin typeface="Cambria" panose="02040503050406030204" pitchFamily="18" charset="0"/>
                <a:ea typeface="Cambria" panose="02040503050406030204" pitchFamily="18" charset="0"/>
              </a:rPr>
              <a:t>suatu</a:t>
            </a:r>
            <a:r>
              <a:rPr lang="en-US" b="0" dirty="0" smtClean="0">
                <a:latin typeface="Cambria" panose="02040503050406030204" pitchFamily="18" charset="0"/>
                <a:ea typeface="Cambria" panose="02040503050406030204" pitchFamily="18" charset="0"/>
              </a:rPr>
              <a:t> </a:t>
            </a:r>
            <a:r>
              <a:rPr lang="en-US" b="0" dirty="0" err="1" smtClean="0">
                <a:latin typeface="Cambria" panose="02040503050406030204" pitchFamily="18" charset="0"/>
                <a:ea typeface="Cambria" panose="02040503050406030204" pitchFamily="18" charset="0"/>
              </a:rPr>
              <a:t>bencana</a:t>
            </a:r>
            <a:r>
              <a:rPr lang="en-US" b="0" dirty="0">
                <a:latin typeface="Cambria" panose="02040503050406030204" pitchFamily="18" charset="0"/>
                <a:ea typeface="Cambria" panose="02040503050406030204" pitchFamily="18" charset="0"/>
              </a:rPr>
              <a:t>.</a:t>
            </a:r>
            <a:endParaRPr lang="en-ID" b="0" dirty="0">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xmlns="" id="{1173DD51-3107-3F91-0897-9C412D4BAD99}"/>
              </a:ext>
            </a:extLst>
          </p:cNvPr>
          <p:cNvSpPr txBox="1"/>
          <p:nvPr/>
        </p:nvSpPr>
        <p:spPr>
          <a:xfrm>
            <a:off x="532856" y="145534"/>
            <a:ext cx="6096000" cy="430887"/>
          </a:xfrm>
          <a:prstGeom prst="rect">
            <a:avLst/>
          </a:prstGeom>
          <a:noFill/>
        </p:spPr>
        <p:txBody>
          <a:bodyPr wrap="square">
            <a:spAutoFit/>
          </a:bodyPr>
          <a:lstStyle/>
          <a:p>
            <a:r>
              <a:rPr lang="en-US" sz="2200" b="1" dirty="0" err="1">
                <a:latin typeface="Cambria" panose="02040503050406030204" pitchFamily="18" charset="0"/>
                <a:ea typeface="Cambria" panose="02040503050406030204" pitchFamily="18" charset="0"/>
              </a:rPr>
              <a:t>Tujuan</a:t>
            </a:r>
            <a:r>
              <a:rPr lang="en-US" sz="2200" b="1" dirty="0">
                <a:latin typeface="Cambria" panose="02040503050406030204" pitchFamily="18" charset="0"/>
                <a:ea typeface="Cambria" panose="02040503050406030204" pitchFamily="18" charset="0"/>
              </a:rPr>
              <a:t> Divisi Strategic Risk Governance</a:t>
            </a:r>
            <a:endParaRPr lang="en-ID" sz="2200" b="1" dirty="0"/>
          </a:p>
        </p:txBody>
      </p:sp>
    </p:spTree>
    <p:extLst>
      <p:ext uri="{BB962C8B-B14F-4D97-AF65-F5344CB8AC3E}">
        <p14:creationId xmlns:p14="http://schemas.microsoft.com/office/powerpoint/2010/main" val="2693406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C6D5CE79-AB72-392A-5AD2-57533D80B1CE}"/>
              </a:ext>
            </a:extLst>
          </p:cNvPr>
          <p:cNvSpPr txBox="1">
            <a:spLocks/>
          </p:cNvSpPr>
          <p:nvPr/>
        </p:nvSpPr>
        <p:spPr>
          <a:xfrm>
            <a:off x="828040" y="466725"/>
            <a:ext cx="11956942"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1" kern="1200">
                <a:solidFill>
                  <a:schemeClr val="tx1">
                    <a:lumMod val="75000"/>
                    <a:lumOff val="25000"/>
                  </a:schemeClr>
                </a:solidFill>
                <a:latin typeface="Arial (Headings)"/>
                <a:ea typeface="+mj-ea"/>
                <a:cs typeface="+mj-cs"/>
              </a:defRPr>
            </a:lvl1pPr>
          </a:lstStyle>
          <a:p>
            <a:r>
              <a:rPr lang="en-US" sz="4400" dirty="0">
                <a:latin typeface="Cambria" panose="02040503050406030204" pitchFamily="18" charset="0"/>
                <a:ea typeface="Cambria" panose="02040503050406030204" pitchFamily="18" charset="0"/>
              </a:rPr>
              <a:t>Program </a:t>
            </a:r>
            <a:r>
              <a:rPr lang="en-ID" sz="4400" dirty="0">
                <a:latin typeface="Cambria" panose="02040503050406030204" pitchFamily="18" charset="0"/>
                <a:ea typeface="Cambria" panose="02040503050406030204" pitchFamily="18" charset="0"/>
              </a:rPr>
              <a:t>DIVISI STRATEGIC RISK GOVERNANCE</a:t>
            </a:r>
            <a:br>
              <a:rPr lang="en-ID" sz="4400" dirty="0">
                <a:latin typeface="Cambria" panose="02040503050406030204" pitchFamily="18" charset="0"/>
                <a:ea typeface="Cambria" panose="02040503050406030204" pitchFamily="18" charset="0"/>
              </a:rPr>
            </a:br>
            <a:endParaRPr lang="en-ID" sz="4400" dirty="0">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xmlns="" id="{D3704335-6B53-B25A-3FBF-B61D71BC6389}"/>
              </a:ext>
            </a:extLst>
          </p:cNvPr>
          <p:cNvSpPr txBox="1"/>
          <p:nvPr/>
        </p:nvSpPr>
        <p:spPr>
          <a:xfrm>
            <a:off x="1041400" y="2305615"/>
            <a:ext cx="10218007" cy="3539430"/>
          </a:xfrm>
          <a:prstGeom prst="rect">
            <a:avLst/>
          </a:prstGeom>
          <a:noFill/>
        </p:spPr>
        <p:txBody>
          <a:bodyPr wrap="square">
            <a:spAutoFit/>
          </a:bodyPr>
          <a:lstStyle/>
          <a:p>
            <a:pPr marL="457200" indent="-457200">
              <a:buFont typeface="Wingdings" panose="05000000000000000000" pitchFamily="2" charset="2"/>
              <a:buChar char="q"/>
            </a:pPr>
            <a:r>
              <a:rPr lang="en-ID" sz="2800" dirty="0" err="1" smtClean="0">
                <a:latin typeface="Cambria" panose="02040503050406030204" pitchFamily="18" charset="0"/>
                <a:ea typeface="Cambria" panose="02040503050406030204" pitchFamily="18" charset="0"/>
              </a:rPr>
              <a:t>Penguatan</a:t>
            </a:r>
            <a:r>
              <a:rPr lang="en-ID" sz="2800" dirty="0" smtClean="0">
                <a:latin typeface="Cambria" panose="02040503050406030204" pitchFamily="18" charset="0"/>
                <a:ea typeface="Cambria" panose="02040503050406030204" pitchFamily="18" charset="0"/>
              </a:rPr>
              <a:t> </a:t>
            </a:r>
            <a:r>
              <a:rPr lang="en-ID" sz="2800" dirty="0" err="1" smtClean="0">
                <a:latin typeface="Cambria" panose="02040503050406030204" pitchFamily="18" charset="0"/>
                <a:ea typeface="Cambria" panose="02040503050406030204" pitchFamily="18" charset="0"/>
              </a:rPr>
              <a:t>dan</a:t>
            </a:r>
            <a:r>
              <a:rPr lang="en-ID" sz="2800" dirty="0" smtClean="0">
                <a:latin typeface="Cambria" panose="02040503050406030204" pitchFamily="18" charset="0"/>
                <a:ea typeface="Cambria" panose="02040503050406030204" pitchFamily="18" charset="0"/>
              </a:rPr>
              <a:t> </a:t>
            </a:r>
            <a:r>
              <a:rPr lang="en-ID" sz="2800" dirty="0" err="1" smtClean="0">
                <a:latin typeface="Cambria" panose="02040503050406030204" pitchFamily="18" charset="0"/>
                <a:ea typeface="Cambria" panose="02040503050406030204" pitchFamily="18" charset="0"/>
              </a:rPr>
              <a:t>Pengembangan</a:t>
            </a:r>
            <a:r>
              <a:rPr lang="en-ID" sz="2800" dirty="0" smtClean="0">
                <a:latin typeface="Cambria" panose="02040503050406030204" pitchFamily="18" charset="0"/>
                <a:ea typeface="Cambria" panose="02040503050406030204" pitchFamily="18" charset="0"/>
              </a:rPr>
              <a:t> </a:t>
            </a:r>
            <a:r>
              <a:rPr lang="en-ID" sz="2800" dirty="0" err="1">
                <a:latin typeface="Cambria" panose="02040503050406030204" pitchFamily="18" charset="0"/>
                <a:ea typeface="Cambria" panose="02040503050406030204" pitchFamily="18" charset="0"/>
              </a:rPr>
              <a:t>Kebijakan</a:t>
            </a:r>
            <a:r>
              <a:rPr lang="en-ID" sz="2800" dirty="0">
                <a:latin typeface="Cambria" panose="02040503050406030204" pitchFamily="18" charset="0"/>
                <a:ea typeface="Cambria" panose="02040503050406030204" pitchFamily="18" charset="0"/>
              </a:rPr>
              <a:t> dan Tata Kelola </a:t>
            </a:r>
            <a:r>
              <a:rPr lang="en-ID" sz="2800" dirty="0" err="1">
                <a:latin typeface="Cambria" panose="02040503050406030204" pitchFamily="18" charset="0"/>
                <a:ea typeface="Cambria" panose="02040503050406030204" pitchFamily="18" charset="0"/>
              </a:rPr>
              <a:t>Risiko</a:t>
            </a:r>
            <a:r>
              <a:rPr lang="en-ID" sz="2800" dirty="0">
                <a:latin typeface="Cambria" panose="02040503050406030204" pitchFamily="18" charset="0"/>
                <a:ea typeface="Cambria" panose="02040503050406030204" pitchFamily="18" charset="0"/>
              </a:rPr>
              <a:t> </a:t>
            </a:r>
            <a:r>
              <a:rPr lang="en-ID" sz="2800" dirty="0" err="1">
                <a:latin typeface="Cambria" panose="02040503050406030204" pitchFamily="18" charset="0"/>
                <a:ea typeface="Cambria" panose="02040503050406030204" pitchFamily="18" charset="0"/>
              </a:rPr>
              <a:t>Strategis</a:t>
            </a:r>
            <a:endParaRPr lang="en-ID" sz="2800" dirty="0">
              <a:latin typeface="Cambria" panose="02040503050406030204" pitchFamily="18" charset="0"/>
              <a:ea typeface="Cambria" panose="02040503050406030204" pitchFamily="18" charset="0"/>
            </a:endParaRPr>
          </a:p>
          <a:p>
            <a:pPr marL="457200" indent="-457200">
              <a:buFont typeface="Wingdings" panose="05000000000000000000" pitchFamily="2" charset="2"/>
              <a:buChar char="q"/>
            </a:pPr>
            <a:r>
              <a:rPr lang="en-ID" sz="2800" dirty="0">
                <a:latin typeface="Cambria" panose="02040503050406030204" pitchFamily="18" charset="0"/>
                <a:ea typeface="Cambria" panose="02040503050406030204" pitchFamily="18" charset="0"/>
              </a:rPr>
              <a:t>Disaster Risk Financing and Insurance (DRFI)</a:t>
            </a:r>
          </a:p>
          <a:p>
            <a:pPr marL="457200" indent="-457200">
              <a:buFont typeface="Wingdings" panose="05000000000000000000" pitchFamily="2" charset="2"/>
              <a:buChar char="q"/>
            </a:pPr>
            <a:r>
              <a:rPr lang="en-ID" sz="2800" dirty="0" err="1">
                <a:latin typeface="Cambria" panose="02040503050406030204" pitchFamily="18" charset="0"/>
                <a:ea typeface="Cambria" panose="02040503050406030204" pitchFamily="18" charset="0"/>
              </a:rPr>
              <a:t>Manajemen</a:t>
            </a:r>
            <a:r>
              <a:rPr lang="en-ID" sz="2800" dirty="0">
                <a:latin typeface="Cambria" panose="02040503050406030204" pitchFamily="18" charset="0"/>
                <a:ea typeface="Cambria" panose="02040503050406030204" pitchFamily="18" charset="0"/>
              </a:rPr>
              <a:t> </a:t>
            </a:r>
            <a:r>
              <a:rPr lang="en-ID" sz="2800" dirty="0" err="1">
                <a:latin typeface="Cambria" panose="02040503050406030204" pitchFamily="18" charset="0"/>
                <a:ea typeface="Cambria" panose="02040503050406030204" pitchFamily="18" charset="0"/>
              </a:rPr>
              <a:t>Risiko</a:t>
            </a:r>
            <a:r>
              <a:rPr lang="en-ID" sz="2800" dirty="0">
                <a:latin typeface="Cambria" panose="02040503050406030204" pitchFamily="18" charset="0"/>
                <a:ea typeface="Cambria" panose="02040503050406030204" pitchFamily="18" charset="0"/>
              </a:rPr>
              <a:t> </a:t>
            </a:r>
            <a:r>
              <a:rPr lang="en-ID" sz="2800" dirty="0" err="1">
                <a:latin typeface="Cambria" panose="02040503050406030204" pitchFamily="18" charset="0"/>
                <a:ea typeface="Cambria" panose="02040503050406030204" pitchFamily="18" charset="0"/>
              </a:rPr>
              <a:t>Berbasis</a:t>
            </a:r>
            <a:r>
              <a:rPr lang="en-ID" sz="2800" dirty="0">
                <a:latin typeface="Cambria" panose="02040503050406030204" pitchFamily="18" charset="0"/>
                <a:ea typeface="Cambria" panose="02040503050406030204" pitchFamily="18" charset="0"/>
              </a:rPr>
              <a:t> Data </a:t>
            </a:r>
            <a:r>
              <a:rPr lang="en-ID" sz="2800" dirty="0" err="1">
                <a:latin typeface="Cambria" panose="02040503050406030204" pitchFamily="18" charset="0"/>
                <a:ea typeface="Cambria" panose="02040503050406030204" pitchFamily="18" charset="0"/>
              </a:rPr>
              <a:t>dan</a:t>
            </a:r>
            <a:r>
              <a:rPr lang="en-ID" sz="2800" dirty="0">
                <a:latin typeface="Cambria" panose="02040503050406030204" pitchFamily="18" charset="0"/>
                <a:ea typeface="Cambria" panose="02040503050406030204" pitchFamily="18" charset="0"/>
              </a:rPr>
              <a:t> </a:t>
            </a:r>
            <a:r>
              <a:rPr lang="en-ID" sz="2800" dirty="0" err="1" smtClean="0">
                <a:latin typeface="Cambria" panose="02040503050406030204" pitchFamily="18" charset="0"/>
                <a:ea typeface="Cambria" panose="02040503050406030204" pitchFamily="18" charset="0"/>
              </a:rPr>
              <a:t>Informasi</a:t>
            </a:r>
            <a:r>
              <a:rPr lang="en-ID" sz="2800" dirty="0" smtClean="0">
                <a:latin typeface="Cambria" panose="02040503050406030204" pitchFamily="18" charset="0"/>
                <a:ea typeface="Cambria" panose="02040503050406030204" pitchFamily="18" charset="0"/>
              </a:rPr>
              <a:t>, </a:t>
            </a:r>
            <a:r>
              <a:rPr lang="en-ID" sz="2800" dirty="0" err="1" smtClean="0">
                <a:latin typeface="Cambria" panose="02040503050406030204" pitchFamily="18" charset="0"/>
                <a:ea typeface="Cambria" panose="02040503050406030204" pitchFamily="18" charset="0"/>
              </a:rPr>
              <a:t>serta</a:t>
            </a:r>
            <a:r>
              <a:rPr lang="en-ID" sz="2800" dirty="0" smtClean="0">
                <a:latin typeface="Cambria" panose="02040503050406030204" pitchFamily="18" charset="0"/>
                <a:ea typeface="Cambria" panose="02040503050406030204" pitchFamily="18" charset="0"/>
              </a:rPr>
              <a:t> Model </a:t>
            </a:r>
            <a:r>
              <a:rPr lang="en-ID" sz="2800" dirty="0" err="1">
                <a:latin typeface="Cambria" panose="02040503050406030204" pitchFamily="18" charset="0"/>
                <a:ea typeface="Cambria" panose="02040503050406030204" pitchFamily="18" charset="0"/>
              </a:rPr>
              <a:t>Prediktif</a:t>
            </a:r>
            <a:endParaRPr lang="en-ID" sz="2800" dirty="0">
              <a:latin typeface="Cambria" panose="02040503050406030204" pitchFamily="18" charset="0"/>
              <a:ea typeface="Cambria" panose="02040503050406030204" pitchFamily="18" charset="0"/>
            </a:endParaRPr>
          </a:p>
          <a:p>
            <a:pPr marL="457200" indent="-457200">
              <a:buFont typeface="Wingdings" panose="05000000000000000000" pitchFamily="2" charset="2"/>
              <a:buChar char="q"/>
            </a:pPr>
            <a:r>
              <a:rPr lang="en-ID" sz="2800" dirty="0" err="1">
                <a:latin typeface="Cambria" panose="02040503050406030204" pitchFamily="18" charset="0"/>
                <a:ea typeface="Cambria" panose="02040503050406030204" pitchFamily="18" charset="0"/>
              </a:rPr>
              <a:t>Kolaborasi</a:t>
            </a:r>
            <a:r>
              <a:rPr lang="en-ID" sz="2800" dirty="0">
                <a:latin typeface="Cambria" panose="02040503050406030204" pitchFamily="18" charset="0"/>
                <a:ea typeface="Cambria" panose="02040503050406030204" pitchFamily="18" charset="0"/>
              </a:rPr>
              <a:t> </a:t>
            </a:r>
            <a:r>
              <a:rPr lang="en-ID" sz="2800" dirty="0" err="1" smtClean="0">
                <a:latin typeface="Cambria" panose="02040503050406030204" pitchFamily="18" charset="0"/>
                <a:ea typeface="Cambria" panose="02040503050406030204" pitchFamily="18" charset="0"/>
              </a:rPr>
              <a:t>dalam</a:t>
            </a:r>
            <a:r>
              <a:rPr lang="en-ID" sz="2800" dirty="0" smtClean="0">
                <a:latin typeface="Cambria" panose="02040503050406030204" pitchFamily="18" charset="0"/>
                <a:ea typeface="Cambria" panose="02040503050406030204" pitchFamily="18" charset="0"/>
              </a:rPr>
              <a:t> </a:t>
            </a:r>
            <a:r>
              <a:rPr lang="en-ID" sz="2800" dirty="0" err="1" smtClean="0">
                <a:latin typeface="Cambria" panose="02040503050406030204" pitchFamily="18" charset="0"/>
                <a:ea typeface="Cambria" panose="02040503050406030204" pitchFamily="18" charset="0"/>
              </a:rPr>
              <a:t>Penguatan</a:t>
            </a:r>
            <a:r>
              <a:rPr lang="en-ID" sz="2800" dirty="0" smtClean="0">
                <a:latin typeface="Cambria" panose="02040503050406030204" pitchFamily="18" charset="0"/>
                <a:ea typeface="Cambria" panose="02040503050406030204" pitchFamily="18" charset="0"/>
              </a:rPr>
              <a:t> </a:t>
            </a:r>
            <a:r>
              <a:rPr lang="en-ID" sz="2800" dirty="0" err="1" smtClean="0">
                <a:latin typeface="Cambria" panose="02040503050406030204" pitchFamily="18" charset="0"/>
                <a:ea typeface="Cambria" panose="02040503050406030204" pitchFamily="18" charset="0"/>
              </a:rPr>
              <a:t>dan</a:t>
            </a:r>
            <a:r>
              <a:rPr lang="en-ID" sz="2800" dirty="0" smtClean="0">
                <a:latin typeface="Cambria" panose="02040503050406030204" pitchFamily="18" charset="0"/>
                <a:ea typeface="Cambria" panose="02040503050406030204" pitchFamily="18" charset="0"/>
              </a:rPr>
              <a:t> </a:t>
            </a:r>
            <a:r>
              <a:rPr lang="en-ID" sz="2800" dirty="0" err="1" smtClean="0">
                <a:latin typeface="Cambria" panose="02040503050406030204" pitchFamily="18" charset="0"/>
                <a:ea typeface="Cambria" panose="02040503050406030204" pitchFamily="18" charset="0"/>
              </a:rPr>
              <a:t>Pengembangan</a:t>
            </a:r>
            <a:r>
              <a:rPr lang="en-ID" sz="2800" dirty="0" smtClean="0">
                <a:latin typeface="Cambria" panose="02040503050406030204" pitchFamily="18" charset="0"/>
                <a:ea typeface="Cambria" panose="02040503050406030204" pitchFamily="18" charset="0"/>
              </a:rPr>
              <a:t> </a:t>
            </a:r>
            <a:r>
              <a:rPr lang="en-ID" sz="2800" dirty="0" err="1">
                <a:latin typeface="Cambria" panose="02040503050406030204" pitchFamily="18" charset="0"/>
                <a:ea typeface="Cambria" panose="02040503050406030204" pitchFamily="18" charset="0"/>
              </a:rPr>
              <a:t>Kapasitas</a:t>
            </a:r>
            <a:r>
              <a:rPr lang="en-ID" sz="2800" dirty="0">
                <a:latin typeface="Cambria" panose="02040503050406030204" pitchFamily="18" charset="0"/>
                <a:ea typeface="Cambria" panose="02040503050406030204" pitchFamily="18" charset="0"/>
              </a:rPr>
              <a:t> </a:t>
            </a:r>
            <a:r>
              <a:rPr lang="en-ID" sz="2800" dirty="0" err="1">
                <a:latin typeface="Cambria" panose="02040503050406030204" pitchFamily="18" charset="0"/>
                <a:ea typeface="Cambria" panose="02040503050406030204" pitchFamily="18" charset="0"/>
              </a:rPr>
              <a:t>Institusi</a:t>
            </a:r>
            <a:endParaRPr lang="en-ID" sz="2800" dirty="0">
              <a:latin typeface="Cambria" panose="02040503050406030204" pitchFamily="18" charset="0"/>
              <a:ea typeface="Cambria" panose="02040503050406030204" pitchFamily="18" charset="0"/>
            </a:endParaRPr>
          </a:p>
          <a:p>
            <a:pPr marL="457200" indent="-457200">
              <a:buFont typeface="Wingdings" panose="05000000000000000000" pitchFamily="2" charset="2"/>
              <a:buChar char="q"/>
            </a:pPr>
            <a:r>
              <a:rPr lang="en-ID" sz="2800" dirty="0">
                <a:latin typeface="Cambria" panose="02040503050406030204" pitchFamily="18" charset="0"/>
                <a:ea typeface="Cambria" panose="02040503050406030204" pitchFamily="18" charset="0"/>
              </a:rPr>
              <a:t>Monitoring </a:t>
            </a:r>
            <a:r>
              <a:rPr lang="en-ID" sz="2800" dirty="0" err="1" smtClean="0">
                <a:latin typeface="Cambria" panose="02040503050406030204" pitchFamily="18" charset="0"/>
                <a:ea typeface="Cambria" panose="02040503050406030204" pitchFamily="18" charset="0"/>
              </a:rPr>
              <a:t>dan</a:t>
            </a:r>
            <a:r>
              <a:rPr lang="en-ID" sz="2800" dirty="0" smtClean="0">
                <a:latin typeface="Cambria" panose="02040503050406030204" pitchFamily="18" charset="0"/>
                <a:ea typeface="Cambria" panose="02040503050406030204" pitchFamily="18" charset="0"/>
              </a:rPr>
              <a:t> </a:t>
            </a:r>
            <a:r>
              <a:rPr lang="en-ID" sz="2800" dirty="0" err="1" smtClean="0">
                <a:latin typeface="Cambria" panose="02040503050406030204" pitchFamily="18" charset="0"/>
                <a:ea typeface="Cambria" panose="02040503050406030204" pitchFamily="18" charset="0"/>
              </a:rPr>
              <a:t>Evaluasi</a:t>
            </a:r>
            <a:r>
              <a:rPr lang="en-ID" sz="2800" dirty="0" smtClean="0">
                <a:latin typeface="Cambria" panose="02040503050406030204" pitchFamily="18" charset="0"/>
                <a:ea typeface="Cambria" panose="02040503050406030204" pitchFamily="18" charset="0"/>
              </a:rPr>
              <a:t> Tata </a:t>
            </a:r>
            <a:r>
              <a:rPr lang="en-ID" sz="2800" dirty="0">
                <a:latin typeface="Cambria" panose="02040503050406030204" pitchFamily="18" charset="0"/>
                <a:ea typeface="Cambria" panose="02040503050406030204" pitchFamily="18" charset="0"/>
              </a:rPr>
              <a:t>Kelola </a:t>
            </a:r>
            <a:r>
              <a:rPr lang="en-ID" sz="2800" dirty="0" err="1">
                <a:latin typeface="Cambria" panose="02040503050406030204" pitchFamily="18" charset="0"/>
                <a:ea typeface="Cambria" panose="02040503050406030204" pitchFamily="18" charset="0"/>
              </a:rPr>
              <a:t>Risiko</a:t>
            </a:r>
            <a:endParaRPr lang="en-ID" sz="2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1281518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53CCADE-BCC9-CCBC-D7D0-0EAC149D69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E0FB4A23-50C9-FCA6-4BA9-530D9A055FAF}"/>
              </a:ext>
            </a:extLst>
          </p:cNvPr>
          <p:cNvSpPr>
            <a:spLocks noGrp="1"/>
          </p:cNvSpPr>
          <p:nvPr>
            <p:ph type="title"/>
          </p:nvPr>
        </p:nvSpPr>
        <p:spPr>
          <a:xfrm>
            <a:off x="381000" y="287130"/>
            <a:ext cx="11696164" cy="318660"/>
          </a:xfrm>
        </p:spPr>
        <p:txBody>
          <a:bodyPr>
            <a:normAutofit fontScale="90000"/>
          </a:bodyPr>
          <a:lstStyle/>
          <a:p>
            <a:r>
              <a:rPr lang="en-ID" dirty="0"/>
              <a:t>1. Program </a:t>
            </a:r>
            <a:r>
              <a:rPr lang="en-ID" dirty="0" err="1" smtClean="0"/>
              <a:t>Penguatan</a:t>
            </a:r>
            <a:r>
              <a:rPr lang="en-ID" dirty="0" smtClean="0"/>
              <a:t> </a:t>
            </a:r>
            <a:r>
              <a:rPr lang="en-ID" dirty="0" err="1" smtClean="0"/>
              <a:t>dan</a:t>
            </a:r>
            <a:r>
              <a:rPr lang="en-ID" dirty="0" smtClean="0"/>
              <a:t> </a:t>
            </a:r>
            <a:r>
              <a:rPr lang="en-ID" dirty="0" err="1" smtClean="0"/>
              <a:t>Pengembangan</a:t>
            </a:r>
            <a:r>
              <a:rPr lang="en-ID" dirty="0" smtClean="0"/>
              <a:t> </a:t>
            </a:r>
            <a:r>
              <a:rPr lang="en-ID" dirty="0" err="1"/>
              <a:t>Kebijakan</a:t>
            </a:r>
            <a:r>
              <a:rPr lang="en-ID" dirty="0"/>
              <a:t> dan Tata Kelola </a:t>
            </a:r>
            <a:r>
              <a:rPr lang="en-ID" dirty="0" err="1"/>
              <a:t>Risiko</a:t>
            </a:r>
            <a:r>
              <a:rPr lang="en-ID" dirty="0"/>
              <a:t> </a:t>
            </a:r>
            <a:r>
              <a:rPr lang="en-ID" dirty="0" err="1"/>
              <a:t>Strategis</a:t>
            </a:r>
            <a:r>
              <a:rPr lang="en-ID" dirty="0"/>
              <a:t/>
            </a:r>
            <a:br>
              <a:rPr lang="en-ID" dirty="0"/>
            </a:br>
            <a:endParaRPr lang="en-ID" dirty="0"/>
          </a:p>
        </p:txBody>
      </p:sp>
      <p:graphicFrame>
        <p:nvGraphicFramePr>
          <p:cNvPr id="4" name="Table 3">
            <a:extLst>
              <a:ext uri="{FF2B5EF4-FFF2-40B4-BE49-F238E27FC236}">
                <a16:creationId xmlns:a16="http://schemas.microsoft.com/office/drawing/2014/main" xmlns="" id="{44E2DEA5-5627-EDA8-3B5B-A3DBA741AECF}"/>
              </a:ext>
            </a:extLst>
          </p:cNvPr>
          <p:cNvGraphicFramePr>
            <a:graphicFrameLocks noGrp="1"/>
          </p:cNvGraphicFramePr>
          <p:nvPr>
            <p:extLst>
              <p:ext uri="{D42A27DB-BD31-4B8C-83A1-F6EECF244321}">
                <p14:modId xmlns:p14="http://schemas.microsoft.com/office/powerpoint/2010/main" val="1536915132"/>
              </p:ext>
            </p:extLst>
          </p:nvPr>
        </p:nvGraphicFramePr>
        <p:xfrm>
          <a:off x="451576" y="1156758"/>
          <a:ext cx="11432547" cy="4414520"/>
        </p:xfrm>
        <a:graphic>
          <a:graphicData uri="http://schemas.openxmlformats.org/drawingml/2006/table">
            <a:tbl>
              <a:tblPr>
                <a:tableStyleId>{5940675A-B579-460E-94D1-54222C63F5DA}</a:tableStyleId>
              </a:tblPr>
              <a:tblGrid>
                <a:gridCol w="1565604">
                  <a:extLst>
                    <a:ext uri="{9D8B030D-6E8A-4147-A177-3AD203B41FA5}">
                      <a16:colId xmlns:a16="http://schemas.microsoft.com/office/drawing/2014/main" xmlns="" val="2744600532"/>
                    </a:ext>
                  </a:extLst>
                </a:gridCol>
                <a:gridCol w="3139020">
                  <a:extLst>
                    <a:ext uri="{9D8B030D-6E8A-4147-A177-3AD203B41FA5}">
                      <a16:colId xmlns:a16="http://schemas.microsoft.com/office/drawing/2014/main" xmlns="" val="2763333333"/>
                    </a:ext>
                  </a:extLst>
                </a:gridCol>
                <a:gridCol w="1575995">
                  <a:extLst>
                    <a:ext uri="{9D8B030D-6E8A-4147-A177-3AD203B41FA5}">
                      <a16:colId xmlns:a16="http://schemas.microsoft.com/office/drawing/2014/main" xmlns="" val="2463485784"/>
                    </a:ext>
                  </a:extLst>
                </a:gridCol>
                <a:gridCol w="1474581">
                  <a:extLst>
                    <a:ext uri="{9D8B030D-6E8A-4147-A177-3AD203B41FA5}">
                      <a16:colId xmlns:a16="http://schemas.microsoft.com/office/drawing/2014/main" xmlns="" val="2470982792"/>
                    </a:ext>
                  </a:extLst>
                </a:gridCol>
                <a:gridCol w="1693037">
                  <a:extLst>
                    <a:ext uri="{9D8B030D-6E8A-4147-A177-3AD203B41FA5}">
                      <a16:colId xmlns:a16="http://schemas.microsoft.com/office/drawing/2014/main" xmlns="" val="3658951431"/>
                    </a:ext>
                  </a:extLst>
                </a:gridCol>
                <a:gridCol w="1984310">
                  <a:extLst>
                    <a:ext uri="{9D8B030D-6E8A-4147-A177-3AD203B41FA5}">
                      <a16:colId xmlns:a16="http://schemas.microsoft.com/office/drawing/2014/main" xmlns="" val="4085174311"/>
                    </a:ext>
                  </a:extLst>
                </a:gridCol>
              </a:tblGrid>
              <a:tr h="477738">
                <a:tc>
                  <a:txBody>
                    <a:bodyPr/>
                    <a:lstStyle/>
                    <a:p>
                      <a:pPr algn="ctr" fontAlgn="b"/>
                      <a:r>
                        <a:rPr lang="en-ID" sz="1600" b="0" u="none" strike="noStrike" dirty="0">
                          <a:solidFill>
                            <a:srgbClr val="000000"/>
                          </a:solidFill>
                          <a:effectLst/>
                          <a:latin typeface="Cambria" panose="02040503050406030204" pitchFamily="18" charset="0"/>
                          <a:ea typeface="Cambria" panose="02040503050406030204" pitchFamily="18" charset="0"/>
                        </a:rPr>
                        <a:t>Program</a:t>
                      </a:r>
                      <a:endParaRPr lang="en-ID" sz="1600" b="0"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b">
                    <a:solidFill>
                      <a:schemeClr val="bg1">
                        <a:lumMod val="85000"/>
                      </a:schemeClr>
                    </a:solidFill>
                  </a:tcPr>
                </a:tc>
                <a:tc>
                  <a:txBody>
                    <a:bodyPr/>
                    <a:lstStyle/>
                    <a:p>
                      <a:pPr algn="ctr" fontAlgn="b"/>
                      <a:r>
                        <a:rPr lang="en-ID" sz="1600" b="0" u="none" strike="noStrike" dirty="0" err="1">
                          <a:solidFill>
                            <a:srgbClr val="000000"/>
                          </a:solidFill>
                          <a:effectLst/>
                          <a:latin typeface="Cambria" panose="02040503050406030204" pitchFamily="18" charset="0"/>
                          <a:ea typeface="Cambria" panose="02040503050406030204" pitchFamily="18" charset="0"/>
                        </a:rPr>
                        <a:t>Rincian</a:t>
                      </a:r>
                      <a:r>
                        <a:rPr lang="en-ID" sz="1600" b="0" u="none" strike="noStrike" dirty="0">
                          <a:solidFill>
                            <a:srgbClr val="000000"/>
                          </a:solidFill>
                          <a:effectLst/>
                          <a:latin typeface="Cambria" panose="02040503050406030204" pitchFamily="18" charset="0"/>
                          <a:ea typeface="Cambria" panose="02040503050406030204" pitchFamily="18" charset="0"/>
                        </a:rPr>
                        <a:t> </a:t>
                      </a:r>
                      <a:r>
                        <a:rPr lang="en-ID" sz="1600" b="0" u="none" strike="noStrike" dirty="0" err="1">
                          <a:solidFill>
                            <a:srgbClr val="000000"/>
                          </a:solidFill>
                          <a:effectLst/>
                          <a:latin typeface="Cambria" panose="02040503050406030204" pitchFamily="18" charset="0"/>
                          <a:ea typeface="Cambria" panose="02040503050406030204" pitchFamily="18" charset="0"/>
                        </a:rPr>
                        <a:t>Kegiatan</a:t>
                      </a:r>
                      <a:endParaRPr lang="en-ID" sz="1600" b="0"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b">
                    <a:solidFill>
                      <a:schemeClr val="bg1">
                        <a:lumMod val="85000"/>
                      </a:schemeClr>
                    </a:solidFill>
                  </a:tcPr>
                </a:tc>
                <a:tc>
                  <a:txBody>
                    <a:bodyPr/>
                    <a:lstStyle/>
                    <a:p>
                      <a:pPr algn="l" rtl="0" fontAlgn="t"/>
                      <a:r>
                        <a:rPr lang="en-ID" sz="1600" b="0" u="none" strike="noStrike" dirty="0" err="1">
                          <a:solidFill>
                            <a:srgbClr val="000000"/>
                          </a:solidFill>
                          <a:effectLst/>
                          <a:latin typeface="Cambria" panose="02040503050406030204" pitchFamily="18" charset="0"/>
                          <a:ea typeface="Cambria" panose="02040503050406030204" pitchFamily="18" charset="0"/>
                        </a:rPr>
                        <a:t>Jadwal</a:t>
                      </a:r>
                      <a:r>
                        <a:rPr lang="en-ID" sz="1600" b="0" u="none" strike="noStrike" dirty="0">
                          <a:solidFill>
                            <a:srgbClr val="000000"/>
                          </a:solidFill>
                          <a:effectLst/>
                          <a:latin typeface="Cambria" panose="02040503050406030204" pitchFamily="18" charset="0"/>
                          <a:ea typeface="Cambria" panose="02040503050406030204" pitchFamily="18" charset="0"/>
                        </a:rPr>
                        <a:t> </a:t>
                      </a:r>
                      <a:r>
                        <a:rPr lang="en-ID" sz="1600" b="0" u="none" strike="noStrike" dirty="0" err="1">
                          <a:solidFill>
                            <a:srgbClr val="000000"/>
                          </a:solidFill>
                          <a:effectLst/>
                          <a:latin typeface="Cambria" panose="02040503050406030204" pitchFamily="18" charset="0"/>
                          <a:ea typeface="Cambria" panose="02040503050406030204" pitchFamily="18" charset="0"/>
                        </a:rPr>
                        <a:t>Kegiatan</a:t>
                      </a:r>
                      <a:r>
                        <a:rPr lang="en-ID" sz="1600" b="0" u="none" strike="noStrike" dirty="0">
                          <a:solidFill>
                            <a:srgbClr val="000000"/>
                          </a:solidFill>
                          <a:effectLst/>
                          <a:latin typeface="Cambria" panose="02040503050406030204" pitchFamily="18" charset="0"/>
                          <a:ea typeface="Cambria" panose="02040503050406030204" pitchFamily="18" charset="0"/>
                        </a:rPr>
                        <a:t> </a:t>
                      </a:r>
                      <a:r>
                        <a:rPr lang="en-ID" sz="1600" b="0" i="0" u="none" strike="noStrike" dirty="0" smtClean="0">
                          <a:solidFill>
                            <a:srgbClr val="000000"/>
                          </a:solidFill>
                          <a:effectLst/>
                          <a:latin typeface="Cambria" panose="02040503050406030204" pitchFamily="18" charset="0"/>
                        </a:rPr>
                        <a:t>(2026-2027)</a:t>
                      </a:r>
                      <a:endParaRPr lang="en-ID" sz="1600" b="0" i="0" u="none" strike="noStrike" dirty="0">
                        <a:solidFill>
                          <a:srgbClr val="000000"/>
                        </a:solidFill>
                        <a:effectLst/>
                        <a:latin typeface="Cambria" panose="02040503050406030204" pitchFamily="18" charset="0"/>
                      </a:endParaRPr>
                    </a:p>
                  </a:txBody>
                  <a:tcPr marL="6350" marR="6350" marT="6350" marB="0" anchor="b">
                    <a:solidFill>
                      <a:schemeClr val="bg1">
                        <a:lumMod val="85000"/>
                      </a:schemeClr>
                    </a:solidFill>
                  </a:tcPr>
                </a:tc>
                <a:tc>
                  <a:txBody>
                    <a:bodyPr/>
                    <a:lstStyle/>
                    <a:p>
                      <a:pPr algn="ctr" fontAlgn="b"/>
                      <a:r>
                        <a:rPr lang="en-ID" sz="1600" b="0" u="none" strike="noStrike" dirty="0" err="1">
                          <a:solidFill>
                            <a:srgbClr val="000000"/>
                          </a:solidFill>
                          <a:effectLst/>
                          <a:latin typeface="Cambria" panose="02040503050406030204" pitchFamily="18" charset="0"/>
                          <a:ea typeface="Cambria" panose="02040503050406030204" pitchFamily="18" charset="0"/>
                        </a:rPr>
                        <a:t>Kebutuhan</a:t>
                      </a:r>
                      <a:r>
                        <a:rPr lang="en-ID" sz="1600" b="0" u="none" strike="noStrike" dirty="0">
                          <a:solidFill>
                            <a:srgbClr val="000000"/>
                          </a:solidFill>
                          <a:effectLst/>
                          <a:latin typeface="Cambria" panose="02040503050406030204" pitchFamily="18" charset="0"/>
                          <a:ea typeface="Cambria" panose="02040503050406030204" pitchFamily="18" charset="0"/>
                        </a:rPr>
                        <a:t> Dana</a:t>
                      </a:r>
                      <a:endParaRPr lang="en-ID" sz="1600" b="0"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b">
                    <a:solidFill>
                      <a:schemeClr val="bg1">
                        <a:lumMod val="85000"/>
                      </a:schemeClr>
                    </a:solidFill>
                  </a:tcPr>
                </a:tc>
                <a:tc>
                  <a:txBody>
                    <a:bodyPr/>
                    <a:lstStyle/>
                    <a:p>
                      <a:pPr algn="ctr" fontAlgn="b"/>
                      <a:r>
                        <a:rPr lang="en-ID" sz="1600" b="0" u="none" strike="noStrike" dirty="0" err="1">
                          <a:solidFill>
                            <a:srgbClr val="000000"/>
                          </a:solidFill>
                          <a:effectLst/>
                          <a:latin typeface="Cambria" panose="02040503050406030204" pitchFamily="18" charset="0"/>
                          <a:ea typeface="Cambria" panose="02040503050406030204" pitchFamily="18" charset="0"/>
                        </a:rPr>
                        <a:t>Sumber</a:t>
                      </a:r>
                      <a:r>
                        <a:rPr lang="en-ID" sz="1600" b="0" u="none" strike="noStrike" dirty="0">
                          <a:solidFill>
                            <a:srgbClr val="000000"/>
                          </a:solidFill>
                          <a:effectLst/>
                          <a:latin typeface="Cambria" panose="02040503050406030204" pitchFamily="18" charset="0"/>
                          <a:ea typeface="Cambria" panose="02040503050406030204" pitchFamily="18" charset="0"/>
                        </a:rPr>
                        <a:t> Dana</a:t>
                      </a:r>
                      <a:endParaRPr lang="en-ID" sz="1600" b="0"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b">
                    <a:solidFill>
                      <a:schemeClr val="bg1">
                        <a:lumMod val="85000"/>
                      </a:schemeClr>
                    </a:solidFill>
                  </a:tcPr>
                </a:tc>
                <a:tc>
                  <a:txBody>
                    <a:bodyPr/>
                    <a:lstStyle/>
                    <a:p>
                      <a:pPr algn="ctr" fontAlgn="b"/>
                      <a:r>
                        <a:rPr lang="en-ID" sz="1600" b="0" u="none" strike="noStrike" dirty="0">
                          <a:solidFill>
                            <a:srgbClr val="000000"/>
                          </a:solidFill>
                          <a:effectLst/>
                          <a:latin typeface="Cambria" panose="02040503050406030204" pitchFamily="18" charset="0"/>
                          <a:ea typeface="Cambria" panose="02040503050406030204" pitchFamily="18" charset="0"/>
                        </a:rPr>
                        <a:t>Output yang </a:t>
                      </a:r>
                      <a:r>
                        <a:rPr lang="en-ID" sz="1600" b="0" u="none" strike="noStrike" dirty="0" err="1">
                          <a:solidFill>
                            <a:srgbClr val="000000"/>
                          </a:solidFill>
                          <a:effectLst/>
                          <a:latin typeface="Cambria" panose="02040503050406030204" pitchFamily="18" charset="0"/>
                          <a:ea typeface="Cambria" panose="02040503050406030204" pitchFamily="18" charset="0"/>
                        </a:rPr>
                        <a:t>diharapkan</a:t>
                      </a:r>
                      <a:endParaRPr lang="en-ID" sz="1600" b="0"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b">
                    <a:solidFill>
                      <a:schemeClr val="bg1">
                        <a:lumMod val="85000"/>
                      </a:schemeClr>
                    </a:solidFill>
                  </a:tcPr>
                </a:tc>
                <a:extLst>
                  <a:ext uri="{0D108BD9-81ED-4DB2-BD59-A6C34878D82A}">
                    <a16:rowId xmlns:a16="http://schemas.microsoft.com/office/drawing/2014/main" xmlns="" val="1196378991"/>
                  </a:ext>
                </a:extLst>
              </a:tr>
              <a:tr h="1194346">
                <a:tc>
                  <a:txBody>
                    <a:bodyPr/>
                    <a:lstStyle/>
                    <a:p>
                      <a:pPr algn="l" fontAlgn="b"/>
                      <a:r>
                        <a:rPr lang="en-ID" sz="1600" b="0" u="none" strike="noStrike" dirty="0" err="1" smtClean="0">
                          <a:solidFill>
                            <a:srgbClr val="000000"/>
                          </a:solidFill>
                          <a:effectLst/>
                          <a:latin typeface="Cambria" panose="02040503050406030204" pitchFamily="18" charset="0"/>
                          <a:ea typeface="Cambria" panose="02040503050406030204" pitchFamily="18" charset="0"/>
                        </a:rPr>
                        <a:t>Penguatan</a:t>
                      </a:r>
                      <a:r>
                        <a:rPr lang="en-ID" sz="1600" b="0" u="none" strike="noStrike" dirty="0" smtClean="0">
                          <a:solidFill>
                            <a:srgbClr val="000000"/>
                          </a:solidFill>
                          <a:effectLst/>
                          <a:latin typeface="Cambria" panose="02040503050406030204" pitchFamily="18" charset="0"/>
                          <a:ea typeface="Cambria" panose="02040503050406030204" pitchFamily="18" charset="0"/>
                        </a:rPr>
                        <a:t> </a:t>
                      </a:r>
                      <a:r>
                        <a:rPr lang="en-ID" sz="1600" b="0" u="none" strike="noStrike" dirty="0" err="1" smtClean="0">
                          <a:solidFill>
                            <a:srgbClr val="000000"/>
                          </a:solidFill>
                          <a:effectLst/>
                          <a:latin typeface="Cambria" panose="02040503050406030204" pitchFamily="18" charset="0"/>
                          <a:ea typeface="Cambria" panose="02040503050406030204" pitchFamily="18" charset="0"/>
                        </a:rPr>
                        <a:t>dan</a:t>
                      </a:r>
                      <a:r>
                        <a:rPr lang="en-ID" sz="1600" b="0" u="none" strike="noStrike" dirty="0" smtClean="0">
                          <a:solidFill>
                            <a:srgbClr val="000000"/>
                          </a:solidFill>
                          <a:effectLst/>
                          <a:latin typeface="Cambria" panose="02040503050406030204" pitchFamily="18" charset="0"/>
                          <a:ea typeface="Cambria" panose="02040503050406030204" pitchFamily="18" charset="0"/>
                        </a:rPr>
                        <a:t> </a:t>
                      </a:r>
                      <a:r>
                        <a:rPr lang="en-ID" sz="1600" b="0" u="none" strike="noStrike" dirty="0" err="1" smtClean="0">
                          <a:solidFill>
                            <a:srgbClr val="000000"/>
                          </a:solidFill>
                          <a:effectLst/>
                          <a:latin typeface="Cambria" panose="02040503050406030204" pitchFamily="18" charset="0"/>
                          <a:ea typeface="Cambria" panose="02040503050406030204" pitchFamily="18" charset="0"/>
                        </a:rPr>
                        <a:t>Pengembangan</a:t>
                      </a:r>
                      <a:r>
                        <a:rPr lang="en-ID" sz="1600" b="0" u="none" strike="noStrike" dirty="0" smtClean="0">
                          <a:solidFill>
                            <a:srgbClr val="000000"/>
                          </a:solidFill>
                          <a:effectLst/>
                          <a:latin typeface="Cambria" panose="02040503050406030204" pitchFamily="18" charset="0"/>
                          <a:ea typeface="Cambria" panose="02040503050406030204" pitchFamily="18" charset="0"/>
                        </a:rPr>
                        <a:t> </a:t>
                      </a:r>
                      <a:r>
                        <a:rPr lang="en-ID" sz="1600" b="0" u="none" strike="noStrike" dirty="0" err="1">
                          <a:solidFill>
                            <a:srgbClr val="000000"/>
                          </a:solidFill>
                          <a:effectLst/>
                          <a:latin typeface="Cambria" panose="02040503050406030204" pitchFamily="18" charset="0"/>
                          <a:ea typeface="Cambria" panose="02040503050406030204" pitchFamily="18" charset="0"/>
                        </a:rPr>
                        <a:t>Kebijakan</a:t>
                      </a:r>
                      <a:r>
                        <a:rPr lang="en-ID" sz="1600" b="0" u="none" strike="noStrike" dirty="0">
                          <a:solidFill>
                            <a:srgbClr val="000000"/>
                          </a:solidFill>
                          <a:effectLst/>
                          <a:latin typeface="Cambria" panose="02040503050406030204" pitchFamily="18" charset="0"/>
                          <a:ea typeface="Cambria" panose="02040503050406030204" pitchFamily="18" charset="0"/>
                        </a:rPr>
                        <a:t> dan Tata Kelola </a:t>
                      </a:r>
                      <a:r>
                        <a:rPr lang="en-ID" sz="1600" b="0" u="none" strike="noStrike" dirty="0" err="1">
                          <a:solidFill>
                            <a:srgbClr val="000000"/>
                          </a:solidFill>
                          <a:effectLst/>
                          <a:latin typeface="Cambria" panose="02040503050406030204" pitchFamily="18" charset="0"/>
                          <a:ea typeface="Cambria" panose="02040503050406030204" pitchFamily="18" charset="0"/>
                        </a:rPr>
                        <a:t>Risiko</a:t>
                      </a:r>
                      <a:r>
                        <a:rPr lang="en-ID" sz="1600" b="0" u="none" strike="noStrike" dirty="0">
                          <a:solidFill>
                            <a:srgbClr val="000000"/>
                          </a:solidFill>
                          <a:effectLst/>
                          <a:latin typeface="Cambria" panose="02040503050406030204" pitchFamily="18" charset="0"/>
                          <a:ea typeface="Cambria" panose="02040503050406030204" pitchFamily="18" charset="0"/>
                        </a:rPr>
                        <a:t> </a:t>
                      </a:r>
                      <a:r>
                        <a:rPr lang="en-ID" sz="1600" b="0" u="none" strike="noStrike" dirty="0" err="1">
                          <a:solidFill>
                            <a:srgbClr val="000000"/>
                          </a:solidFill>
                          <a:effectLst/>
                          <a:latin typeface="Cambria" panose="02040503050406030204" pitchFamily="18" charset="0"/>
                          <a:ea typeface="Cambria" panose="02040503050406030204" pitchFamily="18" charset="0"/>
                        </a:rPr>
                        <a:t>Strategis</a:t>
                      </a:r>
                      <a:endParaRPr lang="en-ID" sz="1600" b="0"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b"/>
                </a:tc>
                <a:tc>
                  <a:txBody>
                    <a:bodyPr/>
                    <a:lstStyle/>
                    <a:p>
                      <a:pPr algn="l" fontAlgn="b"/>
                      <a:r>
                        <a:rPr lang="en-ID" sz="1600" b="0" u="none" strike="noStrike" dirty="0">
                          <a:solidFill>
                            <a:srgbClr val="000000"/>
                          </a:solidFill>
                          <a:effectLst/>
                          <a:latin typeface="Cambria" panose="02040503050406030204" pitchFamily="18" charset="0"/>
                          <a:ea typeface="Cambria" panose="02040503050406030204" pitchFamily="18" charset="0"/>
                        </a:rPr>
                        <a:t>- </a:t>
                      </a:r>
                      <a:r>
                        <a:rPr lang="en-ID" sz="1600" b="1" u="none" strike="noStrike" dirty="0" err="1">
                          <a:solidFill>
                            <a:srgbClr val="000000"/>
                          </a:solidFill>
                          <a:effectLst/>
                          <a:latin typeface="Cambria" panose="02040503050406030204" pitchFamily="18" charset="0"/>
                          <a:ea typeface="Cambria" panose="02040503050406030204" pitchFamily="18" charset="0"/>
                        </a:rPr>
                        <a:t>Penelitian</a:t>
                      </a:r>
                      <a:r>
                        <a:rPr lang="en-ID" sz="1600" b="1" u="none" strike="noStrike" dirty="0">
                          <a:solidFill>
                            <a:srgbClr val="000000"/>
                          </a:solidFill>
                          <a:effectLst/>
                          <a:latin typeface="Cambria" panose="02040503050406030204" pitchFamily="18" charset="0"/>
                          <a:ea typeface="Cambria" panose="02040503050406030204" pitchFamily="18" charset="0"/>
                        </a:rPr>
                        <a:t> dan </a:t>
                      </a:r>
                      <a:r>
                        <a:rPr lang="en-ID" sz="1600" b="1" u="none" strike="noStrike" dirty="0" err="1">
                          <a:solidFill>
                            <a:srgbClr val="000000"/>
                          </a:solidFill>
                          <a:effectLst/>
                          <a:latin typeface="Cambria" panose="02040503050406030204" pitchFamily="18" charset="0"/>
                          <a:ea typeface="Cambria" panose="02040503050406030204" pitchFamily="18" charset="0"/>
                        </a:rPr>
                        <a:t>penyusunan</a:t>
                      </a:r>
                      <a:r>
                        <a:rPr lang="en-ID" sz="1600" b="1" u="none" strike="noStrike" dirty="0">
                          <a:solidFill>
                            <a:srgbClr val="000000"/>
                          </a:solidFill>
                          <a:effectLst/>
                          <a:latin typeface="Cambria" panose="02040503050406030204" pitchFamily="18" charset="0"/>
                          <a:ea typeface="Cambria" panose="02040503050406030204" pitchFamily="18" charset="0"/>
                        </a:rPr>
                        <a:t> </a:t>
                      </a:r>
                      <a:r>
                        <a:rPr lang="en-ID" sz="1600" b="1" u="none" strike="noStrike" dirty="0" err="1">
                          <a:solidFill>
                            <a:srgbClr val="000000"/>
                          </a:solidFill>
                          <a:effectLst/>
                          <a:latin typeface="Cambria" panose="02040503050406030204" pitchFamily="18" charset="0"/>
                          <a:ea typeface="Cambria" panose="02040503050406030204" pitchFamily="18" charset="0"/>
                        </a:rPr>
                        <a:t>rekomendasi</a:t>
                      </a:r>
                      <a:r>
                        <a:rPr lang="en-ID" sz="1600" b="1" u="none" strike="noStrike" dirty="0">
                          <a:solidFill>
                            <a:srgbClr val="000000"/>
                          </a:solidFill>
                          <a:effectLst/>
                          <a:latin typeface="Cambria" panose="02040503050406030204" pitchFamily="18" charset="0"/>
                          <a:ea typeface="Cambria" panose="02040503050406030204" pitchFamily="18" charset="0"/>
                        </a:rPr>
                        <a:t> </a:t>
                      </a:r>
                      <a:r>
                        <a:rPr lang="en-ID" sz="1600" b="1" u="none" strike="noStrike" dirty="0" err="1">
                          <a:solidFill>
                            <a:srgbClr val="000000"/>
                          </a:solidFill>
                          <a:effectLst/>
                          <a:latin typeface="Cambria" panose="02040503050406030204" pitchFamily="18" charset="0"/>
                          <a:ea typeface="Cambria" panose="02040503050406030204" pitchFamily="18" charset="0"/>
                        </a:rPr>
                        <a:t>kebijakan</a:t>
                      </a:r>
                      <a:r>
                        <a:rPr lang="en-ID" sz="1600" b="1" u="none" strike="noStrike" dirty="0">
                          <a:solidFill>
                            <a:srgbClr val="000000"/>
                          </a:solidFill>
                          <a:effectLst/>
                          <a:latin typeface="Cambria" panose="02040503050406030204" pitchFamily="18" charset="0"/>
                          <a:ea typeface="Cambria" panose="02040503050406030204" pitchFamily="18" charset="0"/>
                        </a:rPr>
                        <a:t> </a:t>
                      </a:r>
                      <a:r>
                        <a:rPr lang="en-ID" sz="1600" b="1" u="none" strike="noStrike" dirty="0" err="1">
                          <a:solidFill>
                            <a:srgbClr val="000000"/>
                          </a:solidFill>
                          <a:effectLst/>
                          <a:latin typeface="Cambria" panose="02040503050406030204" pitchFamily="18" charset="0"/>
                          <a:ea typeface="Cambria" panose="02040503050406030204" pitchFamily="18" charset="0"/>
                        </a:rPr>
                        <a:t>pengelolaan</a:t>
                      </a:r>
                      <a:r>
                        <a:rPr lang="en-ID" sz="1600" b="1" u="none" strike="noStrike" dirty="0">
                          <a:solidFill>
                            <a:srgbClr val="000000"/>
                          </a:solidFill>
                          <a:effectLst/>
                          <a:latin typeface="Cambria" panose="02040503050406030204" pitchFamily="18" charset="0"/>
                          <a:ea typeface="Cambria" panose="02040503050406030204" pitchFamily="18" charset="0"/>
                        </a:rPr>
                        <a:t> </a:t>
                      </a:r>
                      <a:r>
                        <a:rPr lang="en-ID" sz="1600" b="1" u="none" strike="noStrike" dirty="0" err="1">
                          <a:solidFill>
                            <a:srgbClr val="000000"/>
                          </a:solidFill>
                          <a:effectLst/>
                          <a:latin typeface="Cambria" panose="02040503050406030204" pitchFamily="18" charset="0"/>
                          <a:ea typeface="Cambria" panose="02040503050406030204" pitchFamily="18" charset="0"/>
                        </a:rPr>
                        <a:t>risiko</a:t>
                      </a:r>
                      <a:r>
                        <a:rPr lang="en-ID" sz="1600" b="1" u="none" strike="noStrike" dirty="0">
                          <a:solidFill>
                            <a:srgbClr val="000000"/>
                          </a:solidFill>
                          <a:effectLst/>
                          <a:latin typeface="Cambria" panose="02040503050406030204" pitchFamily="18" charset="0"/>
                          <a:ea typeface="Cambria" panose="02040503050406030204" pitchFamily="18" charset="0"/>
                        </a:rPr>
                        <a:t> </a:t>
                      </a:r>
                      <a:r>
                        <a:rPr lang="en-ID" sz="1600" b="1" u="none" strike="noStrike" dirty="0" err="1">
                          <a:solidFill>
                            <a:srgbClr val="000000"/>
                          </a:solidFill>
                          <a:effectLst/>
                          <a:latin typeface="Cambria" panose="02040503050406030204" pitchFamily="18" charset="0"/>
                          <a:ea typeface="Cambria" panose="02040503050406030204" pitchFamily="18" charset="0"/>
                        </a:rPr>
                        <a:t>bencana</a:t>
                      </a:r>
                      <a:r>
                        <a:rPr lang="en-ID" sz="1600" b="0" u="none" strike="noStrike" dirty="0">
                          <a:solidFill>
                            <a:srgbClr val="000000"/>
                          </a:solidFill>
                          <a:effectLst/>
                          <a:latin typeface="Cambria" panose="02040503050406030204" pitchFamily="18" charset="0"/>
                          <a:ea typeface="Cambria" panose="02040503050406030204" pitchFamily="18" charset="0"/>
                        </a:rPr>
                        <a:t> </a:t>
                      </a:r>
                      <a:r>
                        <a:rPr lang="en-ID" sz="1600" b="0" u="none" strike="noStrike" dirty="0" err="1">
                          <a:solidFill>
                            <a:srgbClr val="000000"/>
                          </a:solidFill>
                          <a:effectLst/>
                          <a:latin typeface="Cambria" panose="02040503050406030204" pitchFamily="18" charset="0"/>
                          <a:ea typeface="Cambria" panose="02040503050406030204" pitchFamily="18" charset="0"/>
                        </a:rPr>
                        <a:t>nasional</a:t>
                      </a:r>
                      <a:r>
                        <a:rPr lang="en-ID" sz="1600" b="0" u="none" strike="noStrike" dirty="0">
                          <a:solidFill>
                            <a:srgbClr val="000000"/>
                          </a:solidFill>
                          <a:effectLst/>
                          <a:latin typeface="Cambria" panose="02040503050406030204" pitchFamily="18" charset="0"/>
                          <a:ea typeface="Cambria" panose="02040503050406030204" pitchFamily="18" charset="0"/>
                        </a:rPr>
                        <a:t> dan </a:t>
                      </a:r>
                      <a:r>
                        <a:rPr lang="en-ID" sz="1600" b="0" u="none" strike="noStrike" dirty="0" err="1">
                          <a:solidFill>
                            <a:srgbClr val="000000"/>
                          </a:solidFill>
                          <a:effectLst/>
                          <a:latin typeface="Cambria" panose="02040503050406030204" pitchFamily="18" charset="0"/>
                          <a:ea typeface="Cambria" panose="02040503050406030204" pitchFamily="18" charset="0"/>
                        </a:rPr>
                        <a:t>daerah</a:t>
                      </a:r>
                      <a:r>
                        <a:rPr lang="en-ID" sz="1600" b="0" u="none" strike="noStrike" dirty="0">
                          <a:solidFill>
                            <a:srgbClr val="000000"/>
                          </a:solidFill>
                          <a:effectLst/>
                          <a:latin typeface="Cambria" panose="02040503050406030204" pitchFamily="18" charset="0"/>
                          <a:ea typeface="Cambria" panose="02040503050406030204" pitchFamily="18" charset="0"/>
                        </a:rPr>
                        <a:t>.</a:t>
                      </a:r>
                      <a:endParaRPr lang="en-ID" sz="1600" b="0"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b"/>
                </a:tc>
                <a:tc>
                  <a:txBody>
                    <a:bodyPr/>
                    <a:lstStyle/>
                    <a:p>
                      <a:pPr algn="l" fontAlgn="b"/>
                      <a:r>
                        <a:rPr lang="en-ID" sz="1600" b="0" u="none" strike="noStrike" dirty="0" err="1">
                          <a:solidFill>
                            <a:srgbClr val="000000"/>
                          </a:solidFill>
                          <a:effectLst/>
                          <a:latin typeface="Cambria" panose="02040503050406030204" pitchFamily="18" charset="0"/>
                          <a:ea typeface="Cambria" panose="02040503050406030204" pitchFamily="18" charset="0"/>
                        </a:rPr>
                        <a:t>Januari</a:t>
                      </a:r>
                      <a:r>
                        <a:rPr lang="en-ID" sz="1600" b="0" u="none" strike="noStrike" dirty="0">
                          <a:solidFill>
                            <a:srgbClr val="000000"/>
                          </a:solidFill>
                          <a:effectLst/>
                          <a:latin typeface="Cambria" panose="02040503050406030204" pitchFamily="18" charset="0"/>
                          <a:ea typeface="Cambria" panose="02040503050406030204" pitchFamily="18" charset="0"/>
                        </a:rPr>
                        <a:t> – </a:t>
                      </a:r>
                      <a:r>
                        <a:rPr lang="en-ID" sz="1600" b="0" u="none" strike="noStrike" dirty="0" err="1">
                          <a:solidFill>
                            <a:srgbClr val="000000"/>
                          </a:solidFill>
                          <a:effectLst/>
                          <a:latin typeface="Cambria" panose="02040503050406030204" pitchFamily="18" charset="0"/>
                          <a:ea typeface="Cambria" panose="02040503050406030204" pitchFamily="18" charset="0"/>
                        </a:rPr>
                        <a:t>Desember</a:t>
                      </a:r>
                      <a:r>
                        <a:rPr lang="en-ID" sz="1600" b="0" u="none" strike="noStrike" dirty="0">
                          <a:solidFill>
                            <a:srgbClr val="000000"/>
                          </a:solidFill>
                          <a:effectLst/>
                          <a:latin typeface="Cambria" panose="02040503050406030204" pitchFamily="18" charset="0"/>
                          <a:ea typeface="Cambria" panose="02040503050406030204" pitchFamily="18" charset="0"/>
                        </a:rPr>
                        <a:t> </a:t>
                      </a:r>
                      <a:endParaRPr lang="en-ID" sz="1600" b="0"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b"/>
                </a:tc>
                <a:tc>
                  <a:txBody>
                    <a:bodyPr/>
                    <a:lstStyle/>
                    <a:p>
                      <a:pPr algn="l" fontAlgn="b"/>
                      <a:r>
                        <a:rPr lang="en-ID" sz="1600" b="0" u="none" strike="noStrike" dirty="0">
                          <a:solidFill>
                            <a:srgbClr val="000000"/>
                          </a:solidFill>
                          <a:effectLst/>
                          <a:latin typeface="Cambria" panose="02040503050406030204" pitchFamily="18" charset="0"/>
                          <a:ea typeface="Cambria" panose="02040503050406030204" pitchFamily="18" charset="0"/>
                        </a:rPr>
                        <a:t>To be defined</a:t>
                      </a:r>
                      <a:endParaRPr lang="en-ID" sz="1600" b="0"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b"/>
                </a:tc>
                <a:tc>
                  <a:txBody>
                    <a:bodyPr/>
                    <a:lstStyle/>
                    <a:p>
                      <a:pPr algn="l" fontAlgn="b"/>
                      <a:r>
                        <a:rPr lang="sv-SE" sz="1600" b="0" u="none" strike="noStrike">
                          <a:solidFill>
                            <a:srgbClr val="000000"/>
                          </a:solidFill>
                          <a:effectLst/>
                          <a:latin typeface="Cambria" panose="02040503050406030204" pitchFamily="18" charset="0"/>
                          <a:ea typeface="Cambria" panose="02040503050406030204" pitchFamily="18" charset="0"/>
                        </a:rPr>
                        <a:t>Hibah penelitian, kerja sama dengan pemerintah dan lembaga donor</a:t>
                      </a:r>
                      <a:endParaRPr lang="sv-SE" sz="1600" b="0" i="0" u="none" strike="noStrike">
                        <a:solidFill>
                          <a:srgbClr val="000000"/>
                        </a:solidFill>
                        <a:effectLst/>
                        <a:latin typeface="Cambria" panose="02040503050406030204" pitchFamily="18" charset="0"/>
                        <a:ea typeface="Cambria" panose="02040503050406030204" pitchFamily="18" charset="0"/>
                      </a:endParaRPr>
                    </a:p>
                  </a:txBody>
                  <a:tcPr marL="6350" marR="6350" marT="6350" marB="0" anchor="b"/>
                </a:tc>
                <a:tc>
                  <a:txBody>
                    <a:bodyPr/>
                    <a:lstStyle/>
                    <a:p>
                      <a:pPr algn="l" fontAlgn="b"/>
                      <a:r>
                        <a:rPr lang="en-ID" sz="1600" b="1" u="none" strike="noStrike" dirty="0" err="1">
                          <a:solidFill>
                            <a:srgbClr val="000000"/>
                          </a:solidFill>
                          <a:effectLst/>
                          <a:latin typeface="Cambria" panose="02040503050406030204" pitchFamily="18" charset="0"/>
                          <a:ea typeface="Cambria" panose="02040503050406030204" pitchFamily="18" charset="0"/>
                        </a:rPr>
                        <a:t>Tersusun</a:t>
                      </a:r>
                      <a:r>
                        <a:rPr lang="en-ID" sz="1600" b="1" u="none" strike="noStrike" dirty="0">
                          <a:solidFill>
                            <a:srgbClr val="000000"/>
                          </a:solidFill>
                          <a:effectLst/>
                          <a:latin typeface="Cambria" panose="02040503050406030204" pitchFamily="18" charset="0"/>
                          <a:ea typeface="Cambria" panose="02040503050406030204" pitchFamily="18" charset="0"/>
                        </a:rPr>
                        <a:t> </a:t>
                      </a:r>
                      <a:r>
                        <a:rPr lang="en-ID" sz="1600" b="1" u="none" strike="noStrike" dirty="0" err="1">
                          <a:solidFill>
                            <a:srgbClr val="000000"/>
                          </a:solidFill>
                          <a:effectLst/>
                          <a:latin typeface="Cambria" panose="02040503050406030204" pitchFamily="18" charset="0"/>
                          <a:ea typeface="Cambria" panose="02040503050406030204" pitchFamily="18" charset="0"/>
                        </a:rPr>
                        <a:t>rekomendasi</a:t>
                      </a:r>
                      <a:r>
                        <a:rPr lang="en-ID" sz="1600" b="1" u="none" strike="noStrike" dirty="0">
                          <a:solidFill>
                            <a:srgbClr val="000000"/>
                          </a:solidFill>
                          <a:effectLst/>
                          <a:latin typeface="Cambria" panose="02040503050406030204" pitchFamily="18" charset="0"/>
                          <a:ea typeface="Cambria" panose="02040503050406030204" pitchFamily="18" charset="0"/>
                        </a:rPr>
                        <a:t> </a:t>
                      </a:r>
                      <a:r>
                        <a:rPr lang="en-ID" sz="1600" b="1" u="none" strike="noStrike" dirty="0" err="1">
                          <a:solidFill>
                            <a:srgbClr val="000000"/>
                          </a:solidFill>
                          <a:effectLst/>
                          <a:latin typeface="Cambria" panose="02040503050406030204" pitchFamily="18" charset="0"/>
                          <a:ea typeface="Cambria" panose="02040503050406030204" pitchFamily="18" charset="0"/>
                        </a:rPr>
                        <a:t>kebijakan</a:t>
                      </a:r>
                      <a:r>
                        <a:rPr lang="en-ID" sz="1600" b="1" u="none" strike="noStrike" dirty="0">
                          <a:solidFill>
                            <a:srgbClr val="000000"/>
                          </a:solidFill>
                          <a:effectLst/>
                          <a:latin typeface="Cambria" panose="02040503050406030204" pitchFamily="18" charset="0"/>
                          <a:ea typeface="Cambria" panose="02040503050406030204" pitchFamily="18" charset="0"/>
                        </a:rPr>
                        <a:t> </a:t>
                      </a:r>
                      <a:r>
                        <a:rPr lang="en-ID" sz="1600" b="0" u="none" strike="noStrike" dirty="0" err="1">
                          <a:solidFill>
                            <a:srgbClr val="000000"/>
                          </a:solidFill>
                          <a:effectLst/>
                          <a:latin typeface="Cambria" panose="02040503050406030204" pitchFamily="18" charset="0"/>
                          <a:ea typeface="Cambria" panose="02040503050406030204" pitchFamily="18" charset="0"/>
                        </a:rPr>
                        <a:t>berbasis</a:t>
                      </a:r>
                      <a:r>
                        <a:rPr lang="en-ID" sz="1600" b="0" u="none" strike="noStrike" dirty="0">
                          <a:solidFill>
                            <a:srgbClr val="000000"/>
                          </a:solidFill>
                          <a:effectLst/>
                          <a:latin typeface="Cambria" panose="02040503050406030204" pitchFamily="18" charset="0"/>
                          <a:ea typeface="Cambria" panose="02040503050406030204" pitchFamily="18" charset="0"/>
                        </a:rPr>
                        <a:t> </a:t>
                      </a:r>
                      <a:r>
                        <a:rPr lang="en-ID" sz="1600" b="0" u="none" strike="noStrike" dirty="0" err="1">
                          <a:solidFill>
                            <a:srgbClr val="000000"/>
                          </a:solidFill>
                          <a:effectLst/>
                          <a:latin typeface="Cambria" panose="02040503050406030204" pitchFamily="18" charset="0"/>
                          <a:ea typeface="Cambria" panose="02040503050406030204" pitchFamily="18" charset="0"/>
                        </a:rPr>
                        <a:t>bukti</a:t>
                      </a:r>
                      <a:r>
                        <a:rPr lang="en-ID" sz="1600" b="0" u="none" strike="noStrike" dirty="0">
                          <a:solidFill>
                            <a:srgbClr val="000000"/>
                          </a:solidFill>
                          <a:effectLst/>
                          <a:latin typeface="Cambria" panose="02040503050406030204" pitchFamily="18" charset="0"/>
                          <a:ea typeface="Cambria" panose="02040503050406030204" pitchFamily="18" charset="0"/>
                        </a:rPr>
                        <a:t> </a:t>
                      </a:r>
                      <a:r>
                        <a:rPr lang="en-ID" sz="1600" b="0" u="none" strike="noStrike" dirty="0" err="1">
                          <a:solidFill>
                            <a:srgbClr val="000000"/>
                          </a:solidFill>
                          <a:effectLst/>
                          <a:latin typeface="Cambria" panose="02040503050406030204" pitchFamily="18" charset="0"/>
                          <a:ea typeface="Cambria" panose="02040503050406030204" pitchFamily="18" charset="0"/>
                        </a:rPr>
                        <a:t>terkait</a:t>
                      </a:r>
                      <a:r>
                        <a:rPr lang="en-ID" sz="1600" b="0" u="none" strike="noStrike" dirty="0">
                          <a:solidFill>
                            <a:srgbClr val="000000"/>
                          </a:solidFill>
                          <a:effectLst/>
                          <a:latin typeface="Cambria" panose="02040503050406030204" pitchFamily="18" charset="0"/>
                          <a:ea typeface="Cambria" panose="02040503050406030204" pitchFamily="18" charset="0"/>
                        </a:rPr>
                        <a:t> tata </a:t>
                      </a:r>
                      <a:r>
                        <a:rPr lang="en-ID" sz="1600" b="0" u="none" strike="noStrike" dirty="0" err="1">
                          <a:solidFill>
                            <a:srgbClr val="000000"/>
                          </a:solidFill>
                          <a:effectLst/>
                          <a:latin typeface="Cambria" panose="02040503050406030204" pitchFamily="18" charset="0"/>
                          <a:ea typeface="Cambria" panose="02040503050406030204" pitchFamily="18" charset="0"/>
                        </a:rPr>
                        <a:t>kelola</a:t>
                      </a:r>
                      <a:r>
                        <a:rPr lang="en-ID" sz="1600" b="0" u="none" strike="noStrike" dirty="0">
                          <a:solidFill>
                            <a:srgbClr val="000000"/>
                          </a:solidFill>
                          <a:effectLst/>
                          <a:latin typeface="Cambria" panose="02040503050406030204" pitchFamily="18" charset="0"/>
                          <a:ea typeface="Cambria" panose="02040503050406030204" pitchFamily="18" charset="0"/>
                        </a:rPr>
                        <a:t> </a:t>
                      </a:r>
                      <a:r>
                        <a:rPr lang="en-ID" sz="1600" b="0" u="none" strike="noStrike" dirty="0" err="1">
                          <a:solidFill>
                            <a:srgbClr val="000000"/>
                          </a:solidFill>
                          <a:effectLst/>
                          <a:latin typeface="Cambria" panose="02040503050406030204" pitchFamily="18" charset="0"/>
                          <a:ea typeface="Cambria" panose="02040503050406030204" pitchFamily="18" charset="0"/>
                        </a:rPr>
                        <a:t>risiko</a:t>
                      </a:r>
                      <a:r>
                        <a:rPr lang="en-ID" sz="1600" b="0" u="none" strike="noStrike" dirty="0">
                          <a:solidFill>
                            <a:srgbClr val="000000"/>
                          </a:solidFill>
                          <a:effectLst/>
                          <a:latin typeface="Cambria" panose="02040503050406030204" pitchFamily="18" charset="0"/>
                          <a:ea typeface="Cambria" panose="02040503050406030204" pitchFamily="18" charset="0"/>
                        </a:rPr>
                        <a:t> </a:t>
                      </a:r>
                      <a:r>
                        <a:rPr lang="en-ID" sz="1600" b="0" u="none" strike="noStrike" dirty="0" err="1">
                          <a:solidFill>
                            <a:srgbClr val="000000"/>
                          </a:solidFill>
                          <a:effectLst/>
                          <a:latin typeface="Cambria" panose="02040503050406030204" pitchFamily="18" charset="0"/>
                          <a:ea typeface="Cambria" panose="02040503050406030204" pitchFamily="18" charset="0"/>
                        </a:rPr>
                        <a:t>bencana</a:t>
                      </a:r>
                      <a:r>
                        <a:rPr lang="en-ID" sz="1600" b="0" u="none" strike="noStrike" dirty="0">
                          <a:solidFill>
                            <a:srgbClr val="000000"/>
                          </a:solidFill>
                          <a:effectLst/>
                          <a:latin typeface="Cambria" panose="02040503050406030204" pitchFamily="18" charset="0"/>
                          <a:ea typeface="Cambria" panose="02040503050406030204" pitchFamily="18" charset="0"/>
                        </a:rPr>
                        <a:t>.</a:t>
                      </a:r>
                      <a:endParaRPr lang="en-ID" sz="1600" b="0"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b"/>
                </a:tc>
                <a:extLst>
                  <a:ext uri="{0D108BD9-81ED-4DB2-BD59-A6C34878D82A}">
                    <a16:rowId xmlns:a16="http://schemas.microsoft.com/office/drawing/2014/main" xmlns="" val="2317660876"/>
                  </a:ext>
                </a:extLst>
              </a:tr>
              <a:tr h="1194346">
                <a:tc>
                  <a:txBody>
                    <a:bodyPr/>
                    <a:lstStyle/>
                    <a:p>
                      <a:pPr algn="l" fontAlgn="b"/>
                      <a:r>
                        <a:rPr lang="en-ID" sz="1600" b="0" u="none" strike="noStrike" dirty="0">
                          <a:solidFill>
                            <a:srgbClr val="000000"/>
                          </a:solidFill>
                          <a:effectLst/>
                          <a:latin typeface="Cambria" panose="02040503050406030204" pitchFamily="18" charset="0"/>
                          <a:ea typeface="Cambria" panose="02040503050406030204" pitchFamily="18" charset="0"/>
                        </a:rPr>
                        <a:t> </a:t>
                      </a:r>
                      <a:endParaRPr lang="en-ID" sz="1600" b="0"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b"/>
                </a:tc>
                <a:tc>
                  <a:txBody>
                    <a:bodyPr/>
                    <a:lstStyle/>
                    <a:p>
                      <a:pPr algn="l" fontAlgn="b"/>
                      <a:r>
                        <a:rPr lang="en-ID" sz="1600" b="0" u="none" strike="noStrike" dirty="0">
                          <a:solidFill>
                            <a:srgbClr val="000000"/>
                          </a:solidFill>
                          <a:effectLst/>
                          <a:latin typeface="Cambria" panose="02040503050406030204" pitchFamily="18" charset="0"/>
                          <a:ea typeface="Cambria" panose="02040503050406030204" pitchFamily="18" charset="0"/>
                        </a:rPr>
                        <a:t>- </a:t>
                      </a:r>
                      <a:r>
                        <a:rPr lang="en-ID" sz="1600" b="1" u="none" strike="noStrike" dirty="0" err="1">
                          <a:solidFill>
                            <a:srgbClr val="000000"/>
                          </a:solidFill>
                          <a:effectLst/>
                          <a:latin typeface="Cambria" panose="02040503050406030204" pitchFamily="18" charset="0"/>
                          <a:ea typeface="Cambria" panose="02040503050406030204" pitchFamily="18" charset="0"/>
                        </a:rPr>
                        <a:t>Analisis</a:t>
                      </a:r>
                      <a:r>
                        <a:rPr lang="en-ID" sz="1600" b="1" u="none" strike="noStrike" dirty="0">
                          <a:solidFill>
                            <a:srgbClr val="000000"/>
                          </a:solidFill>
                          <a:effectLst/>
                          <a:latin typeface="Cambria" panose="02040503050406030204" pitchFamily="18" charset="0"/>
                          <a:ea typeface="Cambria" panose="02040503050406030204" pitchFamily="18" charset="0"/>
                        </a:rPr>
                        <a:t> </a:t>
                      </a:r>
                      <a:r>
                        <a:rPr lang="en-ID" sz="1600" b="1" u="none" strike="noStrike" dirty="0" err="1">
                          <a:solidFill>
                            <a:srgbClr val="000000"/>
                          </a:solidFill>
                          <a:effectLst/>
                          <a:latin typeface="Cambria" panose="02040503050406030204" pitchFamily="18" charset="0"/>
                          <a:ea typeface="Cambria" panose="02040503050406030204" pitchFamily="18" charset="0"/>
                        </a:rPr>
                        <a:t>efektivitas</a:t>
                      </a:r>
                      <a:r>
                        <a:rPr lang="en-ID" sz="1600" b="1" u="none" strike="noStrike" dirty="0">
                          <a:solidFill>
                            <a:srgbClr val="000000"/>
                          </a:solidFill>
                          <a:effectLst/>
                          <a:latin typeface="Cambria" panose="02040503050406030204" pitchFamily="18" charset="0"/>
                          <a:ea typeface="Cambria" panose="02040503050406030204" pitchFamily="18" charset="0"/>
                        </a:rPr>
                        <a:t> </a:t>
                      </a:r>
                      <a:r>
                        <a:rPr lang="en-ID" sz="1600" b="1" u="none" strike="noStrike" dirty="0" err="1">
                          <a:solidFill>
                            <a:srgbClr val="000000"/>
                          </a:solidFill>
                          <a:effectLst/>
                          <a:latin typeface="Cambria" panose="02040503050406030204" pitchFamily="18" charset="0"/>
                          <a:ea typeface="Cambria" panose="02040503050406030204" pitchFamily="18" charset="0"/>
                        </a:rPr>
                        <a:t>regulasi</a:t>
                      </a:r>
                      <a:r>
                        <a:rPr lang="en-ID" sz="1600" b="1" u="none" strike="noStrike" dirty="0">
                          <a:solidFill>
                            <a:srgbClr val="000000"/>
                          </a:solidFill>
                          <a:effectLst/>
                          <a:latin typeface="Cambria" panose="02040503050406030204" pitchFamily="18" charset="0"/>
                          <a:ea typeface="Cambria" panose="02040503050406030204" pitchFamily="18" charset="0"/>
                        </a:rPr>
                        <a:t> yang </a:t>
                      </a:r>
                      <a:r>
                        <a:rPr lang="en-ID" sz="1600" b="1" u="none" strike="noStrike" dirty="0" err="1">
                          <a:solidFill>
                            <a:srgbClr val="000000"/>
                          </a:solidFill>
                          <a:effectLst/>
                          <a:latin typeface="Cambria" panose="02040503050406030204" pitchFamily="18" charset="0"/>
                          <a:ea typeface="Cambria" panose="02040503050406030204" pitchFamily="18" charset="0"/>
                        </a:rPr>
                        <a:t>ada</a:t>
                      </a:r>
                      <a:r>
                        <a:rPr lang="en-ID" sz="1600" b="1" u="none" strike="noStrike" dirty="0">
                          <a:solidFill>
                            <a:srgbClr val="000000"/>
                          </a:solidFill>
                          <a:effectLst/>
                          <a:latin typeface="Cambria" panose="02040503050406030204" pitchFamily="18" charset="0"/>
                          <a:ea typeface="Cambria" panose="02040503050406030204" pitchFamily="18" charset="0"/>
                        </a:rPr>
                        <a:t> </a:t>
                      </a:r>
                      <a:r>
                        <a:rPr lang="en-ID" sz="1600" b="0" u="none" strike="noStrike" dirty="0">
                          <a:solidFill>
                            <a:srgbClr val="000000"/>
                          </a:solidFill>
                          <a:effectLst/>
                          <a:latin typeface="Cambria" panose="02040503050406030204" pitchFamily="18" charset="0"/>
                          <a:ea typeface="Cambria" panose="02040503050406030204" pitchFamily="18" charset="0"/>
                        </a:rPr>
                        <a:t>dan </a:t>
                      </a:r>
                      <a:r>
                        <a:rPr lang="en-ID" sz="1600" b="0" u="none" strike="noStrike" dirty="0" err="1">
                          <a:solidFill>
                            <a:srgbClr val="000000"/>
                          </a:solidFill>
                          <a:effectLst/>
                          <a:latin typeface="Cambria" panose="02040503050406030204" pitchFamily="18" charset="0"/>
                          <a:ea typeface="Cambria" panose="02040503050406030204" pitchFamily="18" charset="0"/>
                        </a:rPr>
                        <a:t>usulan</a:t>
                      </a:r>
                      <a:r>
                        <a:rPr lang="en-ID" sz="1600" b="0" u="none" strike="noStrike" dirty="0">
                          <a:solidFill>
                            <a:srgbClr val="000000"/>
                          </a:solidFill>
                          <a:effectLst/>
                          <a:latin typeface="Cambria" panose="02040503050406030204" pitchFamily="18" charset="0"/>
                          <a:ea typeface="Cambria" panose="02040503050406030204" pitchFamily="18" charset="0"/>
                        </a:rPr>
                        <a:t> </a:t>
                      </a:r>
                      <a:r>
                        <a:rPr lang="en-ID" sz="1600" b="0" u="none" strike="noStrike" dirty="0" err="1">
                          <a:solidFill>
                            <a:srgbClr val="000000"/>
                          </a:solidFill>
                          <a:effectLst/>
                          <a:latin typeface="Cambria" panose="02040503050406030204" pitchFamily="18" charset="0"/>
                          <a:ea typeface="Cambria" panose="02040503050406030204" pitchFamily="18" charset="0"/>
                        </a:rPr>
                        <a:t>perbaikannya</a:t>
                      </a:r>
                      <a:r>
                        <a:rPr lang="en-ID" sz="1600" b="0" u="none" strike="noStrike" dirty="0">
                          <a:solidFill>
                            <a:srgbClr val="000000"/>
                          </a:solidFill>
                          <a:effectLst/>
                          <a:latin typeface="Cambria" panose="02040503050406030204" pitchFamily="18" charset="0"/>
                          <a:ea typeface="Cambria" panose="02040503050406030204" pitchFamily="18" charset="0"/>
                        </a:rPr>
                        <a:t>.</a:t>
                      </a:r>
                      <a:endParaRPr lang="en-ID" sz="1600" b="0"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b"/>
                </a:tc>
                <a:tc>
                  <a:txBody>
                    <a:bodyPr/>
                    <a:lstStyle/>
                    <a:p>
                      <a:pPr algn="l" fontAlgn="b"/>
                      <a:r>
                        <a:rPr lang="en-ID" sz="1600" b="0" u="none" strike="noStrike">
                          <a:solidFill>
                            <a:srgbClr val="000000"/>
                          </a:solidFill>
                          <a:effectLst/>
                          <a:latin typeface="Cambria" panose="02040503050406030204" pitchFamily="18" charset="0"/>
                          <a:ea typeface="Cambria" panose="02040503050406030204" pitchFamily="18" charset="0"/>
                        </a:rPr>
                        <a:t> </a:t>
                      </a:r>
                      <a:endParaRPr lang="en-ID" sz="1600" b="0" i="0" u="none" strike="noStrike">
                        <a:solidFill>
                          <a:srgbClr val="000000"/>
                        </a:solidFill>
                        <a:effectLst/>
                        <a:latin typeface="Cambria" panose="02040503050406030204" pitchFamily="18" charset="0"/>
                        <a:ea typeface="Cambria" panose="02040503050406030204" pitchFamily="18" charset="0"/>
                      </a:endParaRPr>
                    </a:p>
                  </a:txBody>
                  <a:tcPr marL="6350" marR="6350" marT="6350" marB="0" anchor="b"/>
                </a:tc>
                <a:tc>
                  <a:txBody>
                    <a:bodyPr/>
                    <a:lstStyle/>
                    <a:p>
                      <a:pPr algn="l" fontAlgn="b"/>
                      <a:r>
                        <a:rPr lang="en-ID" sz="1600" b="0" u="none" strike="noStrike">
                          <a:solidFill>
                            <a:srgbClr val="000000"/>
                          </a:solidFill>
                          <a:effectLst/>
                          <a:latin typeface="Cambria" panose="02040503050406030204" pitchFamily="18" charset="0"/>
                          <a:ea typeface="Cambria" panose="02040503050406030204" pitchFamily="18" charset="0"/>
                        </a:rPr>
                        <a:t> </a:t>
                      </a:r>
                      <a:endParaRPr lang="en-ID" sz="1600" b="0" i="0" u="none" strike="noStrike">
                        <a:solidFill>
                          <a:srgbClr val="000000"/>
                        </a:solidFill>
                        <a:effectLst/>
                        <a:latin typeface="Cambria" panose="02040503050406030204" pitchFamily="18" charset="0"/>
                        <a:ea typeface="Cambria" panose="02040503050406030204" pitchFamily="18" charset="0"/>
                      </a:endParaRPr>
                    </a:p>
                  </a:txBody>
                  <a:tcPr marL="6350" marR="6350" marT="6350" marB="0" anchor="b"/>
                </a:tc>
                <a:tc>
                  <a:txBody>
                    <a:bodyPr/>
                    <a:lstStyle/>
                    <a:p>
                      <a:pPr algn="l" fontAlgn="b"/>
                      <a:r>
                        <a:rPr lang="en-ID" sz="1600" b="0" u="none" strike="noStrike" dirty="0">
                          <a:solidFill>
                            <a:srgbClr val="000000"/>
                          </a:solidFill>
                          <a:effectLst/>
                          <a:latin typeface="Cambria" panose="02040503050406030204" pitchFamily="18" charset="0"/>
                          <a:ea typeface="Cambria" panose="02040503050406030204" pitchFamily="18" charset="0"/>
                        </a:rPr>
                        <a:t> </a:t>
                      </a:r>
                      <a:endParaRPr lang="en-ID" sz="1600" b="0"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b"/>
                </a:tc>
                <a:tc>
                  <a:txBody>
                    <a:bodyPr/>
                    <a:lstStyle/>
                    <a:p>
                      <a:pPr algn="l" fontAlgn="b"/>
                      <a:r>
                        <a:rPr lang="en-ID" sz="1600" b="1" u="none" strike="noStrike" dirty="0" err="1">
                          <a:solidFill>
                            <a:srgbClr val="000000"/>
                          </a:solidFill>
                          <a:effectLst/>
                          <a:latin typeface="Cambria" panose="02040503050406030204" pitchFamily="18" charset="0"/>
                          <a:ea typeface="Cambria" panose="02040503050406030204" pitchFamily="18" charset="0"/>
                        </a:rPr>
                        <a:t>Terintegrasi</a:t>
                      </a:r>
                      <a:r>
                        <a:rPr lang="en-ID" sz="1600" b="1" u="none" strike="noStrike" dirty="0">
                          <a:solidFill>
                            <a:srgbClr val="000000"/>
                          </a:solidFill>
                          <a:effectLst/>
                          <a:latin typeface="Cambria" panose="02040503050406030204" pitchFamily="18" charset="0"/>
                          <a:ea typeface="Cambria" panose="02040503050406030204" pitchFamily="18" charset="0"/>
                        </a:rPr>
                        <a:t> </a:t>
                      </a:r>
                      <a:r>
                        <a:rPr lang="en-ID" sz="1600" b="1" u="none" strike="noStrike" dirty="0" err="1">
                          <a:solidFill>
                            <a:srgbClr val="000000"/>
                          </a:solidFill>
                          <a:effectLst/>
                          <a:latin typeface="Cambria" panose="02040503050406030204" pitchFamily="18" charset="0"/>
                          <a:ea typeface="Cambria" panose="02040503050406030204" pitchFamily="18" charset="0"/>
                        </a:rPr>
                        <a:t>nya</a:t>
                      </a:r>
                      <a:r>
                        <a:rPr lang="en-ID" sz="1600" b="1" u="none" strike="noStrike" dirty="0">
                          <a:solidFill>
                            <a:srgbClr val="000000"/>
                          </a:solidFill>
                          <a:effectLst/>
                          <a:latin typeface="Cambria" panose="02040503050406030204" pitchFamily="18" charset="0"/>
                          <a:ea typeface="Cambria" panose="02040503050406030204" pitchFamily="18" charset="0"/>
                        </a:rPr>
                        <a:t> </a:t>
                      </a:r>
                      <a:r>
                        <a:rPr lang="en-ID" sz="1600" b="1" u="none" strike="noStrike" dirty="0" err="1">
                          <a:solidFill>
                            <a:srgbClr val="000000"/>
                          </a:solidFill>
                          <a:effectLst/>
                          <a:latin typeface="Cambria" panose="02040503050406030204" pitchFamily="18" charset="0"/>
                          <a:ea typeface="Cambria" panose="02040503050406030204" pitchFamily="18" charset="0"/>
                        </a:rPr>
                        <a:t>aspek</a:t>
                      </a:r>
                      <a:r>
                        <a:rPr lang="en-ID" sz="1600" b="1" u="none" strike="noStrike" dirty="0">
                          <a:solidFill>
                            <a:srgbClr val="000000"/>
                          </a:solidFill>
                          <a:effectLst/>
                          <a:latin typeface="Cambria" panose="02040503050406030204" pitchFamily="18" charset="0"/>
                          <a:ea typeface="Cambria" panose="02040503050406030204" pitchFamily="18" charset="0"/>
                        </a:rPr>
                        <a:t> </a:t>
                      </a:r>
                      <a:r>
                        <a:rPr lang="en-ID" sz="1600" b="1" u="none" strike="noStrike" dirty="0" err="1">
                          <a:solidFill>
                            <a:srgbClr val="000000"/>
                          </a:solidFill>
                          <a:effectLst/>
                          <a:latin typeface="Cambria" panose="02040503050406030204" pitchFamily="18" charset="0"/>
                          <a:ea typeface="Cambria" panose="02040503050406030204" pitchFamily="18" charset="0"/>
                        </a:rPr>
                        <a:t>mitigasi</a:t>
                      </a:r>
                      <a:r>
                        <a:rPr lang="en-ID" sz="1600" b="1" u="none" strike="noStrike" dirty="0">
                          <a:solidFill>
                            <a:srgbClr val="000000"/>
                          </a:solidFill>
                          <a:effectLst/>
                          <a:latin typeface="Cambria" panose="02040503050406030204" pitchFamily="18" charset="0"/>
                          <a:ea typeface="Cambria" panose="02040503050406030204" pitchFamily="18" charset="0"/>
                        </a:rPr>
                        <a:t> </a:t>
                      </a:r>
                      <a:r>
                        <a:rPr lang="en-ID" sz="1600" b="1" u="none" strike="noStrike" dirty="0" err="1">
                          <a:solidFill>
                            <a:srgbClr val="000000"/>
                          </a:solidFill>
                          <a:effectLst/>
                          <a:latin typeface="Cambria" panose="02040503050406030204" pitchFamily="18" charset="0"/>
                          <a:ea typeface="Cambria" panose="02040503050406030204" pitchFamily="18" charset="0"/>
                        </a:rPr>
                        <a:t>risiko</a:t>
                      </a:r>
                      <a:r>
                        <a:rPr lang="en-ID" sz="1600" b="1" u="none" strike="noStrike" dirty="0">
                          <a:solidFill>
                            <a:srgbClr val="000000"/>
                          </a:solidFill>
                          <a:effectLst/>
                          <a:latin typeface="Cambria" panose="02040503050406030204" pitchFamily="18" charset="0"/>
                          <a:ea typeface="Cambria" panose="02040503050406030204" pitchFamily="18" charset="0"/>
                        </a:rPr>
                        <a:t> </a:t>
                      </a:r>
                      <a:r>
                        <a:rPr lang="en-ID" sz="1600" b="0" u="none" strike="noStrike" dirty="0" err="1">
                          <a:solidFill>
                            <a:srgbClr val="000000"/>
                          </a:solidFill>
                          <a:effectLst/>
                          <a:latin typeface="Cambria" panose="02040503050406030204" pitchFamily="18" charset="0"/>
                          <a:ea typeface="Cambria" panose="02040503050406030204" pitchFamily="18" charset="0"/>
                        </a:rPr>
                        <a:t>dalam</a:t>
                      </a:r>
                      <a:r>
                        <a:rPr lang="en-ID" sz="1600" b="0" u="none" strike="noStrike" dirty="0">
                          <a:solidFill>
                            <a:srgbClr val="000000"/>
                          </a:solidFill>
                          <a:effectLst/>
                          <a:latin typeface="Cambria" panose="02040503050406030204" pitchFamily="18" charset="0"/>
                          <a:ea typeface="Cambria" panose="02040503050406030204" pitchFamily="18" charset="0"/>
                        </a:rPr>
                        <a:t> </a:t>
                      </a:r>
                      <a:r>
                        <a:rPr lang="en-ID" sz="1600" b="0" u="none" strike="noStrike" dirty="0" err="1">
                          <a:solidFill>
                            <a:srgbClr val="000000"/>
                          </a:solidFill>
                          <a:effectLst/>
                          <a:latin typeface="Cambria" panose="02040503050406030204" pitchFamily="18" charset="0"/>
                          <a:ea typeface="Cambria" panose="02040503050406030204" pitchFamily="18" charset="0"/>
                        </a:rPr>
                        <a:t>kebijakan</a:t>
                      </a:r>
                      <a:r>
                        <a:rPr lang="en-ID" sz="1600" b="0" u="none" strike="noStrike" dirty="0">
                          <a:solidFill>
                            <a:srgbClr val="000000"/>
                          </a:solidFill>
                          <a:effectLst/>
                          <a:latin typeface="Cambria" panose="02040503050406030204" pitchFamily="18" charset="0"/>
                          <a:ea typeface="Cambria" panose="02040503050406030204" pitchFamily="18" charset="0"/>
                        </a:rPr>
                        <a:t> </a:t>
                      </a:r>
                      <a:r>
                        <a:rPr lang="en-ID" sz="1600" b="0" u="none" strike="noStrike" dirty="0" err="1">
                          <a:solidFill>
                            <a:srgbClr val="000000"/>
                          </a:solidFill>
                          <a:effectLst/>
                          <a:latin typeface="Cambria" panose="02040503050406030204" pitchFamily="18" charset="0"/>
                          <a:ea typeface="Cambria" panose="02040503050406030204" pitchFamily="18" charset="0"/>
                        </a:rPr>
                        <a:t>perencanaan</a:t>
                      </a:r>
                      <a:r>
                        <a:rPr lang="en-ID" sz="1600" b="0" u="none" strike="noStrike" dirty="0">
                          <a:solidFill>
                            <a:srgbClr val="000000"/>
                          </a:solidFill>
                          <a:effectLst/>
                          <a:latin typeface="Cambria" panose="02040503050406030204" pitchFamily="18" charset="0"/>
                          <a:ea typeface="Cambria" panose="02040503050406030204" pitchFamily="18" charset="0"/>
                        </a:rPr>
                        <a:t> </a:t>
                      </a:r>
                      <a:r>
                        <a:rPr lang="en-ID" sz="1600" b="0" u="none" strike="noStrike" dirty="0" err="1">
                          <a:solidFill>
                            <a:srgbClr val="000000"/>
                          </a:solidFill>
                          <a:effectLst/>
                          <a:latin typeface="Cambria" panose="02040503050406030204" pitchFamily="18" charset="0"/>
                          <a:ea typeface="Cambria" panose="02040503050406030204" pitchFamily="18" charset="0"/>
                        </a:rPr>
                        <a:t>pembangunan</a:t>
                      </a:r>
                      <a:r>
                        <a:rPr lang="en-ID" sz="1600" b="0" u="none" strike="noStrike" dirty="0">
                          <a:solidFill>
                            <a:srgbClr val="000000"/>
                          </a:solidFill>
                          <a:effectLst/>
                          <a:latin typeface="Cambria" panose="02040503050406030204" pitchFamily="18" charset="0"/>
                          <a:ea typeface="Cambria" panose="02040503050406030204" pitchFamily="18" charset="0"/>
                        </a:rPr>
                        <a:t>.</a:t>
                      </a:r>
                      <a:endParaRPr lang="en-ID" sz="1600" b="0"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b"/>
                </a:tc>
                <a:extLst>
                  <a:ext uri="{0D108BD9-81ED-4DB2-BD59-A6C34878D82A}">
                    <a16:rowId xmlns:a16="http://schemas.microsoft.com/office/drawing/2014/main" xmlns="" val="4266504994"/>
                  </a:ext>
                </a:extLst>
              </a:tr>
              <a:tr h="955477">
                <a:tc>
                  <a:txBody>
                    <a:bodyPr/>
                    <a:lstStyle/>
                    <a:p>
                      <a:pPr algn="l" fontAlgn="b"/>
                      <a:r>
                        <a:rPr lang="en-ID" sz="1600" b="0" u="none" strike="noStrike" dirty="0">
                          <a:solidFill>
                            <a:srgbClr val="000000"/>
                          </a:solidFill>
                          <a:effectLst/>
                          <a:latin typeface="Cambria" panose="02040503050406030204" pitchFamily="18" charset="0"/>
                          <a:ea typeface="Cambria" panose="02040503050406030204" pitchFamily="18" charset="0"/>
                        </a:rPr>
                        <a:t> </a:t>
                      </a:r>
                      <a:endParaRPr lang="en-ID" sz="1600" b="0"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b"/>
                </a:tc>
                <a:tc>
                  <a:txBody>
                    <a:bodyPr/>
                    <a:lstStyle/>
                    <a:p>
                      <a:pPr algn="l" fontAlgn="b"/>
                      <a:r>
                        <a:rPr lang="en-ID" sz="1600" b="0" u="none" strike="noStrike" dirty="0">
                          <a:solidFill>
                            <a:srgbClr val="000000"/>
                          </a:solidFill>
                          <a:effectLst/>
                          <a:latin typeface="Cambria" panose="02040503050406030204" pitchFamily="18" charset="0"/>
                          <a:ea typeface="Cambria" panose="02040503050406030204" pitchFamily="18" charset="0"/>
                        </a:rPr>
                        <a:t>- </a:t>
                      </a:r>
                      <a:r>
                        <a:rPr lang="en-ID" sz="1600" b="1" u="none" strike="noStrike" dirty="0">
                          <a:solidFill>
                            <a:srgbClr val="000000"/>
                          </a:solidFill>
                          <a:effectLst/>
                          <a:latin typeface="Cambria" panose="02040503050406030204" pitchFamily="18" charset="0"/>
                          <a:ea typeface="Cambria" panose="02040503050406030204" pitchFamily="18" charset="0"/>
                        </a:rPr>
                        <a:t>Workshop dan </a:t>
                      </a:r>
                      <a:r>
                        <a:rPr lang="en-ID" sz="1600" b="1" u="none" strike="noStrike" dirty="0" err="1">
                          <a:solidFill>
                            <a:srgbClr val="000000"/>
                          </a:solidFill>
                          <a:effectLst/>
                          <a:latin typeface="Cambria" panose="02040503050406030204" pitchFamily="18" charset="0"/>
                          <a:ea typeface="Cambria" panose="02040503050406030204" pitchFamily="18" charset="0"/>
                        </a:rPr>
                        <a:t>diskusi</a:t>
                      </a:r>
                      <a:r>
                        <a:rPr lang="en-ID" sz="1600" b="1" u="none" strike="noStrike" dirty="0">
                          <a:solidFill>
                            <a:srgbClr val="000000"/>
                          </a:solidFill>
                          <a:effectLst/>
                          <a:latin typeface="Cambria" panose="02040503050406030204" pitchFamily="18" charset="0"/>
                          <a:ea typeface="Cambria" panose="02040503050406030204" pitchFamily="18" charset="0"/>
                        </a:rPr>
                        <a:t> </a:t>
                      </a:r>
                      <a:r>
                        <a:rPr lang="en-ID" sz="1600" b="1" u="none" strike="noStrike" dirty="0" err="1">
                          <a:solidFill>
                            <a:srgbClr val="000000"/>
                          </a:solidFill>
                          <a:effectLst/>
                          <a:latin typeface="Cambria" panose="02040503050406030204" pitchFamily="18" charset="0"/>
                          <a:ea typeface="Cambria" panose="02040503050406030204" pitchFamily="18" charset="0"/>
                        </a:rPr>
                        <a:t>kebijakan</a:t>
                      </a:r>
                      <a:r>
                        <a:rPr lang="en-ID" sz="1600" b="1" u="none" strike="noStrike" dirty="0">
                          <a:solidFill>
                            <a:srgbClr val="000000"/>
                          </a:solidFill>
                          <a:effectLst/>
                          <a:latin typeface="Cambria" panose="02040503050406030204" pitchFamily="18" charset="0"/>
                          <a:ea typeface="Cambria" panose="02040503050406030204" pitchFamily="18" charset="0"/>
                        </a:rPr>
                        <a:t> </a:t>
                      </a:r>
                      <a:r>
                        <a:rPr lang="en-ID" sz="1600" b="0" u="none" strike="noStrike" dirty="0" err="1">
                          <a:solidFill>
                            <a:srgbClr val="000000"/>
                          </a:solidFill>
                          <a:effectLst/>
                          <a:latin typeface="Cambria" panose="02040503050406030204" pitchFamily="18" charset="0"/>
                          <a:ea typeface="Cambria" panose="02040503050406030204" pitchFamily="18" charset="0"/>
                        </a:rPr>
                        <a:t>dengan</a:t>
                      </a:r>
                      <a:r>
                        <a:rPr lang="en-ID" sz="1600" b="0" u="none" strike="noStrike" dirty="0">
                          <a:solidFill>
                            <a:srgbClr val="000000"/>
                          </a:solidFill>
                          <a:effectLst/>
                          <a:latin typeface="Cambria" panose="02040503050406030204" pitchFamily="18" charset="0"/>
                          <a:ea typeface="Cambria" panose="02040503050406030204" pitchFamily="18" charset="0"/>
                        </a:rPr>
                        <a:t> </a:t>
                      </a:r>
                      <a:r>
                        <a:rPr lang="en-ID" sz="1600" b="0" u="none" strike="noStrike" dirty="0" err="1">
                          <a:solidFill>
                            <a:srgbClr val="000000"/>
                          </a:solidFill>
                          <a:effectLst/>
                          <a:latin typeface="Cambria" panose="02040503050406030204" pitchFamily="18" charset="0"/>
                          <a:ea typeface="Cambria" panose="02040503050406030204" pitchFamily="18" charset="0"/>
                        </a:rPr>
                        <a:t>pemangku</a:t>
                      </a:r>
                      <a:r>
                        <a:rPr lang="en-ID" sz="1600" b="0" u="none" strike="noStrike" dirty="0">
                          <a:solidFill>
                            <a:srgbClr val="000000"/>
                          </a:solidFill>
                          <a:effectLst/>
                          <a:latin typeface="Cambria" panose="02040503050406030204" pitchFamily="18" charset="0"/>
                          <a:ea typeface="Cambria" panose="02040503050406030204" pitchFamily="18" charset="0"/>
                        </a:rPr>
                        <a:t> </a:t>
                      </a:r>
                      <a:r>
                        <a:rPr lang="en-ID" sz="1600" b="0" u="none" strike="noStrike" dirty="0" err="1">
                          <a:solidFill>
                            <a:srgbClr val="000000"/>
                          </a:solidFill>
                          <a:effectLst/>
                          <a:latin typeface="Cambria" panose="02040503050406030204" pitchFamily="18" charset="0"/>
                          <a:ea typeface="Cambria" panose="02040503050406030204" pitchFamily="18" charset="0"/>
                        </a:rPr>
                        <a:t>kepentingan</a:t>
                      </a:r>
                      <a:r>
                        <a:rPr lang="en-ID" sz="1600" b="0" u="none" strike="noStrike" dirty="0">
                          <a:solidFill>
                            <a:srgbClr val="000000"/>
                          </a:solidFill>
                          <a:effectLst/>
                          <a:latin typeface="Cambria" panose="02040503050406030204" pitchFamily="18" charset="0"/>
                          <a:ea typeface="Cambria" panose="02040503050406030204" pitchFamily="18" charset="0"/>
                        </a:rPr>
                        <a:t> (</a:t>
                      </a:r>
                      <a:r>
                        <a:rPr lang="en-ID" sz="1600" b="0" u="none" strike="noStrike" dirty="0" err="1">
                          <a:solidFill>
                            <a:srgbClr val="000000"/>
                          </a:solidFill>
                          <a:effectLst/>
                          <a:latin typeface="Cambria" panose="02040503050406030204" pitchFamily="18" charset="0"/>
                          <a:ea typeface="Cambria" panose="02040503050406030204" pitchFamily="18" charset="0"/>
                        </a:rPr>
                        <a:t>pemerintah</a:t>
                      </a:r>
                      <a:r>
                        <a:rPr lang="en-ID" sz="1600" b="0" u="none" strike="noStrike" dirty="0">
                          <a:solidFill>
                            <a:srgbClr val="000000"/>
                          </a:solidFill>
                          <a:effectLst/>
                          <a:latin typeface="Cambria" panose="02040503050406030204" pitchFamily="18" charset="0"/>
                          <a:ea typeface="Cambria" panose="02040503050406030204" pitchFamily="18" charset="0"/>
                        </a:rPr>
                        <a:t>, </a:t>
                      </a:r>
                      <a:r>
                        <a:rPr lang="en-ID" sz="1600" b="0" u="none" strike="noStrike" dirty="0" err="1">
                          <a:solidFill>
                            <a:srgbClr val="000000"/>
                          </a:solidFill>
                          <a:effectLst/>
                          <a:latin typeface="Cambria" panose="02040503050406030204" pitchFamily="18" charset="0"/>
                          <a:ea typeface="Cambria" panose="02040503050406030204" pitchFamily="18" charset="0"/>
                        </a:rPr>
                        <a:t>akademisi</a:t>
                      </a:r>
                      <a:r>
                        <a:rPr lang="en-ID" sz="1600" b="0" u="none" strike="noStrike" dirty="0">
                          <a:solidFill>
                            <a:srgbClr val="000000"/>
                          </a:solidFill>
                          <a:effectLst/>
                          <a:latin typeface="Cambria" panose="02040503050406030204" pitchFamily="18" charset="0"/>
                          <a:ea typeface="Cambria" panose="02040503050406030204" pitchFamily="18" charset="0"/>
                        </a:rPr>
                        <a:t>, </a:t>
                      </a:r>
                      <a:r>
                        <a:rPr lang="en-ID" sz="1600" b="0" u="none" strike="noStrike" dirty="0" err="1">
                          <a:solidFill>
                            <a:srgbClr val="000000"/>
                          </a:solidFill>
                          <a:effectLst/>
                          <a:latin typeface="Cambria" panose="02040503050406030204" pitchFamily="18" charset="0"/>
                          <a:ea typeface="Cambria" panose="02040503050406030204" pitchFamily="18" charset="0"/>
                        </a:rPr>
                        <a:t>sektor</a:t>
                      </a:r>
                      <a:r>
                        <a:rPr lang="en-ID" sz="1600" b="0" u="none" strike="noStrike" dirty="0">
                          <a:solidFill>
                            <a:srgbClr val="000000"/>
                          </a:solidFill>
                          <a:effectLst/>
                          <a:latin typeface="Cambria" panose="02040503050406030204" pitchFamily="18" charset="0"/>
                          <a:ea typeface="Cambria" panose="02040503050406030204" pitchFamily="18" charset="0"/>
                        </a:rPr>
                        <a:t> </a:t>
                      </a:r>
                      <a:r>
                        <a:rPr lang="en-ID" sz="1600" b="0" u="none" strike="noStrike" dirty="0" err="1">
                          <a:solidFill>
                            <a:srgbClr val="000000"/>
                          </a:solidFill>
                          <a:effectLst/>
                          <a:latin typeface="Cambria" panose="02040503050406030204" pitchFamily="18" charset="0"/>
                          <a:ea typeface="Cambria" panose="02040503050406030204" pitchFamily="18" charset="0"/>
                        </a:rPr>
                        <a:t>swasta</a:t>
                      </a:r>
                      <a:r>
                        <a:rPr lang="en-ID" sz="1600" b="0" u="none" strike="noStrike" dirty="0" smtClean="0">
                          <a:solidFill>
                            <a:srgbClr val="000000"/>
                          </a:solidFill>
                          <a:effectLst/>
                          <a:latin typeface="Cambria" panose="02040503050406030204" pitchFamily="18" charset="0"/>
                          <a:ea typeface="Cambria" panose="02040503050406030204" pitchFamily="18" charset="0"/>
                        </a:rPr>
                        <a:t>)</a:t>
                      </a:r>
                      <a:r>
                        <a:rPr lang="en-ID" sz="1600" b="0" u="none" strike="noStrike" baseline="0" dirty="0" smtClean="0">
                          <a:solidFill>
                            <a:srgbClr val="000000"/>
                          </a:solidFill>
                          <a:effectLst/>
                          <a:latin typeface="Cambria" panose="02040503050406030204" pitchFamily="18" charset="0"/>
                          <a:ea typeface="Cambria" panose="02040503050406030204" pitchFamily="18" charset="0"/>
                        </a:rPr>
                        <a:t> </a:t>
                      </a:r>
                      <a:r>
                        <a:rPr lang="en-ID" sz="1600" b="0" u="none" strike="noStrike" baseline="0" dirty="0" err="1" smtClean="0">
                          <a:solidFill>
                            <a:srgbClr val="000000"/>
                          </a:solidFill>
                          <a:effectLst/>
                          <a:latin typeface="Cambria" panose="02040503050406030204" pitchFamily="18" charset="0"/>
                          <a:ea typeface="Cambria" panose="02040503050406030204" pitchFamily="18" charset="0"/>
                        </a:rPr>
                        <a:t>ditingkat</a:t>
                      </a:r>
                      <a:r>
                        <a:rPr lang="en-ID" sz="1600" b="0" u="none" strike="noStrike" baseline="0" dirty="0" smtClean="0">
                          <a:solidFill>
                            <a:srgbClr val="000000"/>
                          </a:solidFill>
                          <a:effectLst/>
                          <a:latin typeface="Cambria" panose="02040503050406030204" pitchFamily="18" charset="0"/>
                          <a:ea typeface="Cambria" panose="02040503050406030204" pitchFamily="18" charset="0"/>
                        </a:rPr>
                        <a:t> </a:t>
                      </a:r>
                      <a:r>
                        <a:rPr lang="en-ID" sz="1600" b="0" u="none" strike="noStrike" baseline="0" dirty="0" err="1" smtClean="0">
                          <a:solidFill>
                            <a:srgbClr val="000000"/>
                          </a:solidFill>
                          <a:effectLst/>
                          <a:latin typeface="Cambria" panose="02040503050406030204" pitchFamily="18" charset="0"/>
                          <a:ea typeface="Cambria" panose="02040503050406030204" pitchFamily="18" charset="0"/>
                        </a:rPr>
                        <a:t>lokal</a:t>
                      </a:r>
                      <a:r>
                        <a:rPr lang="en-ID" sz="1600" b="0" u="none" strike="noStrike" baseline="0" dirty="0" smtClean="0">
                          <a:solidFill>
                            <a:srgbClr val="000000"/>
                          </a:solidFill>
                          <a:effectLst/>
                          <a:latin typeface="Cambria" panose="02040503050406030204" pitchFamily="18" charset="0"/>
                          <a:ea typeface="Cambria" panose="02040503050406030204" pitchFamily="18" charset="0"/>
                        </a:rPr>
                        <a:t> </a:t>
                      </a:r>
                      <a:r>
                        <a:rPr lang="en-ID" sz="1600" b="0" u="none" strike="noStrike" baseline="0" dirty="0" err="1" smtClean="0">
                          <a:solidFill>
                            <a:srgbClr val="000000"/>
                          </a:solidFill>
                          <a:effectLst/>
                          <a:latin typeface="Cambria" panose="02040503050406030204" pitchFamily="18" charset="0"/>
                          <a:ea typeface="Cambria" panose="02040503050406030204" pitchFamily="18" charset="0"/>
                        </a:rPr>
                        <a:t>dan</a:t>
                      </a:r>
                      <a:r>
                        <a:rPr lang="en-ID" sz="1600" b="0" u="none" strike="noStrike" baseline="0" dirty="0" smtClean="0">
                          <a:solidFill>
                            <a:srgbClr val="000000"/>
                          </a:solidFill>
                          <a:effectLst/>
                          <a:latin typeface="Cambria" panose="02040503050406030204" pitchFamily="18" charset="0"/>
                          <a:ea typeface="Cambria" panose="02040503050406030204" pitchFamily="18" charset="0"/>
                        </a:rPr>
                        <a:t> </a:t>
                      </a:r>
                      <a:r>
                        <a:rPr lang="en-ID" sz="1600" b="0" u="none" strike="noStrike" baseline="0" dirty="0" err="1" smtClean="0">
                          <a:solidFill>
                            <a:srgbClr val="000000"/>
                          </a:solidFill>
                          <a:effectLst/>
                          <a:latin typeface="Cambria" panose="02040503050406030204" pitchFamily="18" charset="0"/>
                          <a:ea typeface="Cambria" panose="02040503050406030204" pitchFamily="18" charset="0"/>
                        </a:rPr>
                        <a:t>nasional</a:t>
                      </a:r>
                      <a:endParaRPr lang="en-ID" sz="1600" b="0"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b"/>
                </a:tc>
                <a:tc>
                  <a:txBody>
                    <a:bodyPr/>
                    <a:lstStyle/>
                    <a:p>
                      <a:pPr algn="l" fontAlgn="b"/>
                      <a:r>
                        <a:rPr lang="en-ID" sz="1600" b="0" u="none" strike="noStrike">
                          <a:solidFill>
                            <a:srgbClr val="000000"/>
                          </a:solidFill>
                          <a:effectLst/>
                          <a:latin typeface="Cambria" panose="02040503050406030204" pitchFamily="18" charset="0"/>
                          <a:ea typeface="Cambria" panose="02040503050406030204" pitchFamily="18" charset="0"/>
                        </a:rPr>
                        <a:t> </a:t>
                      </a:r>
                      <a:endParaRPr lang="en-ID" sz="1600" b="0" i="0" u="none" strike="noStrike">
                        <a:solidFill>
                          <a:srgbClr val="000000"/>
                        </a:solidFill>
                        <a:effectLst/>
                        <a:latin typeface="Cambria" panose="02040503050406030204" pitchFamily="18" charset="0"/>
                        <a:ea typeface="Cambria" panose="02040503050406030204" pitchFamily="18" charset="0"/>
                      </a:endParaRPr>
                    </a:p>
                  </a:txBody>
                  <a:tcPr marL="6350" marR="6350" marT="6350" marB="0" anchor="b"/>
                </a:tc>
                <a:tc>
                  <a:txBody>
                    <a:bodyPr/>
                    <a:lstStyle/>
                    <a:p>
                      <a:pPr algn="l" fontAlgn="b"/>
                      <a:r>
                        <a:rPr lang="en-ID" sz="1600" b="0" u="none" strike="noStrike">
                          <a:solidFill>
                            <a:srgbClr val="000000"/>
                          </a:solidFill>
                          <a:effectLst/>
                          <a:latin typeface="Cambria" panose="02040503050406030204" pitchFamily="18" charset="0"/>
                          <a:ea typeface="Cambria" panose="02040503050406030204" pitchFamily="18" charset="0"/>
                        </a:rPr>
                        <a:t> </a:t>
                      </a:r>
                      <a:endParaRPr lang="en-ID" sz="1600" b="0" i="0" u="none" strike="noStrike">
                        <a:solidFill>
                          <a:srgbClr val="000000"/>
                        </a:solidFill>
                        <a:effectLst/>
                        <a:latin typeface="Cambria" panose="02040503050406030204" pitchFamily="18" charset="0"/>
                        <a:ea typeface="Cambria" panose="02040503050406030204" pitchFamily="18" charset="0"/>
                      </a:endParaRPr>
                    </a:p>
                  </a:txBody>
                  <a:tcPr marL="6350" marR="6350" marT="6350" marB="0" anchor="b"/>
                </a:tc>
                <a:tc>
                  <a:txBody>
                    <a:bodyPr/>
                    <a:lstStyle/>
                    <a:p>
                      <a:pPr algn="l" fontAlgn="b"/>
                      <a:r>
                        <a:rPr lang="en-ID" sz="1600" b="0" u="none" strike="noStrike">
                          <a:solidFill>
                            <a:srgbClr val="000000"/>
                          </a:solidFill>
                          <a:effectLst/>
                          <a:latin typeface="Cambria" panose="02040503050406030204" pitchFamily="18" charset="0"/>
                          <a:ea typeface="Cambria" panose="02040503050406030204" pitchFamily="18" charset="0"/>
                        </a:rPr>
                        <a:t> </a:t>
                      </a:r>
                      <a:endParaRPr lang="en-ID" sz="1600" b="0" i="0" u="none" strike="noStrike">
                        <a:solidFill>
                          <a:srgbClr val="000000"/>
                        </a:solidFill>
                        <a:effectLst/>
                        <a:latin typeface="Cambria" panose="02040503050406030204" pitchFamily="18" charset="0"/>
                        <a:ea typeface="Cambria" panose="02040503050406030204" pitchFamily="18" charset="0"/>
                      </a:endParaRPr>
                    </a:p>
                  </a:txBody>
                  <a:tcPr marL="6350" marR="6350" marT="6350" marB="0" anchor="b"/>
                </a:tc>
                <a:tc>
                  <a:txBody>
                    <a:bodyPr/>
                    <a:lstStyle/>
                    <a:p>
                      <a:pPr algn="l" fontAlgn="b"/>
                      <a:r>
                        <a:rPr lang="en-ID" sz="1600" b="0" u="none" strike="noStrike" dirty="0">
                          <a:solidFill>
                            <a:srgbClr val="000000"/>
                          </a:solidFill>
                          <a:effectLst/>
                          <a:latin typeface="Cambria" panose="02040503050406030204" pitchFamily="18" charset="0"/>
                          <a:ea typeface="Cambria" panose="02040503050406030204" pitchFamily="18" charset="0"/>
                        </a:rPr>
                        <a:t> </a:t>
                      </a:r>
                      <a:r>
                        <a:rPr lang="en-ID" sz="1600" b="0" u="none" strike="noStrike" dirty="0" smtClean="0">
                          <a:solidFill>
                            <a:srgbClr val="000000"/>
                          </a:solidFill>
                          <a:effectLst/>
                          <a:latin typeface="Cambria" panose="02040503050406030204" pitchFamily="18" charset="0"/>
                          <a:ea typeface="Cambria" panose="02040503050406030204" pitchFamily="18" charset="0"/>
                        </a:rPr>
                        <a:t>-</a:t>
                      </a:r>
                      <a:r>
                        <a:rPr lang="en-ID" sz="1600" b="0" u="none" strike="noStrike" dirty="0" err="1" smtClean="0">
                          <a:solidFill>
                            <a:srgbClr val="000000"/>
                          </a:solidFill>
                          <a:effectLst/>
                          <a:latin typeface="Cambria" panose="02040503050406030204" pitchFamily="18" charset="0"/>
                          <a:ea typeface="Cambria" panose="02040503050406030204" pitchFamily="18" charset="0"/>
                        </a:rPr>
                        <a:t>Dokumenter</a:t>
                      </a:r>
                      <a:r>
                        <a:rPr lang="en-ID" sz="1600" b="0" u="none" strike="noStrike" baseline="0" dirty="0" smtClean="0">
                          <a:solidFill>
                            <a:srgbClr val="000000"/>
                          </a:solidFill>
                          <a:effectLst/>
                          <a:latin typeface="Cambria" panose="02040503050406030204" pitchFamily="18" charset="0"/>
                          <a:ea typeface="Cambria" panose="02040503050406030204" pitchFamily="18" charset="0"/>
                        </a:rPr>
                        <a:t> lesson learn </a:t>
                      </a:r>
                      <a:r>
                        <a:rPr lang="en-ID" sz="1600" b="0" u="none" strike="noStrike" baseline="0" dirty="0" err="1" smtClean="0">
                          <a:solidFill>
                            <a:srgbClr val="000000"/>
                          </a:solidFill>
                          <a:effectLst/>
                          <a:latin typeface="Cambria" panose="02040503050406030204" pitchFamily="18" charset="0"/>
                          <a:ea typeface="Cambria" panose="02040503050406030204" pitchFamily="18" charset="0"/>
                        </a:rPr>
                        <a:t>kejadian</a:t>
                      </a:r>
                      <a:r>
                        <a:rPr lang="en-ID" sz="1600" b="0" u="none" strike="noStrike" baseline="0" dirty="0" smtClean="0">
                          <a:solidFill>
                            <a:srgbClr val="000000"/>
                          </a:solidFill>
                          <a:effectLst/>
                          <a:latin typeface="Cambria" panose="02040503050406030204" pitchFamily="18" charset="0"/>
                          <a:ea typeface="Cambria" panose="02040503050406030204" pitchFamily="18" charset="0"/>
                        </a:rPr>
                        <a:t> </a:t>
                      </a:r>
                      <a:r>
                        <a:rPr lang="en-ID" sz="1600" b="0" u="none" strike="noStrike" baseline="0" dirty="0" err="1" smtClean="0">
                          <a:solidFill>
                            <a:srgbClr val="000000"/>
                          </a:solidFill>
                          <a:effectLst/>
                          <a:latin typeface="Cambria" panose="02040503050406030204" pitchFamily="18" charset="0"/>
                          <a:ea typeface="Cambria" panose="02040503050406030204" pitchFamily="18" charset="0"/>
                        </a:rPr>
                        <a:t>gempa</a:t>
                      </a:r>
                      <a:r>
                        <a:rPr lang="en-ID" sz="1600" b="0" u="none" strike="noStrike" baseline="0" dirty="0" smtClean="0">
                          <a:solidFill>
                            <a:srgbClr val="000000"/>
                          </a:solidFill>
                          <a:effectLst/>
                          <a:latin typeface="Cambria" panose="02040503050406030204" pitchFamily="18" charset="0"/>
                          <a:ea typeface="Cambria" panose="02040503050406030204" pitchFamily="18" charset="0"/>
                        </a:rPr>
                        <a:t> &amp; tsunami 2004 </a:t>
                      </a:r>
                      <a:r>
                        <a:rPr lang="en-ID" sz="1600" b="0" u="none" strike="noStrike" baseline="0" dirty="0" err="1" smtClean="0">
                          <a:solidFill>
                            <a:srgbClr val="000000"/>
                          </a:solidFill>
                          <a:effectLst/>
                          <a:latin typeface="Cambria" panose="02040503050406030204" pitchFamily="18" charset="0"/>
                          <a:ea typeface="Cambria" panose="02040503050406030204" pitchFamily="18" charset="0"/>
                        </a:rPr>
                        <a:t>dan</a:t>
                      </a:r>
                      <a:r>
                        <a:rPr lang="en-ID" sz="1600" b="0" u="none" strike="noStrike" baseline="0" dirty="0" smtClean="0">
                          <a:solidFill>
                            <a:srgbClr val="000000"/>
                          </a:solidFill>
                          <a:effectLst/>
                          <a:latin typeface="Cambria" panose="02040503050406030204" pitchFamily="18" charset="0"/>
                          <a:ea typeface="Cambria" panose="02040503050406030204" pitchFamily="18" charset="0"/>
                        </a:rPr>
                        <a:t> </a:t>
                      </a:r>
                      <a:r>
                        <a:rPr lang="en-ID" sz="1600" b="0" u="none" strike="noStrike" baseline="0" dirty="0" err="1" smtClean="0">
                          <a:solidFill>
                            <a:srgbClr val="000000"/>
                          </a:solidFill>
                          <a:effectLst/>
                          <a:latin typeface="Cambria" panose="02040503050406030204" pitchFamily="18" charset="0"/>
                          <a:ea typeface="Cambria" panose="02040503050406030204" pitchFamily="18" charset="0"/>
                        </a:rPr>
                        <a:t>bencana</a:t>
                      </a:r>
                      <a:r>
                        <a:rPr lang="en-ID" sz="1600" b="0" u="none" strike="noStrike" baseline="0" dirty="0" smtClean="0">
                          <a:solidFill>
                            <a:srgbClr val="000000"/>
                          </a:solidFill>
                          <a:effectLst/>
                          <a:latin typeface="Cambria" panose="02040503050406030204" pitchFamily="18" charset="0"/>
                          <a:ea typeface="Cambria" panose="02040503050406030204" pitchFamily="18" charset="0"/>
                        </a:rPr>
                        <a:t> </a:t>
                      </a:r>
                      <a:r>
                        <a:rPr lang="en-ID" sz="1600" b="0" u="none" strike="noStrike" baseline="0" dirty="0" err="1" smtClean="0">
                          <a:solidFill>
                            <a:srgbClr val="000000"/>
                          </a:solidFill>
                          <a:effectLst/>
                          <a:latin typeface="Cambria" panose="02040503050406030204" pitchFamily="18" charset="0"/>
                          <a:ea typeface="Cambria" panose="02040503050406030204" pitchFamily="18" charset="0"/>
                        </a:rPr>
                        <a:t>banjir</a:t>
                      </a:r>
                      <a:r>
                        <a:rPr lang="en-ID" sz="1600" b="0" u="none" strike="noStrike" baseline="0" dirty="0" smtClean="0">
                          <a:solidFill>
                            <a:srgbClr val="000000"/>
                          </a:solidFill>
                          <a:effectLst/>
                          <a:latin typeface="Cambria" panose="02040503050406030204" pitchFamily="18" charset="0"/>
                          <a:ea typeface="Cambria" panose="02040503050406030204" pitchFamily="18" charset="0"/>
                        </a:rPr>
                        <a:t> &amp; </a:t>
                      </a:r>
                      <a:r>
                        <a:rPr lang="en-ID" sz="1600" b="0" u="none" strike="noStrike" baseline="0" dirty="0" err="1" smtClean="0">
                          <a:solidFill>
                            <a:srgbClr val="000000"/>
                          </a:solidFill>
                          <a:effectLst/>
                          <a:latin typeface="Cambria" panose="02040503050406030204" pitchFamily="18" charset="0"/>
                          <a:ea typeface="Cambria" panose="02040503050406030204" pitchFamily="18" charset="0"/>
                        </a:rPr>
                        <a:t>longsor</a:t>
                      </a:r>
                      <a:r>
                        <a:rPr lang="en-ID" sz="1600" b="0" u="none" strike="noStrike" baseline="0" dirty="0" smtClean="0">
                          <a:solidFill>
                            <a:srgbClr val="000000"/>
                          </a:solidFill>
                          <a:effectLst/>
                          <a:latin typeface="Cambria" panose="02040503050406030204" pitchFamily="18" charset="0"/>
                          <a:ea typeface="Cambria" panose="02040503050406030204" pitchFamily="18" charset="0"/>
                        </a:rPr>
                        <a:t> </a:t>
                      </a:r>
                      <a:r>
                        <a:rPr lang="en-ID" sz="1600" b="0" u="none" strike="noStrike" baseline="0" dirty="0" err="1" smtClean="0">
                          <a:solidFill>
                            <a:srgbClr val="000000"/>
                          </a:solidFill>
                          <a:effectLst/>
                          <a:latin typeface="Cambria" panose="02040503050406030204" pitchFamily="18" charset="0"/>
                          <a:ea typeface="Cambria" panose="02040503050406030204" pitchFamily="18" charset="0"/>
                        </a:rPr>
                        <a:t>siklon</a:t>
                      </a:r>
                      <a:r>
                        <a:rPr lang="en-ID" sz="1600" b="0" u="none" strike="noStrike" baseline="0" dirty="0" smtClean="0">
                          <a:solidFill>
                            <a:srgbClr val="000000"/>
                          </a:solidFill>
                          <a:effectLst/>
                          <a:latin typeface="Cambria" panose="02040503050406030204" pitchFamily="18" charset="0"/>
                          <a:ea typeface="Cambria" panose="02040503050406030204" pitchFamily="18" charset="0"/>
                        </a:rPr>
                        <a:t> </a:t>
                      </a:r>
                      <a:r>
                        <a:rPr lang="en-ID" sz="1600" b="0" u="none" strike="noStrike" baseline="0" dirty="0" err="1" smtClean="0">
                          <a:solidFill>
                            <a:srgbClr val="000000"/>
                          </a:solidFill>
                          <a:effectLst/>
                          <a:latin typeface="Cambria" panose="02040503050406030204" pitchFamily="18" charset="0"/>
                          <a:ea typeface="Cambria" panose="02040503050406030204" pitchFamily="18" charset="0"/>
                        </a:rPr>
                        <a:t>tropis</a:t>
                      </a:r>
                      <a:r>
                        <a:rPr lang="en-ID" sz="1600" b="0" u="none" strike="noStrike" baseline="0" dirty="0" smtClean="0">
                          <a:solidFill>
                            <a:srgbClr val="000000"/>
                          </a:solidFill>
                          <a:effectLst/>
                          <a:latin typeface="Cambria" panose="02040503050406030204" pitchFamily="18" charset="0"/>
                          <a:ea typeface="Cambria" panose="02040503050406030204" pitchFamily="18" charset="0"/>
                        </a:rPr>
                        <a:t> </a:t>
                      </a:r>
                      <a:r>
                        <a:rPr lang="en-ID" sz="1600" b="0" u="none" strike="noStrike" baseline="0" dirty="0" err="1" smtClean="0">
                          <a:solidFill>
                            <a:srgbClr val="000000"/>
                          </a:solidFill>
                          <a:effectLst/>
                          <a:latin typeface="Cambria" panose="02040503050406030204" pitchFamily="18" charset="0"/>
                          <a:ea typeface="Cambria" panose="02040503050406030204" pitchFamily="18" charset="0"/>
                        </a:rPr>
                        <a:t>Senyar</a:t>
                      </a:r>
                      <a:r>
                        <a:rPr lang="en-ID" sz="1600" b="0" u="none" strike="noStrike" baseline="0" dirty="0" smtClean="0">
                          <a:solidFill>
                            <a:srgbClr val="000000"/>
                          </a:solidFill>
                          <a:effectLst/>
                          <a:latin typeface="Cambria" panose="02040503050406030204" pitchFamily="18" charset="0"/>
                          <a:ea typeface="Cambria" panose="02040503050406030204" pitchFamily="18" charset="0"/>
                        </a:rPr>
                        <a:t> 2025</a:t>
                      </a:r>
                      <a:endParaRPr lang="en-ID" sz="1600" b="0" i="0" u="none" strike="noStrike" dirty="0">
                        <a:solidFill>
                          <a:srgbClr val="000000"/>
                        </a:solidFill>
                        <a:effectLst/>
                        <a:latin typeface="Cambria" panose="02040503050406030204" pitchFamily="18" charset="0"/>
                        <a:ea typeface="Cambria" panose="02040503050406030204" pitchFamily="18" charset="0"/>
                      </a:endParaRPr>
                    </a:p>
                  </a:txBody>
                  <a:tcPr marL="6350" marR="6350" marT="6350" marB="0" anchor="b"/>
                </a:tc>
                <a:extLst>
                  <a:ext uri="{0D108BD9-81ED-4DB2-BD59-A6C34878D82A}">
                    <a16:rowId xmlns:a16="http://schemas.microsoft.com/office/drawing/2014/main" xmlns="" val="1258650743"/>
                  </a:ext>
                </a:extLst>
              </a:tr>
            </a:tbl>
          </a:graphicData>
        </a:graphic>
      </p:graphicFrame>
      <p:sp>
        <p:nvSpPr>
          <p:cNvPr id="6" name="TextBox 5">
            <a:extLst>
              <a:ext uri="{FF2B5EF4-FFF2-40B4-BE49-F238E27FC236}">
                <a16:creationId xmlns:a16="http://schemas.microsoft.com/office/drawing/2014/main" xmlns="" id="{748B0EBD-EACE-AE90-2A05-2AE53000D1B9}"/>
              </a:ext>
            </a:extLst>
          </p:cNvPr>
          <p:cNvSpPr txBox="1"/>
          <p:nvPr/>
        </p:nvSpPr>
        <p:spPr>
          <a:xfrm>
            <a:off x="914400" y="446460"/>
            <a:ext cx="9245600" cy="646331"/>
          </a:xfrm>
          <a:prstGeom prst="rect">
            <a:avLst/>
          </a:prstGeom>
          <a:noFill/>
        </p:spPr>
        <p:txBody>
          <a:bodyPr wrap="square">
            <a:spAutoFit/>
          </a:bodyPr>
          <a:lstStyle/>
          <a:p>
            <a:r>
              <a:rPr lang="en-ID" dirty="0" err="1">
                <a:latin typeface="Cambria" panose="02040503050406030204" pitchFamily="18" charset="0"/>
                <a:ea typeface="Cambria" panose="02040503050406030204" pitchFamily="18" charset="0"/>
              </a:rPr>
              <a:t>Regulasi</a:t>
            </a:r>
            <a:r>
              <a:rPr lang="en-ID" dirty="0">
                <a:latin typeface="Cambria" panose="02040503050406030204" pitchFamily="18" charset="0"/>
                <a:ea typeface="Cambria" panose="02040503050406030204" pitchFamily="18" charset="0"/>
              </a:rPr>
              <a:t> dan </a:t>
            </a:r>
            <a:r>
              <a:rPr lang="en-ID" dirty="0" err="1">
                <a:latin typeface="Cambria" panose="02040503050406030204" pitchFamily="18" charset="0"/>
                <a:ea typeface="Cambria" panose="02040503050406030204" pitchFamily="18" charset="0"/>
              </a:rPr>
              <a:t>kebijakan</a:t>
            </a:r>
            <a:r>
              <a:rPr lang="en-ID" dirty="0">
                <a:latin typeface="Cambria" panose="02040503050406030204" pitchFamily="18" charset="0"/>
                <a:ea typeface="Cambria" panose="02040503050406030204" pitchFamily="18" charset="0"/>
              </a:rPr>
              <a:t> yang </a:t>
            </a:r>
            <a:r>
              <a:rPr lang="en-ID" dirty="0" err="1">
                <a:latin typeface="Cambria" panose="02040503050406030204" pitchFamily="18" charset="0"/>
                <a:ea typeface="Cambria" panose="02040503050406030204" pitchFamily="18" charset="0"/>
              </a:rPr>
              <a:t>tepat</a:t>
            </a:r>
            <a:r>
              <a:rPr lang="en-ID" dirty="0">
                <a:latin typeface="Cambria" panose="02040503050406030204" pitchFamily="18" charset="0"/>
                <a:ea typeface="Cambria" panose="02040503050406030204" pitchFamily="18" charset="0"/>
              </a:rPr>
              <a:t> sangat </a:t>
            </a:r>
            <a:r>
              <a:rPr lang="en-ID" dirty="0" err="1">
                <a:latin typeface="Cambria" panose="02040503050406030204" pitchFamily="18" charset="0"/>
                <a:ea typeface="Cambria" panose="02040503050406030204" pitchFamily="18" charset="0"/>
              </a:rPr>
              <a:t>diperlukan</a:t>
            </a:r>
            <a:r>
              <a:rPr lang="en-ID" dirty="0">
                <a:latin typeface="Cambria" panose="02040503050406030204" pitchFamily="18" charset="0"/>
                <a:ea typeface="Cambria" panose="02040503050406030204" pitchFamily="18" charset="0"/>
              </a:rPr>
              <a:t> agar </a:t>
            </a:r>
            <a:r>
              <a:rPr lang="en-ID" dirty="0" err="1">
                <a:latin typeface="Cambria" panose="02040503050406030204" pitchFamily="18" charset="0"/>
                <a:ea typeface="Cambria" panose="02040503050406030204" pitchFamily="18" charset="0"/>
              </a:rPr>
              <a:t>mitigasi</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risiko</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bencana</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dapat</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diintegrasikan</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ke</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dalam</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perencanaan</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pembangunan</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nasional</a:t>
            </a:r>
            <a:r>
              <a:rPr lang="en-ID" dirty="0">
                <a:latin typeface="Cambria" panose="02040503050406030204" pitchFamily="18" charset="0"/>
                <a:ea typeface="Cambria" panose="02040503050406030204" pitchFamily="18" charset="0"/>
              </a:rPr>
              <a:t> dan </a:t>
            </a:r>
            <a:r>
              <a:rPr lang="en-ID" dirty="0" err="1">
                <a:latin typeface="Cambria" panose="02040503050406030204" pitchFamily="18" charset="0"/>
                <a:ea typeface="Cambria" panose="02040503050406030204" pitchFamily="18" charset="0"/>
              </a:rPr>
              <a:t>daerah</a:t>
            </a:r>
            <a:r>
              <a:rPr lang="en-ID"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334862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64033DD-AB98-31CF-5085-F0E1DFBA72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C89D8CBB-608D-D99C-0978-0E7835F16E64}"/>
              </a:ext>
            </a:extLst>
          </p:cNvPr>
          <p:cNvSpPr>
            <a:spLocks noGrp="1"/>
          </p:cNvSpPr>
          <p:nvPr>
            <p:ph type="title"/>
          </p:nvPr>
        </p:nvSpPr>
        <p:spPr>
          <a:xfrm>
            <a:off x="593816" y="394445"/>
            <a:ext cx="11432548" cy="318660"/>
          </a:xfrm>
        </p:spPr>
        <p:txBody>
          <a:bodyPr>
            <a:normAutofit fontScale="90000"/>
          </a:bodyPr>
          <a:lstStyle/>
          <a:p>
            <a:r>
              <a:rPr lang="en-US" dirty="0"/>
              <a:t>2. Program Disaster Risk Financing and Insurance (DRFI)</a:t>
            </a:r>
            <a:br>
              <a:rPr lang="en-US" dirty="0"/>
            </a:br>
            <a:endParaRPr lang="en-ID" dirty="0"/>
          </a:p>
        </p:txBody>
      </p:sp>
      <p:sp>
        <p:nvSpPr>
          <p:cNvPr id="5" name="TextBox 4">
            <a:extLst>
              <a:ext uri="{FF2B5EF4-FFF2-40B4-BE49-F238E27FC236}">
                <a16:creationId xmlns:a16="http://schemas.microsoft.com/office/drawing/2014/main" xmlns="" id="{307B0027-4F41-11F2-4EC9-BE27A9B8F684}"/>
              </a:ext>
            </a:extLst>
          </p:cNvPr>
          <p:cNvSpPr txBox="1"/>
          <p:nvPr/>
        </p:nvSpPr>
        <p:spPr>
          <a:xfrm>
            <a:off x="873759" y="553775"/>
            <a:ext cx="10341817" cy="646331"/>
          </a:xfrm>
          <a:prstGeom prst="rect">
            <a:avLst/>
          </a:prstGeom>
          <a:noFill/>
        </p:spPr>
        <p:txBody>
          <a:bodyPr wrap="square">
            <a:spAutoFit/>
          </a:bodyPr>
          <a:lstStyle/>
          <a:p>
            <a:r>
              <a:rPr lang="en-ID" b="1" dirty="0"/>
              <a:t>Model </a:t>
            </a:r>
            <a:r>
              <a:rPr lang="en-ID" b="1" dirty="0" err="1"/>
              <a:t>pembiayaan</a:t>
            </a:r>
            <a:r>
              <a:rPr lang="en-ID" b="1" dirty="0"/>
              <a:t> </a:t>
            </a:r>
            <a:r>
              <a:rPr lang="en-ID" b="1" dirty="0" err="1"/>
              <a:t>berbasis</a:t>
            </a:r>
            <a:r>
              <a:rPr lang="en-ID" b="1" dirty="0"/>
              <a:t> </a:t>
            </a:r>
            <a:r>
              <a:rPr lang="en-ID" b="1" dirty="0" err="1"/>
              <a:t>risiko</a:t>
            </a:r>
            <a:r>
              <a:rPr lang="en-ID" b="1" dirty="0"/>
              <a:t> </a:t>
            </a:r>
            <a:r>
              <a:rPr lang="en-ID" dirty="0" err="1"/>
              <a:t>dapat</a:t>
            </a:r>
            <a:r>
              <a:rPr lang="en-ID" dirty="0"/>
              <a:t> </a:t>
            </a:r>
            <a:r>
              <a:rPr lang="en-ID" dirty="0" err="1"/>
              <a:t>memberikan</a:t>
            </a:r>
            <a:r>
              <a:rPr lang="en-ID" dirty="0"/>
              <a:t> </a:t>
            </a:r>
            <a:r>
              <a:rPr lang="en-ID" dirty="0" err="1"/>
              <a:t>insentif</a:t>
            </a:r>
            <a:r>
              <a:rPr lang="en-ID" dirty="0"/>
              <a:t> </a:t>
            </a:r>
            <a:r>
              <a:rPr lang="en-ID" dirty="0" err="1"/>
              <a:t>bagi</a:t>
            </a:r>
            <a:r>
              <a:rPr lang="en-ID" dirty="0"/>
              <a:t> </a:t>
            </a:r>
            <a:r>
              <a:rPr lang="en-ID" dirty="0" err="1"/>
              <a:t>pemerintah</a:t>
            </a:r>
            <a:r>
              <a:rPr lang="en-ID" dirty="0"/>
              <a:t> </a:t>
            </a:r>
            <a:r>
              <a:rPr lang="en-ID" dirty="0" err="1"/>
              <a:t>daerah</a:t>
            </a:r>
            <a:r>
              <a:rPr lang="en-ID" dirty="0"/>
              <a:t> dan </a:t>
            </a:r>
            <a:r>
              <a:rPr lang="en-ID" dirty="0" err="1"/>
              <a:t>sektor</a:t>
            </a:r>
            <a:r>
              <a:rPr lang="en-ID" dirty="0"/>
              <a:t> </a:t>
            </a:r>
            <a:r>
              <a:rPr lang="en-ID" dirty="0" err="1"/>
              <a:t>swasta</a:t>
            </a:r>
            <a:r>
              <a:rPr lang="en-ID" dirty="0"/>
              <a:t> </a:t>
            </a:r>
            <a:r>
              <a:rPr lang="en-ID" dirty="0" err="1"/>
              <a:t>untuk</a:t>
            </a:r>
            <a:r>
              <a:rPr lang="en-ID" dirty="0"/>
              <a:t> </a:t>
            </a:r>
            <a:r>
              <a:rPr lang="en-ID" dirty="0" err="1"/>
              <a:t>meningkatkan</a:t>
            </a:r>
            <a:r>
              <a:rPr lang="en-ID" dirty="0"/>
              <a:t> </a:t>
            </a:r>
            <a:r>
              <a:rPr lang="en-ID" dirty="0" err="1"/>
              <a:t>kesiapsiagaan</a:t>
            </a:r>
            <a:r>
              <a:rPr lang="en-ID" dirty="0"/>
              <a:t>.</a:t>
            </a:r>
          </a:p>
        </p:txBody>
      </p:sp>
      <p:graphicFrame>
        <p:nvGraphicFramePr>
          <p:cNvPr id="4" name="Table 3">
            <a:extLst>
              <a:ext uri="{FF2B5EF4-FFF2-40B4-BE49-F238E27FC236}">
                <a16:creationId xmlns:a16="http://schemas.microsoft.com/office/drawing/2014/main" xmlns="" id="{F47D8852-03AF-4DD0-4524-78FA173E632D}"/>
              </a:ext>
            </a:extLst>
          </p:cNvPr>
          <p:cNvGraphicFramePr>
            <a:graphicFrameLocks noGrp="1"/>
          </p:cNvGraphicFramePr>
          <p:nvPr>
            <p:extLst>
              <p:ext uri="{D42A27DB-BD31-4B8C-83A1-F6EECF244321}">
                <p14:modId xmlns:p14="http://schemas.microsoft.com/office/powerpoint/2010/main" val="3367790585"/>
              </p:ext>
            </p:extLst>
          </p:nvPr>
        </p:nvGraphicFramePr>
        <p:xfrm>
          <a:off x="522696" y="1359436"/>
          <a:ext cx="11760743" cy="5033394"/>
        </p:xfrm>
        <a:graphic>
          <a:graphicData uri="http://schemas.openxmlformats.org/drawingml/2006/table">
            <a:tbl>
              <a:tblPr/>
              <a:tblGrid>
                <a:gridCol w="1563253">
                  <a:extLst>
                    <a:ext uri="{9D8B030D-6E8A-4147-A177-3AD203B41FA5}">
                      <a16:colId xmlns:a16="http://schemas.microsoft.com/office/drawing/2014/main" xmlns="" val="3989119840"/>
                    </a:ext>
                  </a:extLst>
                </a:gridCol>
                <a:gridCol w="3593094">
                  <a:extLst>
                    <a:ext uri="{9D8B030D-6E8A-4147-A177-3AD203B41FA5}">
                      <a16:colId xmlns:a16="http://schemas.microsoft.com/office/drawing/2014/main" xmlns="" val="2332488031"/>
                    </a:ext>
                  </a:extLst>
                </a:gridCol>
                <a:gridCol w="1114837">
                  <a:extLst>
                    <a:ext uri="{9D8B030D-6E8A-4147-A177-3AD203B41FA5}">
                      <a16:colId xmlns:a16="http://schemas.microsoft.com/office/drawing/2014/main" xmlns="" val="1289724342"/>
                    </a:ext>
                  </a:extLst>
                </a:gridCol>
                <a:gridCol w="1817735">
                  <a:extLst>
                    <a:ext uri="{9D8B030D-6E8A-4147-A177-3AD203B41FA5}">
                      <a16:colId xmlns:a16="http://schemas.microsoft.com/office/drawing/2014/main" xmlns="" val="1637265184"/>
                    </a:ext>
                  </a:extLst>
                </a:gridCol>
                <a:gridCol w="1690493">
                  <a:extLst>
                    <a:ext uri="{9D8B030D-6E8A-4147-A177-3AD203B41FA5}">
                      <a16:colId xmlns:a16="http://schemas.microsoft.com/office/drawing/2014/main" xmlns="" val="3581772839"/>
                    </a:ext>
                  </a:extLst>
                </a:gridCol>
                <a:gridCol w="1981331">
                  <a:extLst>
                    <a:ext uri="{9D8B030D-6E8A-4147-A177-3AD203B41FA5}">
                      <a16:colId xmlns:a16="http://schemas.microsoft.com/office/drawing/2014/main" xmlns="" val="3847443335"/>
                    </a:ext>
                  </a:extLst>
                </a:gridCol>
              </a:tblGrid>
              <a:tr h="450138">
                <a:tc>
                  <a:txBody>
                    <a:bodyPr/>
                    <a:lstStyle/>
                    <a:p>
                      <a:pPr algn="l" rtl="0" fontAlgn="ctr"/>
                      <a:r>
                        <a:rPr lang="en-ID" sz="1600" b="0" i="0" u="none" strike="noStrike" dirty="0">
                          <a:solidFill>
                            <a:srgbClr val="000000"/>
                          </a:solidFill>
                          <a:effectLst/>
                          <a:latin typeface="Cambria" panose="02040503050406030204" pitchFamily="18" charset="0"/>
                        </a:rPr>
                        <a:t>Program</a:t>
                      </a:r>
                    </a:p>
                  </a:txBody>
                  <a:tcPr marL="3334" marR="3334" marT="33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rtl="0" fontAlgn="ctr"/>
                      <a:r>
                        <a:rPr lang="en-ID" sz="1600" b="0" i="0" u="none" strike="noStrike" dirty="0" err="1">
                          <a:solidFill>
                            <a:srgbClr val="000000"/>
                          </a:solidFill>
                          <a:effectLst/>
                          <a:latin typeface="Cambria" panose="02040503050406030204" pitchFamily="18" charset="0"/>
                        </a:rPr>
                        <a:t>Rincian</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Kegiatan</a:t>
                      </a:r>
                      <a:endParaRPr lang="en-ID" sz="1600" b="0" i="0" u="none" strike="noStrike" dirty="0">
                        <a:solidFill>
                          <a:srgbClr val="000000"/>
                        </a:solidFill>
                        <a:effectLst/>
                        <a:latin typeface="Cambria" panose="02040503050406030204" pitchFamily="18" charset="0"/>
                      </a:endParaRPr>
                    </a:p>
                  </a:txBody>
                  <a:tcPr marL="3334" marR="3334" marT="33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rtl="0" fontAlgn="t"/>
                      <a:r>
                        <a:rPr lang="en-ID" sz="1600" b="0" i="0" u="none" strike="noStrike" dirty="0" err="1">
                          <a:solidFill>
                            <a:srgbClr val="000000"/>
                          </a:solidFill>
                          <a:effectLst/>
                          <a:latin typeface="Cambria" panose="02040503050406030204" pitchFamily="18" charset="0"/>
                        </a:rPr>
                        <a:t>Jadwal</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Kegiatan</a:t>
                      </a:r>
                      <a:r>
                        <a:rPr lang="en-ID" sz="1600" b="0" i="0" u="none" strike="noStrike" dirty="0">
                          <a:solidFill>
                            <a:srgbClr val="000000"/>
                          </a:solidFill>
                          <a:effectLst/>
                          <a:latin typeface="Cambria" panose="02040503050406030204" pitchFamily="18" charset="0"/>
                        </a:rPr>
                        <a:t> </a:t>
                      </a:r>
                      <a:r>
                        <a:rPr lang="en-ID" sz="1600" b="0" i="0" u="none" strike="noStrike" dirty="0" smtClean="0">
                          <a:solidFill>
                            <a:srgbClr val="000000"/>
                          </a:solidFill>
                          <a:effectLst/>
                          <a:latin typeface="Cambria" panose="02040503050406030204" pitchFamily="18" charset="0"/>
                        </a:rPr>
                        <a:t>(2026-2027)</a:t>
                      </a:r>
                      <a:endParaRPr lang="en-ID" sz="1600" b="0" i="0" u="none" strike="noStrike" dirty="0">
                        <a:solidFill>
                          <a:srgbClr val="000000"/>
                        </a:solidFill>
                        <a:effectLst/>
                        <a:latin typeface="Cambria" panose="02040503050406030204" pitchFamily="18" charset="0"/>
                      </a:endParaRPr>
                    </a:p>
                  </a:txBody>
                  <a:tcPr marL="3334" marR="3334" marT="33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rtl="0" fontAlgn="ctr"/>
                      <a:r>
                        <a:rPr lang="en-ID" sz="1600" b="0" i="0" u="none" strike="noStrike" dirty="0" err="1">
                          <a:solidFill>
                            <a:srgbClr val="000000"/>
                          </a:solidFill>
                          <a:effectLst/>
                          <a:latin typeface="Cambria" panose="02040503050406030204" pitchFamily="18" charset="0"/>
                        </a:rPr>
                        <a:t>Kebutuhan</a:t>
                      </a:r>
                      <a:r>
                        <a:rPr lang="en-ID" sz="1600" b="0" i="0" u="none" strike="noStrike" dirty="0">
                          <a:solidFill>
                            <a:srgbClr val="000000"/>
                          </a:solidFill>
                          <a:effectLst/>
                          <a:latin typeface="Cambria" panose="02040503050406030204" pitchFamily="18" charset="0"/>
                        </a:rPr>
                        <a:t> Dana</a:t>
                      </a:r>
                    </a:p>
                  </a:txBody>
                  <a:tcPr marL="3334" marR="3334" marT="33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rtl="0" fontAlgn="ctr"/>
                      <a:r>
                        <a:rPr lang="en-ID" sz="1600" b="0" i="0" u="none" strike="noStrike" dirty="0" err="1">
                          <a:solidFill>
                            <a:srgbClr val="000000"/>
                          </a:solidFill>
                          <a:effectLst/>
                          <a:latin typeface="Cambria" panose="02040503050406030204" pitchFamily="18" charset="0"/>
                        </a:rPr>
                        <a:t>Sumber</a:t>
                      </a:r>
                      <a:r>
                        <a:rPr lang="en-ID" sz="1600" b="0" i="0" u="none" strike="noStrike" dirty="0">
                          <a:solidFill>
                            <a:srgbClr val="000000"/>
                          </a:solidFill>
                          <a:effectLst/>
                          <a:latin typeface="Cambria" panose="02040503050406030204" pitchFamily="18" charset="0"/>
                        </a:rPr>
                        <a:t> Dana</a:t>
                      </a:r>
                    </a:p>
                  </a:txBody>
                  <a:tcPr marL="3334" marR="3334" marT="33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r>
                        <a:rPr lang="en-ID" sz="1600" b="0" i="0" u="none" strike="noStrike" dirty="0">
                          <a:solidFill>
                            <a:srgbClr val="000000"/>
                          </a:solidFill>
                          <a:effectLst/>
                          <a:latin typeface="Cambria" panose="02040503050406030204" pitchFamily="18" charset="0"/>
                        </a:rPr>
                        <a:t>Output yang </a:t>
                      </a:r>
                      <a:r>
                        <a:rPr lang="en-ID" sz="1600" b="0" i="0" u="none" strike="noStrike" dirty="0" err="1">
                          <a:solidFill>
                            <a:srgbClr val="000000"/>
                          </a:solidFill>
                          <a:effectLst/>
                          <a:latin typeface="Cambria" panose="02040503050406030204" pitchFamily="18" charset="0"/>
                        </a:rPr>
                        <a:t>diharapkan</a:t>
                      </a:r>
                      <a:endParaRPr lang="en-ID" sz="1600" b="0" i="0" u="none" strike="noStrike" dirty="0">
                        <a:solidFill>
                          <a:srgbClr val="000000"/>
                        </a:solidFill>
                        <a:effectLst/>
                        <a:latin typeface="Cambria" panose="02040503050406030204" pitchFamily="18" charset="0"/>
                      </a:endParaRPr>
                    </a:p>
                  </a:txBody>
                  <a:tcPr marL="3334" marR="3334" marT="33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xmlns="" val="3555246388"/>
                  </a:ext>
                </a:extLst>
              </a:tr>
              <a:tr h="1800554">
                <a:tc>
                  <a:txBody>
                    <a:bodyPr/>
                    <a:lstStyle/>
                    <a:p>
                      <a:pPr algn="l" rtl="0" fontAlgn="t"/>
                      <a:r>
                        <a:rPr lang="en-US" sz="1600" b="0" i="0" u="none" strike="noStrike" dirty="0">
                          <a:solidFill>
                            <a:srgbClr val="000000"/>
                          </a:solidFill>
                          <a:effectLst/>
                          <a:latin typeface="Cambria" panose="02040503050406030204" pitchFamily="18" charset="0"/>
                        </a:rPr>
                        <a:t>Disaster Risk Financing and Insurance (DRFI)</a:t>
                      </a:r>
                    </a:p>
                  </a:txBody>
                  <a:tcPr marL="3334" marR="3334" marT="333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dirty="0">
                          <a:solidFill>
                            <a:srgbClr val="000000"/>
                          </a:solidFill>
                          <a:effectLst/>
                          <a:latin typeface="Cambria" panose="02040503050406030204" pitchFamily="18" charset="0"/>
                        </a:rPr>
                        <a:t>- </a:t>
                      </a:r>
                      <a:r>
                        <a:rPr lang="en-ID" sz="1600" b="1" i="0" u="none" strike="noStrike" dirty="0">
                          <a:solidFill>
                            <a:srgbClr val="000000"/>
                          </a:solidFill>
                          <a:effectLst/>
                          <a:latin typeface="Cambria" panose="02040503050406030204" pitchFamily="18" charset="0"/>
                        </a:rPr>
                        <a:t>Kajian model </a:t>
                      </a:r>
                      <a:r>
                        <a:rPr lang="en-ID" sz="1600" b="1" i="0" u="none" strike="noStrike" dirty="0" err="1">
                          <a:solidFill>
                            <a:srgbClr val="000000"/>
                          </a:solidFill>
                          <a:effectLst/>
                          <a:latin typeface="Cambria" panose="02040503050406030204" pitchFamily="18" charset="0"/>
                        </a:rPr>
                        <a:t>pembiayaan</a:t>
                      </a:r>
                      <a:r>
                        <a:rPr lang="en-ID" sz="1600" b="1" i="0" u="none" strike="noStrike" dirty="0">
                          <a:solidFill>
                            <a:srgbClr val="000000"/>
                          </a:solidFill>
                          <a:effectLst/>
                          <a:latin typeface="Cambria" panose="02040503050406030204" pitchFamily="18" charset="0"/>
                        </a:rPr>
                        <a:t> </a:t>
                      </a:r>
                      <a:r>
                        <a:rPr lang="en-ID" sz="1600" b="1" i="0" u="none" strike="noStrike" dirty="0" err="1">
                          <a:solidFill>
                            <a:srgbClr val="000000"/>
                          </a:solidFill>
                          <a:effectLst/>
                          <a:latin typeface="Cambria" panose="02040503050406030204" pitchFamily="18" charset="0"/>
                        </a:rPr>
                        <a:t>risiko</a:t>
                      </a:r>
                      <a:r>
                        <a:rPr lang="en-ID" sz="1600" b="1" i="0" u="none" strike="noStrike" dirty="0">
                          <a:solidFill>
                            <a:srgbClr val="000000"/>
                          </a:solidFill>
                          <a:effectLst/>
                          <a:latin typeface="Cambria" panose="02040503050406030204" pitchFamily="18" charset="0"/>
                        </a:rPr>
                        <a:t> </a:t>
                      </a:r>
                      <a:r>
                        <a:rPr lang="en-ID" sz="1600" b="1" i="0" u="none" strike="noStrike" dirty="0" err="1">
                          <a:solidFill>
                            <a:srgbClr val="000000"/>
                          </a:solidFill>
                          <a:effectLst/>
                          <a:latin typeface="Cambria" panose="02040503050406030204" pitchFamily="18" charset="0"/>
                        </a:rPr>
                        <a:t>bencana</a:t>
                      </a:r>
                      <a:r>
                        <a:rPr lang="en-ID" sz="1600" b="1" i="0" u="none" strike="noStrike" dirty="0">
                          <a:solidFill>
                            <a:srgbClr val="000000"/>
                          </a:solidFill>
                          <a:effectLst/>
                          <a:latin typeface="Cambria" panose="02040503050406030204" pitchFamily="18" charset="0"/>
                        </a:rPr>
                        <a:t> </a:t>
                      </a:r>
                      <a:r>
                        <a:rPr lang="en-ID" sz="1600" b="0" i="0" u="none" strike="noStrike" dirty="0">
                          <a:solidFill>
                            <a:srgbClr val="000000"/>
                          </a:solidFill>
                          <a:effectLst/>
                          <a:latin typeface="Cambria" panose="02040503050406030204" pitchFamily="18" charset="0"/>
                        </a:rPr>
                        <a:t>(</a:t>
                      </a:r>
                      <a:r>
                        <a:rPr lang="en-ID" sz="1600" b="0" i="0" u="none" strike="noStrike" dirty="0" err="1">
                          <a:solidFill>
                            <a:srgbClr val="000000"/>
                          </a:solidFill>
                          <a:effectLst/>
                          <a:latin typeface="Cambria" panose="02040503050406030204" pitchFamily="18" charset="0"/>
                        </a:rPr>
                        <a:t>asuransi</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parametris</a:t>
                      </a:r>
                      <a:r>
                        <a:rPr lang="en-ID" sz="1600" b="0" i="0" u="none" strike="noStrike" dirty="0">
                          <a:solidFill>
                            <a:srgbClr val="000000"/>
                          </a:solidFill>
                          <a:effectLst/>
                          <a:latin typeface="Cambria" panose="02040503050406030204" pitchFamily="18" charset="0"/>
                        </a:rPr>
                        <a:t>, dana </a:t>
                      </a:r>
                      <a:r>
                        <a:rPr lang="en-ID" sz="1600" b="0" i="0" u="none" strike="noStrike" dirty="0" err="1">
                          <a:solidFill>
                            <a:srgbClr val="000000"/>
                          </a:solidFill>
                          <a:effectLst/>
                          <a:latin typeface="Cambria" panose="02040503050406030204" pitchFamily="18" charset="0"/>
                        </a:rPr>
                        <a:t>kontinjensi</a:t>
                      </a:r>
                      <a:r>
                        <a:rPr lang="en-ID" sz="1600" b="0" i="0" u="none" strike="noStrike" dirty="0">
                          <a:solidFill>
                            <a:srgbClr val="000000"/>
                          </a:solidFill>
                          <a:effectLst/>
                          <a:latin typeface="Cambria" panose="02040503050406030204" pitchFamily="18" charset="0"/>
                        </a:rPr>
                        <a:t>, catastrophe bonds, pooling fund </a:t>
                      </a:r>
                      <a:r>
                        <a:rPr lang="en-ID" sz="1600" b="0" i="0" u="none" strike="noStrike" dirty="0" err="1">
                          <a:solidFill>
                            <a:srgbClr val="000000"/>
                          </a:solidFill>
                          <a:effectLst/>
                          <a:latin typeface="Cambria" panose="02040503050406030204" pitchFamily="18" charset="0"/>
                        </a:rPr>
                        <a:t>bencana</a:t>
                      </a:r>
                      <a:r>
                        <a:rPr lang="en-ID" sz="1600" b="0" i="0" u="none" strike="noStrike" dirty="0">
                          <a:solidFill>
                            <a:srgbClr val="000000"/>
                          </a:solidFill>
                          <a:effectLst/>
                          <a:latin typeface="Cambria" panose="02040503050406030204" pitchFamily="18" charset="0"/>
                        </a:rPr>
                        <a:t>).</a:t>
                      </a:r>
                    </a:p>
                  </a:txBody>
                  <a:tcPr marL="3334" marR="3334" marT="333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it-IT" sz="1600" b="0" i="0" u="none" strike="noStrike" dirty="0">
                          <a:solidFill>
                            <a:srgbClr val="000000"/>
                          </a:solidFill>
                          <a:effectLst/>
                          <a:latin typeface="Cambria" panose="02040503050406030204" pitchFamily="18" charset="0"/>
                        </a:rPr>
                        <a:t>Maret – November</a:t>
                      </a:r>
                    </a:p>
                  </a:txBody>
                  <a:tcPr marL="3334" marR="3334" marT="333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a:solidFill>
                            <a:srgbClr val="000000"/>
                          </a:solidFill>
                          <a:effectLst/>
                          <a:latin typeface="Cambria" panose="02040503050406030204" pitchFamily="18" charset="0"/>
                        </a:rPr>
                        <a:t>To be defined</a:t>
                      </a:r>
                    </a:p>
                  </a:txBody>
                  <a:tcPr marL="3334" marR="3334" marT="333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a:solidFill>
                            <a:srgbClr val="000000"/>
                          </a:solidFill>
                          <a:effectLst/>
                          <a:latin typeface="Cambria" panose="02040503050406030204" pitchFamily="18" charset="0"/>
                        </a:rPr>
                        <a:t>Hibah riset, kerja sama dengan sektor keuangan &amp; lembaga internasional</a:t>
                      </a:r>
                    </a:p>
                  </a:txBody>
                  <a:tcPr marL="3334" marR="3334" marT="333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sv-SE" sz="1600" b="0" i="0" u="none" strike="noStrike" dirty="0">
                          <a:solidFill>
                            <a:srgbClr val="000000"/>
                          </a:solidFill>
                          <a:effectLst/>
                          <a:latin typeface="Cambria" panose="02040503050406030204" pitchFamily="18" charset="0"/>
                        </a:rPr>
                        <a:t>Pengembangan mekanisme pendanaan bencana yang lebih efisien, seperti dana kontingensi dan asuransi risiko bencana.</a:t>
                      </a:r>
                    </a:p>
                  </a:txBody>
                  <a:tcPr marL="3334" marR="3334" marT="33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035083017"/>
                  </a:ext>
                </a:extLst>
              </a:tr>
              <a:tr h="1050323">
                <a:tc>
                  <a:txBody>
                    <a:bodyPr/>
                    <a:lstStyle/>
                    <a:p>
                      <a:pPr algn="l" rtl="0" fontAlgn="t"/>
                      <a:r>
                        <a:rPr lang="en-ID" sz="1600" b="0" i="0" u="none" strike="noStrike">
                          <a:solidFill>
                            <a:srgbClr val="000000"/>
                          </a:solidFill>
                          <a:effectLst/>
                          <a:latin typeface="Cambria" panose="02040503050406030204" pitchFamily="18" charset="0"/>
                        </a:rPr>
                        <a:t> </a:t>
                      </a:r>
                    </a:p>
                  </a:txBody>
                  <a:tcPr marL="3334" marR="3334" marT="333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dirty="0">
                          <a:solidFill>
                            <a:srgbClr val="000000"/>
                          </a:solidFill>
                          <a:effectLst/>
                          <a:latin typeface="Cambria" panose="02040503050406030204" pitchFamily="18" charset="0"/>
                        </a:rPr>
                        <a:t>- </a:t>
                      </a:r>
                      <a:r>
                        <a:rPr lang="en-ID" sz="1600" b="1" i="0" u="none" strike="noStrike" dirty="0" err="1">
                          <a:solidFill>
                            <a:srgbClr val="000000"/>
                          </a:solidFill>
                          <a:effectLst/>
                          <a:latin typeface="Cambria" panose="02040503050406030204" pitchFamily="18" charset="0"/>
                        </a:rPr>
                        <a:t>Diskusi</a:t>
                      </a:r>
                      <a:r>
                        <a:rPr lang="en-ID" sz="1600" b="1" i="0" u="none" strike="noStrike" dirty="0">
                          <a:solidFill>
                            <a:srgbClr val="000000"/>
                          </a:solidFill>
                          <a:effectLst/>
                          <a:latin typeface="Cambria" panose="02040503050406030204" pitchFamily="18" charset="0"/>
                        </a:rPr>
                        <a:t> </a:t>
                      </a:r>
                      <a:r>
                        <a:rPr lang="en-ID" sz="1600" b="1" i="0" u="none" strike="noStrike" dirty="0" err="1">
                          <a:solidFill>
                            <a:srgbClr val="000000"/>
                          </a:solidFill>
                          <a:effectLst/>
                          <a:latin typeface="Cambria" panose="02040503050406030204" pitchFamily="18" charset="0"/>
                        </a:rPr>
                        <a:t>dengan</a:t>
                      </a:r>
                      <a:r>
                        <a:rPr lang="en-ID" sz="1600" b="1" i="0" u="none" strike="noStrike" dirty="0">
                          <a:solidFill>
                            <a:srgbClr val="000000"/>
                          </a:solidFill>
                          <a:effectLst/>
                          <a:latin typeface="Cambria" panose="02040503050406030204" pitchFamily="18" charset="0"/>
                        </a:rPr>
                        <a:t> </a:t>
                      </a:r>
                      <a:r>
                        <a:rPr lang="en-ID" sz="1600" b="1" i="0" u="none" strike="noStrike" dirty="0" err="1">
                          <a:solidFill>
                            <a:srgbClr val="000000"/>
                          </a:solidFill>
                          <a:effectLst/>
                          <a:latin typeface="Cambria" panose="02040503050406030204" pitchFamily="18" charset="0"/>
                        </a:rPr>
                        <a:t>sektor</a:t>
                      </a:r>
                      <a:r>
                        <a:rPr lang="en-ID" sz="1600" b="1" i="0" u="none" strike="noStrike" dirty="0">
                          <a:solidFill>
                            <a:srgbClr val="000000"/>
                          </a:solidFill>
                          <a:effectLst/>
                          <a:latin typeface="Cambria" panose="02040503050406030204" pitchFamily="18" charset="0"/>
                        </a:rPr>
                        <a:t> </a:t>
                      </a:r>
                      <a:r>
                        <a:rPr lang="en-ID" sz="1600" b="1" i="0" u="none" strike="noStrike" dirty="0" err="1">
                          <a:solidFill>
                            <a:srgbClr val="000000"/>
                          </a:solidFill>
                          <a:effectLst/>
                          <a:latin typeface="Cambria" panose="02040503050406030204" pitchFamily="18" charset="0"/>
                        </a:rPr>
                        <a:t>keuangan</a:t>
                      </a:r>
                      <a:r>
                        <a:rPr lang="en-ID" sz="1600" b="1" i="0" u="none" strike="noStrike" dirty="0">
                          <a:solidFill>
                            <a:srgbClr val="000000"/>
                          </a:solidFill>
                          <a:effectLst/>
                          <a:latin typeface="Cambria" panose="02040503050406030204" pitchFamily="18" charset="0"/>
                        </a:rPr>
                        <a:t> dan </a:t>
                      </a:r>
                      <a:r>
                        <a:rPr lang="en-ID" sz="1600" b="1" i="0" u="none" strike="noStrike" dirty="0" err="1">
                          <a:solidFill>
                            <a:srgbClr val="000000"/>
                          </a:solidFill>
                          <a:effectLst/>
                          <a:latin typeface="Cambria" panose="02040503050406030204" pitchFamily="18" charset="0"/>
                        </a:rPr>
                        <a:t>pemerintah</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untuk</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skema</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implementasi</a:t>
                      </a:r>
                      <a:r>
                        <a:rPr lang="en-ID" sz="1600" b="0" i="0" u="none" strike="noStrike" dirty="0">
                          <a:solidFill>
                            <a:srgbClr val="000000"/>
                          </a:solidFill>
                          <a:effectLst/>
                          <a:latin typeface="Cambria" panose="02040503050406030204" pitchFamily="18" charset="0"/>
                        </a:rPr>
                        <a:t> DRFI.</a:t>
                      </a:r>
                    </a:p>
                  </a:txBody>
                  <a:tcPr marL="3334" marR="3334" marT="333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a:solidFill>
                            <a:srgbClr val="000000"/>
                          </a:solidFill>
                          <a:effectLst/>
                          <a:latin typeface="Cambria" panose="02040503050406030204" pitchFamily="18" charset="0"/>
                        </a:rPr>
                        <a:t> </a:t>
                      </a:r>
                    </a:p>
                  </a:txBody>
                  <a:tcPr marL="3334" marR="3334" marT="333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a:solidFill>
                            <a:srgbClr val="000000"/>
                          </a:solidFill>
                          <a:effectLst/>
                          <a:latin typeface="Cambria" panose="02040503050406030204" pitchFamily="18" charset="0"/>
                        </a:rPr>
                        <a:t> </a:t>
                      </a:r>
                    </a:p>
                  </a:txBody>
                  <a:tcPr marL="3334" marR="3334" marT="333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a:solidFill>
                            <a:srgbClr val="000000"/>
                          </a:solidFill>
                          <a:effectLst/>
                          <a:latin typeface="Cambria" panose="02040503050406030204" pitchFamily="18" charset="0"/>
                        </a:rPr>
                        <a:t> </a:t>
                      </a:r>
                    </a:p>
                  </a:txBody>
                  <a:tcPr marL="3334" marR="3334" marT="333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D" sz="1600" b="1" i="0" u="none" strike="noStrike" dirty="0">
                          <a:solidFill>
                            <a:srgbClr val="000000"/>
                          </a:solidFill>
                          <a:effectLst/>
                          <a:latin typeface="Cambria" panose="02040503050406030204" pitchFamily="18" charset="0"/>
                        </a:rPr>
                        <a:t>Model </a:t>
                      </a:r>
                      <a:r>
                        <a:rPr lang="en-ID" sz="1600" b="1" i="0" u="none" strike="noStrike" dirty="0" err="1">
                          <a:solidFill>
                            <a:srgbClr val="000000"/>
                          </a:solidFill>
                          <a:effectLst/>
                          <a:latin typeface="Cambria" panose="02040503050406030204" pitchFamily="18" charset="0"/>
                        </a:rPr>
                        <a:t>implementasi</a:t>
                      </a:r>
                      <a:r>
                        <a:rPr lang="en-ID" sz="1600" b="1" i="0" u="none" strike="noStrike" dirty="0">
                          <a:solidFill>
                            <a:srgbClr val="000000"/>
                          </a:solidFill>
                          <a:effectLst/>
                          <a:latin typeface="Cambria" panose="02040503050406030204" pitchFamily="18" charset="0"/>
                        </a:rPr>
                        <a:t> DRFI </a:t>
                      </a:r>
                      <a:r>
                        <a:rPr lang="en-ID" sz="1600" b="0" i="0" u="none" strike="noStrike" dirty="0" err="1">
                          <a:solidFill>
                            <a:srgbClr val="000000"/>
                          </a:solidFill>
                          <a:effectLst/>
                          <a:latin typeface="Cambria" panose="02040503050406030204" pitchFamily="18" charset="0"/>
                        </a:rPr>
                        <a:t>untuk</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pemerintah</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daerah</a:t>
                      </a:r>
                      <a:r>
                        <a:rPr lang="en-ID" sz="1600" b="0" i="0" u="none" strike="noStrike" dirty="0">
                          <a:solidFill>
                            <a:srgbClr val="000000"/>
                          </a:solidFill>
                          <a:effectLst/>
                          <a:latin typeface="Cambria" panose="02040503050406030204" pitchFamily="18" charset="0"/>
                        </a:rPr>
                        <a:t> dan </a:t>
                      </a:r>
                      <a:r>
                        <a:rPr lang="en-ID" sz="1600" b="0" i="0" u="none" strike="noStrike" dirty="0" err="1">
                          <a:solidFill>
                            <a:srgbClr val="000000"/>
                          </a:solidFill>
                          <a:effectLst/>
                          <a:latin typeface="Cambria" panose="02040503050406030204" pitchFamily="18" charset="0"/>
                        </a:rPr>
                        <a:t>sektor</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swasta</a:t>
                      </a:r>
                      <a:r>
                        <a:rPr lang="en-ID" sz="1600" b="0" i="0" u="none" strike="noStrike" dirty="0">
                          <a:solidFill>
                            <a:srgbClr val="000000"/>
                          </a:solidFill>
                          <a:effectLst/>
                          <a:latin typeface="Cambria" panose="02040503050406030204" pitchFamily="18" charset="0"/>
                        </a:rPr>
                        <a:t>.</a:t>
                      </a:r>
                    </a:p>
                  </a:txBody>
                  <a:tcPr marL="3334" marR="3334" marT="33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389468160"/>
                  </a:ext>
                </a:extLst>
              </a:tr>
              <a:tr h="1050323">
                <a:tc>
                  <a:txBody>
                    <a:bodyPr/>
                    <a:lstStyle/>
                    <a:p>
                      <a:pPr algn="l" rtl="0" fontAlgn="t"/>
                      <a:r>
                        <a:rPr lang="en-ID" sz="1600" b="0" i="0" u="none" strike="noStrike">
                          <a:solidFill>
                            <a:srgbClr val="000000"/>
                          </a:solidFill>
                          <a:effectLst/>
                          <a:latin typeface="Cambria" panose="02040503050406030204" pitchFamily="18" charset="0"/>
                        </a:rPr>
                        <a:t> </a:t>
                      </a:r>
                    </a:p>
                  </a:txBody>
                  <a:tcPr marL="3334" marR="3334" marT="333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dirty="0">
                          <a:solidFill>
                            <a:srgbClr val="000000"/>
                          </a:solidFill>
                          <a:effectLst/>
                          <a:latin typeface="Cambria" panose="02040503050406030204" pitchFamily="18" charset="0"/>
                        </a:rPr>
                        <a:t>- </a:t>
                      </a:r>
                      <a:r>
                        <a:rPr lang="en-ID" sz="1600" b="1" i="0" u="none" strike="noStrike" dirty="0" err="1">
                          <a:solidFill>
                            <a:srgbClr val="000000"/>
                          </a:solidFill>
                          <a:effectLst/>
                          <a:latin typeface="Cambria" panose="02040503050406030204" pitchFamily="18" charset="0"/>
                        </a:rPr>
                        <a:t>Simulasi</a:t>
                      </a:r>
                      <a:r>
                        <a:rPr lang="en-ID" sz="1600" b="1" i="0" u="none" strike="noStrike" dirty="0">
                          <a:solidFill>
                            <a:srgbClr val="000000"/>
                          </a:solidFill>
                          <a:effectLst/>
                          <a:latin typeface="Cambria" panose="02040503050406030204" pitchFamily="18" charset="0"/>
                        </a:rPr>
                        <a:t> dan uji </a:t>
                      </a:r>
                      <a:r>
                        <a:rPr lang="en-ID" sz="1600" b="1" i="0" u="none" strike="noStrike" dirty="0" err="1">
                          <a:solidFill>
                            <a:srgbClr val="000000"/>
                          </a:solidFill>
                          <a:effectLst/>
                          <a:latin typeface="Cambria" panose="02040503050406030204" pitchFamily="18" charset="0"/>
                        </a:rPr>
                        <a:t>coba</a:t>
                      </a:r>
                      <a:r>
                        <a:rPr lang="en-ID" sz="1600" b="1" i="0" u="none" strike="noStrike" dirty="0">
                          <a:solidFill>
                            <a:srgbClr val="000000"/>
                          </a:solidFill>
                          <a:effectLst/>
                          <a:latin typeface="Cambria" panose="02040503050406030204" pitchFamily="18" charset="0"/>
                        </a:rPr>
                        <a:t> </a:t>
                      </a:r>
                      <a:r>
                        <a:rPr lang="en-ID" sz="1600" b="1" i="0" u="none" strike="noStrike" dirty="0" err="1">
                          <a:solidFill>
                            <a:srgbClr val="000000"/>
                          </a:solidFill>
                          <a:effectLst/>
                          <a:latin typeface="Cambria" panose="02040503050406030204" pitchFamily="18" charset="0"/>
                        </a:rPr>
                        <a:t>implementasi</a:t>
                      </a:r>
                      <a:r>
                        <a:rPr lang="en-ID" sz="1600" b="1" i="0" u="none" strike="noStrike" dirty="0">
                          <a:solidFill>
                            <a:srgbClr val="000000"/>
                          </a:solidFill>
                          <a:effectLst/>
                          <a:latin typeface="Cambria" panose="02040503050406030204" pitchFamily="18" charset="0"/>
                        </a:rPr>
                        <a:t> model </a:t>
                      </a:r>
                      <a:r>
                        <a:rPr lang="en-ID" sz="1600" b="1" i="0" u="none" strike="noStrike" dirty="0" err="1">
                          <a:solidFill>
                            <a:srgbClr val="000000"/>
                          </a:solidFill>
                          <a:effectLst/>
                          <a:latin typeface="Cambria" panose="02040503050406030204" pitchFamily="18" charset="0"/>
                        </a:rPr>
                        <a:t>asuransi</a:t>
                      </a:r>
                      <a:r>
                        <a:rPr lang="en-ID" sz="1600" b="1"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berbasis</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indeks</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cuaca</a:t>
                      </a:r>
                      <a:r>
                        <a:rPr lang="en-ID" sz="1600" b="0" i="0" u="none" strike="noStrike" dirty="0">
                          <a:solidFill>
                            <a:srgbClr val="000000"/>
                          </a:solidFill>
                          <a:effectLst/>
                          <a:latin typeface="Cambria" panose="02040503050406030204" pitchFamily="18" charset="0"/>
                        </a:rPr>
                        <a:t> dan </a:t>
                      </a:r>
                      <a:r>
                        <a:rPr lang="en-ID" sz="1600" b="0" i="0" u="none" strike="noStrike" dirty="0" err="1">
                          <a:solidFill>
                            <a:srgbClr val="000000"/>
                          </a:solidFill>
                          <a:effectLst/>
                          <a:latin typeface="Cambria" panose="02040503050406030204" pitchFamily="18" charset="0"/>
                        </a:rPr>
                        <a:t>kerugian</a:t>
                      </a:r>
                      <a:r>
                        <a:rPr lang="en-ID" sz="1600" b="0" i="0" u="none" strike="noStrike" dirty="0" smtClean="0">
                          <a:solidFill>
                            <a:srgbClr val="000000"/>
                          </a:solidFill>
                          <a:effectLst/>
                          <a:latin typeface="Cambria" panose="02040503050406030204" pitchFamily="18" charset="0"/>
                        </a:rPr>
                        <a:t>. (e.g. </a:t>
                      </a:r>
                      <a:r>
                        <a:rPr lang="en-ID" sz="1600" b="0" i="0" u="none" strike="noStrike" dirty="0" err="1" smtClean="0">
                          <a:solidFill>
                            <a:srgbClr val="000000"/>
                          </a:solidFill>
                          <a:effectLst/>
                          <a:latin typeface="Cambria" panose="02040503050406030204" pitchFamily="18" charset="0"/>
                        </a:rPr>
                        <a:t>SuperRISKA</a:t>
                      </a:r>
                      <a:r>
                        <a:rPr lang="en-ID" sz="1600" b="0" i="0" u="none" strike="noStrike" dirty="0" smtClean="0">
                          <a:solidFill>
                            <a:srgbClr val="000000"/>
                          </a:solidFill>
                          <a:effectLst/>
                          <a:latin typeface="Cambria" panose="02040503050406030204" pitchFamily="18" charset="0"/>
                        </a:rPr>
                        <a:t>)</a:t>
                      </a:r>
                      <a:endParaRPr lang="en-ID" sz="1600" b="0" i="0" u="none" strike="noStrike" dirty="0">
                        <a:solidFill>
                          <a:srgbClr val="000000"/>
                        </a:solidFill>
                        <a:effectLst/>
                        <a:latin typeface="Cambria" panose="02040503050406030204" pitchFamily="18" charset="0"/>
                      </a:endParaRPr>
                    </a:p>
                  </a:txBody>
                  <a:tcPr marL="3334" marR="3334" marT="333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a:solidFill>
                            <a:srgbClr val="000000"/>
                          </a:solidFill>
                          <a:effectLst/>
                          <a:latin typeface="Cambria" panose="02040503050406030204" pitchFamily="18" charset="0"/>
                        </a:rPr>
                        <a:t> </a:t>
                      </a:r>
                    </a:p>
                  </a:txBody>
                  <a:tcPr marL="3334" marR="3334" marT="333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a:solidFill>
                            <a:srgbClr val="000000"/>
                          </a:solidFill>
                          <a:effectLst/>
                          <a:latin typeface="Cambria" panose="02040503050406030204" pitchFamily="18" charset="0"/>
                        </a:rPr>
                        <a:t> </a:t>
                      </a:r>
                    </a:p>
                  </a:txBody>
                  <a:tcPr marL="3334" marR="3334" marT="333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a:solidFill>
                            <a:srgbClr val="000000"/>
                          </a:solidFill>
                          <a:effectLst/>
                          <a:latin typeface="Cambria" panose="02040503050406030204" pitchFamily="18" charset="0"/>
                        </a:rPr>
                        <a:t> </a:t>
                      </a:r>
                    </a:p>
                  </a:txBody>
                  <a:tcPr marL="3334" marR="3334" marT="333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D" sz="1600" b="0" i="0" u="none" strike="noStrike" dirty="0">
                          <a:solidFill>
                            <a:srgbClr val="000000"/>
                          </a:solidFill>
                          <a:effectLst/>
                          <a:latin typeface="Cambria" panose="02040503050406030204" pitchFamily="18" charset="0"/>
                        </a:rPr>
                        <a:t> </a:t>
                      </a:r>
                    </a:p>
                  </a:txBody>
                  <a:tcPr marL="3334" marR="3334" marT="333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28028521"/>
                  </a:ext>
                </a:extLst>
              </a:tr>
            </a:tbl>
          </a:graphicData>
        </a:graphic>
      </p:graphicFrame>
    </p:spTree>
    <p:extLst>
      <p:ext uri="{BB962C8B-B14F-4D97-AF65-F5344CB8AC3E}">
        <p14:creationId xmlns:p14="http://schemas.microsoft.com/office/powerpoint/2010/main" val="878453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39474F3-D4E0-FB7D-2841-DCDED70C2185}"/>
              </a:ext>
            </a:extLst>
          </p:cNvPr>
          <p:cNvSpPr>
            <a:spLocks noGrp="1"/>
          </p:cNvSpPr>
          <p:nvPr>
            <p:ph type="title"/>
          </p:nvPr>
        </p:nvSpPr>
        <p:spPr>
          <a:xfrm>
            <a:off x="759452" y="485885"/>
            <a:ext cx="11432548" cy="318660"/>
          </a:xfrm>
        </p:spPr>
        <p:txBody>
          <a:bodyPr>
            <a:normAutofit fontScale="90000"/>
          </a:bodyPr>
          <a:lstStyle/>
          <a:p>
            <a:r>
              <a:rPr lang="en-ID" dirty="0"/>
              <a:t>3. Program </a:t>
            </a:r>
            <a:r>
              <a:rPr lang="en-ID" dirty="0" err="1"/>
              <a:t>Manajemen</a:t>
            </a:r>
            <a:r>
              <a:rPr lang="en-ID" dirty="0"/>
              <a:t> </a:t>
            </a:r>
            <a:r>
              <a:rPr lang="en-ID" dirty="0" err="1"/>
              <a:t>Risiko</a:t>
            </a:r>
            <a:r>
              <a:rPr lang="en-ID" dirty="0"/>
              <a:t> </a:t>
            </a:r>
            <a:r>
              <a:rPr lang="en-ID" dirty="0" err="1"/>
              <a:t>Berbasis</a:t>
            </a:r>
            <a:r>
              <a:rPr lang="en-ID" dirty="0"/>
              <a:t> </a:t>
            </a:r>
            <a:r>
              <a:rPr lang="en-ID" dirty="0" smtClean="0"/>
              <a:t>Data &amp; </a:t>
            </a:r>
            <a:r>
              <a:rPr lang="en-ID" dirty="0" err="1" smtClean="0"/>
              <a:t>Informasi</a:t>
            </a:r>
            <a:r>
              <a:rPr lang="en-ID" dirty="0" smtClean="0"/>
              <a:t> </a:t>
            </a:r>
            <a:r>
              <a:rPr lang="en-ID" dirty="0" err="1" smtClean="0"/>
              <a:t>dengan</a:t>
            </a:r>
            <a:r>
              <a:rPr lang="en-ID" dirty="0" smtClean="0"/>
              <a:t> </a:t>
            </a:r>
            <a:r>
              <a:rPr lang="en-ID" dirty="0"/>
              <a:t>Model </a:t>
            </a:r>
            <a:r>
              <a:rPr lang="en-ID" dirty="0" err="1"/>
              <a:t>Prediktif</a:t>
            </a:r>
            <a:r>
              <a:rPr lang="en-ID" dirty="0"/>
              <a:t/>
            </a:r>
            <a:br>
              <a:rPr lang="en-ID" dirty="0"/>
            </a:br>
            <a:endParaRPr lang="en-ID" dirty="0"/>
          </a:p>
        </p:txBody>
      </p:sp>
      <p:graphicFrame>
        <p:nvGraphicFramePr>
          <p:cNvPr id="4" name="Table 3">
            <a:extLst>
              <a:ext uri="{FF2B5EF4-FFF2-40B4-BE49-F238E27FC236}">
                <a16:creationId xmlns:a16="http://schemas.microsoft.com/office/drawing/2014/main" xmlns="" id="{E523B31C-D476-4280-8343-E19193A76A4E}"/>
              </a:ext>
            </a:extLst>
          </p:cNvPr>
          <p:cNvGraphicFramePr>
            <a:graphicFrameLocks noGrp="1"/>
          </p:cNvGraphicFramePr>
          <p:nvPr>
            <p:extLst>
              <p:ext uri="{D42A27DB-BD31-4B8C-83A1-F6EECF244321}">
                <p14:modId xmlns:p14="http://schemas.microsoft.com/office/powerpoint/2010/main" val="157414211"/>
              </p:ext>
            </p:extLst>
          </p:nvPr>
        </p:nvGraphicFramePr>
        <p:xfrm>
          <a:off x="523001" y="1507361"/>
          <a:ext cx="11432549" cy="4645852"/>
        </p:xfrm>
        <a:graphic>
          <a:graphicData uri="http://schemas.openxmlformats.org/drawingml/2006/table">
            <a:tbl>
              <a:tblPr/>
              <a:tblGrid>
                <a:gridCol w="1685344">
                  <a:extLst>
                    <a:ext uri="{9D8B030D-6E8A-4147-A177-3AD203B41FA5}">
                      <a16:colId xmlns:a16="http://schemas.microsoft.com/office/drawing/2014/main" xmlns="" val="490574659"/>
                    </a:ext>
                  </a:extLst>
                </a:gridCol>
                <a:gridCol w="2380332">
                  <a:extLst>
                    <a:ext uri="{9D8B030D-6E8A-4147-A177-3AD203B41FA5}">
                      <a16:colId xmlns:a16="http://schemas.microsoft.com/office/drawing/2014/main" xmlns="" val="2233059666"/>
                    </a:ext>
                  </a:extLst>
                </a:gridCol>
                <a:gridCol w="2119713">
                  <a:extLst>
                    <a:ext uri="{9D8B030D-6E8A-4147-A177-3AD203B41FA5}">
                      <a16:colId xmlns:a16="http://schemas.microsoft.com/office/drawing/2014/main" xmlns="" val="1195234858"/>
                    </a:ext>
                  </a:extLst>
                </a:gridCol>
                <a:gridCol w="1737471">
                  <a:extLst>
                    <a:ext uri="{9D8B030D-6E8A-4147-A177-3AD203B41FA5}">
                      <a16:colId xmlns:a16="http://schemas.microsoft.com/office/drawing/2014/main" xmlns="" val="3425738488"/>
                    </a:ext>
                  </a:extLst>
                </a:gridCol>
                <a:gridCol w="1615848">
                  <a:extLst>
                    <a:ext uri="{9D8B030D-6E8A-4147-A177-3AD203B41FA5}">
                      <a16:colId xmlns:a16="http://schemas.microsoft.com/office/drawing/2014/main" xmlns="" val="2382296958"/>
                    </a:ext>
                  </a:extLst>
                </a:gridCol>
                <a:gridCol w="1893841">
                  <a:extLst>
                    <a:ext uri="{9D8B030D-6E8A-4147-A177-3AD203B41FA5}">
                      <a16:colId xmlns:a16="http://schemas.microsoft.com/office/drawing/2014/main" xmlns="" val="1357715696"/>
                    </a:ext>
                  </a:extLst>
                </a:gridCol>
              </a:tblGrid>
              <a:tr h="435134">
                <a:tc>
                  <a:txBody>
                    <a:bodyPr/>
                    <a:lstStyle/>
                    <a:p>
                      <a:pPr algn="l" rtl="0" fontAlgn="ctr"/>
                      <a:r>
                        <a:rPr lang="en-ID" sz="1600" b="0" i="0" u="none" strike="noStrike" dirty="0">
                          <a:solidFill>
                            <a:srgbClr val="000000"/>
                          </a:solidFill>
                          <a:effectLst/>
                          <a:latin typeface="Cambria" panose="02040503050406030204" pitchFamily="18" charset="0"/>
                        </a:rPr>
                        <a:t>Program</a:t>
                      </a:r>
                    </a:p>
                  </a:txBody>
                  <a:tcPr marL="3223" marR="3223" marT="32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rtl="0" fontAlgn="ctr"/>
                      <a:r>
                        <a:rPr lang="en-ID" sz="1600" b="0" i="0" u="none" strike="noStrike">
                          <a:solidFill>
                            <a:srgbClr val="000000"/>
                          </a:solidFill>
                          <a:effectLst/>
                          <a:latin typeface="Cambria" panose="02040503050406030204" pitchFamily="18" charset="0"/>
                        </a:rPr>
                        <a:t>Rincian Kegiatan</a:t>
                      </a:r>
                    </a:p>
                  </a:txBody>
                  <a:tcPr marL="3223" marR="3223" marT="32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rtl="0" fontAlgn="t"/>
                      <a:r>
                        <a:rPr lang="en-ID" sz="1600" b="0" i="0" u="none" strike="noStrike" dirty="0" err="1">
                          <a:solidFill>
                            <a:srgbClr val="000000"/>
                          </a:solidFill>
                          <a:effectLst/>
                          <a:latin typeface="Cambria" panose="02040503050406030204" pitchFamily="18" charset="0"/>
                        </a:rPr>
                        <a:t>Jadwal</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Kegiatan</a:t>
                      </a:r>
                      <a:r>
                        <a:rPr lang="en-ID" sz="1600" b="0" i="0" u="none" strike="noStrike" dirty="0">
                          <a:solidFill>
                            <a:srgbClr val="000000"/>
                          </a:solidFill>
                          <a:effectLst/>
                          <a:latin typeface="Cambria" panose="02040503050406030204" pitchFamily="18" charset="0"/>
                        </a:rPr>
                        <a:t> </a:t>
                      </a:r>
                      <a:endParaRPr lang="en-ID" sz="1600" b="0" i="0" u="none" strike="noStrike" dirty="0" smtClean="0">
                        <a:solidFill>
                          <a:srgbClr val="000000"/>
                        </a:solidFill>
                        <a:effectLst/>
                        <a:latin typeface="Cambria" panose="02040503050406030204" pitchFamily="18" charset="0"/>
                      </a:endParaRPr>
                    </a:p>
                    <a:p>
                      <a:pPr algn="l" rtl="0" fontAlgn="t"/>
                      <a:r>
                        <a:rPr lang="en-ID" sz="1600" b="0" i="0" u="none" strike="noStrike" dirty="0" smtClean="0">
                          <a:solidFill>
                            <a:srgbClr val="000000"/>
                          </a:solidFill>
                          <a:effectLst/>
                          <a:latin typeface="Cambria" panose="02040503050406030204" pitchFamily="18" charset="0"/>
                        </a:rPr>
                        <a:t>(2026-2027)</a:t>
                      </a:r>
                      <a:endParaRPr lang="en-ID" sz="1600" b="0" i="0" u="none" strike="noStrike" dirty="0">
                        <a:solidFill>
                          <a:srgbClr val="000000"/>
                        </a:solidFill>
                        <a:effectLst/>
                        <a:latin typeface="Cambria" panose="02040503050406030204" pitchFamily="18" charset="0"/>
                      </a:endParaRPr>
                    </a:p>
                  </a:txBody>
                  <a:tcPr marL="3223" marR="3223" marT="32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rtl="0" fontAlgn="ctr"/>
                      <a:r>
                        <a:rPr lang="en-ID" sz="1600" b="0" i="0" u="none" strike="noStrike">
                          <a:solidFill>
                            <a:srgbClr val="000000"/>
                          </a:solidFill>
                          <a:effectLst/>
                          <a:latin typeface="Cambria" panose="02040503050406030204" pitchFamily="18" charset="0"/>
                        </a:rPr>
                        <a:t>Kebutuhan Dana</a:t>
                      </a:r>
                    </a:p>
                  </a:txBody>
                  <a:tcPr marL="3223" marR="3223" marT="32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rtl="0" fontAlgn="ctr"/>
                      <a:r>
                        <a:rPr lang="en-ID" sz="1600" b="0" i="0" u="none" strike="noStrike">
                          <a:solidFill>
                            <a:srgbClr val="000000"/>
                          </a:solidFill>
                          <a:effectLst/>
                          <a:latin typeface="Cambria" panose="02040503050406030204" pitchFamily="18" charset="0"/>
                        </a:rPr>
                        <a:t>Sumber Dana</a:t>
                      </a:r>
                    </a:p>
                  </a:txBody>
                  <a:tcPr marL="3223" marR="3223" marT="32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en-ID" sz="1600" b="0" i="0" u="none" strike="noStrike">
                          <a:solidFill>
                            <a:srgbClr val="000000"/>
                          </a:solidFill>
                          <a:effectLst/>
                          <a:latin typeface="Cambria" panose="02040503050406030204" pitchFamily="18" charset="0"/>
                        </a:rPr>
                        <a:t>Output yang diharapkan</a:t>
                      </a:r>
                    </a:p>
                  </a:txBody>
                  <a:tcPr marL="3223" marR="3223" marT="322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xmlns="" val="3121919416"/>
                  </a:ext>
                </a:extLst>
              </a:tr>
              <a:tr h="1450446">
                <a:tc>
                  <a:txBody>
                    <a:bodyPr/>
                    <a:lstStyle/>
                    <a:p>
                      <a:pPr algn="l" rtl="0" fontAlgn="t"/>
                      <a:r>
                        <a:rPr lang="en-ID" sz="1600" b="0" i="0" u="none" strike="noStrike">
                          <a:solidFill>
                            <a:srgbClr val="000000"/>
                          </a:solidFill>
                          <a:effectLst/>
                          <a:latin typeface="Cambria" panose="02040503050406030204" pitchFamily="18" charset="0"/>
                        </a:rPr>
                        <a:t>Manajemen Risiko Berbasis Data dan Model Prediktif</a:t>
                      </a:r>
                    </a:p>
                  </a:txBody>
                  <a:tcPr marL="3223" marR="3223" marT="32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Pengembangan</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sistem</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pemantauan</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risiko</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berbasis</a:t>
                      </a:r>
                      <a:r>
                        <a:rPr lang="en-ID" sz="1600" b="0" i="0" u="none" strike="noStrike" dirty="0">
                          <a:solidFill>
                            <a:srgbClr val="000000"/>
                          </a:solidFill>
                          <a:effectLst/>
                          <a:latin typeface="Cambria" panose="02040503050406030204" pitchFamily="18" charset="0"/>
                        </a:rPr>
                        <a:t> data </a:t>
                      </a:r>
                      <a:r>
                        <a:rPr lang="en-ID" sz="1600" b="0" i="0" u="none" strike="noStrike" dirty="0" err="1">
                          <a:solidFill>
                            <a:srgbClr val="000000"/>
                          </a:solidFill>
                          <a:effectLst/>
                          <a:latin typeface="Cambria" panose="02040503050406030204" pitchFamily="18" charset="0"/>
                        </a:rPr>
                        <a:t>dan</a:t>
                      </a:r>
                      <a:r>
                        <a:rPr lang="en-ID" sz="1600" b="0" i="0" u="none" strike="noStrike" dirty="0">
                          <a:solidFill>
                            <a:srgbClr val="000000"/>
                          </a:solidFill>
                          <a:effectLst/>
                          <a:latin typeface="Cambria" panose="02040503050406030204" pitchFamily="18" charset="0"/>
                        </a:rPr>
                        <a:t> </a:t>
                      </a:r>
                      <a:r>
                        <a:rPr lang="en-ID" sz="1600" b="0" i="0" u="none" strike="noStrike" dirty="0" err="1" smtClean="0">
                          <a:solidFill>
                            <a:srgbClr val="000000"/>
                          </a:solidFill>
                          <a:effectLst/>
                          <a:latin typeface="Cambria" panose="02040503050406030204" pitchFamily="18" charset="0"/>
                        </a:rPr>
                        <a:t>informasi</a:t>
                      </a:r>
                      <a:r>
                        <a:rPr lang="en-ID" sz="1600" b="0" i="0" u="none" strike="noStrike" dirty="0" smtClean="0">
                          <a:solidFill>
                            <a:srgbClr val="000000"/>
                          </a:solidFill>
                          <a:effectLst/>
                          <a:latin typeface="Cambria" panose="02040503050406030204" pitchFamily="18" charset="0"/>
                        </a:rPr>
                        <a:t> </a:t>
                      </a:r>
                      <a:r>
                        <a:rPr lang="en-ID" sz="1600" b="0" i="0" u="none" strike="noStrike" dirty="0" err="1" smtClean="0">
                          <a:solidFill>
                            <a:srgbClr val="000000"/>
                          </a:solidFill>
                          <a:effectLst/>
                          <a:latin typeface="Cambria" panose="02040503050406030204" pitchFamily="18" charset="0"/>
                        </a:rPr>
                        <a:t>serta</a:t>
                      </a:r>
                      <a:r>
                        <a:rPr lang="en-ID" sz="1600" b="0" i="0" u="none" strike="noStrike" dirty="0" smtClean="0">
                          <a:solidFill>
                            <a:srgbClr val="000000"/>
                          </a:solidFill>
                          <a:effectLst/>
                          <a:latin typeface="Cambria" panose="02040503050406030204" pitchFamily="18" charset="0"/>
                        </a:rPr>
                        <a:t> </a:t>
                      </a:r>
                      <a:r>
                        <a:rPr lang="en-ID" sz="1600" b="0" i="0" u="none" strike="noStrike" dirty="0" err="1" smtClean="0">
                          <a:solidFill>
                            <a:srgbClr val="000000"/>
                          </a:solidFill>
                          <a:effectLst/>
                          <a:latin typeface="Cambria" panose="02040503050406030204" pitchFamily="18" charset="0"/>
                        </a:rPr>
                        <a:t>teknologi</a:t>
                      </a:r>
                      <a:r>
                        <a:rPr lang="en-ID" sz="1600" b="0" i="0" u="none" strike="noStrike" dirty="0" smtClean="0">
                          <a:solidFill>
                            <a:srgbClr val="000000"/>
                          </a:solidFill>
                          <a:effectLst/>
                          <a:latin typeface="Cambria" panose="02040503050406030204" pitchFamily="18" charset="0"/>
                        </a:rPr>
                        <a:t> (machine learning, AI).</a:t>
                      </a:r>
                      <a:endParaRPr lang="en-ID" sz="1600" b="0" i="0" u="none" strike="noStrike" dirty="0">
                        <a:solidFill>
                          <a:srgbClr val="000000"/>
                        </a:solidFill>
                        <a:effectLst/>
                        <a:latin typeface="Cambria" panose="02040503050406030204" pitchFamily="18" charset="0"/>
                      </a:endParaRPr>
                    </a:p>
                  </a:txBody>
                  <a:tcPr marL="3223" marR="3223" marT="32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dirty="0" err="1">
                          <a:solidFill>
                            <a:srgbClr val="000000"/>
                          </a:solidFill>
                          <a:effectLst/>
                          <a:latin typeface="Cambria" panose="02040503050406030204" pitchFamily="18" charset="0"/>
                        </a:rPr>
                        <a:t>Februari</a:t>
                      </a:r>
                      <a:r>
                        <a:rPr lang="en-ID" sz="1600" b="0" i="0" u="none" strike="noStrike" dirty="0">
                          <a:solidFill>
                            <a:srgbClr val="000000"/>
                          </a:solidFill>
                          <a:effectLst/>
                          <a:latin typeface="Cambria" panose="02040503050406030204" pitchFamily="18" charset="0"/>
                        </a:rPr>
                        <a:t> – Oktober (</a:t>
                      </a:r>
                      <a:r>
                        <a:rPr lang="en-ID" sz="1600" b="0" i="0" u="none" strike="noStrike" dirty="0" err="1">
                          <a:solidFill>
                            <a:srgbClr val="000000"/>
                          </a:solidFill>
                          <a:effectLst/>
                          <a:latin typeface="Cambria" panose="02040503050406030204" pitchFamily="18" charset="0"/>
                        </a:rPr>
                        <a:t>Pengembangan</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sistem</a:t>
                      </a:r>
                      <a:r>
                        <a:rPr lang="en-ID" sz="1600" b="0" i="0" u="none" strike="noStrike" dirty="0">
                          <a:solidFill>
                            <a:srgbClr val="000000"/>
                          </a:solidFill>
                          <a:effectLst/>
                          <a:latin typeface="Cambria" panose="02040503050406030204" pitchFamily="18" charset="0"/>
                        </a:rPr>
                        <a:t> di </a:t>
                      </a:r>
                      <a:r>
                        <a:rPr lang="en-ID" sz="1600" b="0" i="0" u="none" strike="noStrike" dirty="0" smtClean="0">
                          <a:solidFill>
                            <a:srgbClr val="000000"/>
                          </a:solidFill>
                          <a:effectLst/>
                          <a:latin typeface="Cambria" panose="02040503050406030204" pitchFamily="18" charset="0"/>
                        </a:rPr>
                        <a:t>Q1-Q4)</a:t>
                      </a:r>
                      <a:endParaRPr lang="en-ID" sz="1600" b="0" i="0" u="none" strike="noStrike" dirty="0">
                        <a:solidFill>
                          <a:srgbClr val="000000"/>
                        </a:solidFill>
                        <a:effectLst/>
                        <a:latin typeface="Cambria" panose="02040503050406030204" pitchFamily="18" charset="0"/>
                      </a:endParaRPr>
                    </a:p>
                  </a:txBody>
                  <a:tcPr marL="3223" marR="3223" marT="32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a:solidFill>
                            <a:srgbClr val="000000"/>
                          </a:solidFill>
                          <a:effectLst/>
                          <a:latin typeface="Cambria" panose="02040503050406030204" pitchFamily="18" charset="0"/>
                        </a:rPr>
                        <a:t>To be defined</a:t>
                      </a:r>
                    </a:p>
                  </a:txBody>
                  <a:tcPr marL="3223" marR="3223" marT="32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fi-FI" sz="1600" b="0" i="0" u="none" strike="noStrike" dirty="0">
                          <a:solidFill>
                            <a:srgbClr val="000000"/>
                          </a:solidFill>
                          <a:effectLst/>
                          <a:latin typeface="Cambria" panose="02040503050406030204" pitchFamily="18" charset="0"/>
                        </a:rPr>
                        <a:t>Hibah penelitian, pendanaan swasta, CSR perusahaan teknologi</a:t>
                      </a:r>
                    </a:p>
                  </a:txBody>
                  <a:tcPr marL="3223" marR="3223" marT="32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D" sz="1600" b="0" i="0" u="none" strike="noStrike" dirty="0" err="1">
                          <a:solidFill>
                            <a:srgbClr val="000000"/>
                          </a:solidFill>
                          <a:effectLst/>
                          <a:latin typeface="Cambria" panose="02040503050406030204" pitchFamily="18" charset="0"/>
                        </a:rPr>
                        <a:t>Pengembangan</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sistem</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berbasis</a:t>
                      </a:r>
                      <a:r>
                        <a:rPr lang="en-ID" sz="1600" b="0" i="0" u="none" strike="noStrike" dirty="0">
                          <a:solidFill>
                            <a:srgbClr val="000000"/>
                          </a:solidFill>
                          <a:effectLst/>
                          <a:latin typeface="Cambria" panose="02040503050406030204" pitchFamily="18" charset="0"/>
                        </a:rPr>
                        <a:t> data dan model </a:t>
                      </a:r>
                      <a:r>
                        <a:rPr lang="en-ID" sz="1600" b="0" i="0" u="none" strike="noStrike" dirty="0" err="1">
                          <a:solidFill>
                            <a:srgbClr val="000000"/>
                          </a:solidFill>
                          <a:effectLst/>
                          <a:latin typeface="Cambria" panose="02040503050406030204" pitchFamily="18" charset="0"/>
                        </a:rPr>
                        <a:t>prediktif</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untuk</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memetakan</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risiko</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bencana</a:t>
                      </a:r>
                      <a:r>
                        <a:rPr lang="en-ID" sz="1600" b="0" i="0" u="none" strike="noStrike" dirty="0">
                          <a:solidFill>
                            <a:srgbClr val="000000"/>
                          </a:solidFill>
                          <a:effectLst/>
                          <a:latin typeface="Cambria" panose="02040503050406030204" pitchFamily="18" charset="0"/>
                        </a:rPr>
                        <a:t> (Event Loss Table)</a:t>
                      </a:r>
                    </a:p>
                  </a:txBody>
                  <a:tcPr marL="3223" marR="3223" marT="32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725672188"/>
                  </a:ext>
                </a:extLst>
              </a:tr>
              <a:tr h="1450446">
                <a:tc>
                  <a:txBody>
                    <a:bodyPr/>
                    <a:lstStyle/>
                    <a:p>
                      <a:pPr algn="l" rtl="0" fontAlgn="t"/>
                      <a:r>
                        <a:rPr lang="en-ID" sz="1600" b="0" i="0" u="none" strike="noStrike">
                          <a:solidFill>
                            <a:srgbClr val="000000"/>
                          </a:solidFill>
                          <a:effectLst/>
                          <a:latin typeface="Cambria" panose="02040503050406030204" pitchFamily="18" charset="0"/>
                        </a:rPr>
                        <a:t> </a:t>
                      </a:r>
                    </a:p>
                  </a:txBody>
                  <a:tcPr marL="3223" marR="3223" marT="32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dirty="0">
                          <a:solidFill>
                            <a:srgbClr val="000000"/>
                          </a:solidFill>
                          <a:effectLst/>
                          <a:latin typeface="Cambria" panose="02040503050406030204" pitchFamily="18" charset="0"/>
                        </a:rPr>
                        <a:t>- </a:t>
                      </a:r>
                      <a:r>
                        <a:rPr lang="en-ID" sz="1600" b="1" i="0" u="none" strike="noStrike" dirty="0" err="1">
                          <a:solidFill>
                            <a:srgbClr val="000000"/>
                          </a:solidFill>
                          <a:effectLst/>
                          <a:latin typeface="Cambria" panose="02040503050406030204" pitchFamily="18" charset="0"/>
                        </a:rPr>
                        <a:t>Analisis</a:t>
                      </a:r>
                      <a:r>
                        <a:rPr lang="en-ID" sz="1600" b="1" i="0" u="none" strike="noStrike" dirty="0">
                          <a:solidFill>
                            <a:srgbClr val="000000"/>
                          </a:solidFill>
                          <a:effectLst/>
                          <a:latin typeface="Cambria" panose="02040503050406030204" pitchFamily="18" charset="0"/>
                        </a:rPr>
                        <a:t> </a:t>
                      </a:r>
                      <a:r>
                        <a:rPr lang="en-ID" sz="1600" b="1" i="0" u="none" strike="noStrike" dirty="0" err="1">
                          <a:solidFill>
                            <a:srgbClr val="000000"/>
                          </a:solidFill>
                          <a:effectLst/>
                          <a:latin typeface="Cambria" panose="02040503050406030204" pitchFamily="18" charset="0"/>
                        </a:rPr>
                        <a:t>dampak</a:t>
                      </a:r>
                      <a:r>
                        <a:rPr lang="en-ID" sz="1600" b="1" i="0" u="none" strike="noStrike" dirty="0">
                          <a:solidFill>
                            <a:srgbClr val="000000"/>
                          </a:solidFill>
                          <a:effectLst/>
                          <a:latin typeface="Cambria" panose="02040503050406030204" pitchFamily="18" charset="0"/>
                        </a:rPr>
                        <a:t> </a:t>
                      </a:r>
                      <a:r>
                        <a:rPr lang="en-ID" sz="1600" b="1" i="0" u="none" strike="noStrike" dirty="0" err="1">
                          <a:solidFill>
                            <a:srgbClr val="000000"/>
                          </a:solidFill>
                          <a:effectLst/>
                          <a:latin typeface="Cambria" panose="02040503050406030204" pitchFamily="18" charset="0"/>
                        </a:rPr>
                        <a:t>ekonomi</a:t>
                      </a:r>
                      <a:r>
                        <a:rPr lang="en-ID" sz="1600" b="1" i="0" u="none" strike="noStrike" dirty="0">
                          <a:solidFill>
                            <a:srgbClr val="000000"/>
                          </a:solidFill>
                          <a:effectLst/>
                          <a:latin typeface="Cambria" panose="02040503050406030204" pitchFamily="18" charset="0"/>
                        </a:rPr>
                        <a:t> </a:t>
                      </a:r>
                      <a:r>
                        <a:rPr lang="en-ID" sz="1600" b="1" i="0" u="none" strike="noStrike" dirty="0" err="1">
                          <a:solidFill>
                            <a:srgbClr val="000000"/>
                          </a:solidFill>
                          <a:effectLst/>
                          <a:latin typeface="Cambria" panose="02040503050406030204" pitchFamily="18" charset="0"/>
                        </a:rPr>
                        <a:t>bencana</a:t>
                      </a:r>
                      <a:r>
                        <a:rPr lang="en-ID" sz="1600" b="1" i="0" u="none" strike="noStrike" dirty="0">
                          <a:solidFill>
                            <a:srgbClr val="000000"/>
                          </a:solidFill>
                          <a:effectLst/>
                          <a:latin typeface="Cambria" panose="02040503050406030204" pitchFamily="18" charset="0"/>
                        </a:rPr>
                        <a:t> (loss) </a:t>
                      </a:r>
                      <a:r>
                        <a:rPr lang="en-ID" sz="1600" b="0" i="0" u="none" strike="noStrike" dirty="0">
                          <a:solidFill>
                            <a:srgbClr val="000000"/>
                          </a:solidFill>
                          <a:effectLst/>
                          <a:latin typeface="Cambria" panose="02040503050406030204" pitchFamily="18" charset="0"/>
                        </a:rPr>
                        <a:t>dan </a:t>
                      </a:r>
                      <a:r>
                        <a:rPr lang="en-ID" sz="1600" b="0" i="0" u="none" strike="noStrike" dirty="0" err="1">
                          <a:solidFill>
                            <a:srgbClr val="000000"/>
                          </a:solidFill>
                          <a:effectLst/>
                          <a:latin typeface="Cambria" panose="02040503050406030204" pitchFamily="18" charset="0"/>
                        </a:rPr>
                        <a:t>perencanaan</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pemulihan</a:t>
                      </a:r>
                      <a:r>
                        <a:rPr lang="en-ID" sz="1600" b="0" i="0" u="none" strike="noStrike" dirty="0">
                          <a:solidFill>
                            <a:srgbClr val="000000"/>
                          </a:solidFill>
                          <a:effectLst/>
                          <a:latin typeface="Cambria" panose="02040503050406030204" pitchFamily="18" charset="0"/>
                        </a:rPr>
                        <a:t>.</a:t>
                      </a:r>
                    </a:p>
                  </a:txBody>
                  <a:tcPr marL="3223" marR="3223" marT="32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a:solidFill>
                            <a:srgbClr val="000000"/>
                          </a:solidFill>
                          <a:effectLst/>
                          <a:latin typeface="Cambria" panose="02040503050406030204" pitchFamily="18" charset="0"/>
                        </a:rPr>
                        <a:t> </a:t>
                      </a:r>
                    </a:p>
                  </a:txBody>
                  <a:tcPr marL="3223" marR="3223" marT="32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a:solidFill>
                            <a:srgbClr val="000000"/>
                          </a:solidFill>
                          <a:effectLst/>
                          <a:latin typeface="Cambria" panose="02040503050406030204" pitchFamily="18" charset="0"/>
                        </a:rPr>
                        <a:t> </a:t>
                      </a:r>
                    </a:p>
                  </a:txBody>
                  <a:tcPr marL="3223" marR="3223" marT="32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a:solidFill>
                            <a:srgbClr val="000000"/>
                          </a:solidFill>
                          <a:effectLst/>
                          <a:latin typeface="Cambria" panose="02040503050406030204" pitchFamily="18" charset="0"/>
                        </a:rPr>
                        <a:t> </a:t>
                      </a:r>
                    </a:p>
                  </a:txBody>
                  <a:tcPr marL="3223" marR="3223" marT="32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D" sz="1600" b="0" i="0" u="none" strike="noStrike" dirty="0" err="1">
                          <a:solidFill>
                            <a:srgbClr val="000000"/>
                          </a:solidFill>
                          <a:effectLst/>
                          <a:latin typeface="Cambria" panose="02040503050406030204" pitchFamily="18" charset="0"/>
                        </a:rPr>
                        <a:t>Integrasi</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sistem</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informasi</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manajemen</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risiko</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ke</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dalam</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kebijakan</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dan</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praktik</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mitigasi</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bencana</a:t>
                      </a:r>
                      <a:r>
                        <a:rPr lang="en-ID" sz="1600" b="0" i="0" u="none" strike="noStrike" dirty="0">
                          <a:solidFill>
                            <a:srgbClr val="000000"/>
                          </a:solidFill>
                          <a:effectLst/>
                          <a:latin typeface="Cambria" panose="02040503050406030204" pitchFamily="18" charset="0"/>
                        </a:rPr>
                        <a:t>.</a:t>
                      </a:r>
                    </a:p>
                  </a:txBody>
                  <a:tcPr marL="3223" marR="3223" marT="32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671792734"/>
                  </a:ext>
                </a:extLst>
              </a:tr>
              <a:tr h="1015312">
                <a:tc>
                  <a:txBody>
                    <a:bodyPr/>
                    <a:lstStyle/>
                    <a:p>
                      <a:pPr algn="l" rtl="0" fontAlgn="t"/>
                      <a:r>
                        <a:rPr lang="en-ID" sz="1600" b="0" i="0" u="none" strike="noStrike">
                          <a:solidFill>
                            <a:srgbClr val="000000"/>
                          </a:solidFill>
                          <a:effectLst/>
                          <a:latin typeface="Cambria" panose="02040503050406030204" pitchFamily="18" charset="0"/>
                        </a:rPr>
                        <a:t> </a:t>
                      </a:r>
                    </a:p>
                  </a:txBody>
                  <a:tcPr marL="3223" marR="3223" marT="32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dirty="0">
                          <a:solidFill>
                            <a:srgbClr val="000000"/>
                          </a:solidFill>
                          <a:effectLst/>
                          <a:latin typeface="Cambria" panose="02040503050406030204" pitchFamily="18" charset="0"/>
                        </a:rPr>
                        <a:t>- </a:t>
                      </a:r>
                      <a:r>
                        <a:rPr lang="en-ID" sz="1600" b="1" i="0" u="none" strike="noStrike" dirty="0" err="1">
                          <a:solidFill>
                            <a:srgbClr val="000000"/>
                          </a:solidFill>
                          <a:effectLst/>
                          <a:latin typeface="Cambria" panose="02040503050406030204" pitchFamily="18" charset="0"/>
                        </a:rPr>
                        <a:t>Pembuatan</a:t>
                      </a:r>
                      <a:r>
                        <a:rPr lang="en-ID" sz="1600" b="1" i="0" u="none" strike="noStrike" dirty="0">
                          <a:solidFill>
                            <a:srgbClr val="000000"/>
                          </a:solidFill>
                          <a:effectLst/>
                          <a:latin typeface="Cambria" panose="02040503050406030204" pitchFamily="18" charset="0"/>
                        </a:rPr>
                        <a:t> dashboard </a:t>
                      </a:r>
                      <a:r>
                        <a:rPr lang="en-ID" sz="1600" b="0" i="0" u="none" strike="noStrike" dirty="0" err="1">
                          <a:solidFill>
                            <a:srgbClr val="000000"/>
                          </a:solidFill>
                          <a:effectLst/>
                          <a:latin typeface="Cambria" panose="02040503050406030204" pitchFamily="18" charset="0"/>
                        </a:rPr>
                        <a:t>pemantauan</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risiko</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bencana</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untuk</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pengambilan</a:t>
                      </a:r>
                      <a:r>
                        <a:rPr lang="en-ID" sz="1600" b="0" i="0" u="none" strike="noStrike" dirty="0">
                          <a:solidFill>
                            <a:srgbClr val="000000"/>
                          </a:solidFill>
                          <a:effectLst/>
                          <a:latin typeface="Cambria" panose="02040503050406030204" pitchFamily="18" charset="0"/>
                        </a:rPr>
                        <a:t> </a:t>
                      </a:r>
                      <a:r>
                        <a:rPr lang="en-ID" sz="1600" b="0" i="0" u="none" strike="noStrike" dirty="0" err="1" smtClean="0">
                          <a:solidFill>
                            <a:srgbClr val="000000"/>
                          </a:solidFill>
                          <a:effectLst/>
                          <a:latin typeface="Cambria" panose="02040503050406030204" pitchFamily="18" charset="0"/>
                        </a:rPr>
                        <a:t>keputusan</a:t>
                      </a:r>
                      <a:r>
                        <a:rPr lang="en-ID" sz="1600" b="0" i="0" u="none" strike="noStrike" dirty="0" smtClean="0">
                          <a:solidFill>
                            <a:srgbClr val="000000"/>
                          </a:solidFill>
                          <a:effectLst/>
                          <a:latin typeface="Cambria" panose="02040503050406030204" pitchFamily="18" charset="0"/>
                        </a:rPr>
                        <a:t> (</a:t>
                      </a:r>
                      <a:r>
                        <a:rPr lang="en-ID" sz="1600" b="0" i="0" u="none" strike="noStrike" dirty="0" err="1" smtClean="0">
                          <a:solidFill>
                            <a:srgbClr val="000000"/>
                          </a:solidFill>
                          <a:effectLst/>
                          <a:latin typeface="Cambria" panose="02040503050406030204" pitchFamily="18" charset="0"/>
                        </a:rPr>
                        <a:t>e.g</a:t>
                      </a:r>
                      <a:r>
                        <a:rPr lang="en-ID" sz="1600" b="0" i="0" u="none" strike="noStrike" dirty="0" smtClean="0">
                          <a:solidFill>
                            <a:srgbClr val="000000"/>
                          </a:solidFill>
                          <a:effectLst/>
                          <a:latin typeface="Cambria" panose="02040503050406030204" pitchFamily="18" charset="0"/>
                        </a:rPr>
                        <a:t> </a:t>
                      </a:r>
                      <a:r>
                        <a:rPr lang="en-ID" sz="1600" b="0" i="0" u="none" strike="noStrike" dirty="0" err="1" smtClean="0">
                          <a:solidFill>
                            <a:srgbClr val="000000"/>
                          </a:solidFill>
                          <a:effectLst/>
                          <a:latin typeface="Cambria" panose="02040503050406030204" pitchFamily="18" charset="0"/>
                        </a:rPr>
                        <a:t>SupeRISKA</a:t>
                      </a:r>
                      <a:r>
                        <a:rPr lang="en-ID" sz="1600" b="0" i="0" u="none" strike="noStrike" dirty="0" smtClean="0">
                          <a:solidFill>
                            <a:srgbClr val="000000"/>
                          </a:solidFill>
                          <a:effectLst/>
                          <a:latin typeface="Cambria" panose="02040503050406030204" pitchFamily="18" charset="0"/>
                        </a:rPr>
                        <a:t>)</a:t>
                      </a:r>
                      <a:endParaRPr lang="en-ID" sz="1600" b="0" i="0" u="none" strike="noStrike" dirty="0">
                        <a:solidFill>
                          <a:srgbClr val="000000"/>
                        </a:solidFill>
                        <a:effectLst/>
                        <a:latin typeface="Cambria" panose="02040503050406030204" pitchFamily="18" charset="0"/>
                      </a:endParaRPr>
                    </a:p>
                  </a:txBody>
                  <a:tcPr marL="3223" marR="3223" marT="32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a:solidFill>
                            <a:srgbClr val="000000"/>
                          </a:solidFill>
                          <a:effectLst/>
                          <a:latin typeface="Cambria" panose="02040503050406030204" pitchFamily="18" charset="0"/>
                        </a:rPr>
                        <a:t> </a:t>
                      </a:r>
                    </a:p>
                  </a:txBody>
                  <a:tcPr marL="3223" marR="3223" marT="32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a:solidFill>
                            <a:srgbClr val="000000"/>
                          </a:solidFill>
                          <a:effectLst/>
                          <a:latin typeface="Cambria" panose="02040503050406030204" pitchFamily="18" charset="0"/>
                        </a:rPr>
                        <a:t> </a:t>
                      </a:r>
                    </a:p>
                  </a:txBody>
                  <a:tcPr marL="3223" marR="3223" marT="32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a:solidFill>
                            <a:srgbClr val="000000"/>
                          </a:solidFill>
                          <a:effectLst/>
                          <a:latin typeface="Cambria" panose="02040503050406030204" pitchFamily="18" charset="0"/>
                        </a:rPr>
                        <a:t> </a:t>
                      </a:r>
                    </a:p>
                  </a:txBody>
                  <a:tcPr marL="3223" marR="3223" marT="322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D" sz="1600" b="0" i="0" u="none" strike="noStrike" dirty="0">
                          <a:solidFill>
                            <a:srgbClr val="000000"/>
                          </a:solidFill>
                          <a:effectLst/>
                          <a:latin typeface="Cambria" panose="02040503050406030204" pitchFamily="18" charset="0"/>
                        </a:rPr>
                        <a:t> </a:t>
                      </a:r>
                    </a:p>
                  </a:txBody>
                  <a:tcPr marL="3223" marR="3223" marT="322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214895909"/>
                  </a:ext>
                </a:extLst>
              </a:tr>
            </a:tbl>
          </a:graphicData>
        </a:graphic>
      </p:graphicFrame>
      <p:sp>
        <p:nvSpPr>
          <p:cNvPr id="6" name="TextBox 5">
            <a:extLst>
              <a:ext uri="{FF2B5EF4-FFF2-40B4-BE49-F238E27FC236}">
                <a16:creationId xmlns:a16="http://schemas.microsoft.com/office/drawing/2014/main" xmlns="" id="{D262F622-E00B-1CD5-984E-ABD8D88CA1B7}"/>
              </a:ext>
            </a:extLst>
          </p:cNvPr>
          <p:cNvSpPr txBox="1"/>
          <p:nvPr/>
        </p:nvSpPr>
        <p:spPr>
          <a:xfrm>
            <a:off x="886452" y="645215"/>
            <a:ext cx="10772148" cy="646331"/>
          </a:xfrm>
          <a:prstGeom prst="rect">
            <a:avLst/>
          </a:prstGeom>
          <a:noFill/>
        </p:spPr>
        <p:txBody>
          <a:bodyPr wrap="square">
            <a:spAutoFit/>
          </a:bodyPr>
          <a:lstStyle/>
          <a:p>
            <a:r>
              <a:rPr lang="en-ID" b="1" dirty="0"/>
              <a:t>Keputusan </a:t>
            </a:r>
            <a:r>
              <a:rPr lang="en-ID" b="1" dirty="0" err="1"/>
              <a:t>dalam</a:t>
            </a:r>
            <a:r>
              <a:rPr lang="en-ID" b="1" dirty="0"/>
              <a:t> </a:t>
            </a:r>
            <a:r>
              <a:rPr lang="en-ID" b="1" dirty="0" err="1"/>
              <a:t>manajemen</a:t>
            </a:r>
            <a:r>
              <a:rPr lang="en-ID" b="1" dirty="0"/>
              <a:t> </a:t>
            </a:r>
            <a:r>
              <a:rPr lang="en-ID" b="1" dirty="0" err="1"/>
              <a:t>risiko</a:t>
            </a:r>
            <a:r>
              <a:rPr lang="en-ID" b="1" dirty="0"/>
              <a:t> </a:t>
            </a:r>
            <a:r>
              <a:rPr lang="en-ID" b="1" dirty="0" err="1"/>
              <a:t>bencana</a:t>
            </a:r>
            <a:r>
              <a:rPr lang="en-ID" b="1" dirty="0"/>
              <a:t> </a:t>
            </a:r>
            <a:r>
              <a:rPr lang="en-ID" b="1" dirty="0" err="1"/>
              <a:t>harus</a:t>
            </a:r>
            <a:r>
              <a:rPr lang="en-ID" b="1" dirty="0"/>
              <a:t> </a:t>
            </a:r>
            <a:r>
              <a:rPr lang="en-ID" b="1" dirty="0" err="1"/>
              <a:t>berbasis</a:t>
            </a:r>
            <a:r>
              <a:rPr lang="en-ID" b="1" dirty="0"/>
              <a:t> data </a:t>
            </a:r>
            <a:r>
              <a:rPr lang="en-ID" dirty="0"/>
              <a:t>agar </a:t>
            </a:r>
            <a:r>
              <a:rPr lang="en-ID" dirty="0" err="1"/>
              <a:t>lebih</a:t>
            </a:r>
            <a:r>
              <a:rPr lang="en-ID" dirty="0"/>
              <a:t> </a:t>
            </a:r>
            <a:r>
              <a:rPr lang="en-ID" dirty="0" err="1"/>
              <a:t>akurat</a:t>
            </a:r>
            <a:r>
              <a:rPr lang="en-ID" dirty="0"/>
              <a:t> dan </a:t>
            </a:r>
            <a:r>
              <a:rPr lang="en-ID" dirty="0" err="1"/>
              <a:t>efektif</a:t>
            </a:r>
            <a:r>
              <a:rPr lang="en-ID" dirty="0"/>
              <a:t>. </a:t>
            </a:r>
            <a:r>
              <a:rPr lang="en-ID" b="1" dirty="0"/>
              <a:t>Model </a:t>
            </a:r>
            <a:r>
              <a:rPr lang="en-ID" b="1" dirty="0" err="1"/>
              <a:t>prediktif</a:t>
            </a:r>
            <a:r>
              <a:rPr lang="en-ID" b="1" dirty="0"/>
              <a:t> </a:t>
            </a:r>
            <a:r>
              <a:rPr lang="en-ID" dirty="0" err="1"/>
              <a:t>dapat</a:t>
            </a:r>
            <a:r>
              <a:rPr lang="en-ID" dirty="0"/>
              <a:t> </a:t>
            </a:r>
            <a:r>
              <a:rPr lang="en-ID" dirty="0" err="1"/>
              <a:t>membantu</a:t>
            </a:r>
            <a:r>
              <a:rPr lang="en-ID" dirty="0"/>
              <a:t> </a:t>
            </a:r>
            <a:r>
              <a:rPr lang="en-ID" dirty="0" err="1"/>
              <a:t>dalam</a:t>
            </a:r>
            <a:r>
              <a:rPr lang="en-ID" dirty="0"/>
              <a:t> </a:t>
            </a:r>
            <a:r>
              <a:rPr lang="en-ID" dirty="0" err="1"/>
              <a:t>mengantisipasi</a:t>
            </a:r>
            <a:r>
              <a:rPr lang="en-ID" dirty="0"/>
              <a:t> </a:t>
            </a:r>
            <a:r>
              <a:rPr lang="en-ID" dirty="0" err="1"/>
              <a:t>dampak</a:t>
            </a:r>
            <a:r>
              <a:rPr lang="en-ID" dirty="0"/>
              <a:t> </a:t>
            </a:r>
            <a:r>
              <a:rPr lang="en-ID" dirty="0" err="1"/>
              <a:t>bencana</a:t>
            </a:r>
            <a:r>
              <a:rPr lang="en-ID" dirty="0"/>
              <a:t> dan </a:t>
            </a:r>
            <a:r>
              <a:rPr lang="en-ID" dirty="0" err="1"/>
              <a:t>mengoptimalkan</a:t>
            </a:r>
            <a:r>
              <a:rPr lang="en-ID" dirty="0"/>
              <a:t> </a:t>
            </a:r>
            <a:r>
              <a:rPr lang="en-ID" dirty="0" err="1"/>
              <a:t>alokasi</a:t>
            </a:r>
            <a:r>
              <a:rPr lang="en-ID" dirty="0"/>
              <a:t> </a:t>
            </a:r>
            <a:r>
              <a:rPr lang="en-ID" dirty="0" err="1"/>
              <a:t>sumber</a:t>
            </a:r>
            <a:r>
              <a:rPr lang="en-ID" dirty="0"/>
              <a:t> </a:t>
            </a:r>
            <a:r>
              <a:rPr lang="en-ID" dirty="0" err="1"/>
              <a:t>daya</a:t>
            </a:r>
            <a:r>
              <a:rPr lang="en-ID" dirty="0"/>
              <a:t>.</a:t>
            </a:r>
          </a:p>
        </p:txBody>
      </p:sp>
    </p:spTree>
    <p:extLst>
      <p:ext uri="{BB962C8B-B14F-4D97-AF65-F5344CB8AC3E}">
        <p14:creationId xmlns:p14="http://schemas.microsoft.com/office/powerpoint/2010/main" val="36903792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E472F3-A830-17FB-E106-F8B2AD1BC55E}"/>
              </a:ext>
            </a:extLst>
          </p:cNvPr>
          <p:cNvSpPr>
            <a:spLocks noGrp="1"/>
          </p:cNvSpPr>
          <p:nvPr>
            <p:ph type="title"/>
          </p:nvPr>
        </p:nvSpPr>
        <p:spPr>
          <a:xfrm>
            <a:off x="583656" y="353805"/>
            <a:ext cx="11432548" cy="318660"/>
          </a:xfrm>
        </p:spPr>
        <p:txBody>
          <a:bodyPr>
            <a:normAutofit fontScale="90000"/>
          </a:bodyPr>
          <a:lstStyle/>
          <a:p>
            <a:r>
              <a:rPr lang="en-ID" dirty="0">
                <a:latin typeface="Cambria" panose="02040503050406030204" pitchFamily="18" charset="0"/>
                <a:ea typeface="Cambria" panose="02040503050406030204" pitchFamily="18" charset="0"/>
              </a:rPr>
              <a:t>4. Program </a:t>
            </a:r>
            <a:r>
              <a:rPr lang="en-ID" dirty="0" err="1">
                <a:latin typeface="Cambria" panose="02040503050406030204" pitchFamily="18" charset="0"/>
                <a:ea typeface="Cambria" panose="02040503050406030204" pitchFamily="18" charset="0"/>
              </a:rPr>
              <a:t>Kolaborasi</a:t>
            </a:r>
            <a:r>
              <a:rPr lang="en-ID" dirty="0">
                <a:latin typeface="Cambria" panose="02040503050406030204" pitchFamily="18" charset="0"/>
                <a:ea typeface="Cambria" panose="02040503050406030204" pitchFamily="18" charset="0"/>
              </a:rPr>
              <a:t> </a:t>
            </a:r>
            <a:r>
              <a:rPr lang="en-ID" dirty="0" err="1" smtClean="0">
                <a:latin typeface="Cambria" panose="02040503050406030204" pitchFamily="18" charset="0"/>
                <a:ea typeface="Cambria" panose="02040503050406030204" pitchFamily="18" charset="0"/>
              </a:rPr>
              <a:t>dalam</a:t>
            </a:r>
            <a:r>
              <a:rPr lang="en-ID" dirty="0" smtClean="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Penguatan</a:t>
            </a:r>
            <a:r>
              <a:rPr lang="en-ID" dirty="0">
                <a:latin typeface="Cambria" panose="02040503050406030204" pitchFamily="18" charset="0"/>
                <a:ea typeface="Cambria" panose="02040503050406030204" pitchFamily="18" charset="0"/>
              </a:rPr>
              <a:t> </a:t>
            </a:r>
            <a:r>
              <a:rPr lang="en-ID" dirty="0" err="1" smtClean="0">
                <a:latin typeface="Cambria" panose="02040503050406030204" pitchFamily="18" charset="0"/>
                <a:ea typeface="Cambria" panose="02040503050406030204" pitchFamily="18" charset="0"/>
              </a:rPr>
              <a:t>dan</a:t>
            </a:r>
            <a:r>
              <a:rPr lang="en-ID" dirty="0" smtClean="0">
                <a:latin typeface="Cambria" panose="02040503050406030204" pitchFamily="18" charset="0"/>
                <a:ea typeface="Cambria" panose="02040503050406030204" pitchFamily="18" charset="0"/>
              </a:rPr>
              <a:t> </a:t>
            </a:r>
            <a:r>
              <a:rPr lang="en-ID" dirty="0" err="1" smtClean="0">
                <a:latin typeface="Cambria" panose="02040503050406030204" pitchFamily="18" charset="0"/>
                <a:ea typeface="Cambria" panose="02040503050406030204" pitchFamily="18" charset="0"/>
              </a:rPr>
              <a:t>Pengembangan</a:t>
            </a:r>
            <a:r>
              <a:rPr lang="en-ID" dirty="0" smtClean="0">
                <a:latin typeface="Cambria" panose="02040503050406030204" pitchFamily="18" charset="0"/>
                <a:ea typeface="Cambria" panose="02040503050406030204" pitchFamily="18" charset="0"/>
              </a:rPr>
              <a:t> </a:t>
            </a:r>
            <a:r>
              <a:rPr lang="en-ID" dirty="0" err="1" smtClean="0">
                <a:latin typeface="Cambria" panose="02040503050406030204" pitchFamily="18" charset="0"/>
                <a:ea typeface="Cambria" panose="02040503050406030204" pitchFamily="18" charset="0"/>
              </a:rPr>
              <a:t>Kapasitas</a:t>
            </a:r>
            <a:r>
              <a:rPr lang="en-ID" dirty="0" smtClean="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Institusi</a:t>
            </a:r>
            <a:r>
              <a:rPr lang="en-ID" dirty="0">
                <a:latin typeface="Cambria" panose="02040503050406030204" pitchFamily="18" charset="0"/>
                <a:ea typeface="Cambria" panose="02040503050406030204" pitchFamily="18" charset="0"/>
              </a:rPr>
              <a:t/>
            </a:r>
            <a:br>
              <a:rPr lang="en-ID" dirty="0">
                <a:latin typeface="Cambria" panose="02040503050406030204" pitchFamily="18" charset="0"/>
                <a:ea typeface="Cambria" panose="02040503050406030204" pitchFamily="18" charset="0"/>
              </a:rPr>
            </a:br>
            <a:endParaRPr lang="en-ID" dirty="0">
              <a:latin typeface="Cambria" panose="02040503050406030204" pitchFamily="18" charset="0"/>
              <a:ea typeface="Cambria" panose="02040503050406030204" pitchFamily="18" charset="0"/>
            </a:endParaRPr>
          </a:p>
        </p:txBody>
      </p:sp>
      <p:graphicFrame>
        <p:nvGraphicFramePr>
          <p:cNvPr id="4" name="Table 3">
            <a:extLst>
              <a:ext uri="{FF2B5EF4-FFF2-40B4-BE49-F238E27FC236}">
                <a16:creationId xmlns:a16="http://schemas.microsoft.com/office/drawing/2014/main" xmlns="" id="{F57B863D-EAEB-DE8B-3995-33BE82AE60F9}"/>
              </a:ext>
            </a:extLst>
          </p:cNvPr>
          <p:cNvGraphicFramePr>
            <a:graphicFrameLocks noGrp="1"/>
          </p:cNvGraphicFramePr>
          <p:nvPr>
            <p:extLst>
              <p:ext uri="{D42A27DB-BD31-4B8C-83A1-F6EECF244321}">
                <p14:modId xmlns:p14="http://schemas.microsoft.com/office/powerpoint/2010/main" val="283459037"/>
              </p:ext>
            </p:extLst>
          </p:nvPr>
        </p:nvGraphicFramePr>
        <p:xfrm>
          <a:off x="402004" y="1255741"/>
          <a:ext cx="11432548" cy="4325552"/>
        </p:xfrm>
        <a:graphic>
          <a:graphicData uri="http://schemas.openxmlformats.org/drawingml/2006/table">
            <a:tbl>
              <a:tblPr/>
              <a:tblGrid>
                <a:gridCol w="1662605">
                  <a:extLst>
                    <a:ext uri="{9D8B030D-6E8A-4147-A177-3AD203B41FA5}">
                      <a16:colId xmlns:a16="http://schemas.microsoft.com/office/drawing/2014/main" xmlns="" val="3018997014"/>
                    </a:ext>
                  </a:extLst>
                </a:gridCol>
                <a:gridCol w="2348215">
                  <a:extLst>
                    <a:ext uri="{9D8B030D-6E8A-4147-A177-3AD203B41FA5}">
                      <a16:colId xmlns:a16="http://schemas.microsoft.com/office/drawing/2014/main" xmlns="" val="1934736760"/>
                    </a:ext>
                  </a:extLst>
                </a:gridCol>
                <a:gridCol w="1613903">
                  <a:extLst>
                    <a:ext uri="{9D8B030D-6E8A-4147-A177-3AD203B41FA5}">
                      <a16:colId xmlns:a16="http://schemas.microsoft.com/office/drawing/2014/main" xmlns="" val="3488179604"/>
                    </a:ext>
                  </a:extLst>
                </a:gridCol>
                <a:gridCol w="1571105">
                  <a:extLst>
                    <a:ext uri="{9D8B030D-6E8A-4147-A177-3AD203B41FA5}">
                      <a16:colId xmlns:a16="http://schemas.microsoft.com/office/drawing/2014/main" xmlns="" val="1249231602"/>
                    </a:ext>
                  </a:extLst>
                </a:gridCol>
                <a:gridCol w="1487978">
                  <a:extLst>
                    <a:ext uri="{9D8B030D-6E8A-4147-A177-3AD203B41FA5}">
                      <a16:colId xmlns:a16="http://schemas.microsoft.com/office/drawing/2014/main" xmlns="" val="2722626070"/>
                    </a:ext>
                  </a:extLst>
                </a:gridCol>
                <a:gridCol w="2748742">
                  <a:extLst>
                    <a:ext uri="{9D8B030D-6E8A-4147-A177-3AD203B41FA5}">
                      <a16:colId xmlns:a16="http://schemas.microsoft.com/office/drawing/2014/main" xmlns="" val="221705839"/>
                    </a:ext>
                  </a:extLst>
                </a:gridCol>
              </a:tblGrid>
              <a:tr h="466215">
                <a:tc>
                  <a:txBody>
                    <a:bodyPr/>
                    <a:lstStyle/>
                    <a:p>
                      <a:pPr algn="l" rtl="0" fontAlgn="t"/>
                      <a:r>
                        <a:rPr lang="en-ID" sz="1600" b="0" i="0" u="none" strike="noStrike" dirty="0">
                          <a:solidFill>
                            <a:srgbClr val="000000"/>
                          </a:solidFill>
                          <a:effectLst/>
                          <a:latin typeface="Cambria" panose="02040503050406030204" pitchFamily="18" charset="0"/>
                        </a:rPr>
                        <a:t>Program</a:t>
                      </a:r>
                    </a:p>
                  </a:txBody>
                  <a:tcPr marL="3453" marR="3453" marT="34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rtl="0" fontAlgn="t"/>
                      <a:r>
                        <a:rPr lang="en-ID" sz="1600" b="0" i="0" u="none" strike="noStrike">
                          <a:solidFill>
                            <a:srgbClr val="000000"/>
                          </a:solidFill>
                          <a:effectLst/>
                          <a:latin typeface="Cambria" panose="02040503050406030204" pitchFamily="18" charset="0"/>
                        </a:rPr>
                        <a:t>Rincian Kegiatan</a:t>
                      </a:r>
                    </a:p>
                  </a:txBody>
                  <a:tcPr marL="3453" marR="3453" marT="34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rtl="0" fontAlgn="t"/>
                      <a:r>
                        <a:rPr lang="en-ID" sz="1600" b="0" i="0" u="none" strike="noStrike" dirty="0" err="1">
                          <a:solidFill>
                            <a:srgbClr val="000000"/>
                          </a:solidFill>
                          <a:effectLst/>
                          <a:latin typeface="Cambria" panose="02040503050406030204" pitchFamily="18" charset="0"/>
                        </a:rPr>
                        <a:t>Jadwal</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Kegiatan</a:t>
                      </a:r>
                      <a:r>
                        <a:rPr lang="en-ID" sz="1600" b="0" i="0" u="none" strike="noStrike" dirty="0">
                          <a:solidFill>
                            <a:srgbClr val="000000"/>
                          </a:solidFill>
                          <a:effectLst/>
                          <a:latin typeface="Cambria" panose="02040503050406030204" pitchFamily="18" charset="0"/>
                        </a:rPr>
                        <a:t> </a:t>
                      </a:r>
                      <a:endParaRPr lang="en-ID" sz="1600" b="0" i="0" u="none" strike="noStrike" dirty="0" smtClean="0">
                        <a:solidFill>
                          <a:srgbClr val="000000"/>
                        </a:solidFill>
                        <a:effectLst/>
                        <a:latin typeface="Cambria" panose="02040503050406030204" pitchFamily="18" charset="0"/>
                      </a:endParaRPr>
                    </a:p>
                    <a:p>
                      <a:pPr algn="l" rtl="0" fontAlgn="t"/>
                      <a:r>
                        <a:rPr lang="en-ID" sz="1600" b="0" i="0" u="none" strike="noStrike" dirty="0" smtClean="0">
                          <a:solidFill>
                            <a:srgbClr val="000000"/>
                          </a:solidFill>
                          <a:effectLst/>
                          <a:latin typeface="Cambria" panose="02040503050406030204" pitchFamily="18" charset="0"/>
                        </a:rPr>
                        <a:t>(2026-2027)</a:t>
                      </a:r>
                      <a:endParaRPr lang="en-ID" sz="1600" b="0" i="0" u="none" strike="noStrike" dirty="0">
                        <a:solidFill>
                          <a:srgbClr val="000000"/>
                        </a:solidFill>
                        <a:effectLst/>
                        <a:latin typeface="Cambria" panose="02040503050406030204" pitchFamily="18" charset="0"/>
                      </a:endParaRPr>
                    </a:p>
                  </a:txBody>
                  <a:tcPr marL="3453" marR="3453" marT="34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rtl="0" fontAlgn="t"/>
                      <a:r>
                        <a:rPr lang="en-ID" sz="1600" b="0" i="0" u="none" strike="noStrike">
                          <a:solidFill>
                            <a:srgbClr val="000000"/>
                          </a:solidFill>
                          <a:effectLst/>
                          <a:latin typeface="Cambria" panose="02040503050406030204" pitchFamily="18" charset="0"/>
                        </a:rPr>
                        <a:t>Kebutuhan Dana</a:t>
                      </a:r>
                    </a:p>
                  </a:txBody>
                  <a:tcPr marL="3453" marR="3453" marT="34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rtl="0" fontAlgn="t"/>
                      <a:r>
                        <a:rPr lang="en-ID" sz="1600" b="0" i="0" u="none" strike="noStrike">
                          <a:solidFill>
                            <a:srgbClr val="000000"/>
                          </a:solidFill>
                          <a:effectLst/>
                          <a:latin typeface="Cambria" panose="02040503050406030204" pitchFamily="18" charset="0"/>
                        </a:rPr>
                        <a:t>Sumber Dana</a:t>
                      </a:r>
                    </a:p>
                  </a:txBody>
                  <a:tcPr marL="3453" marR="3453" marT="34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fontAlgn="ctr"/>
                      <a:r>
                        <a:rPr lang="en-ID" sz="1600" b="0" i="0" u="none" strike="noStrike" dirty="0">
                          <a:solidFill>
                            <a:srgbClr val="000000"/>
                          </a:solidFill>
                          <a:effectLst/>
                          <a:latin typeface="Cambria" panose="02040503050406030204" pitchFamily="18" charset="0"/>
                        </a:rPr>
                        <a:t>Output yang </a:t>
                      </a:r>
                      <a:r>
                        <a:rPr lang="en-ID" sz="1600" b="0" i="0" u="none" strike="noStrike" dirty="0" err="1">
                          <a:solidFill>
                            <a:srgbClr val="000000"/>
                          </a:solidFill>
                          <a:effectLst/>
                          <a:latin typeface="Cambria" panose="02040503050406030204" pitchFamily="18" charset="0"/>
                        </a:rPr>
                        <a:t>diharapkan</a:t>
                      </a:r>
                      <a:endParaRPr lang="en-ID" sz="1600" b="0" i="0" u="none" strike="noStrike" dirty="0">
                        <a:solidFill>
                          <a:srgbClr val="000000"/>
                        </a:solidFill>
                        <a:effectLst/>
                        <a:latin typeface="Cambria" panose="02040503050406030204" pitchFamily="18" charset="0"/>
                      </a:endParaRPr>
                    </a:p>
                  </a:txBody>
                  <a:tcPr marL="3453" marR="3453" marT="345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xmlns="" val="248448352"/>
                  </a:ext>
                </a:extLst>
              </a:tr>
              <a:tr h="1243239">
                <a:tc>
                  <a:txBody>
                    <a:bodyPr/>
                    <a:lstStyle/>
                    <a:p>
                      <a:pPr algn="l" rtl="0" fontAlgn="t"/>
                      <a:r>
                        <a:rPr lang="en-ID" sz="1600" b="0" i="0" u="none" strike="noStrike" dirty="0" err="1">
                          <a:solidFill>
                            <a:srgbClr val="000000"/>
                          </a:solidFill>
                          <a:effectLst/>
                          <a:latin typeface="Cambria" panose="02040503050406030204" pitchFamily="18" charset="0"/>
                        </a:rPr>
                        <a:t>Kolaborasi</a:t>
                      </a:r>
                      <a:r>
                        <a:rPr lang="en-ID" sz="1600" b="0" i="0" u="none" strike="noStrike" dirty="0">
                          <a:solidFill>
                            <a:srgbClr val="000000"/>
                          </a:solidFill>
                          <a:effectLst/>
                          <a:latin typeface="Cambria" panose="02040503050406030204" pitchFamily="18" charset="0"/>
                        </a:rPr>
                        <a:t> </a:t>
                      </a:r>
                      <a:r>
                        <a:rPr lang="en-ID" sz="1600" b="0" i="0" u="none" strike="noStrike" dirty="0" err="1" smtClean="0">
                          <a:solidFill>
                            <a:srgbClr val="000000"/>
                          </a:solidFill>
                          <a:effectLst/>
                          <a:latin typeface="Cambria" panose="02040503050406030204" pitchFamily="18" charset="0"/>
                        </a:rPr>
                        <a:t>dalam</a:t>
                      </a:r>
                      <a:r>
                        <a:rPr lang="en-ID" sz="1600" b="0" i="0" u="none" strike="noStrike" dirty="0" smtClean="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Penguatan</a:t>
                      </a:r>
                      <a:r>
                        <a:rPr lang="en-ID" sz="1600" b="0" i="0" u="none" strike="noStrike" dirty="0">
                          <a:solidFill>
                            <a:srgbClr val="000000"/>
                          </a:solidFill>
                          <a:effectLst/>
                          <a:latin typeface="Cambria" panose="02040503050406030204" pitchFamily="18" charset="0"/>
                        </a:rPr>
                        <a:t> </a:t>
                      </a:r>
                      <a:r>
                        <a:rPr lang="en-ID" sz="1600" b="0" i="0" u="none" strike="noStrike" dirty="0" err="1" smtClean="0">
                          <a:solidFill>
                            <a:srgbClr val="000000"/>
                          </a:solidFill>
                          <a:effectLst/>
                          <a:latin typeface="Cambria" panose="02040503050406030204" pitchFamily="18" charset="0"/>
                        </a:rPr>
                        <a:t>dan</a:t>
                      </a:r>
                      <a:r>
                        <a:rPr lang="en-ID" sz="1600" b="0" i="0" u="none" strike="noStrike" dirty="0" smtClean="0">
                          <a:solidFill>
                            <a:srgbClr val="000000"/>
                          </a:solidFill>
                          <a:effectLst/>
                          <a:latin typeface="Cambria" panose="02040503050406030204" pitchFamily="18" charset="0"/>
                        </a:rPr>
                        <a:t> </a:t>
                      </a:r>
                      <a:r>
                        <a:rPr lang="en-ID" sz="1600" b="0" i="0" u="none" strike="noStrike" dirty="0" err="1" smtClean="0">
                          <a:solidFill>
                            <a:srgbClr val="000000"/>
                          </a:solidFill>
                          <a:effectLst/>
                          <a:latin typeface="Cambria" panose="02040503050406030204" pitchFamily="18" charset="0"/>
                        </a:rPr>
                        <a:t>Pengembangan</a:t>
                      </a:r>
                      <a:r>
                        <a:rPr lang="en-ID" sz="1600" b="0" i="0" u="none" strike="noStrike" dirty="0" smtClean="0">
                          <a:solidFill>
                            <a:srgbClr val="000000"/>
                          </a:solidFill>
                          <a:effectLst/>
                          <a:latin typeface="Cambria" panose="02040503050406030204" pitchFamily="18" charset="0"/>
                        </a:rPr>
                        <a:t> </a:t>
                      </a:r>
                      <a:r>
                        <a:rPr lang="en-ID" sz="1600" b="0" i="0" u="none" strike="noStrike" dirty="0" err="1" smtClean="0">
                          <a:solidFill>
                            <a:srgbClr val="000000"/>
                          </a:solidFill>
                          <a:effectLst/>
                          <a:latin typeface="Cambria" panose="02040503050406030204" pitchFamily="18" charset="0"/>
                        </a:rPr>
                        <a:t>Kapasitas</a:t>
                      </a:r>
                      <a:r>
                        <a:rPr lang="en-ID" sz="1600" b="0" i="0" u="none" strike="noStrike" dirty="0" smtClean="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Institusi</a:t>
                      </a:r>
                      <a:endParaRPr lang="en-ID" sz="1600" b="0" i="0" u="none" strike="noStrike" dirty="0">
                        <a:solidFill>
                          <a:srgbClr val="000000"/>
                        </a:solidFill>
                        <a:effectLst/>
                        <a:latin typeface="Cambria" panose="02040503050406030204" pitchFamily="18" charset="0"/>
                      </a:endParaRPr>
                    </a:p>
                  </a:txBody>
                  <a:tcPr marL="3453" marR="3453" marT="34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Kemitraan</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dengan</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lembaga</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internasional</a:t>
                      </a:r>
                      <a:r>
                        <a:rPr lang="en-ID" sz="1600" b="0" i="0" u="none" strike="noStrike" dirty="0">
                          <a:solidFill>
                            <a:srgbClr val="000000"/>
                          </a:solidFill>
                          <a:effectLst/>
                          <a:latin typeface="Cambria" panose="02040503050406030204" pitchFamily="18" charset="0"/>
                        </a:rPr>
                        <a:t> (World Bank, UNDP, ADB) </a:t>
                      </a:r>
                      <a:r>
                        <a:rPr lang="en-ID" sz="1600" b="0" i="0" u="none" strike="noStrike" dirty="0" err="1">
                          <a:solidFill>
                            <a:srgbClr val="000000"/>
                          </a:solidFill>
                          <a:effectLst/>
                          <a:latin typeface="Cambria" panose="02040503050406030204" pitchFamily="18" charset="0"/>
                        </a:rPr>
                        <a:t>dalam</a:t>
                      </a:r>
                      <a:r>
                        <a:rPr lang="en-ID" sz="1600" b="0" i="0" u="none" strike="noStrike" dirty="0">
                          <a:solidFill>
                            <a:srgbClr val="000000"/>
                          </a:solidFill>
                          <a:effectLst/>
                          <a:latin typeface="Cambria" panose="02040503050406030204" pitchFamily="18" charset="0"/>
                        </a:rPr>
                        <a:t> tata </a:t>
                      </a:r>
                      <a:r>
                        <a:rPr lang="en-ID" sz="1600" b="0" i="0" u="none" strike="noStrike" dirty="0" err="1">
                          <a:solidFill>
                            <a:srgbClr val="000000"/>
                          </a:solidFill>
                          <a:effectLst/>
                          <a:latin typeface="Cambria" panose="02040503050406030204" pitchFamily="18" charset="0"/>
                        </a:rPr>
                        <a:t>kelola</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risiko</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strategis</a:t>
                      </a:r>
                      <a:r>
                        <a:rPr lang="en-ID" sz="1600" b="0" i="0" u="none" strike="noStrike" dirty="0">
                          <a:solidFill>
                            <a:srgbClr val="000000"/>
                          </a:solidFill>
                          <a:effectLst/>
                          <a:latin typeface="Cambria" panose="02040503050406030204" pitchFamily="18" charset="0"/>
                        </a:rPr>
                        <a:t>.</a:t>
                      </a:r>
                    </a:p>
                  </a:txBody>
                  <a:tcPr marL="3453" marR="3453" marT="34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a:solidFill>
                            <a:srgbClr val="000000"/>
                          </a:solidFill>
                          <a:effectLst/>
                          <a:latin typeface="Cambria" panose="02040503050406030204" pitchFamily="18" charset="0"/>
                        </a:rPr>
                        <a:t>Sepanjang tahun (Pertemuan dan pelatihan setiap kuartal)</a:t>
                      </a:r>
                    </a:p>
                  </a:txBody>
                  <a:tcPr marL="3453" marR="3453" marT="34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a:solidFill>
                            <a:srgbClr val="000000"/>
                          </a:solidFill>
                          <a:effectLst/>
                          <a:latin typeface="Cambria" panose="02040503050406030204" pitchFamily="18" charset="0"/>
                        </a:rPr>
                        <a:t>To be defined</a:t>
                      </a:r>
                    </a:p>
                  </a:txBody>
                  <a:tcPr marL="3453" marR="3453" marT="34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a:solidFill>
                            <a:srgbClr val="000000"/>
                          </a:solidFill>
                          <a:effectLst/>
                          <a:latin typeface="Cambria" panose="02040503050406030204" pitchFamily="18" charset="0"/>
                        </a:rPr>
                        <a:t>Sponsor lembaga donor, hibah penguatan kapasitas</a:t>
                      </a:r>
                    </a:p>
                  </a:txBody>
                  <a:tcPr marL="3453" marR="3453" marT="34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D" sz="1600" b="1" i="0" u="none" strike="noStrike" dirty="0" err="1">
                          <a:solidFill>
                            <a:srgbClr val="000000"/>
                          </a:solidFill>
                          <a:effectLst/>
                          <a:latin typeface="Cambria" panose="02040503050406030204" pitchFamily="18" charset="0"/>
                        </a:rPr>
                        <a:t>Pembentukan</a:t>
                      </a:r>
                      <a:r>
                        <a:rPr lang="en-ID" sz="1600" b="1" i="0" u="none" strike="noStrike" dirty="0">
                          <a:solidFill>
                            <a:srgbClr val="000000"/>
                          </a:solidFill>
                          <a:effectLst/>
                          <a:latin typeface="Cambria" panose="02040503050406030204" pitchFamily="18" charset="0"/>
                        </a:rPr>
                        <a:t> </a:t>
                      </a:r>
                      <a:r>
                        <a:rPr lang="en-ID" sz="1600" b="1" i="0" u="none" strike="noStrike" dirty="0" err="1">
                          <a:solidFill>
                            <a:srgbClr val="000000"/>
                          </a:solidFill>
                          <a:effectLst/>
                          <a:latin typeface="Cambria" panose="02040503050406030204" pitchFamily="18" charset="0"/>
                        </a:rPr>
                        <a:t>kemitraan</a:t>
                      </a:r>
                      <a:r>
                        <a:rPr lang="en-ID" sz="1600" b="1" i="0" u="none" strike="noStrike" dirty="0">
                          <a:solidFill>
                            <a:srgbClr val="000000"/>
                          </a:solidFill>
                          <a:effectLst/>
                          <a:latin typeface="Cambria" panose="02040503050406030204" pitchFamily="18" charset="0"/>
                        </a:rPr>
                        <a:t> </a:t>
                      </a:r>
                      <a:r>
                        <a:rPr lang="en-ID" sz="1600" b="1" i="0" u="none" strike="noStrike" dirty="0" err="1">
                          <a:solidFill>
                            <a:srgbClr val="000000"/>
                          </a:solidFill>
                          <a:effectLst/>
                          <a:latin typeface="Cambria" panose="02040503050406030204" pitchFamily="18" charset="0"/>
                        </a:rPr>
                        <a:t>strategis</a:t>
                      </a:r>
                      <a:r>
                        <a:rPr lang="en-ID" sz="1600" b="1"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dengan</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lembaga</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nasional</a:t>
                      </a:r>
                      <a:r>
                        <a:rPr lang="en-ID" sz="1600" b="0" i="0" u="none" strike="noStrike" dirty="0">
                          <a:solidFill>
                            <a:srgbClr val="000000"/>
                          </a:solidFill>
                          <a:effectLst/>
                          <a:latin typeface="Cambria" panose="02040503050406030204" pitchFamily="18" charset="0"/>
                        </a:rPr>
                        <a:t> dan </a:t>
                      </a:r>
                      <a:r>
                        <a:rPr lang="en-ID" sz="1600" b="0" i="0" u="none" strike="noStrike" dirty="0" err="1">
                          <a:solidFill>
                            <a:srgbClr val="000000"/>
                          </a:solidFill>
                          <a:effectLst/>
                          <a:latin typeface="Cambria" panose="02040503050406030204" pitchFamily="18" charset="0"/>
                        </a:rPr>
                        <a:t>internasional</a:t>
                      </a:r>
                      <a:r>
                        <a:rPr lang="en-ID" sz="1600" b="0" i="0" u="none" strike="noStrike" dirty="0">
                          <a:solidFill>
                            <a:srgbClr val="000000"/>
                          </a:solidFill>
                          <a:effectLst/>
                          <a:latin typeface="Cambria" panose="02040503050406030204" pitchFamily="18" charset="0"/>
                        </a:rPr>
                        <a:t>.</a:t>
                      </a:r>
                    </a:p>
                  </a:txBody>
                  <a:tcPr marL="3453" marR="3453" marT="34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455863913"/>
                  </a:ext>
                </a:extLst>
              </a:tr>
              <a:tr h="1124687">
                <a:tc>
                  <a:txBody>
                    <a:bodyPr/>
                    <a:lstStyle/>
                    <a:p>
                      <a:pPr algn="l" rtl="0" fontAlgn="t"/>
                      <a:r>
                        <a:rPr lang="en-ID" sz="1600" b="0" i="0" u="none" strike="noStrike">
                          <a:solidFill>
                            <a:srgbClr val="000000"/>
                          </a:solidFill>
                          <a:effectLst/>
                          <a:latin typeface="Cambria" panose="02040503050406030204" pitchFamily="18" charset="0"/>
                        </a:rPr>
                        <a:t> </a:t>
                      </a:r>
                    </a:p>
                  </a:txBody>
                  <a:tcPr marL="3453" marR="3453" marT="34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nn-NO" sz="1600" b="0" i="0" u="none" strike="noStrike">
                          <a:solidFill>
                            <a:srgbClr val="000000"/>
                          </a:solidFill>
                          <a:effectLst/>
                          <a:latin typeface="Cambria" panose="02040503050406030204" pitchFamily="18" charset="0"/>
                        </a:rPr>
                        <a:t>- Fasilitasi dialog multi-sektor untuk kebijakan mitigasi dan kesiapsiagaan finansial.</a:t>
                      </a:r>
                    </a:p>
                  </a:txBody>
                  <a:tcPr marL="3453" marR="3453" marT="34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a:solidFill>
                            <a:srgbClr val="000000"/>
                          </a:solidFill>
                          <a:effectLst/>
                          <a:latin typeface="Cambria" panose="02040503050406030204" pitchFamily="18" charset="0"/>
                        </a:rPr>
                        <a:t> </a:t>
                      </a:r>
                    </a:p>
                  </a:txBody>
                  <a:tcPr marL="3453" marR="3453" marT="34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a:solidFill>
                            <a:srgbClr val="000000"/>
                          </a:solidFill>
                          <a:effectLst/>
                          <a:latin typeface="Cambria" panose="02040503050406030204" pitchFamily="18" charset="0"/>
                        </a:rPr>
                        <a:t> </a:t>
                      </a:r>
                    </a:p>
                  </a:txBody>
                  <a:tcPr marL="3453" marR="3453" marT="34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a:solidFill>
                            <a:srgbClr val="000000"/>
                          </a:solidFill>
                          <a:effectLst/>
                          <a:latin typeface="Cambria" panose="02040503050406030204" pitchFamily="18" charset="0"/>
                        </a:rPr>
                        <a:t> </a:t>
                      </a:r>
                    </a:p>
                  </a:txBody>
                  <a:tcPr marL="3453" marR="3453" marT="34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nn-NO" sz="1600" b="0" i="0" u="none" strike="noStrike" dirty="0">
                          <a:solidFill>
                            <a:srgbClr val="000000"/>
                          </a:solidFill>
                          <a:effectLst/>
                          <a:latin typeface="Cambria" panose="02040503050406030204" pitchFamily="18" charset="0"/>
                        </a:rPr>
                        <a:t>Program pelatihan dan workshop untuk meningkatkan kapasitas institusi dalam tata kelola risiko.</a:t>
                      </a:r>
                    </a:p>
                  </a:txBody>
                  <a:tcPr marL="3453" marR="3453" marT="34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487474565"/>
                  </a:ext>
                </a:extLst>
              </a:tr>
              <a:tr h="1087834">
                <a:tc>
                  <a:txBody>
                    <a:bodyPr/>
                    <a:lstStyle/>
                    <a:p>
                      <a:pPr algn="l" rtl="0" fontAlgn="t"/>
                      <a:r>
                        <a:rPr lang="en-ID" sz="1600" b="0" i="0" u="none" strike="noStrike" dirty="0">
                          <a:solidFill>
                            <a:srgbClr val="000000"/>
                          </a:solidFill>
                          <a:effectLst/>
                          <a:latin typeface="Cambria" panose="02040503050406030204" pitchFamily="18" charset="0"/>
                        </a:rPr>
                        <a:t> </a:t>
                      </a:r>
                    </a:p>
                  </a:txBody>
                  <a:tcPr marL="3453" marR="3453" marT="34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dirty="0">
                          <a:solidFill>
                            <a:srgbClr val="000000"/>
                          </a:solidFill>
                          <a:effectLst/>
                          <a:latin typeface="Cambria" panose="02040503050406030204" pitchFamily="18" charset="0"/>
                        </a:rPr>
                        <a:t>- Workshop </a:t>
                      </a:r>
                      <a:r>
                        <a:rPr lang="en-ID" sz="1600" b="0" i="0" u="none" strike="noStrike" dirty="0" err="1">
                          <a:solidFill>
                            <a:srgbClr val="000000"/>
                          </a:solidFill>
                          <a:effectLst/>
                          <a:latin typeface="Cambria" panose="02040503050406030204" pitchFamily="18" charset="0"/>
                        </a:rPr>
                        <a:t>dan</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pelatihan</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manajemen</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risiko</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bagi</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pemerintah</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daerah</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dan</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sektor</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swasta</a:t>
                      </a:r>
                      <a:r>
                        <a:rPr lang="en-ID" sz="1600" b="0" i="0" u="none" strike="noStrike" dirty="0">
                          <a:solidFill>
                            <a:srgbClr val="000000"/>
                          </a:solidFill>
                          <a:effectLst/>
                          <a:latin typeface="Cambria" panose="02040503050406030204" pitchFamily="18" charset="0"/>
                        </a:rPr>
                        <a:t>.</a:t>
                      </a:r>
                    </a:p>
                  </a:txBody>
                  <a:tcPr marL="3453" marR="3453" marT="34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dirty="0">
                          <a:solidFill>
                            <a:srgbClr val="000000"/>
                          </a:solidFill>
                          <a:effectLst/>
                          <a:latin typeface="Cambria" panose="02040503050406030204" pitchFamily="18" charset="0"/>
                        </a:rPr>
                        <a:t> </a:t>
                      </a:r>
                    </a:p>
                  </a:txBody>
                  <a:tcPr marL="3453" marR="3453" marT="34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dirty="0">
                          <a:solidFill>
                            <a:srgbClr val="000000"/>
                          </a:solidFill>
                          <a:effectLst/>
                          <a:latin typeface="Cambria" panose="02040503050406030204" pitchFamily="18" charset="0"/>
                        </a:rPr>
                        <a:t> </a:t>
                      </a:r>
                    </a:p>
                  </a:txBody>
                  <a:tcPr marL="3453" marR="3453" marT="34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dirty="0">
                          <a:solidFill>
                            <a:srgbClr val="000000"/>
                          </a:solidFill>
                          <a:effectLst/>
                          <a:latin typeface="Cambria" panose="02040503050406030204" pitchFamily="18" charset="0"/>
                        </a:rPr>
                        <a:t> </a:t>
                      </a:r>
                    </a:p>
                  </a:txBody>
                  <a:tcPr marL="3453" marR="3453" marT="345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D" sz="1600" b="0" i="0" u="none" strike="noStrike" dirty="0" smtClean="0">
                          <a:solidFill>
                            <a:srgbClr val="000000"/>
                          </a:solidFill>
                          <a:effectLst/>
                          <a:latin typeface="Cambria" panose="02040503050406030204" pitchFamily="18" charset="0"/>
                        </a:rPr>
                        <a:t>-</a:t>
                      </a:r>
                      <a:r>
                        <a:rPr lang="en-ID" sz="1600" b="0" i="0" u="none" strike="noStrike" dirty="0" err="1" smtClean="0">
                          <a:solidFill>
                            <a:srgbClr val="000000"/>
                          </a:solidFill>
                          <a:effectLst/>
                          <a:latin typeface="Cambria" panose="02040503050406030204" pitchFamily="18" charset="0"/>
                        </a:rPr>
                        <a:t>Sosialisasi</a:t>
                      </a:r>
                      <a:r>
                        <a:rPr lang="en-ID" sz="1600" b="0" i="0" u="none" strike="noStrike" dirty="0" smtClean="0">
                          <a:solidFill>
                            <a:srgbClr val="000000"/>
                          </a:solidFill>
                          <a:effectLst/>
                          <a:latin typeface="Cambria" panose="02040503050406030204" pitchFamily="18" charset="0"/>
                        </a:rPr>
                        <a:t> </a:t>
                      </a:r>
                      <a:r>
                        <a:rPr lang="en-ID" sz="1600" b="0" i="0" u="none" strike="noStrike" dirty="0" err="1" smtClean="0">
                          <a:solidFill>
                            <a:srgbClr val="000000"/>
                          </a:solidFill>
                          <a:effectLst/>
                          <a:latin typeface="Cambria" panose="02040503050406030204" pitchFamily="18" charset="0"/>
                        </a:rPr>
                        <a:t>dan</a:t>
                      </a:r>
                      <a:r>
                        <a:rPr lang="en-ID" sz="1600" b="0" i="0" u="none" strike="noStrike" dirty="0" smtClean="0">
                          <a:solidFill>
                            <a:srgbClr val="000000"/>
                          </a:solidFill>
                          <a:effectLst/>
                          <a:latin typeface="Cambria" panose="02040503050406030204" pitchFamily="18" charset="0"/>
                        </a:rPr>
                        <a:t> </a:t>
                      </a:r>
                      <a:r>
                        <a:rPr lang="en-ID" sz="1600" b="0" i="0" u="none" strike="noStrike" dirty="0" err="1" smtClean="0">
                          <a:solidFill>
                            <a:srgbClr val="000000"/>
                          </a:solidFill>
                          <a:effectLst/>
                          <a:latin typeface="Cambria" panose="02040503050406030204" pitchFamily="18" charset="0"/>
                        </a:rPr>
                        <a:t>Edukasi</a:t>
                      </a:r>
                      <a:r>
                        <a:rPr lang="en-ID" sz="1600" b="0" i="0" u="none" strike="noStrike" dirty="0" smtClean="0">
                          <a:solidFill>
                            <a:srgbClr val="000000"/>
                          </a:solidFill>
                          <a:effectLst/>
                          <a:latin typeface="Cambria" panose="02040503050406030204" pitchFamily="18" charset="0"/>
                        </a:rPr>
                        <a:t> </a:t>
                      </a:r>
                      <a:r>
                        <a:rPr lang="en-ID" sz="1600" b="0" i="0" u="none" strike="noStrike" dirty="0" err="1" smtClean="0">
                          <a:solidFill>
                            <a:srgbClr val="000000"/>
                          </a:solidFill>
                          <a:effectLst/>
                          <a:latin typeface="Cambria" panose="02040503050406030204" pitchFamily="18" charset="0"/>
                        </a:rPr>
                        <a:t>Manajemen</a:t>
                      </a:r>
                      <a:r>
                        <a:rPr lang="en-ID" sz="1600" b="0" i="0" u="none" strike="noStrike" dirty="0" smtClean="0">
                          <a:solidFill>
                            <a:srgbClr val="000000"/>
                          </a:solidFill>
                          <a:effectLst/>
                          <a:latin typeface="Cambria" panose="02040503050406030204" pitchFamily="18" charset="0"/>
                        </a:rPr>
                        <a:t> </a:t>
                      </a:r>
                      <a:r>
                        <a:rPr lang="en-ID" sz="1600" b="0" i="0" u="none" strike="noStrike" dirty="0" err="1" smtClean="0">
                          <a:solidFill>
                            <a:srgbClr val="000000"/>
                          </a:solidFill>
                          <a:effectLst/>
                          <a:latin typeface="Cambria" panose="02040503050406030204" pitchFamily="18" charset="0"/>
                        </a:rPr>
                        <a:t>Risiko</a:t>
                      </a:r>
                      <a:r>
                        <a:rPr lang="en-ID" sz="1600" b="0" i="0" u="none" strike="noStrike" dirty="0" smtClean="0">
                          <a:solidFill>
                            <a:srgbClr val="000000"/>
                          </a:solidFill>
                          <a:effectLst/>
                          <a:latin typeface="Cambria" panose="02040503050406030204" pitchFamily="18" charset="0"/>
                        </a:rPr>
                        <a:t> di </a:t>
                      </a:r>
                      <a:r>
                        <a:rPr lang="en-ID" sz="1600" b="0" i="0" u="none" strike="noStrike" dirty="0" err="1" smtClean="0">
                          <a:solidFill>
                            <a:srgbClr val="000000"/>
                          </a:solidFill>
                          <a:effectLst/>
                          <a:latin typeface="Cambria" panose="02040503050406030204" pitchFamily="18" charset="0"/>
                        </a:rPr>
                        <a:t>kab</a:t>
                      </a:r>
                      <a:r>
                        <a:rPr lang="en-ID" sz="1600" b="0" i="0" u="none" strike="noStrike" dirty="0" smtClean="0">
                          <a:solidFill>
                            <a:srgbClr val="000000"/>
                          </a:solidFill>
                          <a:effectLst/>
                          <a:latin typeface="Cambria" panose="02040503050406030204" pitchFamily="18" charset="0"/>
                        </a:rPr>
                        <a:t>/</a:t>
                      </a:r>
                      <a:r>
                        <a:rPr lang="en-ID" sz="1600" b="0" i="0" u="none" strike="noStrike" dirty="0" err="1" smtClean="0">
                          <a:solidFill>
                            <a:srgbClr val="000000"/>
                          </a:solidFill>
                          <a:effectLst/>
                          <a:latin typeface="Cambria" panose="02040503050406030204" pitchFamily="18" charset="0"/>
                        </a:rPr>
                        <a:t>kota</a:t>
                      </a:r>
                      <a:r>
                        <a:rPr lang="en-ID" sz="1600" b="0" i="0" u="none" strike="noStrike" dirty="0" smtClean="0">
                          <a:solidFill>
                            <a:srgbClr val="000000"/>
                          </a:solidFill>
                          <a:effectLst/>
                          <a:latin typeface="Cambria" panose="02040503050406030204" pitchFamily="18" charset="0"/>
                        </a:rPr>
                        <a:t> di</a:t>
                      </a:r>
                      <a:r>
                        <a:rPr lang="en-ID" sz="1600" b="0" i="0" u="none" strike="noStrike" baseline="0" dirty="0" smtClean="0">
                          <a:solidFill>
                            <a:srgbClr val="000000"/>
                          </a:solidFill>
                          <a:effectLst/>
                          <a:latin typeface="Cambria" panose="02040503050406030204" pitchFamily="18" charset="0"/>
                        </a:rPr>
                        <a:t> Aceh</a:t>
                      </a:r>
                    </a:p>
                    <a:p>
                      <a:pPr algn="l" fontAlgn="b"/>
                      <a:r>
                        <a:rPr lang="en-ID" sz="1600" b="0" i="0" u="none" strike="noStrike" baseline="0" dirty="0" smtClean="0">
                          <a:solidFill>
                            <a:srgbClr val="000000"/>
                          </a:solidFill>
                          <a:effectLst/>
                          <a:latin typeface="Cambria" panose="02040503050406030204" pitchFamily="18" charset="0"/>
                        </a:rPr>
                        <a:t>-</a:t>
                      </a:r>
                      <a:r>
                        <a:rPr lang="en-ID" sz="1600" b="0" i="0" u="none" strike="noStrike" baseline="0" dirty="0" err="1" smtClean="0">
                          <a:solidFill>
                            <a:srgbClr val="000000"/>
                          </a:solidFill>
                          <a:effectLst/>
                          <a:latin typeface="Cambria" panose="02040503050406030204" pitchFamily="18" charset="0"/>
                        </a:rPr>
                        <a:t>Rintisan</a:t>
                      </a:r>
                      <a:r>
                        <a:rPr lang="en-ID" sz="1600" b="0" i="0" u="none" strike="noStrike" baseline="0" dirty="0" smtClean="0">
                          <a:solidFill>
                            <a:srgbClr val="000000"/>
                          </a:solidFill>
                          <a:effectLst/>
                          <a:latin typeface="Cambria" panose="02040503050406030204" pitchFamily="18" charset="0"/>
                        </a:rPr>
                        <a:t> </a:t>
                      </a:r>
                      <a:r>
                        <a:rPr lang="en-ID" sz="1600" b="0" i="0" u="none" strike="noStrike" baseline="0" dirty="0" err="1" smtClean="0">
                          <a:solidFill>
                            <a:srgbClr val="000000"/>
                          </a:solidFill>
                          <a:effectLst/>
                          <a:latin typeface="Cambria" panose="02040503050406030204" pitchFamily="18" charset="0"/>
                        </a:rPr>
                        <a:t>pembentukan</a:t>
                      </a:r>
                      <a:r>
                        <a:rPr lang="en-ID" sz="1600" b="0" i="0" u="none" strike="noStrike" baseline="0" dirty="0" smtClean="0">
                          <a:solidFill>
                            <a:srgbClr val="000000"/>
                          </a:solidFill>
                          <a:effectLst/>
                          <a:latin typeface="Cambria" panose="02040503050406030204" pitchFamily="18" charset="0"/>
                        </a:rPr>
                        <a:t> </a:t>
                      </a:r>
                      <a:r>
                        <a:rPr lang="en-ID" sz="1600" b="0" i="0" u="none" strike="noStrike" baseline="0" dirty="0" err="1" smtClean="0">
                          <a:solidFill>
                            <a:srgbClr val="000000"/>
                          </a:solidFill>
                          <a:effectLst/>
                          <a:latin typeface="Cambria" panose="02040503050406030204" pitchFamily="18" charset="0"/>
                        </a:rPr>
                        <a:t>prodi</a:t>
                      </a:r>
                      <a:r>
                        <a:rPr lang="en-ID" sz="1600" b="0" i="0" u="none" strike="noStrike" baseline="0" dirty="0" smtClean="0">
                          <a:solidFill>
                            <a:srgbClr val="000000"/>
                          </a:solidFill>
                          <a:effectLst/>
                          <a:latin typeface="Cambria" panose="02040503050406030204" pitchFamily="18" charset="0"/>
                        </a:rPr>
                        <a:t> </a:t>
                      </a:r>
                      <a:r>
                        <a:rPr lang="en-ID" sz="1600" b="0" i="0" u="none" strike="noStrike" baseline="0" dirty="0" err="1" smtClean="0">
                          <a:solidFill>
                            <a:srgbClr val="000000"/>
                          </a:solidFill>
                          <a:effectLst/>
                          <a:latin typeface="Cambria" panose="02040503050406030204" pitchFamily="18" charset="0"/>
                        </a:rPr>
                        <a:t>Aktuaria</a:t>
                      </a:r>
                      <a:r>
                        <a:rPr lang="en-ID" sz="1600" b="0" i="0" u="none" strike="noStrike" baseline="0" dirty="0" smtClean="0">
                          <a:solidFill>
                            <a:srgbClr val="000000"/>
                          </a:solidFill>
                          <a:effectLst/>
                          <a:latin typeface="Cambria" panose="02040503050406030204" pitchFamily="18" charset="0"/>
                        </a:rPr>
                        <a:t> </a:t>
                      </a:r>
                      <a:r>
                        <a:rPr lang="en-ID" sz="1600" b="0" i="0" u="none" strike="noStrike" baseline="0" dirty="0" err="1" smtClean="0">
                          <a:solidFill>
                            <a:srgbClr val="000000"/>
                          </a:solidFill>
                          <a:effectLst/>
                          <a:latin typeface="Cambria" panose="02040503050406030204" pitchFamily="18" charset="0"/>
                        </a:rPr>
                        <a:t>Terapan</a:t>
                      </a:r>
                      <a:r>
                        <a:rPr lang="en-ID" sz="1600" b="0" i="0" u="none" strike="noStrike" baseline="0" dirty="0" smtClean="0">
                          <a:solidFill>
                            <a:srgbClr val="000000"/>
                          </a:solidFill>
                          <a:effectLst/>
                          <a:latin typeface="Cambria" panose="02040503050406030204" pitchFamily="18" charset="0"/>
                        </a:rPr>
                        <a:t> di USK</a:t>
                      </a:r>
                    </a:p>
                    <a:p>
                      <a:pPr algn="l" fontAlgn="b"/>
                      <a:endParaRPr lang="en-ID" sz="1600" b="0" i="0" u="none" strike="noStrike" dirty="0">
                        <a:solidFill>
                          <a:srgbClr val="000000"/>
                        </a:solidFill>
                        <a:effectLst/>
                        <a:latin typeface="Cambria" panose="02040503050406030204" pitchFamily="18" charset="0"/>
                      </a:endParaRPr>
                    </a:p>
                  </a:txBody>
                  <a:tcPr marL="3453" marR="3453" marT="34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437111660"/>
                  </a:ext>
                </a:extLst>
              </a:tr>
            </a:tbl>
          </a:graphicData>
        </a:graphic>
      </p:graphicFrame>
      <p:sp>
        <p:nvSpPr>
          <p:cNvPr id="6" name="TextBox 5">
            <a:extLst>
              <a:ext uri="{FF2B5EF4-FFF2-40B4-BE49-F238E27FC236}">
                <a16:creationId xmlns:a16="http://schemas.microsoft.com/office/drawing/2014/main" xmlns="" id="{8AC83C08-ACA9-AB15-237C-0F31D45BB17F}"/>
              </a:ext>
            </a:extLst>
          </p:cNvPr>
          <p:cNvSpPr txBox="1"/>
          <p:nvPr/>
        </p:nvSpPr>
        <p:spPr>
          <a:xfrm>
            <a:off x="873760" y="513135"/>
            <a:ext cx="10302240" cy="646331"/>
          </a:xfrm>
          <a:prstGeom prst="rect">
            <a:avLst/>
          </a:prstGeom>
          <a:noFill/>
        </p:spPr>
        <p:txBody>
          <a:bodyPr wrap="square">
            <a:spAutoFit/>
          </a:bodyPr>
          <a:lstStyle/>
          <a:p>
            <a:r>
              <a:rPr lang="en-ID" b="1" dirty="0" err="1"/>
              <a:t>Mitigasi</a:t>
            </a:r>
            <a:r>
              <a:rPr lang="en-ID" b="1" dirty="0"/>
              <a:t> </a:t>
            </a:r>
            <a:r>
              <a:rPr lang="en-ID" b="1" dirty="0" err="1"/>
              <a:t>bencana</a:t>
            </a:r>
            <a:r>
              <a:rPr lang="en-ID" b="1" dirty="0"/>
              <a:t> </a:t>
            </a:r>
            <a:r>
              <a:rPr lang="en-ID" b="1" dirty="0" err="1"/>
              <a:t>tidak</a:t>
            </a:r>
            <a:r>
              <a:rPr lang="en-ID" b="1" dirty="0"/>
              <a:t> </a:t>
            </a:r>
            <a:r>
              <a:rPr lang="en-ID" b="1" dirty="0" err="1" smtClean="0"/>
              <a:t>dapat</a:t>
            </a:r>
            <a:r>
              <a:rPr lang="en-ID" b="1" dirty="0" smtClean="0"/>
              <a:t> </a:t>
            </a:r>
            <a:r>
              <a:rPr lang="en-ID" b="1" dirty="0" err="1"/>
              <a:t>dilakukan</a:t>
            </a:r>
            <a:r>
              <a:rPr lang="en-ID" b="1" dirty="0"/>
              <a:t> </a:t>
            </a:r>
            <a:r>
              <a:rPr lang="en-ID" b="1" dirty="0" err="1"/>
              <a:t>secara</a:t>
            </a:r>
            <a:r>
              <a:rPr lang="en-ID" b="1" dirty="0"/>
              <a:t> </a:t>
            </a:r>
            <a:r>
              <a:rPr lang="en-ID" b="1" dirty="0" err="1"/>
              <a:t>terpisah</a:t>
            </a:r>
            <a:r>
              <a:rPr lang="en-ID" dirty="0"/>
              <a:t>; </a:t>
            </a:r>
            <a:r>
              <a:rPr lang="en-ID" b="1" dirty="0" err="1"/>
              <a:t>perlu</a:t>
            </a:r>
            <a:r>
              <a:rPr lang="en-ID" b="1" dirty="0"/>
              <a:t> </a:t>
            </a:r>
            <a:r>
              <a:rPr lang="en-ID" b="1" dirty="0" err="1"/>
              <a:t>sinergi</a:t>
            </a:r>
            <a:r>
              <a:rPr lang="en-ID" b="1" dirty="0"/>
              <a:t> </a:t>
            </a:r>
            <a:r>
              <a:rPr lang="en-ID" dirty="0" err="1"/>
              <a:t>antara</a:t>
            </a:r>
            <a:r>
              <a:rPr lang="en-ID" dirty="0"/>
              <a:t> </a:t>
            </a:r>
            <a:r>
              <a:rPr lang="en-ID" dirty="0" err="1"/>
              <a:t>akademisi</a:t>
            </a:r>
            <a:r>
              <a:rPr lang="en-ID" dirty="0"/>
              <a:t>, </a:t>
            </a:r>
            <a:r>
              <a:rPr lang="en-ID" dirty="0" err="1"/>
              <a:t>pemerintah</a:t>
            </a:r>
            <a:r>
              <a:rPr lang="en-ID" dirty="0"/>
              <a:t>, </a:t>
            </a:r>
            <a:r>
              <a:rPr lang="en-ID" dirty="0" err="1"/>
              <a:t>sektor</a:t>
            </a:r>
            <a:r>
              <a:rPr lang="en-ID" dirty="0"/>
              <a:t> </a:t>
            </a:r>
            <a:r>
              <a:rPr lang="en-ID" dirty="0" err="1"/>
              <a:t>swasta</a:t>
            </a:r>
            <a:r>
              <a:rPr lang="en-ID" dirty="0"/>
              <a:t>, dan </a:t>
            </a:r>
            <a:r>
              <a:rPr lang="en-ID" dirty="0" err="1"/>
              <a:t>masyarakat</a:t>
            </a:r>
            <a:r>
              <a:rPr lang="en-ID" dirty="0"/>
              <a:t>.</a:t>
            </a:r>
          </a:p>
        </p:txBody>
      </p:sp>
    </p:spTree>
    <p:extLst>
      <p:ext uri="{BB962C8B-B14F-4D97-AF65-F5344CB8AC3E}">
        <p14:creationId xmlns:p14="http://schemas.microsoft.com/office/powerpoint/2010/main" val="1282459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769CEAE-C6F2-EC6E-549D-EAAE2F2BB207}"/>
              </a:ext>
            </a:extLst>
          </p:cNvPr>
          <p:cNvSpPr>
            <a:spLocks noGrp="1"/>
          </p:cNvSpPr>
          <p:nvPr>
            <p:ph type="title"/>
          </p:nvPr>
        </p:nvSpPr>
        <p:spPr>
          <a:xfrm>
            <a:off x="571109" y="435085"/>
            <a:ext cx="11432548" cy="318660"/>
          </a:xfrm>
        </p:spPr>
        <p:txBody>
          <a:bodyPr>
            <a:normAutofit fontScale="90000"/>
          </a:bodyPr>
          <a:lstStyle/>
          <a:p>
            <a:r>
              <a:rPr lang="en-ID" dirty="0"/>
              <a:t>5. Program </a:t>
            </a:r>
            <a:r>
              <a:rPr lang="en-ID" dirty="0" err="1"/>
              <a:t>Evaluasi</a:t>
            </a:r>
            <a:r>
              <a:rPr lang="en-ID" dirty="0"/>
              <a:t> dan Monitoring Tata Kelola </a:t>
            </a:r>
            <a:r>
              <a:rPr lang="en-ID" dirty="0" err="1"/>
              <a:t>Risiko</a:t>
            </a:r>
            <a:r>
              <a:rPr lang="en-ID" dirty="0"/>
              <a:t/>
            </a:r>
            <a:br>
              <a:rPr lang="en-ID" dirty="0"/>
            </a:br>
            <a:endParaRPr lang="en-ID" dirty="0"/>
          </a:p>
        </p:txBody>
      </p:sp>
      <p:graphicFrame>
        <p:nvGraphicFramePr>
          <p:cNvPr id="4" name="Table 3">
            <a:extLst>
              <a:ext uri="{FF2B5EF4-FFF2-40B4-BE49-F238E27FC236}">
                <a16:creationId xmlns:a16="http://schemas.microsoft.com/office/drawing/2014/main" xmlns="" id="{8344BD70-89E4-261A-CFA7-BE5806D3BC4C}"/>
              </a:ext>
            </a:extLst>
          </p:cNvPr>
          <p:cNvGraphicFramePr>
            <a:graphicFrameLocks noGrp="1"/>
          </p:cNvGraphicFramePr>
          <p:nvPr>
            <p:extLst>
              <p:ext uri="{D42A27DB-BD31-4B8C-83A1-F6EECF244321}">
                <p14:modId xmlns:p14="http://schemas.microsoft.com/office/powerpoint/2010/main" val="1852159881"/>
              </p:ext>
            </p:extLst>
          </p:nvPr>
        </p:nvGraphicFramePr>
        <p:xfrm>
          <a:off x="556182" y="1701300"/>
          <a:ext cx="11439667" cy="4359117"/>
        </p:xfrm>
        <a:graphic>
          <a:graphicData uri="http://schemas.openxmlformats.org/drawingml/2006/table">
            <a:tbl>
              <a:tblPr/>
              <a:tblGrid>
                <a:gridCol w="1669724">
                  <a:extLst>
                    <a:ext uri="{9D8B030D-6E8A-4147-A177-3AD203B41FA5}">
                      <a16:colId xmlns:a16="http://schemas.microsoft.com/office/drawing/2014/main" xmlns="" val="4202354735"/>
                    </a:ext>
                  </a:extLst>
                </a:gridCol>
                <a:gridCol w="2348213">
                  <a:extLst>
                    <a:ext uri="{9D8B030D-6E8A-4147-A177-3AD203B41FA5}">
                      <a16:colId xmlns:a16="http://schemas.microsoft.com/office/drawing/2014/main" xmlns="" val="876011390"/>
                    </a:ext>
                  </a:extLst>
                </a:gridCol>
                <a:gridCol w="2091111">
                  <a:extLst>
                    <a:ext uri="{9D8B030D-6E8A-4147-A177-3AD203B41FA5}">
                      <a16:colId xmlns:a16="http://schemas.microsoft.com/office/drawing/2014/main" xmlns="" val="1107974875"/>
                    </a:ext>
                  </a:extLst>
                </a:gridCol>
                <a:gridCol w="1714026">
                  <a:extLst>
                    <a:ext uri="{9D8B030D-6E8A-4147-A177-3AD203B41FA5}">
                      <a16:colId xmlns:a16="http://schemas.microsoft.com/office/drawing/2014/main" xmlns="" val="2694689622"/>
                    </a:ext>
                  </a:extLst>
                </a:gridCol>
                <a:gridCol w="1594044">
                  <a:extLst>
                    <a:ext uri="{9D8B030D-6E8A-4147-A177-3AD203B41FA5}">
                      <a16:colId xmlns:a16="http://schemas.microsoft.com/office/drawing/2014/main" xmlns="" val="1864102665"/>
                    </a:ext>
                  </a:extLst>
                </a:gridCol>
                <a:gridCol w="2022549">
                  <a:extLst>
                    <a:ext uri="{9D8B030D-6E8A-4147-A177-3AD203B41FA5}">
                      <a16:colId xmlns:a16="http://schemas.microsoft.com/office/drawing/2014/main" xmlns="" val="1805944277"/>
                    </a:ext>
                  </a:extLst>
                </a:gridCol>
              </a:tblGrid>
              <a:tr h="483482">
                <a:tc>
                  <a:txBody>
                    <a:bodyPr/>
                    <a:lstStyle/>
                    <a:p>
                      <a:pPr algn="l" rtl="0" fontAlgn="t"/>
                      <a:r>
                        <a:rPr lang="en-ID" sz="1600" b="0" i="0" u="none" strike="noStrike" dirty="0">
                          <a:solidFill>
                            <a:srgbClr val="000000"/>
                          </a:solidFill>
                          <a:effectLst/>
                          <a:latin typeface="Cambria" panose="02040503050406030204" pitchFamily="18" charset="0"/>
                        </a:rPr>
                        <a:t>Program</a:t>
                      </a:r>
                    </a:p>
                  </a:txBody>
                  <a:tcPr marL="3581" marR="3581" marT="35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rtl="0" fontAlgn="t"/>
                      <a:r>
                        <a:rPr lang="en-ID" sz="1600" b="0" i="0" u="none" strike="noStrike">
                          <a:solidFill>
                            <a:srgbClr val="000000"/>
                          </a:solidFill>
                          <a:effectLst/>
                          <a:latin typeface="Cambria" panose="02040503050406030204" pitchFamily="18" charset="0"/>
                        </a:rPr>
                        <a:t>Rincian Kegiatan</a:t>
                      </a:r>
                    </a:p>
                  </a:txBody>
                  <a:tcPr marL="3581" marR="3581" marT="35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rtl="0" fontAlgn="t"/>
                      <a:r>
                        <a:rPr lang="en-ID" sz="1600" b="0" i="0" u="none" strike="noStrike" dirty="0" err="1">
                          <a:solidFill>
                            <a:srgbClr val="000000"/>
                          </a:solidFill>
                          <a:effectLst/>
                          <a:latin typeface="Cambria" panose="02040503050406030204" pitchFamily="18" charset="0"/>
                        </a:rPr>
                        <a:t>Jadwal</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Kegiatan</a:t>
                      </a:r>
                      <a:r>
                        <a:rPr lang="en-ID" sz="1600" b="0" i="0" u="none" strike="noStrike" dirty="0">
                          <a:solidFill>
                            <a:srgbClr val="000000"/>
                          </a:solidFill>
                          <a:effectLst/>
                          <a:latin typeface="Cambria" panose="02040503050406030204" pitchFamily="18" charset="0"/>
                        </a:rPr>
                        <a:t> </a:t>
                      </a:r>
                      <a:endParaRPr lang="en-ID" sz="1600" b="0" i="0" u="none" strike="noStrike" dirty="0" smtClean="0">
                        <a:solidFill>
                          <a:srgbClr val="000000"/>
                        </a:solidFill>
                        <a:effectLst/>
                        <a:latin typeface="Cambria" panose="02040503050406030204" pitchFamily="18" charset="0"/>
                      </a:endParaRPr>
                    </a:p>
                    <a:p>
                      <a:pPr algn="l" rtl="0" fontAlgn="t"/>
                      <a:r>
                        <a:rPr lang="en-ID" sz="1600" b="0" i="0" u="none" strike="noStrike" dirty="0" smtClean="0">
                          <a:solidFill>
                            <a:srgbClr val="000000"/>
                          </a:solidFill>
                          <a:effectLst/>
                          <a:latin typeface="Cambria" panose="02040503050406030204" pitchFamily="18" charset="0"/>
                        </a:rPr>
                        <a:t>(2026-2027)</a:t>
                      </a:r>
                      <a:endParaRPr lang="en-ID" sz="1600" b="0" i="0" u="none" strike="noStrike" dirty="0">
                        <a:solidFill>
                          <a:srgbClr val="000000"/>
                        </a:solidFill>
                        <a:effectLst/>
                        <a:latin typeface="Cambria" panose="02040503050406030204" pitchFamily="18" charset="0"/>
                      </a:endParaRPr>
                    </a:p>
                  </a:txBody>
                  <a:tcPr marL="3581" marR="3581" marT="35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rtl="0" fontAlgn="t"/>
                      <a:r>
                        <a:rPr lang="en-ID" sz="1600" b="0" i="0" u="none" strike="noStrike">
                          <a:solidFill>
                            <a:srgbClr val="000000"/>
                          </a:solidFill>
                          <a:effectLst/>
                          <a:latin typeface="Cambria" panose="02040503050406030204" pitchFamily="18" charset="0"/>
                        </a:rPr>
                        <a:t>Kebutuhan Dana</a:t>
                      </a:r>
                    </a:p>
                  </a:txBody>
                  <a:tcPr marL="3581" marR="3581" marT="35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rtl="0" fontAlgn="t"/>
                      <a:r>
                        <a:rPr lang="en-ID" sz="1600" b="0" i="0" u="none" strike="noStrike">
                          <a:solidFill>
                            <a:srgbClr val="000000"/>
                          </a:solidFill>
                          <a:effectLst/>
                          <a:latin typeface="Cambria" panose="02040503050406030204" pitchFamily="18" charset="0"/>
                        </a:rPr>
                        <a:t>Sumber Dana</a:t>
                      </a:r>
                    </a:p>
                  </a:txBody>
                  <a:tcPr marL="3581" marR="3581" marT="35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l" fontAlgn="ctr"/>
                      <a:r>
                        <a:rPr lang="en-ID" sz="1600" b="0" i="0" u="none" strike="noStrike">
                          <a:solidFill>
                            <a:srgbClr val="000000"/>
                          </a:solidFill>
                          <a:effectLst/>
                          <a:latin typeface="Cambria" panose="02040503050406030204" pitchFamily="18" charset="0"/>
                        </a:rPr>
                        <a:t>Output yang diharapkan</a:t>
                      </a:r>
                    </a:p>
                  </a:txBody>
                  <a:tcPr marL="3581" marR="3581" marT="358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xmlns="" val="3938359782"/>
                  </a:ext>
                </a:extLst>
              </a:tr>
              <a:tr h="1450446">
                <a:tc>
                  <a:txBody>
                    <a:bodyPr/>
                    <a:lstStyle/>
                    <a:p>
                      <a:pPr algn="l" rtl="0" fontAlgn="t"/>
                      <a:r>
                        <a:rPr lang="en-ID" sz="1600" b="0" i="0" u="none" strike="noStrike" dirty="0" smtClean="0">
                          <a:solidFill>
                            <a:srgbClr val="000000"/>
                          </a:solidFill>
                          <a:effectLst/>
                          <a:latin typeface="Cambria" panose="02040503050406030204" pitchFamily="18" charset="0"/>
                        </a:rPr>
                        <a:t>Monitoring </a:t>
                      </a:r>
                      <a:r>
                        <a:rPr lang="en-ID" sz="1600" b="0" i="0" u="none" strike="noStrike" dirty="0" err="1" smtClean="0">
                          <a:solidFill>
                            <a:srgbClr val="000000"/>
                          </a:solidFill>
                          <a:effectLst/>
                          <a:latin typeface="Cambria" panose="02040503050406030204" pitchFamily="18" charset="0"/>
                        </a:rPr>
                        <a:t>dan</a:t>
                      </a:r>
                      <a:r>
                        <a:rPr lang="en-ID" sz="1600" b="0" i="0" u="none" strike="noStrike" dirty="0" smtClean="0">
                          <a:solidFill>
                            <a:srgbClr val="000000"/>
                          </a:solidFill>
                          <a:effectLst/>
                          <a:latin typeface="Cambria" panose="02040503050406030204" pitchFamily="18" charset="0"/>
                        </a:rPr>
                        <a:t> </a:t>
                      </a:r>
                      <a:r>
                        <a:rPr lang="en-ID" sz="1600" b="0" i="0" u="none" strike="noStrike" dirty="0" err="1" smtClean="0">
                          <a:solidFill>
                            <a:srgbClr val="000000"/>
                          </a:solidFill>
                          <a:effectLst/>
                          <a:latin typeface="Cambria" panose="02040503050406030204" pitchFamily="18" charset="0"/>
                        </a:rPr>
                        <a:t>Evaluasi</a:t>
                      </a:r>
                      <a:r>
                        <a:rPr lang="en-ID" sz="1600" b="0" i="0" u="none" strike="noStrike" dirty="0" smtClean="0">
                          <a:solidFill>
                            <a:srgbClr val="000000"/>
                          </a:solidFill>
                          <a:effectLst/>
                          <a:latin typeface="Cambria" panose="02040503050406030204" pitchFamily="18" charset="0"/>
                        </a:rPr>
                        <a:t> Tata </a:t>
                      </a:r>
                      <a:r>
                        <a:rPr lang="en-ID" sz="1600" b="0" i="0" u="none" strike="noStrike" dirty="0" err="1">
                          <a:solidFill>
                            <a:srgbClr val="000000"/>
                          </a:solidFill>
                          <a:effectLst/>
                          <a:latin typeface="Cambria" panose="02040503050406030204" pitchFamily="18" charset="0"/>
                        </a:rPr>
                        <a:t>Kelola</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Risiko</a:t>
                      </a:r>
                      <a:endParaRPr lang="en-ID" sz="1600" b="0" i="0" u="none" strike="noStrike" dirty="0">
                        <a:solidFill>
                          <a:srgbClr val="000000"/>
                        </a:solidFill>
                        <a:effectLst/>
                        <a:latin typeface="Cambria" panose="02040503050406030204" pitchFamily="18" charset="0"/>
                      </a:endParaRPr>
                    </a:p>
                  </a:txBody>
                  <a:tcPr marL="3581" marR="3581" marT="35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dirty="0">
                          <a:solidFill>
                            <a:srgbClr val="000000"/>
                          </a:solidFill>
                          <a:effectLst/>
                          <a:latin typeface="Cambria" panose="02040503050406030204" pitchFamily="18" charset="0"/>
                        </a:rPr>
                        <a:t>- </a:t>
                      </a:r>
                      <a:r>
                        <a:rPr lang="en-ID" sz="1600" b="1" i="0" u="none" strike="noStrike" dirty="0" err="1">
                          <a:solidFill>
                            <a:srgbClr val="000000"/>
                          </a:solidFill>
                          <a:effectLst/>
                          <a:latin typeface="Cambria" panose="02040503050406030204" pitchFamily="18" charset="0"/>
                        </a:rPr>
                        <a:t>Pengukuran</a:t>
                      </a:r>
                      <a:r>
                        <a:rPr lang="en-ID" sz="1600" b="1" i="0" u="none" strike="noStrike" dirty="0">
                          <a:solidFill>
                            <a:srgbClr val="000000"/>
                          </a:solidFill>
                          <a:effectLst/>
                          <a:latin typeface="Cambria" panose="02040503050406030204" pitchFamily="18" charset="0"/>
                        </a:rPr>
                        <a:t> </a:t>
                      </a:r>
                      <a:r>
                        <a:rPr lang="en-ID" sz="1600" b="1" i="0" u="none" strike="noStrike" dirty="0" err="1">
                          <a:solidFill>
                            <a:srgbClr val="000000"/>
                          </a:solidFill>
                          <a:effectLst/>
                          <a:latin typeface="Cambria" panose="02040503050406030204" pitchFamily="18" charset="0"/>
                        </a:rPr>
                        <a:t>efektivitas</a:t>
                      </a:r>
                      <a:r>
                        <a:rPr lang="en-ID" sz="1600" b="1" i="0" u="none" strike="noStrike" dirty="0">
                          <a:solidFill>
                            <a:srgbClr val="000000"/>
                          </a:solidFill>
                          <a:effectLst/>
                          <a:latin typeface="Cambria" panose="02040503050406030204" pitchFamily="18" charset="0"/>
                        </a:rPr>
                        <a:t> </a:t>
                      </a:r>
                      <a:r>
                        <a:rPr lang="en-ID" sz="1600" b="1" i="0" u="none" strike="noStrike" dirty="0" err="1">
                          <a:solidFill>
                            <a:srgbClr val="000000"/>
                          </a:solidFill>
                          <a:effectLst/>
                          <a:latin typeface="Cambria" panose="02040503050406030204" pitchFamily="18" charset="0"/>
                        </a:rPr>
                        <a:t>kebijakan</a:t>
                      </a:r>
                      <a:r>
                        <a:rPr lang="en-ID" sz="1600" b="1" i="0" u="none" strike="noStrike" dirty="0">
                          <a:solidFill>
                            <a:srgbClr val="000000"/>
                          </a:solidFill>
                          <a:effectLst/>
                          <a:latin typeface="Cambria" panose="02040503050406030204" pitchFamily="18" charset="0"/>
                        </a:rPr>
                        <a:t> </a:t>
                      </a:r>
                      <a:r>
                        <a:rPr lang="en-ID" sz="1600" b="1" i="0" u="none" strike="noStrike" dirty="0" err="1">
                          <a:solidFill>
                            <a:srgbClr val="000000"/>
                          </a:solidFill>
                          <a:effectLst/>
                          <a:latin typeface="Cambria" panose="02040503050406030204" pitchFamily="18" charset="0"/>
                        </a:rPr>
                        <a:t>mitigasi</a:t>
                      </a:r>
                      <a:r>
                        <a:rPr lang="en-ID" sz="1600" b="1" i="0" u="none" strike="noStrike" dirty="0">
                          <a:solidFill>
                            <a:srgbClr val="000000"/>
                          </a:solidFill>
                          <a:effectLst/>
                          <a:latin typeface="Cambria" panose="02040503050406030204" pitchFamily="18" charset="0"/>
                        </a:rPr>
                        <a:t> </a:t>
                      </a:r>
                      <a:r>
                        <a:rPr lang="en-ID" sz="1600" b="0" i="0" u="none" strike="noStrike" dirty="0">
                          <a:solidFill>
                            <a:srgbClr val="000000"/>
                          </a:solidFill>
                          <a:effectLst/>
                          <a:latin typeface="Cambria" panose="02040503050406030204" pitchFamily="18" charset="0"/>
                        </a:rPr>
                        <a:t>dan </a:t>
                      </a:r>
                      <a:r>
                        <a:rPr lang="en-ID" sz="1600" b="0" i="0" u="none" strike="noStrike" dirty="0" err="1">
                          <a:solidFill>
                            <a:srgbClr val="000000"/>
                          </a:solidFill>
                          <a:effectLst/>
                          <a:latin typeface="Cambria" panose="02040503050406030204" pitchFamily="18" charset="0"/>
                        </a:rPr>
                        <a:t>kesiapsiagaan</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bencana</a:t>
                      </a:r>
                      <a:r>
                        <a:rPr lang="en-ID" sz="1600" b="0" i="0" u="none" strike="noStrike" dirty="0">
                          <a:solidFill>
                            <a:srgbClr val="000000"/>
                          </a:solidFill>
                          <a:effectLst/>
                          <a:latin typeface="Cambria" panose="02040503050406030204" pitchFamily="18" charset="0"/>
                        </a:rPr>
                        <a:t>.</a:t>
                      </a:r>
                    </a:p>
                  </a:txBody>
                  <a:tcPr marL="3581" marR="3581" marT="35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a:solidFill>
                            <a:srgbClr val="000000"/>
                          </a:solidFill>
                          <a:effectLst/>
                          <a:latin typeface="Cambria" panose="02040503050406030204" pitchFamily="18" charset="0"/>
                        </a:rPr>
                        <a:t>September – Desember (Laporan akhir tahun, publikasi hasil penelitian)</a:t>
                      </a:r>
                    </a:p>
                  </a:txBody>
                  <a:tcPr marL="3581" marR="3581" marT="35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dirty="0">
                          <a:solidFill>
                            <a:srgbClr val="000000"/>
                          </a:solidFill>
                          <a:effectLst/>
                          <a:latin typeface="Cambria" panose="02040503050406030204" pitchFamily="18" charset="0"/>
                        </a:rPr>
                        <a:t>To be defined</a:t>
                      </a:r>
                    </a:p>
                  </a:txBody>
                  <a:tcPr marL="3581" marR="3581" marT="35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a:solidFill>
                            <a:srgbClr val="000000"/>
                          </a:solidFill>
                          <a:effectLst/>
                          <a:latin typeface="Cambria" panose="02040503050406030204" pitchFamily="18" charset="0"/>
                        </a:rPr>
                        <a:t>Dana internal TDMRC, hibah riset kebijakan</a:t>
                      </a:r>
                    </a:p>
                  </a:txBody>
                  <a:tcPr marL="3581" marR="3581" marT="35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sv-SE" sz="1600" b="0" i="0" u="none" strike="noStrike" dirty="0">
                          <a:solidFill>
                            <a:srgbClr val="000000"/>
                          </a:solidFill>
                          <a:effectLst/>
                          <a:latin typeface="Cambria" panose="02040503050406030204" pitchFamily="18" charset="0"/>
                        </a:rPr>
                        <a:t>Laporan evaluasi berkala mengenai efektivitas kebijakan dan program mitigasi risiko.</a:t>
                      </a:r>
                    </a:p>
                  </a:txBody>
                  <a:tcPr marL="3581" marR="3581" marT="358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18990628"/>
                  </a:ext>
                </a:extLst>
              </a:tr>
              <a:tr h="1611607">
                <a:tc>
                  <a:txBody>
                    <a:bodyPr/>
                    <a:lstStyle/>
                    <a:p>
                      <a:pPr algn="l" rtl="0" fontAlgn="t"/>
                      <a:r>
                        <a:rPr lang="en-ID" sz="1600" b="0" i="0" u="none" strike="noStrike">
                          <a:solidFill>
                            <a:srgbClr val="000000"/>
                          </a:solidFill>
                          <a:effectLst/>
                          <a:latin typeface="Cambria" panose="02040503050406030204" pitchFamily="18" charset="0"/>
                        </a:rPr>
                        <a:t> </a:t>
                      </a:r>
                    </a:p>
                  </a:txBody>
                  <a:tcPr marL="3581" marR="3581" marT="35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Publikasi</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hasil</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penelitian</a:t>
                      </a:r>
                      <a:r>
                        <a:rPr lang="en-ID" sz="1600" b="0" i="0" u="none" strike="noStrike" dirty="0">
                          <a:solidFill>
                            <a:srgbClr val="000000"/>
                          </a:solidFill>
                          <a:effectLst/>
                          <a:latin typeface="Cambria" panose="02040503050406030204" pitchFamily="18" charset="0"/>
                        </a:rPr>
                        <a:t> dan </a:t>
                      </a:r>
                      <a:r>
                        <a:rPr lang="en-ID" sz="1600" b="0" i="0" u="none" strike="noStrike" dirty="0" err="1">
                          <a:solidFill>
                            <a:srgbClr val="000000"/>
                          </a:solidFill>
                          <a:effectLst/>
                          <a:latin typeface="Cambria" panose="02040503050406030204" pitchFamily="18" charset="0"/>
                        </a:rPr>
                        <a:t>rekomendasi</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kebijakan</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ke</a:t>
                      </a:r>
                      <a:r>
                        <a:rPr lang="en-ID" sz="1600" b="0" i="0" u="none" strike="noStrike" dirty="0">
                          <a:solidFill>
                            <a:srgbClr val="000000"/>
                          </a:solidFill>
                          <a:effectLst/>
                          <a:latin typeface="Cambria" panose="02040503050406030204" pitchFamily="18" charset="0"/>
                        </a:rPr>
                        <a:t> </a:t>
                      </a:r>
                      <a:r>
                        <a:rPr lang="en-ID" sz="1600" b="0" i="0" u="none" strike="noStrike" dirty="0" err="1">
                          <a:solidFill>
                            <a:srgbClr val="000000"/>
                          </a:solidFill>
                          <a:effectLst/>
                          <a:latin typeface="Cambria" panose="02040503050406030204" pitchFamily="18" charset="0"/>
                        </a:rPr>
                        <a:t>pemerintah</a:t>
                      </a:r>
                      <a:r>
                        <a:rPr lang="en-ID" sz="1600" b="0" i="0" u="none" strike="noStrike" dirty="0">
                          <a:solidFill>
                            <a:srgbClr val="000000"/>
                          </a:solidFill>
                          <a:effectLst/>
                          <a:latin typeface="Cambria" panose="02040503050406030204" pitchFamily="18" charset="0"/>
                        </a:rPr>
                        <a:t> dan </a:t>
                      </a:r>
                      <a:r>
                        <a:rPr lang="en-ID" sz="1600" b="0" i="0" u="none" strike="noStrike" dirty="0" err="1">
                          <a:solidFill>
                            <a:srgbClr val="000000"/>
                          </a:solidFill>
                          <a:effectLst/>
                          <a:latin typeface="Cambria" panose="02040503050406030204" pitchFamily="18" charset="0"/>
                        </a:rPr>
                        <a:t>akademisi</a:t>
                      </a:r>
                      <a:r>
                        <a:rPr lang="en-ID" sz="1600" b="0" i="0" u="none" strike="noStrike" dirty="0">
                          <a:solidFill>
                            <a:srgbClr val="000000"/>
                          </a:solidFill>
                          <a:effectLst/>
                          <a:latin typeface="Cambria" panose="02040503050406030204" pitchFamily="18" charset="0"/>
                        </a:rPr>
                        <a:t>.</a:t>
                      </a:r>
                    </a:p>
                  </a:txBody>
                  <a:tcPr marL="3581" marR="3581" marT="35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a:solidFill>
                            <a:srgbClr val="000000"/>
                          </a:solidFill>
                          <a:effectLst/>
                          <a:latin typeface="Cambria" panose="02040503050406030204" pitchFamily="18" charset="0"/>
                        </a:rPr>
                        <a:t> </a:t>
                      </a:r>
                    </a:p>
                  </a:txBody>
                  <a:tcPr marL="3581" marR="3581" marT="35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a:solidFill>
                            <a:srgbClr val="000000"/>
                          </a:solidFill>
                          <a:effectLst/>
                          <a:latin typeface="Cambria" panose="02040503050406030204" pitchFamily="18" charset="0"/>
                        </a:rPr>
                        <a:t> </a:t>
                      </a:r>
                    </a:p>
                  </a:txBody>
                  <a:tcPr marL="3581" marR="3581" marT="35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a:solidFill>
                            <a:srgbClr val="000000"/>
                          </a:solidFill>
                          <a:effectLst/>
                          <a:latin typeface="Cambria" panose="02040503050406030204" pitchFamily="18" charset="0"/>
                        </a:rPr>
                        <a:t> </a:t>
                      </a:r>
                    </a:p>
                  </a:txBody>
                  <a:tcPr marL="3581" marR="3581" marT="35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D" sz="1600" b="1" i="0" u="none" strike="noStrike" dirty="0" err="1">
                          <a:solidFill>
                            <a:srgbClr val="000000"/>
                          </a:solidFill>
                          <a:effectLst/>
                          <a:latin typeface="Cambria" panose="02040503050406030204" pitchFamily="18" charset="0"/>
                        </a:rPr>
                        <a:t>Rekomendasi</a:t>
                      </a:r>
                      <a:r>
                        <a:rPr lang="en-ID" sz="1600" b="1" i="0" u="none" strike="noStrike" dirty="0">
                          <a:solidFill>
                            <a:srgbClr val="000000"/>
                          </a:solidFill>
                          <a:effectLst/>
                          <a:latin typeface="Cambria" panose="02040503050406030204" pitchFamily="18" charset="0"/>
                        </a:rPr>
                        <a:t> </a:t>
                      </a:r>
                      <a:r>
                        <a:rPr lang="en-ID" sz="1600" b="1" i="0" u="none" strike="noStrike" dirty="0" err="1">
                          <a:solidFill>
                            <a:srgbClr val="000000"/>
                          </a:solidFill>
                          <a:effectLst/>
                          <a:latin typeface="Cambria" panose="02040503050406030204" pitchFamily="18" charset="0"/>
                        </a:rPr>
                        <a:t>perbaikan</a:t>
                      </a:r>
                      <a:r>
                        <a:rPr lang="en-ID" sz="1600" b="1" i="0" u="none" strike="noStrike" dirty="0">
                          <a:solidFill>
                            <a:srgbClr val="000000"/>
                          </a:solidFill>
                          <a:effectLst/>
                          <a:latin typeface="Cambria" panose="02040503050406030204" pitchFamily="18" charset="0"/>
                        </a:rPr>
                        <a:t> </a:t>
                      </a:r>
                      <a:r>
                        <a:rPr lang="en-ID" sz="1600" b="1" i="0" u="none" strike="noStrike" dirty="0" err="1">
                          <a:solidFill>
                            <a:srgbClr val="000000"/>
                          </a:solidFill>
                          <a:effectLst/>
                          <a:latin typeface="Cambria" panose="02040503050406030204" pitchFamily="18" charset="0"/>
                        </a:rPr>
                        <a:t>kebijakan</a:t>
                      </a:r>
                      <a:r>
                        <a:rPr lang="en-ID" sz="1600" b="1" i="0" u="none" strike="noStrike" dirty="0">
                          <a:solidFill>
                            <a:srgbClr val="000000"/>
                          </a:solidFill>
                          <a:effectLst/>
                          <a:latin typeface="Cambria" panose="02040503050406030204" pitchFamily="18" charset="0"/>
                        </a:rPr>
                        <a:t> </a:t>
                      </a:r>
                      <a:r>
                        <a:rPr lang="en-ID" sz="1600" b="1" i="0" u="none" strike="noStrike" dirty="0" err="1">
                          <a:solidFill>
                            <a:srgbClr val="000000"/>
                          </a:solidFill>
                          <a:effectLst/>
                          <a:latin typeface="Cambria" panose="02040503050406030204" pitchFamily="18" charset="0"/>
                        </a:rPr>
                        <a:t>berdasarkan</a:t>
                      </a:r>
                      <a:r>
                        <a:rPr lang="en-ID" sz="1600" b="1" i="0" u="none" strike="noStrike" dirty="0">
                          <a:solidFill>
                            <a:srgbClr val="000000"/>
                          </a:solidFill>
                          <a:effectLst/>
                          <a:latin typeface="Cambria" panose="02040503050406030204" pitchFamily="18" charset="0"/>
                        </a:rPr>
                        <a:t> </a:t>
                      </a:r>
                      <a:r>
                        <a:rPr lang="en-ID" sz="1600" b="1" i="0" u="none" strike="noStrike" dirty="0" err="1">
                          <a:solidFill>
                            <a:srgbClr val="000000"/>
                          </a:solidFill>
                          <a:effectLst/>
                          <a:latin typeface="Cambria" panose="02040503050406030204" pitchFamily="18" charset="0"/>
                        </a:rPr>
                        <a:t>hasil</a:t>
                      </a:r>
                      <a:r>
                        <a:rPr lang="en-ID" sz="1600" b="1" i="0" u="none" strike="noStrike" dirty="0">
                          <a:solidFill>
                            <a:srgbClr val="000000"/>
                          </a:solidFill>
                          <a:effectLst/>
                          <a:latin typeface="Cambria" panose="02040503050406030204" pitchFamily="18" charset="0"/>
                        </a:rPr>
                        <a:t> monitoring dan </a:t>
                      </a:r>
                      <a:r>
                        <a:rPr lang="en-ID" sz="1600" b="1" i="0" u="none" strike="noStrike" dirty="0" err="1">
                          <a:solidFill>
                            <a:srgbClr val="000000"/>
                          </a:solidFill>
                          <a:effectLst/>
                          <a:latin typeface="Cambria" panose="02040503050406030204" pitchFamily="18" charset="0"/>
                        </a:rPr>
                        <a:t>evaluasi</a:t>
                      </a:r>
                      <a:r>
                        <a:rPr lang="en-ID" sz="1600" b="1" i="0" u="none" strike="noStrike" dirty="0">
                          <a:solidFill>
                            <a:srgbClr val="000000"/>
                          </a:solidFill>
                          <a:effectLst/>
                          <a:latin typeface="Cambria" panose="02040503050406030204" pitchFamily="18" charset="0"/>
                        </a:rPr>
                        <a:t>.</a:t>
                      </a:r>
                    </a:p>
                  </a:txBody>
                  <a:tcPr marL="3581" marR="3581" marT="358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771620680"/>
                  </a:ext>
                </a:extLst>
              </a:tr>
              <a:tr h="805803">
                <a:tc>
                  <a:txBody>
                    <a:bodyPr/>
                    <a:lstStyle/>
                    <a:p>
                      <a:pPr algn="l" rtl="0" fontAlgn="t"/>
                      <a:r>
                        <a:rPr lang="en-ID" sz="1600" b="0" i="0" u="none" strike="noStrike">
                          <a:solidFill>
                            <a:srgbClr val="000000"/>
                          </a:solidFill>
                          <a:effectLst/>
                          <a:latin typeface="Cambria" panose="02040503050406030204" pitchFamily="18" charset="0"/>
                        </a:rPr>
                        <a:t> </a:t>
                      </a:r>
                    </a:p>
                  </a:txBody>
                  <a:tcPr marL="3581" marR="3581" marT="35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it-IT" sz="1600" b="0" i="0" u="none" strike="noStrike" dirty="0">
                          <a:solidFill>
                            <a:srgbClr val="000000"/>
                          </a:solidFill>
                          <a:effectLst/>
                          <a:latin typeface="Cambria" panose="02040503050406030204" pitchFamily="18" charset="0"/>
                        </a:rPr>
                        <a:t>- Laporan tahunan tentang tata kelola risiko strategis di </a:t>
                      </a:r>
                      <a:r>
                        <a:rPr lang="it-IT" sz="1600" b="0" i="0" u="none" strike="noStrike" dirty="0" smtClean="0">
                          <a:solidFill>
                            <a:srgbClr val="000000"/>
                          </a:solidFill>
                          <a:effectLst/>
                          <a:latin typeface="Cambria" panose="02040503050406030204" pitchFamily="18" charset="0"/>
                        </a:rPr>
                        <a:t>Aceh dan Indonesia</a:t>
                      </a:r>
                      <a:r>
                        <a:rPr lang="it-IT" sz="1600" b="0" i="0" u="none" strike="noStrike" dirty="0">
                          <a:solidFill>
                            <a:srgbClr val="000000"/>
                          </a:solidFill>
                          <a:effectLst/>
                          <a:latin typeface="Cambria" panose="02040503050406030204" pitchFamily="18" charset="0"/>
                        </a:rPr>
                        <a:t>.</a:t>
                      </a:r>
                    </a:p>
                  </a:txBody>
                  <a:tcPr marL="3581" marR="3581" marT="35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a:solidFill>
                            <a:srgbClr val="000000"/>
                          </a:solidFill>
                          <a:effectLst/>
                          <a:latin typeface="Cambria" panose="02040503050406030204" pitchFamily="18" charset="0"/>
                        </a:rPr>
                        <a:t> </a:t>
                      </a:r>
                    </a:p>
                  </a:txBody>
                  <a:tcPr marL="3581" marR="3581" marT="35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a:solidFill>
                            <a:srgbClr val="000000"/>
                          </a:solidFill>
                          <a:effectLst/>
                          <a:latin typeface="Cambria" panose="02040503050406030204" pitchFamily="18" charset="0"/>
                        </a:rPr>
                        <a:t> </a:t>
                      </a:r>
                    </a:p>
                  </a:txBody>
                  <a:tcPr marL="3581" marR="3581" marT="35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r>
                        <a:rPr lang="en-ID" sz="1600" b="0" i="0" u="none" strike="noStrike">
                          <a:solidFill>
                            <a:srgbClr val="000000"/>
                          </a:solidFill>
                          <a:effectLst/>
                          <a:latin typeface="Cambria" panose="02040503050406030204" pitchFamily="18" charset="0"/>
                        </a:rPr>
                        <a:t> </a:t>
                      </a:r>
                    </a:p>
                  </a:txBody>
                  <a:tcPr marL="3581" marR="3581" marT="35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ID" sz="1600" b="0" i="0" u="none" strike="noStrike" dirty="0">
                          <a:solidFill>
                            <a:srgbClr val="000000"/>
                          </a:solidFill>
                          <a:effectLst/>
                          <a:latin typeface="Cambria" panose="02040503050406030204" pitchFamily="18" charset="0"/>
                        </a:rPr>
                        <a:t> </a:t>
                      </a:r>
                    </a:p>
                  </a:txBody>
                  <a:tcPr marL="3581" marR="3581" marT="358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975165697"/>
                  </a:ext>
                </a:extLst>
              </a:tr>
            </a:tbl>
          </a:graphicData>
        </a:graphic>
      </p:graphicFrame>
      <p:sp>
        <p:nvSpPr>
          <p:cNvPr id="6" name="TextBox 5">
            <a:extLst>
              <a:ext uri="{FF2B5EF4-FFF2-40B4-BE49-F238E27FC236}">
                <a16:creationId xmlns:a16="http://schemas.microsoft.com/office/drawing/2014/main" xmlns="" id="{EB324D8F-1AEE-832E-B25F-7824CCDF40BD}"/>
              </a:ext>
            </a:extLst>
          </p:cNvPr>
          <p:cNvSpPr txBox="1"/>
          <p:nvPr/>
        </p:nvSpPr>
        <p:spPr>
          <a:xfrm>
            <a:off x="762000" y="594415"/>
            <a:ext cx="11035148" cy="923330"/>
          </a:xfrm>
          <a:prstGeom prst="rect">
            <a:avLst/>
          </a:prstGeom>
          <a:noFill/>
        </p:spPr>
        <p:txBody>
          <a:bodyPr wrap="square">
            <a:spAutoFit/>
          </a:bodyPr>
          <a:lstStyle/>
          <a:p>
            <a:r>
              <a:rPr lang="en-ID" dirty="0" err="1"/>
              <a:t>Untuk</a:t>
            </a:r>
            <a:r>
              <a:rPr lang="en-ID" dirty="0"/>
              <a:t> </a:t>
            </a:r>
            <a:r>
              <a:rPr lang="en-ID" dirty="0" err="1"/>
              <a:t>memastikan</a:t>
            </a:r>
            <a:r>
              <a:rPr lang="en-ID" dirty="0"/>
              <a:t> </a:t>
            </a:r>
            <a:r>
              <a:rPr lang="en-ID" dirty="0" err="1"/>
              <a:t>efektivitas</a:t>
            </a:r>
            <a:r>
              <a:rPr lang="en-ID" dirty="0"/>
              <a:t> </a:t>
            </a:r>
            <a:r>
              <a:rPr lang="en-ID" dirty="0" err="1"/>
              <a:t>kebijakan</a:t>
            </a:r>
            <a:r>
              <a:rPr lang="en-ID" dirty="0"/>
              <a:t> dan program yang </a:t>
            </a:r>
            <a:r>
              <a:rPr lang="en-ID" dirty="0" err="1"/>
              <a:t>telah</a:t>
            </a:r>
            <a:r>
              <a:rPr lang="en-ID" dirty="0"/>
              <a:t> </a:t>
            </a:r>
            <a:r>
              <a:rPr lang="en-ID" dirty="0" err="1"/>
              <a:t>diterapkan</a:t>
            </a:r>
            <a:r>
              <a:rPr lang="en-ID" dirty="0"/>
              <a:t>, </a:t>
            </a:r>
            <a:r>
              <a:rPr lang="en-ID" dirty="0" err="1"/>
              <a:t>diperlukan</a:t>
            </a:r>
            <a:r>
              <a:rPr lang="en-ID" dirty="0"/>
              <a:t> </a:t>
            </a:r>
            <a:r>
              <a:rPr lang="en-ID" b="1" dirty="0" err="1"/>
              <a:t>mekanisme</a:t>
            </a:r>
            <a:r>
              <a:rPr lang="en-ID" b="1" dirty="0"/>
              <a:t> </a:t>
            </a:r>
            <a:r>
              <a:rPr lang="en-ID" b="1" dirty="0" err="1"/>
              <a:t>evaluasi</a:t>
            </a:r>
            <a:r>
              <a:rPr lang="en-ID" b="1" dirty="0"/>
              <a:t> yang </a:t>
            </a:r>
            <a:r>
              <a:rPr lang="en-ID" b="1" dirty="0" err="1"/>
              <a:t>berkelanjutan</a:t>
            </a:r>
            <a:r>
              <a:rPr lang="en-ID" dirty="0" err="1"/>
              <a:t>.Evaluasi</a:t>
            </a:r>
            <a:r>
              <a:rPr lang="en-ID" dirty="0"/>
              <a:t> </a:t>
            </a:r>
            <a:r>
              <a:rPr lang="en-ID" dirty="0" err="1"/>
              <a:t>akan</a:t>
            </a:r>
            <a:r>
              <a:rPr lang="en-ID" dirty="0"/>
              <a:t> </a:t>
            </a:r>
            <a:r>
              <a:rPr lang="en-ID" dirty="0" err="1"/>
              <a:t>membantu</a:t>
            </a:r>
            <a:r>
              <a:rPr lang="en-ID" dirty="0"/>
              <a:t> </a:t>
            </a:r>
            <a:r>
              <a:rPr lang="en-ID" b="1" dirty="0" err="1"/>
              <a:t>mengidentifikasi</a:t>
            </a:r>
            <a:r>
              <a:rPr lang="en-ID" b="1" dirty="0"/>
              <a:t> </a:t>
            </a:r>
            <a:r>
              <a:rPr lang="en-ID" b="1" dirty="0" err="1"/>
              <a:t>kelemahan</a:t>
            </a:r>
            <a:r>
              <a:rPr lang="en-ID" b="1" dirty="0"/>
              <a:t> </a:t>
            </a:r>
            <a:r>
              <a:rPr lang="en-ID" dirty="0" err="1"/>
              <a:t>dalam</a:t>
            </a:r>
            <a:r>
              <a:rPr lang="en-ID" dirty="0"/>
              <a:t> </a:t>
            </a:r>
            <a:r>
              <a:rPr lang="en-ID" dirty="0" err="1"/>
              <a:t>sistem</a:t>
            </a:r>
            <a:r>
              <a:rPr lang="en-ID" dirty="0"/>
              <a:t> tata </a:t>
            </a:r>
            <a:r>
              <a:rPr lang="en-ID" dirty="0" err="1"/>
              <a:t>kelola</a:t>
            </a:r>
            <a:r>
              <a:rPr lang="en-ID" dirty="0"/>
              <a:t> </a:t>
            </a:r>
            <a:r>
              <a:rPr lang="en-ID" dirty="0" err="1"/>
              <a:t>risiko</a:t>
            </a:r>
            <a:r>
              <a:rPr lang="en-ID" dirty="0"/>
              <a:t> dan </a:t>
            </a:r>
            <a:r>
              <a:rPr lang="en-ID" b="1" dirty="0" err="1"/>
              <a:t>memberikan</a:t>
            </a:r>
            <a:r>
              <a:rPr lang="en-ID" b="1" dirty="0"/>
              <a:t> </a:t>
            </a:r>
            <a:r>
              <a:rPr lang="en-ID" b="1" dirty="0" err="1"/>
              <a:t>masukan</a:t>
            </a:r>
            <a:r>
              <a:rPr lang="en-ID" b="1" dirty="0"/>
              <a:t> </a:t>
            </a:r>
            <a:r>
              <a:rPr lang="en-ID" b="1" dirty="0" err="1"/>
              <a:t>untuk</a:t>
            </a:r>
            <a:r>
              <a:rPr lang="en-ID" b="1" dirty="0"/>
              <a:t> </a:t>
            </a:r>
            <a:r>
              <a:rPr lang="en-ID" b="1" dirty="0" err="1"/>
              <a:t>perbaikan</a:t>
            </a:r>
            <a:r>
              <a:rPr lang="en-ID" dirty="0"/>
              <a:t>.</a:t>
            </a:r>
          </a:p>
        </p:txBody>
      </p:sp>
    </p:spTree>
    <p:extLst>
      <p:ext uri="{BB962C8B-B14F-4D97-AF65-F5344CB8AC3E}">
        <p14:creationId xmlns:p14="http://schemas.microsoft.com/office/powerpoint/2010/main" val="29279994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7149D72-3246-4C6B-B9B8-26DD9736BF31}"/>
              </a:ext>
            </a:extLst>
          </p:cNvPr>
          <p:cNvSpPr>
            <a:spLocks noGrp="1"/>
          </p:cNvSpPr>
          <p:nvPr>
            <p:ph type="title"/>
          </p:nvPr>
        </p:nvSpPr>
        <p:spPr>
          <a:xfrm>
            <a:off x="421096" y="211564"/>
            <a:ext cx="11432548" cy="910225"/>
          </a:xfrm>
        </p:spPr>
        <p:txBody>
          <a:bodyPr>
            <a:noAutofit/>
          </a:bodyPr>
          <a:lstStyle/>
          <a:p>
            <a:r>
              <a:rPr lang="en-US" sz="4000" dirty="0" err="1">
                <a:latin typeface="Cambria" panose="02040503050406030204" pitchFamily="18" charset="0"/>
                <a:ea typeface="Cambria" panose="02040503050406030204" pitchFamily="18" charset="0"/>
              </a:rPr>
              <a:t>Penutup</a:t>
            </a:r>
            <a:endParaRPr lang="en-ID" sz="4000" dirty="0">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xmlns="" id="{21C8464B-CFA1-3077-FA58-0E508E8216D3}"/>
              </a:ext>
            </a:extLst>
          </p:cNvPr>
          <p:cNvSpPr txBox="1"/>
          <p:nvPr/>
        </p:nvSpPr>
        <p:spPr>
          <a:xfrm>
            <a:off x="546755" y="1949718"/>
            <a:ext cx="10060285" cy="2031325"/>
          </a:xfrm>
          <a:prstGeom prst="rect">
            <a:avLst/>
          </a:prstGeom>
          <a:noFill/>
        </p:spPr>
        <p:txBody>
          <a:bodyPr wrap="square">
            <a:spAutoFit/>
          </a:bodyPr>
          <a:lstStyle/>
          <a:p>
            <a:r>
              <a:rPr lang="en-ID" dirty="0" err="1">
                <a:latin typeface="Cambria" panose="02040503050406030204" pitchFamily="18" charset="0"/>
                <a:ea typeface="Cambria" panose="02040503050406030204" pitchFamily="18" charset="0"/>
              </a:rPr>
              <a:t>Dengan</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menjalankan</a:t>
            </a:r>
            <a:r>
              <a:rPr lang="en-ID" dirty="0">
                <a:latin typeface="Cambria" panose="02040503050406030204" pitchFamily="18" charset="0"/>
                <a:ea typeface="Cambria" panose="02040503050406030204" pitchFamily="18" charset="0"/>
              </a:rPr>
              <a:t> program-program </a:t>
            </a:r>
            <a:r>
              <a:rPr lang="en-ID" dirty="0" err="1">
                <a:latin typeface="Cambria" panose="02040503050406030204" pitchFamily="18" charset="0"/>
                <a:ea typeface="Cambria" panose="02040503050406030204" pitchFamily="18" charset="0"/>
              </a:rPr>
              <a:t>ini</a:t>
            </a:r>
            <a:r>
              <a:rPr lang="en-ID" dirty="0">
                <a:latin typeface="Cambria" panose="02040503050406030204" pitchFamily="18" charset="0"/>
                <a:ea typeface="Cambria" panose="02040503050406030204" pitchFamily="18" charset="0"/>
              </a:rPr>
              <a:t>, </a:t>
            </a:r>
            <a:r>
              <a:rPr lang="en-ID" b="1" dirty="0">
                <a:solidFill>
                  <a:srgbClr val="FF0000"/>
                </a:solidFill>
                <a:latin typeface="Cambria" panose="02040503050406030204" pitchFamily="18" charset="0"/>
                <a:ea typeface="Cambria" panose="02040503050406030204" pitchFamily="18" charset="0"/>
              </a:rPr>
              <a:t>Divisi Strategic Risk Governance </a:t>
            </a:r>
            <a:r>
              <a:rPr lang="en-ID" dirty="0" err="1">
                <a:latin typeface="Cambria" panose="02040503050406030204" pitchFamily="18" charset="0"/>
                <a:ea typeface="Cambria" panose="02040503050406030204" pitchFamily="18" charset="0"/>
              </a:rPr>
              <a:t>bertujuan</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untuk</a:t>
            </a:r>
            <a:r>
              <a:rPr lang="en-ID"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menciptakan</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sistem</a:t>
            </a:r>
            <a:r>
              <a:rPr lang="en-ID" b="1" dirty="0">
                <a:latin typeface="Cambria" panose="02040503050406030204" pitchFamily="18" charset="0"/>
                <a:ea typeface="Cambria" panose="02040503050406030204" pitchFamily="18" charset="0"/>
              </a:rPr>
              <a:t> tata </a:t>
            </a:r>
            <a:r>
              <a:rPr lang="en-ID" b="1" dirty="0" err="1">
                <a:latin typeface="Cambria" panose="02040503050406030204" pitchFamily="18" charset="0"/>
                <a:ea typeface="Cambria" panose="02040503050406030204" pitchFamily="18" charset="0"/>
              </a:rPr>
              <a:t>kelola</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risiko</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bencana</a:t>
            </a:r>
            <a:r>
              <a:rPr lang="en-ID" b="1" dirty="0">
                <a:latin typeface="Cambria" panose="02040503050406030204" pitchFamily="18" charset="0"/>
                <a:ea typeface="Cambria" panose="02040503050406030204" pitchFamily="18" charset="0"/>
              </a:rPr>
              <a:t> yang </a:t>
            </a:r>
            <a:r>
              <a:rPr lang="en-ID" b="1" dirty="0" err="1">
                <a:latin typeface="Cambria" panose="02040503050406030204" pitchFamily="18" charset="0"/>
                <a:ea typeface="Cambria" panose="02040503050406030204" pitchFamily="18" charset="0"/>
              </a:rPr>
              <a:t>lebih</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efektif</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berbasis</a:t>
            </a:r>
            <a:r>
              <a:rPr lang="en-ID" b="1" dirty="0">
                <a:latin typeface="Cambria" panose="02040503050406030204" pitchFamily="18" charset="0"/>
                <a:ea typeface="Cambria" panose="02040503050406030204" pitchFamily="18" charset="0"/>
              </a:rPr>
              <a:t> </a:t>
            </a:r>
            <a:r>
              <a:rPr lang="en-ID" b="1" dirty="0" smtClean="0">
                <a:latin typeface="Cambria" panose="02040503050406030204" pitchFamily="18" charset="0"/>
                <a:ea typeface="Cambria" panose="02040503050406030204" pitchFamily="18" charset="0"/>
              </a:rPr>
              <a:t>data </a:t>
            </a:r>
            <a:r>
              <a:rPr lang="en-ID" b="1" dirty="0" err="1" smtClean="0">
                <a:latin typeface="Cambria" panose="02040503050406030204" pitchFamily="18" charset="0"/>
                <a:ea typeface="Cambria" panose="02040503050406030204" pitchFamily="18" charset="0"/>
              </a:rPr>
              <a:t>dan</a:t>
            </a:r>
            <a:r>
              <a:rPr lang="en-ID" b="1" dirty="0" smtClean="0">
                <a:latin typeface="Cambria" panose="02040503050406030204" pitchFamily="18" charset="0"/>
                <a:ea typeface="Cambria" panose="02040503050406030204" pitchFamily="18" charset="0"/>
              </a:rPr>
              <a:t> </a:t>
            </a:r>
            <a:r>
              <a:rPr lang="en-ID" b="1" dirty="0" err="1" smtClean="0">
                <a:latin typeface="Cambria" panose="02040503050406030204" pitchFamily="18" charset="0"/>
                <a:ea typeface="Cambria" panose="02040503050406030204" pitchFamily="18" charset="0"/>
              </a:rPr>
              <a:t>informasi</a:t>
            </a:r>
            <a:r>
              <a:rPr lang="en-ID" b="1" dirty="0" smtClean="0">
                <a:latin typeface="Cambria" panose="02040503050406030204" pitchFamily="18" charset="0"/>
                <a:ea typeface="Cambria" panose="02040503050406030204" pitchFamily="18" charset="0"/>
              </a:rPr>
              <a:t>, </a:t>
            </a:r>
            <a:r>
              <a:rPr lang="en-ID" b="1" dirty="0" err="1" smtClean="0">
                <a:latin typeface="Cambria" panose="02040503050406030204" pitchFamily="18" charset="0"/>
                <a:ea typeface="Cambria" panose="02040503050406030204" pitchFamily="18" charset="0"/>
              </a:rPr>
              <a:t>memiliki</a:t>
            </a:r>
            <a:r>
              <a:rPr lang="en-ID" b="1" dirty="0" smtClean="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mekanisme</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pendanaan</a:t>
            </a:r>
            <a:r>
              <a:rPr lang="en-ID" b="1" dirty="0">
                <a:latin typeface="Cambria" panose="02040503050406030204" pitchFamily="18" charset="0"/>
                <a:ea typeface="Cambria" panose="02040503050406030204" pitchFamily="18" charset="0"/>
              </a:rPr>
              <a:t> yang </a:t>
            </a:r>
            <a:r>
              <a:rPr lang="en-ID" b="1" dirty="0" err="1" smtClean="0">
                <a:latin typeface="Cambria" panose="02040503050406030204" pitchFamily="18" charset="0"/>
                <a:ea typeface="Cambria" panose="02040503050406030204" pitchFamily="18" charset="0"/>
              </a:rPr>
              <a:t>berkelanjutan</a:t>
            </a:r>
            <a:r>
              <a:rPr lang="en-ID" b="1" dirty="0" smtClean="0">
                <a:latin typeface="Cambria" panose="02040503050406030204" pitchFamily="18" charset="0"/>
                <a:ea typeface="Cambria" panose="02040503050406030204" pitchFamily="18" charset="0"/>
              </a:rPr>
              <a:t> (</a:t>
            </a:r>
            <a:r>
              <a:rPr lang="en-ID" b="1" dirty="0" smtClean="0">
                <a:latin typeface="Cambria" panose="02040503050406030204" pitchFamily="18" charset="0"/>
                <a:ea typeface="Cambria" panose="02040503050406030204" pitchFamily="18" charset="0"/>
              </a:rPr>
              <a:t>updating)</a:t>
            </a:r>
            <a:r>
              <a:rPr lang="en-ID" dirty="0" smtClean="0">
                <a:latin typeface="Cambria" panose="02040503050406030204" pitchFamily="18" charset="0"/>
                <a:ea typeface="Cambria" panose="02040503050406030204" pitchFamily="18" charset="0"/>
              </a:rPr>
              <a:t>. </a:t>
            </a:r>
            <a:endParaRPr lang="en-ID" dirty="0">
              <a:latin typeface="Cambria" panose="02040503050406030204" pitchFamily="18" charset="0"/>
              <a:ea typeface="Cambria" panose="02040503050406030204" pitchFamily="18" charset="0"/>
            </a:endParaRPr>
          </a:p>
          <a:p>
            <a:endParaRPr lang="en-ID" dirty="0">
              <a:latin typeface="Cambria" panose="02040503050406030204" pitchFamily="18" charset="0"/>
              <a:ea typeface="Cambria" panose="02040503050406030204" pitchFamily="18" charset="0"/>
            </a:endParaRPr>
          </a:p>
          <a:p>
            <a:r>
              <a:rPr lang="en-ID" dirty="0">
                <a:latin typeface="Cambria" panose="02040503050406030204" pitchFamily="18" charset="0"/>
                <a:ea typeface="Cambria" panose="02040503050406030204" pitchFamily="18" charset="0"/>
              </a:rPr>
              <a:t>Program </a:t>
            </a:r>
            <a:r>
              <a:rPr lang="en-ID" dirty="0" err="1">
                <a:latin typeface="Cambria" panose="02040503050406030204" pitchFamily="18" charset="0"/>
                <a:ea typeface="Cambria" panose="02040503050406030204" pitchFamily="18" charset="0"/>
              </a:rPr>
              <a:t>ini</a:t>
            </a:r>
            <a:r>
              <a:rPr lang="en-ID" dirty="0">
                <a:latin typeface="Cambria" panose="02040503050406030204" pitchFamily="18" charset="0"/>
                <a:ea typeface="Cambria" panose="02040503050406030204" pitchFamily="18" charset="0"/>
              </a:rPr>
              <a:t> juga </a:t>
            </a:r>
            <a:r>
              <a:rPr lang="en-ID" dirty="0" err="1">
                <a:latin typeface="Cambria" panose="02040503050406030204" pitchFamily="18" charset="0"/>
                <a:ea typeface="Cambria" panose="02040503050406030204" pitchFamily="18" charset="0"/>
              </a:rPr>
              <a:t>mendukung</a:t>
            </a:r>
            <a:r>
              <a:rPr lang="en-ID"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penguatan</a:t>
            </a:r>
            <a:r>
              <a:rPr lang="en-ID" b="1" dirty="0">
                <a:latin typeface="Cambria" panose="02040503050406030204" pitchFamily="18" charset="0"/>
                <a:ea typeface="Cambria" panose="02040503050406030204" pitchFamily="18" charset="0"/>
              </a:rPr>
              <a:t> </a:t>
            </a:r>
            <a:r>
              <a:rPr lang="en-ID" b="1" dirty="0" err="1" smtClean="0">
                <a:latin typeface="Cambria" panose="02040503050406030204" pitchFamily="18" charset="0"/>
                <a:ea typeface="Cambria" panose="02040503050406030204" pitchFamily="18" charset="0"/>
              </a:rPr>
              <a:t>dan</a:t>
            </a:r>
            <a:r>
              <a:rPr lang="en-ID" b="1" dirty="0" smtClean="0">
                <a:latin typeface="Cambria" panose="02040503050406030204" pitchFamily="18" charset="0"/>
                <a:ea typeface="Cambria" panose="02040503050406030204" pitchFamily="18" charset="0"/>
              </a:rPr>
              <a:t> </a:t>
            </a:r>
            <a:r>
              <a:rPr lang="en-ID" b="1" dirty="0" err="1" smtClean="0">
                <a:latin typeface="Cambria" panose="02040503050406030204" pitchFamily="18" charset="0"/>
                <a:ea typeface="Cambria" panose="02040503050406030204" pitchFamily="18" charset="0"/>
              </a:rPr>
              <a:t>pengembangan</a:t>
            </a:r>
            <a:r>
              <a:rPr lang="en-ID" b="1" dirty="0" smtClean="0">
                <a:latin typeface="Cambria" panose="02040503050406030204" pitchFamily="18" charset="0"/>
                <a:ea typeface="Cambria" panose="02040503050406030204" pitchFamily="18" charset="0"/>
              </a:rPr>
              <a:t> </a:t>
            </a:r>
            <a:r>
              <a:rPr lang="en-ID" b="1" dirty="0" err="1" smtClean="0">
                <a:latin typeface="Cambria" panose="02040503050406030204" pitchFamily="18" charset="0"/>
                <a:ea typeface="Cambria" panose="02040503050406030204" pitchFamily="18" charset="0"/>
              </a:rPr>
              <a:t>kapasitas</a:t>
            </a:r>
            <a:r>
              <a:rPr lang="en-ID" b="1" dirty="0" smtClean="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kelembagaan</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dalam</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pengelolaan</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risiko</a:t>
            </a:r>
            <a:r>
              <a:rPr lang="en-ID" b="1" dirty="0">
                <a:latin typeface="Cambria" panose="02040503050406030204" pitchFamily="18" charset="0"/>
                <a:ea typeface="Cambria" panose="02040503050406030204" pitchFamily="18" charset="0"/>
              </a:rPr>
              <a:t> </a:t>
            </a:r>
            <a:r>
              <a:rPr lang="en-ID" b="1" dirty="0" err="1">
                <a:latin typeface="Cambria" panose="02040503050406030204" pitchFamily="18" charset="0"/>
                <a:ea typeface="Cambria" panose="02040503050406030204" pitchFamily="18" charset="0"/>
              </a:rPr>
              <a:t>bencana</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sehingga</a:t>
            </a:r>
            <a:r>
              <a:rPr lang="en-ID" dirty="0">
                <a:latin typeface="Cambria" panose="02040503050406030204" pitchFamily="18" charset="0"/>
                <a:ea typeface="Cambria" panose="02040503050406030204" pitchFamily="18" charset="0"/>
              </a:rPr>
              <a:t> Indonesia </a:t>
            </a:r>
            <a:r>
              <a:rPr lang="en-ID" dirty="0" err="1">
                <a:latin typeface="Cambria" panose="02040503050406030204" pitchFamily="18" charset="0"/>
                <a:ea typeface="Cambria" panose="02040503050406030204" pitchFamily="18" charset="0"/>
              </a:rPr>
              <a:t>lebih</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siap</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menghadapi</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bencana</a:t>
            </a:r>
            <a:r>
              <a:rPr lang="en-ID" dirty="0">
                <a:latin typeface="Cambria" panose="02040503050406030204" pitchFamily="18" charset="0"/>
                <a:ea typeface="Cambria" panose="02040503050406030204" pitchFamily="18" charset="0"/>
              </a:rPr>
              <a:t> dan </a:t>
            </a:r>
            <a:r>
              <a:rPr lang="en-ID" dirty="0" err="1">
                <a:latin typeface="Cambria" panose="02040503050406030204" pitchFamily="18" charset="0"/>
                <a:ea typeface="Cambria" panose="02040503050406030204" pitchFamily="18" charset="0"/>
              </a:rPr>
              <a:t>mengurangi</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dampak</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ekonomi</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serta</a:t>
            </a:r>
            <a:r>
              <a:rPr lang="en-ID" dirty="0">
                <a:latin typeface="Cambria" panose="02040503050406030204" pitchFamily="18" charset="0"/>
                <a:ea typeface="Cambria" panose="02040503050406030204" pitchFamily="18" charset="0"/>
              </a:rPr>
              <a:t> </a:t>
            </a:r>
            <a:r>
              <a:rPr lang="en-ID" dirty="0" err="1">
                <a:latin typeface="Cambria" panose="02040503050406030204" pitchFamily="18" charset="0"/>
                <a:ea typeface="Cambria" panose="02040503050406030204" pitchFamily="18" charset="0"/>
              </a:rPr>
              <a:t>sosialnya</a:t>
            </a:r>
            <a:r>
              <a:rPr lang="en-ID"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372223269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2329</TotalTime>
  <Words>1129</Words>
  <Application>Microsoft Office PowerPoint</Application>
  <PresentationFormat>Widescreen</PresentationFormat>
  <Paragraphs>169</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Arial (Headings)</vt:lpstr>
      <vt:lpstr>Cambria</vt:lpstr>
      <vt:lpstr>HY그래픽M</vt:lpstr>
      <vt:lpstr>Trebuchet MS</vt:lpstr>
      <vt:lpstr>Wingdings</vt:lpstr>
      <vt:lpstr>Wingdings 3</vt:lpstr>
      <vt:lpstr>Facet</vt:lpstr>
      <vt:lpstr>  PROGRAM KERJA DIVISI STRATEGIC RISK GOVERNANCE </vt:lpstr>
      <vt:lpstr>PERAN DIVISI STRATEGIC RISK GOVERNANCE</vt:lpstr>
      <vt:lpstr>Apa itu Tata kelola risiko (Risk Governance) ?</vt:lpstr>
      <vt:lpstr>Mengembangkan kebijakan, strategi, dan instrumen tata kelola risiko bencana yang dapat digunakan oleh pemerintah, sektor swasta, dan masyarakat dalam menghadapi ancaman bencana di Indonesia dan global.   Dengan pendekatan berbasis risiko strategis, divisi ini memastikan bahwa keputusan yang diambil dalam manajemen bencana didukung oleh data &amp; informasi, model prediktif, dan mekanisme pendanaan yang efektif untuk meningkatkan resiliensi nasional terhadap suatu bencana.</vt:lpstr>
      <vt:lpstr>PowerPoint Presentation</vt:lpstr>
      <vt:lpstr>1. Program Penguatan dan Pengembangan Kebijakan dan Tata Kelola Risiko Strategis </vt:lpstr>
      <vt:lpstr>2. Program Disaster Risk Financing and Insurance (DRFI) </vt:lpstr>
      <vt:lpstr>3. Program Manajemen Risiko Berbasis Data &amp; Informasi dengan Model Prediktif </vt:lpstr>
      <vt:lpstr>4. Program Kolaborasi dalam Penguatan dan Pengembangan Kapasitas Institusi </vt:lpstr>
      <vt:lpstr>5. Program Evaluasi dan Monitoring Tata Kelola Risiko </vt:lpstr>
      <vt:lpstr>Penutup</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Adrian Ulza</dc:creator>
  <cp:lastModifiedBy>WINDOWS</cp:lastModifiedBy>
  <cp:revision>59</cp:revision>
  <dcterms:created xsi:type="dcterms:W3CDTF">2023-02-28T05:00:28Z</dcterms:created>
  <dcterms:modified xsi:type="dcterms:W3CDTF">2026-07-13T08:39:06Z</dcterms:modified>
</cp:coreProperties>
</file>