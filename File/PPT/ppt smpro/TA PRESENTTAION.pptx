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Terimakasih kepada pembimbing saya pak kurnia dan pak miftah yg telah membantu dalam menyusun propsal ini
terimkasih pula kepad bapak/ibu penguji pak zulfan dan buk rini yg telah meluangkan waktunya untuk membahas proposal ini
Dan tentunya, terimakasih sebesar-besarnya kepada teman2 seperjuang yg telah menemani saya dari awal kuliah saya hari ini
pada kesempatan kli ini saya akan mempresetasikan secaar singkat mengaani proposal saya yg berjudl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hari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tanpa berlama-lam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Nah teman2, siapa yg disini makaan nasi? 
Saya rasa jawabannya semua kita makan nasi! 
Tahukah dibalik sepiring nasi itu ada cerita besar tentang perubahan iklim. 
Terkhush untuk negara kita Indonesia, nasi merupakan sumber pangan utama masyarakat. 
Bahkan budidaya padi yg merupakan asal usel nasi menyediakan jutaan lapangan pekerjaan bagi masyarakat indonesia. 
Namun akhir2 ini sektor sedang mengahdapi masalah akibat dari  perubahan iklim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Disclaimer dlu perubahan iklim itu sendiri bukan hal yg buruk, 
krn itu proses alami yg sudah pasti terjadi.
dari dulu bumi kita sudah mengalami siklus pemanasan, pendinginan, es meleleh, kemudian terbentuk lagi dan itu proses alami yg terus terjadi sampia hari ini.
yg jadi maslah ketika perubahan ini diikuti dengan peningkata populasi manusia serta aktivitas kita yang menyebabkan emisi gas rumah kaca
gas2 tersbeut terperangakn di atmosfer dan menyebabkan efek rumah kaca. akibatnya apa?? Es kutub mencari, kenaikan muka air laut, pola cuaca berubah, muncul kekeringan, banjir, dan cuaca ekstrem lainnya.
=&gt; https://populationconnection.org/resources/population-and-climate/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 inilah yang mengganggu sektor pertanian 
Bagaimana tidak? Air, yang menjadi komponen utama bagi tanaman seperti padi, kini semakin terbatas.
Padahal, di negara tropis seperti Indonesia, tanaman sangat bergantung pada curah hujan.
Belum lagi, perubahan iklim membuat hama dan penyakit makin sulit diprediksi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Kita Sebagai warga Banda Aceh, sadar betul bahwa sektor pertanian hampa nggak ada di sini.
kita sangat bergantung dengan daerah tetangga kita terkhushs ache besar. 
namun sayangya aceh besar yg menjadi lumbung pangan banda ache juga tdk luput dari  peruban iklim. 
Suhu naik, air makin susah, tanah mengering—petani jadi bingung atur pola tanam.
Produksi padi turun drastis: dari 200 ribu ton di 2022 jadi 155 ribu ton di 2023. Turun lebih dari 22% dalam setahun.
 jika treb terus terjadi maka bs saja suatu hari nasi menjadi makana mewah di Banda Aceh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Oleh Karena itu, penting bagi pemerintah dan masyarakat untuk ambil langkah proaktif hadapi tantangan ini. Untungnya, sekarang sudah banyak pelatihan dan penyuluhan buat bantu petani tingkatkan produktivitas.
tdk hanya itu berbagia teknologi di bidang pertanian juga banyak dikembangkan, 
di aceh besar sendiri sudah ada brbp teknologi yg memanfaatkan data iklim untuk membantu petani mengambik keputisan secara lebh tepat 
seperti pemanfaatan data curah hujan untuk menyusun pola tanam dan pemantauan kekeringan lahan menggunakan citra satelit (VCI)  (Hidayat, 2011; Rusdi et al.,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Meski teknologi pertanian udah banyak dikembangkan, penerapannya di lapangan masih penuh tantangan. Banyak petani di Aceh belum terbiasa dengan teknologi digital, serta infrastruktur yg masih terbatas (Agussabti, 2022).
Selain itu, info iklim sering disampaikan dengan istilah teknis yang susah dipahami petani (Fathnur &amp; Zarwazi, 2021), jadi nggak bisa dimanfaatkan maksimal.
Oleh karena itu, Penelitian ini bertujuan mengembangkan sistem pengelolaan data iklim berbasis web
data iklim yg sudah dikumpulkan (dan dibersihkan) nantinya bisa dimanfaatkan untuk banyak hal seperti menyajikan predksi informasi cuaca, membuat kalender tanam dan dimanfaatkan untuk penelitian laiinnya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Dalam penelitian ini beberap data digunakan, seperti BMKG, NOAA melalui data pelampung laut, serta citra satelit dari Google Earth Engine (GEE).
Semua data yang dikumpulkan disimpan dalam format JSON dan dismpan menggunakan database MongoDB agar mudah diakses dan dikelola oleh sistem.
Nantinya juga akn ada sistem peramalan, sehingga beberapa daat akan dianalisis enggunakan metode exponential smoothing tipe Holt-Winters, yang efektif dalam memodelkan tren dan musiman, khususnya untuk kebutuhan prakiraan cuaca dan penyusunan kalender tanam prediktif.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ubah proposal gini
manfaat 2 krn kita sudah nyimpan data iklim yg bersih, data tersbeut mash bs dimanfaatakn untuk penelitian lbh lanjut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Holt winter merupakan ....
Jadi dia punya 2 rumus ..... multi klo data bersifat fluatuatif artinya mungkin ada penngkat dari sampai 10% dari setaip periode waktu ...
Holt winter punya 3 komponen utama 
level : data yg dihitung
tren : naik turunya data dari waktu ke waktu
musima : pola dari fluatuasi, tahun ini puncak hujan ada di juni-juli maka ada kemungkinan tahun juga akan sama
rumus musiman : nilai aktur - nilai rat2 per bulan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kumpulan data yang tersusun secara terstruktur, dapat diakses sekaligus melalui tautan atau perintah, dan sering diperbarui secara berkala. Bentuknya bisa berupa gambar, grafik, dokumen, atau tabel.
Penelitian ini akan melibatkan tiga sumber dataset, yaitu stasiun BMKG, Buoys,
dan citra satelit. Data tersebut akan dianalisis dan disajikan dalam bentuk informasi
yang bermanfaat.
buoys : kecepatan angin, radiasi, suhu permukaan laut, arah angin,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Management System (DBMS) adalah perangkat lunak yang digunakan untuk mengelola dan menjalankan query pada basis data. Tujuannya adalah menyimpan dan mengakses data secara mudah, cepat, dan efisien, serta mengelola informasi dalam jumlah besar agar dapat dianalisis dan dimanfaatkan untuk pengambilan keputusan.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Flask
Flask adalah framework web berbasis Python yang ringan dan fleksibel.
➡️ Dalam penelitian ini digunakan untuk membangun sistem  metode Holt-Winters, yg nantinya akan menghasilkan informasi iklim prediktif berupa kalender tanam 
Next.js
Next.js adalah framework React untuk membangun web modern dengan fitur SSRendering 
➡️ Digunakan untuk membuat UI dashboard manajemen data dan monitoring dataset iklim sehingga bs ditampilkan secara public
MongoDB
MongoDB adalah basis data NoSQL berbasis dokumen (JSON/BSON) yang mendukung skema dinamis.
➡️ Dipakai sebagai penyimpanan utama untuk menangani data iklim yang beragam dan semi-terstruktur.
HonoJS
HonoJS adalah framework backend  berbasis JavaScript/TypeScript.
➡️ Digunakan untuk membangun REST API , dipakai untuk menangani permintaan data iklim dalam jumlah besar.
Kalau kamu butuh, saya bisa bantu buatkan tampilan slide visualnya atau diagram arsitektur sistemnya.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Postman
Postman adalah platform uji API yang memudahkan pengujian permintaan dan respons.
➡️ Dalam penelitian ini digunakan untuk memastikan endpoint API berfungsi benar saat mengelola dan menyajikan data iklim.
Black Box Testing
Black box testing menguji fungsionalitas sistem tanpa melihat kode program.
➡️ Digunakan untuk mengecek fitur seperti validasi file, pengolahan, dan tampilan data agar sesuai harapan sebelum sistem diintegrasi penuh.
Agile
Agile adalah metode pengembangan perangkat lunak berbasis iterasi dan kolaborasi. 
Berbeda dengan Waterfall, yang menunda feedback hingga akhir pengembangan, Agile memungkinkan evaluasi dan perbaikan sejak awal.
➡️ Diterapkan dalam penelitian ini agar sistem dapat dikembangkan secara bertahap dan fleksibel terhadap perubahan kebutuhan.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Docker adalah layanan yang menyediakan kemampuan untuk mengemas dan menjalankan sebuah aplikasi dalam sebuah lingkungan terisolasi yang disebut dengan container. Dengan adanya lingkungan ini kita bisa menjalankan banyak container di waktu yang bersamaan pada host tertentu
➡️ Dalam penelitian ini, Docker digunakan untuk mempermudah deployment sistem multi-layanan (backend, database, fetch data dll ), menjaga agar setiap layanan tetap terisolasi namun saling terhubung.
🔁 Docker juga membantu menyamakan lingkungan pengembangan, sehingga kolaborasi jadi lebih stabil dan konsisten di berbagai perangkat.
Kalau kamu mau, saya bisa bantu buatkan diagram arsitektur Docker atau contoh file Docker Compose.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MASIH 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MacBook Air M3 dengan spesifikasi prosesor Apple M3 (8-core CPU), RAM 8GB,
dan penyimpanan SSD 256GB.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analisis kebutuhan yang dilakukan dengan tujuan untuk mengidentifikasi dan mendefiniskan kebutuhan sistem, baik kebutuhan fungsional maupun non-fungsional. 
Kebutuhan fungsional mencakup fitur utama seperti dashboard Manajemen data iklim, chart untuk memvisualisasikan data, kalender tanam, sistem analisa dan lain sebagian
Sementara itu, kebutuhan non-fungsional meliputi aspek performa, keamanan, dan skalabilitas sistem. 
Hasil analisis kebutuhan didokumentasikan dalam bentuk product backlog berisi
daftar prioritas pengembanga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Tahapan ini dimulai dari 
membaut logika aplikas dalam bentuk flowchart
diaman nantinya sistem akan memilki 3 bagian, yaitu sistem, admin dan public
selanjutnya kita bakal meranagn frontend, saya akan memulai dengan mengumpulkan refensi design dan membaut protoypenya
selanunta merancanga bagian backend, seperti membuat skeam database (koleksi apa saja), list api apa saja yg bakal dipakai, termasuk merancan autentikasi (aaka paki gmail, atau mungkin email pass sudh cukup)
- terakhir merancangan skeam analisis mencakaupu memnentukan metode analisi yg dipakai (adiptif atau multiplikatif) apakah analisis bakal dijalank harian, perjam dll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Didasarkan pada kebutuhan  hasil perancangan sistem.  Pengembangan mengikuti metode Agile dimana dilakuakn secaar bertahap mengikuti melalui siklus sprint. sehingga nantinya jika ada feedback menegnai sistem yg tdk sesuai akan diselesaikan di sprint selanjutnya 
(berbeda dengan waterfall yg tggu selesai dlu baru diberikan feedback. sedangak agile setiap 2 mingu sekali evalusi sehingga feedback bs didapat lbh cepat)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selanjutnya pengujian sistem dimana dilkaukan pengujain fungsional  untuk memastikan bahwa fitur-fitur utama berjalan dengan baik mengguanka black-box testing
lalu ada juga pengujian api untuk memastikan setiap endpoint API dapat merespons permintaan 
pengujian mengguanak postman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Perbedaan cuaca dan iklim:
Cuaca adalah kondisi atmosfer yang terjadi dalam waktu singkat, bisa berubah setiap menit, jam, atau hari. Misalnya: “Wah, sekarang panas banget, sampai 35°C dan matahari terik.”
Iklim adalah  pola cuaca yang berulang selama puluhan tahun, biasanya diamati selama minimal 30 tahun (Artinya, iklim tidak dilihat dari satu atau dua hari cuaca)  Contohnya: “Bulan Januari biasanya musim hujan di Aceh, sedangkan Oktober sering kemarau.”
Penjelasan tentang pernyataan "Iklim adalah rata-rata kondisi cuaca dalam jangka waktu panjang":
Artinya, iklim tidak dilihat dari satu atau dua hari cuaca, tapi dari pola cuaca yang berulang selama puluhan tahun di suatu wilayah. Jadi, iklim menggambarkan kebiasaan cuaca, bukan kejadian sesaat.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1.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slideLayout" Target="../slideLayouts/slideLayout1.xml"/><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slideLayout" Target="../slideLayouts/slideLayout1.xml"/><Relationship Id="rId11"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3-10.png"/><Relationship Id="rId11" Type="http://schemas.openxmlformats.org/officeDocument/2006/relationships/image" Target="../media/image-33-11.png"/><Relationship Id="rId12" Type="http://schemas.openxmlformats.org/officeDocument/2006/relationships/image" Target="../media/image-33-12.png"/><Relationship Id="rId13" Type="http://schemas.openxmlformats.org/officeDocument/2006/relationships/image" Target="../media/image-33-13.png"/><Relationship Id="rId14" Type="http://schemas.openxmlformats.org/officeDocument/2006/relationships/image" Target="../media/image-33-14.png"/><Relationship Id="rId15" Type="http://schemas.openxmlformats.org/officeDocument/2006/relationships/image" Target="../media/image-33-15.png"/><Relationship Id="rId16" Type="http://schemas.openxmlformats.org/officeDocument/2006/relationships/image" Target="../media/image-33-16.png"/><Relationship Id="rId17" Type="http://schemas.openxmlformats.org/officeDocument/2006/relationships/image" Target="../media/image-33-17.png"/><Relationship Id="rId18" Type="http://schemas.openxmlformats.org/officeDocument/2006/relationships/slideLayout" Target="../slideLayouts/slideLayout1.xml"/><Relationship Id="rId19"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image" Target="../media/image-36-9.png"/><Relationship Id="rId10" Type="http://schemas.openxmlformats.org/officeDocument/2006/relationships/image" Target="../media/image-36-10.png"/><Relationship Id="rId11" Type="http://schemas.openxmlformats.org/officeDocument/2006/relationships/image" Target="../media/image-36-11.png"/><Relationship Id="rId12" Type="http://schemas.openxmlformats.org/officeDocument/2006/relationships/image" Target="../media/image-36-12.png"/><Relationship Id="rId13" Type="http://schemas.openxmlformats.org/officeDocument/2006/relationships/image" Target="../media/image-36-13.png"/><Relationship Id="rId14" Type="http://schemas.openxmlformats.org/officeDocument/2006/relationships/image" Target="../media/image-36-14.png"/><Relationship Id="rId15" Type="http://schemas.openxmlformats.org/officeDocument/2006/relationships/image" Target="../media/image-36-15.png"/><Relationship Id="rId16" Type="http://schemas.openxmlformats.org/officeDocument/2006/relationships/image" Target="../media/image-36-16.png"/><Relationship Id="rId17" Type="http://schemas.openxmlformats.org/officeDocument/2006/relationships/image" Target="../media/image-36-17.png"/><Relationship Id="rId18" Type="http://schemas.openxmlformats.org/officeDocument/2006/relationships/image" Target="../media/image-36-18.png"/><Relationship Id="rId19" Type="http://schemas.openxmlformats.org/officeDocument/2006/relationships/image" Target="../media/image-36-19.png"/><Relationship Id="rId20" Type="http://schemas.openxmlformats.org/officeDocument/2006/relationships/image" Target="../media/image-36-20.png"/><Relationship Id="rId21" Type="http://schemas.openxmlformats.org/officeDocument/2006/relationships/image" Target="../media/image-36-21.png"/><Relationship Id="rId22" Type="http://schemas.openxmlformats.org/officeDocument/2006/relationships/image" Target="../media/image-36-22.png"/><Relationship Id="rId23" Type="http://schemas.openxmlformats.org/officeDocument/2006/relationships/image" Target="../media/image-36-23.png"/><Relationship Id="rId24" Type="http://schemas.openxmlformats.org/officeDocument/2006/relationships/image" Target="../media/image-36-24.png"/><Relationship Id="rId25" Type="http://schemas.openxmlformats.org/officeDocument/2006/relationships/image" Target="../media/image-36-25.png"/><Relationship Id="rId26" Type="http://schemas.openxmlformats.org/officeDocument/2006/relationships/image" Target="../media/image-36-26.png"/><Relationship Id="rId27" Type="http://schemas.openxmlformats.org/officeDocument/2006/relationships/image" Target="../media/image-36-27.png"/><Relationship Id="rId28" Type="http://schemas.openxmlformats.org/officeDocument/2006/relationships/image" Target="../media/image-36-28.png"/><Relationship Id="rId29" Type="http://schemas.openxmlformats.org/officeDocument/2006/relationships/image" Target="../media/image-36-29.png"/><Relationship Id="rId30" Type="http://schemas.openxmlformats.org/officeDocument/2006/relationships/image" Target="../media/image-36-30.png"/><Relationship Id="rId31" Type="http://schemas.openxmlformats.org/officeDocument/2006/relationships/image" Target="../media/image-36-31.png"/><Relationship Id="rId32" Type="http://schemas.openxmlformats.org/officeDocument/2006/relationships/image" Target="../media/image-36-32.png"/><Relationship Id="rId33" Type="http://schemas.openxmlformats.org/officeDocument/2006/relationships/image" Target="../media/image-36-33.png"/><Relationship Id="rId34" Type="http://schemas.openxmlformats.org/officeDocument/2006/relationships/image" Target="../media/image-36-34.png"/><Relationship Id="rId35" Type="http://schemas.openxmlformats.org/officeDocument/2006/relationships/image" Target="../media/image-36-35.png"/><Relationship Id="rId36" Type="http://schemas.openxmlformats.org/officeDocument/2006/relationships/image" Target="../media/image-36-36.png"/><Relationship Id="rId37" Type="http://schemas.openxmlformats.org/officeDocument/2006/relationships/image" Target="../media/image-36-37.png"/><Relationship Id="rId38" Type="http://schemas.openxmlformats.org/officeDocument/2006/relationships/image" Target="../media/image-36-38.png"/><Relationship Id="rId39" Type="http://schemas.openxmlformats.org/officeDocument/2006/relationships/image" Target="../media/image-36-39.png"/><Relationship Id="rId40" Type="http://schemas.openxmlformats.org/officeDocument/2006/relationships/image" Target="../media/image-36-40.png"/><Relationship Id="rId41" Type="http://schemas.openxmlformats.org/officeDocument/2006/relationships/image" Target="../media/image-36-41.png"/><Relationship Id="rId42" Type="http://schemas.openxmlformats.org/officeDocument/2006/relationships/image" Target="../media/image-36-42.png"/><Relationship Id="rId43" Type="http://schemas.openxmlformats.org/officeDocument/2006/relationships/image" Target="../media/image-36-43.png"/><Relationship Id="rId44" Type="http://schemas.openxmlformats.org/officeDocument/2006/relationships/image" Target="../media/image-36-44.png"/><Relationship Id="rId45" Type="http://schemas.openxmlformats.org/officeDocument/2006/relationships/image" Target="../media/image-36-45.png"/><Relationship Id="rId46" Type="http://schemas.openxmlformats.org/officeDocument/2006/relationships/image" Target="../media/image-36-46.png"/><Relationship Id="rId47" Type="http://schemas.openxmlformats.org/officeDocument/2006/relationships/image" Target="../media/image-36-47.png"/><Relationship Id="rId48" Type="http://schemas.openxmlformats.org/officeDocument/2006/relationships/image" Target="../media/image-36-48.png"/><Relationship Id="rId49" Type="http://schemas.openxmlformats.org/officeDocument/2006/relationships/image" Target="../media/image-36-49.png"/><Relationship Id="rId50" Type="http://schemas.openxmlformats.org/officeDocument/2006/relationships/image" Target="../media/image-36-50.png"/><Relationship Id="rId51" Type="http://schemas.openxmlformats.org/officeDocument/2006/relationships/image" Target="../media/image-36-51.png"/><Relationship Id="rId52" Type="http://schemas.openxmlformats.org/officeDocument/2006/relationships/image" Target="../media/image-36-52.png"/><Relationship Id="rId53" Type="http://schemas.openxmlformats.org/officeDocument/2006/relationships/image" Target="../media/image-36-53.png"/><Relationship Id="rId54" Type="http://schemas.openxmlformats.org/officeDocument/2006/relationships/image" Target="../media/image-36-54.png"/><Relationship Id="rId55" Type="http://schemas.openxmlformats.org/officeDocument/2006/relationships/image" Target="../media/image-36-55.png"/><Relationship Id="rId56" Type="http://schemas.openxmlformats.org/officeDocument/2006/relationships/image" Target="../media/image-36-56.png"/><Relationship Id="rId57" Type="http://schemas.openxmlformats.org/officeDocument/2006/relationships/image" Target="../media/image-36-57.png"/><Relationship Id="rId58" Type="http://schemas.openxmlformats.org/officeDocument/2006/relationships/image" Target="../media/image-36-58.png"/><Relationship Id="rId59" Type="http://schemas.openxmlformats.org/officeDocument/2006/relationships/image" Target="../media/image-36-59.png"/><Relationship Id="rId60" Type="http://schemas.openxmlformats.org/officeDocument/2006/relationships/image" Target="../media/image-36-60.png"/><Relationship Id="rId61" Type="http://schemas.openxmlformats.org/officeDocument/2006/relationships/image" Target="../media/image-36-61.png"/><Relationship Id="rId62" Type="http://schemas.openxmlformats.org/officeDocument/2006/relationships/image" Target="../media/image-36-62.png"/><Relationship Id="rId63" Type="http://schemas.openxmlformats.org/officeDocument/2006/relationships/image" Target="../media/image-36-63.png"/><Relationship Id="rId64" Type="http://schemas.openxmlformats.org/officeDocument/2006/relationships/image" Target="../media/image-36-64.png"/><Relationship Id="rId65" Type="http://schemas.openxmlformats.org/officeDocument/2006/relationships/image" Target="../media/image-36-65.png"/><Relationship Id="rId66" Type="http://schemas.openxmlformats.org/officeDocument/2006/relationships/image" Target="../media/image-36-66.png"/><Relationship Id="rId67" Type="http://schemas.openxmlformats.org/officeDocument/2006/relationships/image" Target="../media/image-36-67.png"/><Relationship Id="rId68" Type="http://schemas.openxmlformats.org/officeDocument/2006/relationships/image" Target="../media/image-36-68.png"/><Relationship Id="rId69" Type="http://schemas.openxmlformats.org/officeDocument/2006/relationships/image" Target="../media/image-36-69.png"/><Relationship Id="rId70" Type="http://schemas.openxmlformats.org/officeDocument/2006/relationships/image" Target="../media/image-36-70.png"/><Relationship Id="rId71" Type="http://schemas.openxmlformats.org/officeDocument/2006/relationships/image" Target="../media/image-36-71.png"/><Relationship Id="rId72" Type="http://schemas.openxmlformats.org/officeDocument/2006/relationships/image" Target="../media/image-36-72.png"/><Relationship Id="rId73" Type="http://schemas.openxmlformats.org/officeDocument/2006/relationships/slideLayout" Target="../slideLayouts/slideLayout1.xml"/><Relationship Id="rId7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1.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hyperlink" Target="https://www.figma.com/community/presentations?resource_type=files&amp;editor_type=slides&amp;price=all&amp;sort_by=all_time&amp;creators=all" TargetMode="Externa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8D8"/>
        </a:solidFill>
      </p:bgPr>
    </p:bg>
    <p:spTree>
      <p:nvGrpSpPr>
        <p:cNvPr id="1" name=""/>
        <p:cNvGrpSpPr/>
        <p:nvPr/>
      </p:nvGrpSpPr>
      <p:grpSpPr>
        <a:xfrm>
          <a:off x="0" y="0"/>
          <a:ext cx="0" cy="0"/>
          <a:chOff x="0" y="0"/>
          <a:chExt cx="0" cy="0"/>
        </a:xfrm>
      </p:grpSpPr>
      <p:sp>
        <p:nvSpPr>
          <p:cNvPr id="3" name="Shape 0"/>
          <p:cNvSpPr/>
          <p:nvPr/>
        </p:nvSpPr>
        <p:spPr>
          <a:xfrm>
            <a:off x="0" y="3509963"/>
            <a:ext cx="9144000" cy="0"/>
          </a:xfrm>
          <a:prstGeom prst="line">
            <a:avLst/>
          </a:prstGeom>
          <a:noFill/>
          <a:ln w="12700">
            <a:solidFill>
              <a:srgbClr val="000000"/>
            </a:solidFill>
            <a:prstDash val="solid"/>
          </a:ln>
        </p:spPr>
      </p:sp>
      <p:sp>
        <p:nvSpPr>
          <p:cNvPr id="4" name="Shape 1"/>
          <p:cNvSpPr/>
          <p:nvPr/>
        </p:nvSpPr>
        <p:spPr>
          <a:xfrm>
            <a:off x="0" y="238125"/>
            <a:ext cx="9144000" cy="0"/>
          </a:xfrm>
          <a:prstGeom prst="line">
            <a:avLst/>
          </a:prstGeom>
          <a:noFill/>
          <a:ln w="12700">
            <a:solidFill>
              <a:srgbClr val="000000"/>
            </a:solidFill>
            <a:prstDash val="solid"/>
          </a:ln>
        </p:spPr>
      </p:sp>
      <p:sp>
        <p:nvSpPr>
          <p:cNvPr id="5" name="Shape 2"/>
          <p:cNvSpPr/>
          <p:nvPr/>
        </p:nvSpPr>
        <p:spPr>
          <a:xfrm>
            <a:off x="0" y="4905375"/>
            <a:ext cx="9144000" cy="0"/>
          </a:xfrm>
          <a:prstGeom prst="line">
            <a:avLst/>
          </a:prstGeom>
          <a:noFill/>
          <a:ln w="12700">
            <a:solidFill>
              <a:srgbClr val="000000"/>
            </a:solidFill>
            <a:prstDash val="solid"/>
          </a:ln>
        </p:spPr>
      </p:sp>
      <p:sp>
        <p:nvSpPr>
          <p:cNvPr id="6" name="Shape 3"/>
          <p:cNvSpPr/>
          <p:nvPr/>
        </p:nvSpPr>
        <p:spPr>
          <a:xfrm>
            <a:off x="0" y="3857625"/>
            <a:ext cx="9144000" cy="0"/>
          </a:xfrm>
          <a:prstGeom prst="line">
            <a:avLst/>
          </a:prstGeom>
          <a:noFill/>
          <a:ln w="12700">
            <a:solidFill>
              <a:srgbClr val="000000"/>
            </a:solidFill>
            <a:prstDash val="solid"/>
          </a:ln>
        </p:spPr>
      </p:sp>
      <p:sp>
        <p:nvSpPr>
          <p:cNvPr id="7" name="Text 4"/>
          <p:cNvSpPr/>
          <p:nvPr/>
        </p:nvSpPr>
        <p:spPr>
          <a:xfrm>
            <a:off x="285750" y="719138"/>
            <a:ext cx="9029700" cy="1628775"/>
          </a:xfrm>
          <a:prstGeom prst="rect">
            <a:avLst/>
          </a:prstGeom>
          <a:noFill/>
          <a:ln/>
        </p:spPr>
        <p:txBody>
          <a:bodyPr wrap="square" rtlCol="0" anchor="ctr"/>
          <a:lstStyle/>
          <a:p>
            <a:pPr algn="ctr" indent="0" marL="0">
              <a:lnSpc>
                <a:spcPts val="4200"/>
              </a:lnSpc>
              <a:buNone/>
            </a:pPr>
            <a:r>
              <a:rPr lang="en-US" sz="3563" spc="-150" kern="0" dirty="0">
                <a:solidFill>
                  <a:srgbClr val="000000">
                    <a:alpha val="99000"/>
                  </a:srgbClr>
                </a:solidFill>
                <a:latin typeface="Public Sans" pitchFamily="34" charset="0"/>
                <a:ea typeface="Public Sans" pitchFamily="34" charset="-122"/>
                <a:cs typeface="Public Sans" pitchFamily="34" charset="-120"/>
              </a:rPr>
              <a:t>SISTEM MANAJEMEN DAN ANALISIS DATA IKLIM DENGAN METODE HOLT-WINTERS</a:t>
            </a:r>
            <a:pPr algn="ctr" indent="0" marL="0">
              <a:lnSpc>
                <a:spcPts val="4200"/>
              </a:lnSpc>
              <a:buNone/>
            </a:pPr>
            <a:r>
              <a:rPr lang="en-US" sz="3750" spc="-150" kern="0" dirty="0">
                <a:solidFill>
                  <a:srgbClr val="000000">
                    <a:alpha val="99000"/>
                  </a:srgbClr>
                </a:solidFill>
                <a:latin typeface="Public Sans" pitchFamily="34" charset="0"/>
                <a:ea typeface="Public Sans" pitchFamily="34" charset="-122"/>
                <a:cs typeface="Public Sans" pitchFamily="34" charset="-120"/>
              </a:rPr>
              <a:t> </a:t>
            </a:r>
            <a:endParaRPr lang="en-US" sz="3563" dirty="0"/>
          </a:p>
          <a:p>
            <a:pPr algn="ctr" indent="0" marL="0">
              <a:lnSpc>
                <a:spcPts val="4200"/>
              </a:lnSpc>
              <a:buNone/>
            </a:pPr>
            <a:r>
              <a:rPr lang="en-US" sz="3000" spc="-150" kern="0" dirty="0">
                <a:solidFill>
                  <a:srgbClr val="000000">
                    <a:alpha val="99000"/>
                  </a:srgbClr>
                </a:solidFill>
                <a:latin typeface="Public Sans" pitchFamily="34" charset="0"/>
                <a:ea typeface="Public Sans" pitchFamily="34" charset="-122"/>
                <a:cs typeface="Public Sans" pitchFamily="34" charset="-120"/>
              </a:rPr>
              <a:t>(STUDI KASUS : KABUPATEN ACEH BESAR )</a:t>
            </a:r>
            <a:endParaRPr lang="en-US" sz="3563" dirty="0"/>
          </a:p>
        </p:txBody>
      </p:sp>
      <p:sp>
        <p:nvSpPr>
          <p:cNvPr id="8" name="Text 5"/>
          <p:cNvSpPr/>
          <p:nvPr/>
        </p:nvSpPr>
        <p:spPr>
          <a:xfrm>
            <a:off x="285750" y="4019550"/>
            <a:ext cx="4919663" cy="642938"/>
          </a:xfrm>
          <a:prstGeom prst="rect">
            <a:avLst/>
          </a:prstGeom>
          <a:noFill/>
          <a:ln/>
        </p:spPr>
        <p:txBody>
          <a:bodyPr wrap="square" rtlCol="0" anchor="ctr"/>
          <a:lstStyle/>
          <a:p>
            <a:pPr algn="l" indent="0" marL="0">
              <a:lnSpc>
                <a:spcPts val="1688"/>
              </a:lnSpc>
              <a:buNone/>
            </a:pPr>
            <a:r>
              <a:rPr lang="en-US" sz="1200" b="1" dirty="0">
                <a:solidFill>
                  <a:srgbClr val="000000">
                    <a:alpha val="99000"/>
                  </a:srgbClr>
                </a:solidFill>
                <a:latin typeface="Public Sans" pitchFamily="34" charset="0"/>
                <a:ea typeface="Public Sans" pitchFamily="34" charset="-122"/>
                <a:cs typeface="Public Sans" pitchFamily="34" charset="-120"/>
              </a:rPr>
              <a:t>PEMBIMBING</a:t>
            </a:r>
            <a:pPr algn="l" indent="0" marL="0">
              <a:lnSpc>
                <a:spcPts val="1688"/>
              </a:lnSpc>
              <a:buNone/>
            </a:pPr>
            <a:r>
              <a:rPr lang="en-US" sz="1500" dirty="0">
                <a:solidFill>
                  <a:srgbClr val="000000">
                    <a:alpha val="99000"/>
                  </a:srgbClr>
                </a:solidFill>
                <a:latin typeface="Public Sans" pitchFamily="34" charset="0"/>
                <a:ea typeface="Public Sans" pitchFamily="34" charset="-122"/>
                <a:cs typeface="Public Sans" pitchFamily="34" charset="-120"/>
              </a:rPr>
              <a:t> </a:t>
            </a:r>
            <a:endParaRPr lang="en-US" sz="1200" dirty="0"/>
          </a:p>
          <a:p>
            <a:pPr algn="l" indent="0" marL="0">
              <a:lnSpc>
                <a:spcPts val="1688"/>
              </a:lnSpc>
              <a:buNone/>
            </a:pPr>
            <a:r>
              <a:rPr lang="en-US" sz="1500" dirty="0">
                <a:solidFill>
                  <a:srgbClr val="000000">
                    <a:alpha val="99000"/>
                  </a:srgbClr>
                </a:solidFill>
                <a:latin typeface="Public Sans" pitchFamily="34" charset="0"/>
                <a:ea typeface="Public Sans" pitchFamily="34" charset="-122"/>
                <a:cs typeface="Public Sans" pitchFamily="34" charset="-120"/>
              </a:rPr>
              <a:t>KURNIA SAPUTRA, S.T., M.SC.</a:t>
            </a:r>
            <a:endParaRPr lang="en-US" sz="1200" dirty="0"/>
          </a:p>
          <a:p>
            <a:pPr algn="l" indent="0" marL="0">
              <a:lnSpc>
                <a:spcPts val="1688"/>
              </a:lnSpc>
              <a:buNone/>
            </a:pPr>
            <a:r>
              <a:rPr lang="en-US" sz="1500" dirty="0">
                <a:solidFill>
                  <a:srgbClr val="000000">
                    <a:alpha val="99000"/>
                  </a:srgbClr>
                </a:solidFill>
                <a:latin typeface="Public Sans" pitchFamily="34" charset="0"/>
                <a:ea typeface="Public Sans" pitchFamily="34" charset="-122"/>
                <a:cs typeface="Public Sans" pitchFamily="34" charset="-120"/>
              </a:rPr>
              <a:t>DR. MIFTAHUDDIN, S.SI., M.SI.</a:t>
            </a:r>
            <a:endParaRPr lang="en-US" sz="1200" dirty="0"/>
          </a:p>
        </p:txBody>
      </p:sp>
      <p:sp>
        <p:nvSpPr>
          <p:cNvPr id="9" name="Text 6"/>
          <p:cNvSpPr/>
          <p:nvPr/>
        </p:nvSpPr>
        <p:spPr>
          <a:xfrm>
            <a:off x="4395788" y="4019550"/>
            <a:ext cx="4919663" cy="633413"/>
          </a:xfrm>
          <a:prstGeom prst="rect">
            <a:avLst/>
          </a:prstGeom>
          <a:noFill/>
          <a:ln/>
        </p:spPr>
        <p:txBody>
          <a:bodyPr wrap="square" rtlCol="0" anchor="ctr"/>
          <a:lstStyle/>
          <a:p>
            <a:pPr algn="r" indent="0" marL="0">
              <a:lnSpc>
                <a:spcPts val="1688"/>
              </a:lnSpc>
              <a:buNone/>
            </a:pPr>
            <a:r>
              <a:rPr lang="en-US" sz="1200" b="1" dirty="0">
                <a:solidFill>
                  <a:srgbClr val="000000">
                    <a:alpha val="99000"/>
                  </a:srgbClr>
                </a:solidFill>
                <a:latin typeface="Public Sans" pitchFamily="34" charset="0"/>
                <a:ea typeface="Public Sans" pitchFamily="34" charset="-122"/>
                <a:cs typeface="Public Sans" pitchFamily="34" charset="-120"/>
              </a:rPr>
              <a:t>PENGUJI</a:t>
            </a:r>
            <a:endParaRPr lang="en-US" sz="1200" dirty="0"/>
          </a:p>
          <a:p>
            <a:pPr algn="r" indent="0" marL="0">
              <a:lnSpc>
                <a:spcPts val="1688"/>
              </a:lnSpc>
              <a:buNone/>
            </a:pPr>
            <a:r>
              <a:rPr lang="en-US" sz="1500" dirty="0">
                <a:solidFill>
                  <a:srgbClr val="000000">
                    <a:alpha val="99000"/>
                  </a:srgbClr>
                </a:solidFill>
                <a:latin typeface="Public Sans" pitchFamily="34" charset="0"/>
                <a:ea typeface="Public Sans" pitchFamily="34" charset="-122"/>
                <a:cs typeface="Public Sans" pitchFamily="34" charset="-120"/>
              </a:rPr>
              <a:t>ZULFAN, S.SI., M.SC.</a:t>
            </a:r>
            <a:endParaRPr lang="en-US" sz="1200" dirty="0"/>
          </a:p>
          <a:p>
            <a:pPr algn="r" indent="0" marL="0">
              <a:lnSpc>
                <a:spcPts val="1688"/>
              </a:lnSpc>
              <a:buNone/>
            </a:pPr>
            <a:r>
              <a:rPr lang="en-US" sz="1500" dirty="0">
                <a:solidFill>
                  <a:srgbClr val="000000">
                    <a:alpha val="99000"/>
                  </a:srgbClr>
                </a:solidFill>
                <a:latin typeface="Public Sans" pitchFamily="34" charset="0"/>
                <a:ea typeface="Public Sans" pitchFamily="34" charset="-122"/>
                <a:cs typeface="Public Sans" pitchFamily="34" charset="-120"/>
              </a:rPr>
              <a:t>RINI DEVIANI, ST., M.ENG</a:t>
            </a:r>
            <a:endParaRPr lang="en-US" sz="1200" dirty="0"/>
          </a:p>
        </p:txBody>
      </p:sp>
      <p:sp>
        <p:nvSpPr>
          <p:cNvPr id="10" name="Text 7"/>
          <p:cNvSpPr/>
          <p:nvPr/>
        </p:nvSpPr>
        <p:spPr>
          <a:xfrm>
            <a:off x="2519363" y="3562350"/>
            <a:ext cx="2143125" cy="214313"/>
          </a:xfrm>
          <a:prstGeom prst="rect">
            <a:avLst/>
          </a:prstGeom>
          <a:noFill/>
          <a:ln/>
        </p:spPr>
        <p:txBody>
          <a:bodyPr wrap="square" rtlCol="0" anchor="ctr"/>
          <a:lstStyle/>
          <a:p>
            <a:pPr algn="l" indent="0" marL="0">
              <a:lnSpc>
                <a:spcPts val="1688"/>
              </a:lnSpc>
              <a:buNone/>
            </a:pPr>
            <a:r>
              <a:rPr lang="en-US" sz="1500" dirty="0">
                <a:solidFill>
                  <a:srgbClr val="000000">
                    <a:alpha val="99000"/>
                  </a:srgbClr>
                </a:solidFill>
                <a:latin typeface="Public Sans" pitchFamily="34" charset="0"/>
                <a:ea typeface="Public Sans" pitchFamily="34" charset="-122"/>
                <a:cs typeface="Public Sans" pitchFamily="34" charset="-120"/>
              </a:rPr>
              <a:t>DZULKIRAM HILMI</a:t>
            </a:r>
            <a:endParaRPr lang="en-US" sz="1500" dirty="0"/>
          </a:p>
        </p:txBody>
      </p:sp>
      <p:sp>
        <p:nvSpPr>
          <p:cNvPr id="11" name="Text 8"/>
          <p:cNvSpPr/>
          <p:nvPr/>
        </p:nvSpPr>
        <p:spPr>
          <a:xfrm>
            <a:off x="4748213" y="3562350"/>
            <a:ext cx="2195513" cy="214313"/>
          </a:xfrm>
          <a:prstGeom prst="rect">
            <a:avLst/>
          </a:prstGeom>
          <a:noFill/>
          <a:ln/>
        </p:spPr>
        <p:txBody>
          <a:bodyPr wrap="square" rtlCol="0" anchor="ctr"/>
          <a:lstStyle/>
          <a:p>
            <a:pPr algn="l" indent="0" marL="0">
              <a:lnSpc>
                <a:spcPts val="1688"/>
              </a:lnSpc>
              <a:buNone/>
            </a:pPr>
            <a:r>
              <a:rPr lang="en-US" sz="1500" dirty="0">
                <a:solidFill>
                  <a:srgbClr val="000000">
                    <a:alpha val="99000"/>
                  </a:srgbClr>
                </a:solidFill>
                <a:latin typeface="Public Sans" pitchFamily="34" charset="0"/>
                <a:ea typeface="Public Sans" pitchFamily="34" charset="-122"/>
                <a:cs typeface="Public Sans" pitchFamily="34" charset="-120"/>
              </a:rPr>
              <a:t>2108107010049</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8D8"/>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solidFill>
            <a:srgbClr val="EDE8D8"/>
          </a:solidFill>
          <a:ln w="12700">
            <a:solidFill>
              <a:srgbClr val="000000"/>
            </a:solidFill>
            <a:prstDash val="solid"/>
          </a:ln>
        </p:spPr>
      </p:sp>
      <p:sp>
        <p:nvSpPr>
          <p:cNvPr id="4" name="Text 1"/>
          <p:cNvSpPr/>
          <p:nvPr/>
        </p:nvSpPr>
        <p:spPr>
          <a:xfrm>
            <a:off x="90488" y="76200"/>
            <a:ext cx="1281112"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DATE XX, 2024</a:t>
            </a:r>
            <a:endParaRPr lang="en-US" sz="825" dirty="0"/>
          </a:p>
        </p:txBody>
      </p:sp>
      <p:sp>
        <p:nvSpPr>
          <p:cNvPr id="5" name="Text 2"/>
          <p:cNvSpPr/>
          <p:nvPr/>
        </p:nvSpPr>
        <p:spPr>
          <a:xfrm>
            <a:off x="1300163" y="76200"/>
            <a:ext cx="1671638"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SEMINAR/PROPOSAL</a:t>
            </a:r>
            <a:endParaRPr lang="en-US" sz="825" dirty="0"/>
          </a:p>
        </p:txBody>
      </p:sp>
      <p:sp>
        <p:nvSpPr>
          <p:cNvPr id="6" name="Text 3"/>
          <p:cNvSpPr/>
          <p:nvPr/>
        </p:nvSpPr>
        <p:spPr>
          <a:xfrm>
            <a:off x="7529513" y="76200"/>
            <a:ext cx="1981200" cy="114300"/>
          </a:xfrm>
          <a:prstGeom prst="rect">
            <a:avLst/>
          </a:prstGeom>
          <a:noFill/>
          <a:ln/>
        </p:spPr>
        <p:txBody>
          <a:bodyPr wrap="square" rtlCol="0" anchor="ctr"/>
          <a:lstStyle/>
          <a:p>
            <a:pPr algn="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UNIVERSITAS SYIAH KUALA</a:t>
            </a:r>
            <a:endParaRPr lang="en-US" sz="825" dirty="0"/>
          </a:p>
        </p:txBody>
      </p:sp>
      <p:sp>
        <p:nvSpPr>
          <p:cNvPr id="7" name="Text 4"/>
          <p:cNvSpPr/>
          <p:nvPr/>
        </p:nvSpPr>
        <p:spPr>
          <a:xfrm>
            <a:off x="4619625" y="1000125"/>
            <a:ext cx="4157663" cy="1833563"/>
          </a:xfrm>
          <a:prstGeom prst="rect">
            <a:avLst/>
          </a:prstGeom>
          <a:noFill/>
          <a:ln/>
        </p:spPr>
        <p:txBody>
          <a:bodyPr wrap="square" rtlCol="0" anchor="ctr"/>
          <a:lstStyle/>
          <a:p>
            <a:pPr algn="l" marL="342900" indent="-342900">
              <a:lnSpc>
                <a:spcPts val="2888"/>
              </a:lnSpc>
              <a:buSzPct val="100000"/>
              <a:buFont typeface="+mj-lt"/>
              <a:buAutoNum type="arabicPeriod" startAt="1"/>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Pendahuluan</a:t>
            </a:r>
            <a:endParaRPr lang="en-US" sz="2625" dirty="0"/>
          </a:p>
          <a:p>
            <a:pPr algn="l" marL="342900" indent="-342900">
              <a:lnSpc>
                <a:spcPts val="2888"/>
              </a:lnSpc>
              <a:buSzPct val="100000"/>
              <a:buFont typeface="+mj-lt"/>
              <a:buAutoNum type="arabicPeriod" startAt="1"/>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Pustaka </a:t>
            </a:r>
            <a:endParaRPr lang="en-US" sz="2625" dirty="0"/>
          </a:p>
          <a:p>
            <a:pPr algn="l" marL="342900" indent="-342900">
              <a:lnSpc>
                <a:spcPts val="2888"/>
              </a:lnSpc>
              <a:buSzPct val="100000"/>
              <a:buFont typeface="+mj-lt"/>
              <a:buAutoNum type="arabicPeriod" startAt="1"/>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Metodologi</a:t>
            </a:r>
            <a:endParaRPr lang="en-US" sz="2625" dirty="0"/>
          </a:p>
        </p:txBody>
      </p:sp>
      <p:sp>
        <p:nvSpPr>
          <p:cNvPr id="8" name="Text 5"/>
          <p:cNvSpPr/>
          <p:nvPr/>
        </p:nvSpPr>
        <p:spPr>
          <a:xfrm>
            <a:off x="742950" y="1000125"/>
            <a:ext cx="4243388" cy="1571625"/>
          </a:xfrm>
          <a:prstGeom prst="rect">
            <a:avLst/>
          </a:prstGeom>
          <a:noFill/>
          <a:ln/>
        </p:spPr>
        <p:txBody>
          <a:bodyPr wrap="square" rtlCol="0" anchor="ctr"/>
          <a:lstStyle/>
          <a:p>
            <a:pPr algn="l" indent="0" marL="0">
              <a:lnSpc>
                <a:spcPts val="6188"/>
              </a:lnSpc>
              <a:buNone/>
            </a:pPr>
            <a:r>
              <a:rPr lang="en-US" sz="5625" b="1" dirty="0">
                <a:solidFill>
                  <a:srgbClr val="000000">
                    <a:alpha val="99000"/>
                  </a:srgbClr>
                </a:solidFill>
                <a:latin typeface="Plus Jakarta Sans" pitchFamily="34" charset="0"/>
                <a:ea typeface="Plus Jakarta Sans" pitchFamily="34" charset="-122"/>
                <a:cs typeface="Plus Jakarta Sans" pitchFamily="34" charset="-120"/>
              </a:rPr>
              <a:t>Today’s</a:t>
            </a:r>
            <a:endParaRPr lang="en-US" sz="5625" dirty="0"/>
          </a:p>
          <a:p>
            <a:pPr algn="l" indent="0" marL="0">
              <a:lnSpc>
                <a:spcPts val="6188"/>
              </a:lnSpc>
              <a:buNone/>
            </a:pPr>
            <a:r>
              <a:rPr lang="en-US" sz="5625" b="1" dirty="0">
                <a:solidFill>
                  <a:srgbClr val="000000">
                    <a:alpha val="99000"/>
                  </a:srgbClr>
                </a:solidFill>
                <a:latin typeface="Plus Jakarta Sans" pitchFamily="34" charset="0"/>
                <a:ea typeface="Plus Jakarta Sans" pitchFamily="34" charset="-122"/>
                <a:cs typeface="Plus Jakarta Sans" pitchFamily="34" charset="-120"/>
              </a:rPr>
              <a:t>Agenda:</a:t>
            </a:r>
            <a:endParaRPr lang="en-US" sz="56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8D8"/>
        </a:solidFill>
      </p:bgPr>
    </p:bg>
    <p:spTree>
      <p:nvGrpSpPr>
        <p:cNvPr id="1" name=""/>
        <p:cNvGrpSpPr/>
        <p:nvPr/>
      </p:nvGrpSpPr>
      <p:grpSpPr>
        <a:xfrm>
          <a:off x="0" y="0"/>
          <a:ext cx="0" cy="0"/>
          <a:chOff x="0" y="0"/>
          <a:chExt cx="0" cy="0"/>
        </a:xfrm>
      </p:grpSpPr>
      <p:sp>
        <p:nvSpPr>
          <p:cNvPr id="3" name="Shape 0"/>
          <p:cNvSpPr/>
          <p:nvPr/>
        </p:nvSpPr>
        <p:spPr>
          <a:xfrm>
            <a:off x="0" y="238125"/>
            <a:ext cx="9144000" cy="0"/>
          </a:xfrm>
          <a:prstGeom prst="line">
            <a:avLst/>
          </a:prstGeom>
          <a:noFill/>
          <a:ln w="12700">
            <a:solidFill>
              <a:srgbClr val="000000"/>
            </a:solidFill>
            <a:prstDash val="solid"/>
          </a:ln>
        </p:spPr>
      </p:sp>
      <p:sp>
        <p:nvSpPr>
          <p:cNvPr id="4" name="Text 1"/>
          <p:cNvSpPr/>
          <p:nvPr/>
        </p:nvSpPr>
        <p:spPr>
          <a:xfrm>
            <a:off x="285750" y="2157413"/>
            <a:ext cx="9029700" cy="823913"/>
          </a:xfrm>
          <a:prstGeom prst="rect">
            <a:avLst/>
          </a:prstGeom>
          <a:noFill/>
          <a:ln/>
        </p:spPr>
        <p:txBody>
          <a:bodyPr wrap="square" rtlCol="0" anchor="ctr"/>
          <a:lstStyle/>
          <a:p>
            <a:pPr algn="ctr" indent="0" marL="0">
              <a:lnSpc>
                <a:spcPts val="6453"/>
              </a:lnSpc>
              <a:buNone/>
            </a:pPr>
            <a:r>
              <a:rPr lang="en-US" sz="6900" spc="-276" kern="0" dirty="0">
                <a:solidFill>
                  <a:srgbClr val="000000">
                    <a:alpha val="99000"/>
                  </a:srgbClr>
                </a:solidFill>
                <a:latin typeface="Plus Jakarta Sans" pitchFamily="34" charset="0"/>
                <a:ea typeface="Plus Jakarta Sans" pitchFamily="34" charset="-122"/>
                <a:cs typeface="Plus Jakarta Sans" pitchFamily="34" charset="-120"/>
              </a:rPr>
              <a:t>PENDAHULUAN</a:t>
            </a:r>
            <a:endParaRPr lang="en-US" sz="6900" dirty="0"/>
          </a:p>
        </p:txBody>
      </p:sp>
      <p:sp>
        <p:nvSpPr>
          <p:cNvPr id="5" name="Text 2"/>
          <p:cNvSpPr/>
          <p:nvPr/>
        </p:nvSpPr>
        <p:spPr>
          <a:xfrm>
            <a:off x="285750" y="52388"/>
            <a:ext cx="1985963" cy="161925"/>
          </a:xfrm>
          <a:prstGeom prst="rect">
            <a:avLst/>
          </a:prstGeom>
          <a:noFill/>
          <a:ln/>
        </p:spPr>
        <p:txBody>
          <a:bodyPr wrap="square" rtlCol="0" anchor="ctr"/>
          <a:lstStyle/>
          <a:p>
            <a:pPr algn="l" indent="0" marL="0">
              <a:lnSpc>
                <a:spcPts val="1260"/>
              </a:lnSpc>
              <a:buNone/>
            </a:pPr>
            <a:r>
              <a:rPr lang="en-US" sz="900" dirty="0">
                <a:solidFill>
                  <a:srgbClr val="000000">
                    <a:alpha val="99000"/>
                  </a:srgbClr>
                </a:solidFill>
                <a:latin typeface="Public Sans" pitchFamily="34" charset="0"/>
                <a:ea typeface="Public Sans" pitchFamily="34" charset="-122"/>
                <a:cs typeface="Public Sans" pitchFamily="34" charset="-120"/>
              </a:rPr>
              <a:t>UNIVERSITAS SYIAH KUALA</a:t>
            </a:r>
            <a:endParaRPr lang="en-US" sz="900" dirty="0"/>
          </a:p>
        </p:txBody>
      </p:sp>
      <p:sp>
        <p:nvSpPr>
          <p:cNvPr id="6" name="Text 3"/>
          <p:cNvSpPr/>
          <p:nvPr/>
        </p:nvSpPr>
        <p:spPr>
          <a:xfrm>
            <a:off x="8067675" y="47625"/>
            <a:ext cx="1247775" cy="161925"/>
          </a:xfrm>
          <a:prstGeom prst="rect">
            <a:avLst/>
          </a:prstGeom>
          <a:noFill/>
          <a:ln/>
        </p:spPr>
        <p:txBody>
          <a:bodyPr wrap="square" rtlCol="0" anchor="ctr"/>
          <a:lstStyle/>
          <a:p>
            <a:pPr algn="r" indent="0" marL="0">
              <a:lnSpc>
                <a:spcPts val="1260"/>
              </a:lnSpc>
              <a:buNone/>
            </a:pPr>
            <a:r>
              <a:rPr lang="en-US" sz="900" dirty="0">
                <a:solidFill>
                  <a:srgbClr val="000000">
                    <a:alpha val="99000"/>
                  </a:srgbClr>
                </a:solidFill>
                <a:latin typeface="Public Sans" pitchFamily="34" charset="0"/>
                <a:ea typeface="Public Sans" pitchFamily="34" charset="-122"/>
                <a:cs typeface="Public Sans" pitchFamily="34" charset="-120"/>
              </a:rPr>
              <a:t>TODAY’S DATE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3" name="Shape 0"/>
          <p:cNvSpPr/>
          <p:nvPr/>
        </p:nvSpPr>
        <p:spPr>
          <a:xfrm>
            <a:off x="95250" y="233362"/>
            <a:ext cx="2771775" cy="4814888"/>
          </a:xfrm>
          <a:prstGeom prst="roundRect">
            <a:avLst>
              <a:gd name="adj" fmla="val 4948"/>
            </a:avLst>
          </a:prstGeom>
          <a:solidFill>
            <a:srgbClr val="EDE8D8"/>
          </a:solidFill>
          <a:ln/>
        </p:spPr>
      </p:sp>
      <p:sp>
        <p:nvSpPr>
          <p:cNvPr id="4" name="Shape 1"/>
          <p:cNvSpPr/>
          <p:nvPr/>
        </p:nvSpPr>
        <p:spPr>
          <a:xfrm>
            <a:off x="2957513" y="233362"/>
            <a:ext cx="6096000" cy="4814888"/>
          </a:xfrm>
          <a:prstGeom prst="roundRect">
            <a:avLst>
              <a:gd name="adj" fmla="val 2849"/>
            </a:avLst>
          </a:prstGeom>
          <a:solidFill>
            <a:srgbClr val="EDE8D8"/>
          </a:solidFill>
          <a:ln/>
        </p:spPr>
      </p:sp>
      <p:sp>
        <p:nvSpPr>
          <p:cNvPr id="5" name="Text 2"/>
          <p:cNvSpPr/>
          <p:nvPr/>
        </p:nvSpPr>
        <p:spPr>
          <a:xfrm>
            <a:off x="90488" y="76200"/>
            <a:ext cx="1171575" cy="114300"/>
          </a:xfrm>
          <a:prstGeom prst="rect">
            <a:avLst/>
          </a:prstGeom>
          <a:noFill/>
          <a:ln/>
        </p:spPr>
        <p:txBody>
          <a:bodyPr wrap="square" rtlCol="0" anchor="ctr"/>
          <a:lstStyle/>
          <a:p>
            <a:pPr algn="l" indent="0" marL="0">
              <a:lnSpc>
                <a:spcPts val="908"/>
              </a:lnSpc>
              <a:buNone/>
            </a:pPr>
            <a:r>
              <a:rPr lang="en-US" sz="825" b="1" spc="58" kern="0" dirty="0">
                <a:solidFill>
                  <a:srgbClr val="EDE8D8">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6" name="Text 3"/>
          <p:cNvSpPr/>
          <p:nvPr/>
        </p:nvSpPr>
        <p:spPr>
          <a:xfrm>
            <a:off x="1300163" y="76200"/>
            <a:ext cx="1643063" cy="114300"/>
          </a:xfrm>
          <a:prstGeom prst="rect">
            <a:avLst/>
          </a:prstGeom>
          <a:noFill/>
          <a:ln/>
        </p:spPr>
        <p:txBody>
          <a:bodyPr wrap="square" rtlCol="0" anchor="ctr"/>
          <a:lstStyle/>
          <a:p>
            <a:pPr algn="l" indent="0" marL="0">
              <a:lnSpc>
                <a:spcPts val="908"/>
              </a:lnSpc>
              <a:buNone/>
            </a:pPr>
            <a:r>
              <a:rPr lang="en-US" sz="825" b="1" spc="58" kern="0" dirty="0">
                <a:solidFill>
                  <a:srgbClr val="EDE8D8">
                    <a:alpha val="99000"/>
                  </a:srgbClr>
                </a:solidFill>
                <a:latin typeface="Plus Jakarta Sans" pitchFamily="34" charset="0"/>
                <a:ea typeface="Plus Jakarta Sans" pitchFamily="34" charset="-122"/>
                <a:cs typeface="Plus Jakarta Sans" pitchFamily="34" charset="-120"/>
              </a:rPr>
              <a:t>SEMINAR PROPOSAL</a:t>
            </a:r>
            <a:endParaRPr lang="en-US" sz="825" dirty="0"/>
          </a:p>
        </p:txBody>
      </p:sp>
      <p:sp>
        <p:nvSpPr>
          <p:cNvPr id="7" name="Text 4"/>
          <p:cNvSpPr/>
          <p:nvPr/>
        </p:nvSpPr>
        <p:spPr>
          <a:xfrm>
            <a:off x="7529513" y="76200"/>
            <a:ext cx="1981200" cy="114300"/>
          </a:xfrm>
          <a:prstGeom prst="rect">
            <a:avLst/>
          </a:prstGeom>
          <a:noFill/>
          <a:ln/>
        </p:spPr>
        <p:txBody>
          <a:bodyPr wrap="square" rtlCol="0" anchor="ctr"/>
          <a:lstStyle/>
          <a:p>
            <a:pPr algn="r" indent="0" marL="0">
              <a:lnSpc>
                <a:spcPts val="908"/>
              </a:lnSpc>
              <a:buNone/>
            </a:pPr>
            <a:r>
              <a:rPr lang="en-US" sz="825" b="1" spc="58" kern="0" dirty="0">
                <a:solidFill>
                  <a:srgbClr val="EDE8D8">
                    <a:alpha val="99000"/>
                  </a:srgbClr>
                </a:solidFill>
                <a:latin typeface="Plus Jakarta Sans" pitchFamily="34" charset="0"/>
                <a:ea typeface="Plus Jakarta Sans" pitchFamily="34" charset="-122"/>
                <a:cs typeface="Plus Jakarta Sans" pitchFamily="34" charset="-120"/>
              </a:rPr>
              <a:t>UNIVERSITAS SYIAH KUALA</a:t>
            </a:r>
            <a:endParaRPr lang="en-US" sz="825" dirty="0"/>
          </a:p>
        </p:txBody>
      </p:sp>
      <p:sp>
        <p:nvSpPr>
          <p:cNvPr id="8" name="Text 5"/>
          <p:cNvSpPr/>
          <p:nvPr/>
        </p:nvSpPr>
        <p:spPr>
          <a:xfrm>
            <a:off x="3743325" y="2033588"/>
            <a:ext cx="4976813" cy="1371600"/>
          </a:xfrm>
          <a:prstGeom prst="rect">
            <a:avLst/>
          </a:prstGeom>
          <a:noFill/>
          <a:ln/>
        </p:spPr>
        <p:txBody>
          <a:bodyPr wrap="square" rtlCol="0" anchor="ctr"/>
          <a:lstStyle/>
          <a:p>
            <a:pPr algn="l" indent="0" marL="0">
              <a:lnSpc>
                <a:spcPts val="2700"/>
              </a:lnSpc>
              <a:buNone/>
            </a:pPr>
            <a:r>
              <a:rPr lang="en-US" sz="1800" spc="-40" kern="0" dirty="0">
                <a:solidFill>
                  <a:srgbClr val="000000">
                    <a:alpha val="99000"/>
                  </a:srgbClr>
                </a:solidFill>
                <a:latin typeface="Plus Jakarta Sans" pitchFamily="34" charset="0"/>
                <a:ea typeface="Plus Jakarta Sans" pitchFamily="34" charset="-122"/>
                <a:cs typeface="Plus Jakarta Sans" pitchFamily="34" charset="-120"/>
              </a:rPr>
              <a:t>Perubahan iklim global menjadi tantangan besar bagi sektor pertanian, terutama sistem padi tadah hujan yang sangat bergantung pada kondisi alam.</a:t>
            </a:r>
            <a:endParaRPr lang="en-US" sz="1800" dirty="0"/>
          </a:p>
        </p:txBody>
      </p:sp>
      <p:sp>
        <p:nvSpPr>
          <p:cNvPr id="9" name="Text 6"/>
          <p:cNvSpPr/>
          <p:nvPr/>
        </p:nvSpPr>
        <p:spPr>
          <a:xfrm>
            <a:off x="238125" y="1943100"/>
            <a:ext cx="2943225" cy="1400175"/>
          </a:xfrm>
          <a:prstGeom prst="rect">
            <a:avLst/>
          </a:prstGeom>
          <a:noFill/>
          <a:ln/>
        </p:spPr>
        <p:txBody>
          <a:bodyPr wrap="square" rtlCol="0" anchor="ctr"/>
          <a:lstStyle/>
          <a:p>
            <a:pPr algn="ctr" indent="0" marL="0">
              <a:lnSpc>
                <a:spcPts val="3675"/>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Sepiring Nasi dan </a:t>
            </a:r>
            <a:endParaRPr lang="en-US" sz="2625" dirty="0"/>
          </a:p>
          <a:p>
            <a:pPr algn="ctr" indent="0" marL="0">
              <a:lnSpc>
                <a:spcPts val="3675"/>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Perubahan Iklim</a:t>
            </a:r>
            <a:endParaRPr lang="en-US" sz="26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2957513" y="238125"/>
            <a:ext cx="6096000" cy="4814888"/>
          </a:xfrm>
          <a:prstGeom prst="roundRect">
            <a:avLst>
              <a:gd name="adj" fmla="val 2849"/>
            </a:avLst>
          </a:prstGeom>
          <a:solidFill>
            <a:srgbClr val="EDE8D8"/>
          </a:solidFill>
          <a:ln/>
        </p:spPr>
      </p:sp>
      <p:sp>
        <p:nvSpPr>
          <p:cNvPr id="4" name="Shape 1"/>
          <p:cNvSpPr/>
          <p:nvPr/>
        </p:nvSpPr>
        <p:spPr>
          <a:xfrm>
            <a:off x="90488" y="238125"/>
            <a:ext cx="2771775" cy="4814888"/>
          </a:xfrm>
          <a:prstGeom prst="roundRect">
            <a:avLst>
              <a:gd name="adj" fmla="val 4948"/>
            </a:avLst>
          </a:prstGeom>
          <a:solidFill>
            <a:srgbClr val="EDE8D8"/>
          </a:solidFill>
          <a:ln/>
        </p:spPr>
      </p:sp>
      <p:sp>
        <p:nvSpPr>
          <p:cNvPr id="5" name="Shape 2"/>
          <p:cNvSpPr/>
          <p:nvPr/>
        </p:nvSpPr>
        <p:spPr>
          <a:xfrm>
            <a:off x="2957513" y="238125"/>
            <a:ext cx="6096000" cy="4814888"/>
          </a:xfrm>
          <a:prstGeom prst="roundRect">
            <a:avLst>
              <a:gd name="adj" fmla="val 2849"/>
            </a:avLst>
          </a:prstGeom>
          <a:solidFill>
            <a:srgbClr val="EDE8D8"/>
          </a:solidFill>
          <a:ln/>
        </p:spPr>
      </p:sp>
      <p:sp>
        <p:nvSpPr>
          <p:cNvPr id="6" name="Text 3"/>
          <p:cNvSpPr/>
          <p:nvPr/>
        </p:nvSpPr>
        <p:spPr>
          <a:xfrm>
            <a:off x="90488" y="76200"/>
            <a:ext cx="1171575"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7" name="Text 4"/>
          <p:cNvSpPr/>
          <p:nvPr/>
        </p:nvSpPr>
        <p:spPr>
          <a:xfrm>
            <a:off x="1300163" y="76200"/>
            <a:ext cx="1643063"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SEMINAR PROPOSAL</a:t>
            </a:r>
            <a:endParaRPr lang="en-US" sz="825" dirty="0"/>
          </a:p>
        </p:txBody>
      </p:sp>
      <p:sp>
        <p:nvSpPr>
          <p:cNvPr id="8" name="Text 5"/>
          <p:cNvSpPr/>
          <p:nvPr/>
        </p:nvSpPr>
        <p:spPr>
          <a:xfrm>
            <a:off x="7529513" y="76200"/>
            <a:ext cx="1981200" cy="114300"/>
          </a:xfrm>
          <a:prstGeom prst="rect">
            <a:avLst/>
          </a:prstGeom>
          <a:noFill/>
          <a:ln/>
        </p:spPr>
        <p:txBody>
          <a:bodyPr wrap="square" rtlCol="0" anchor="ctr"/>
          <a:lstStyle/>
          <a:p>
            <a:pPr algn="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UNIVERSITAS SYIAH KUALA</a:t>
            </a:r>
            <a:endParaRPr lang="en-US" sz="825" dirty="0"/>
          </a:p>
        </p:txBody>
      </p:sp>
      <p:sp>
        <p:nvSpPr>
          <p:cNvPr id="9" name="Text 6"/>
          <p:cNvSpPr/>
          <p:nvPr/>
        </p:nvSpPr>
        <p:spPr>
          <a:xfrm>
            <a:off x="357188" y="1947863"/>
            <a:ext cx="2695575" cy="1400175"/>
          </a:xfrm>
          <a:prstGeom prst="rect">
            <a:avLst/>
          </a:prstGeom>
          <a:noFill/>
          <a:ln/>
        </p:spPr>
        <p:txBody>
          <a:bodyPr wrap="square" rtlCol="0" anchor="ctr"/>
          <a:lstStyle/>
          <a:p>
            <a:pPr algn="ctr" indent="0" marL="0">
              <a:lnSpc>
                <a:spcPts val="3675"/>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Perubahan Iklim bukan Hal Yang Buruk</a:t>
            </a:r>
            <a:endParaRPr lang="en-US" sz="2625" dirty="0"/>
          </a:p>
        </p:txBody>
      </p:sp>
      <p:sp>
        <p:nvSpPr>
          <p:cNvPr id="10" name="Text 7"/>
          <p:cNvSpPr/>
          <p:nvPr/>
        </p:nvSpPr>
        <p:spPr>
          <a:xfrm>
            <a:off x="3743325" y="2038350"/>
            <a:ext cx="4976813" cy="1714500"/>
          </a:xfrm>
          <a:prstGeom prst="rect">
            <a:avLst/>
          </a:prstGeom>
          <a:noFill/>
          <a:ln/>
        </p:spPr>
        <p:txBody>
          <a:bodyPr wrap="square" rtlCol="0" anchor="ctr"/>
          <a:lstStyle/>
          <a:p>
            <a:pPr algn="l" indent="0" marL="0">
              <a:lnSpc>
                <a:spcPts val="2700"/>
              </a:lnSpc>
              <a:buNone/>
            </a:pPr>
            <a:r>
              <a:rPr lang="en-US" sz="1800" spc="-40" kern="0" dirty="0">
                <a:solidFill>
                  <a:srgbClr val="000000">
                    <a:alpha val="99000"/>
                  </a:srgbClr>
                </a:solidFill>
                <a:latin typeface="Plus Jakarta Sans" pitchFamily="34" charset="0"/>
                <a:ea typeface="Plus Jakarta Sans" pitchFamily="34" charset="-122"/>
                <a:cs typeface="Plus Jakarta Sans" pitchFamily="34" charset="-120"/>
              </a:rPr>
              <a:t>Perubahan iklim adalah proses alami, tapi makin parah karena aktivitas manusia yang menghasilkan gas rumah kaca berlebihan. Akibatnya: bumi memanas, air laut naik, dan cuaca makin ekstrem.</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8D8"/>
        </a:solidFill>
      </p:bgPr>
    </p:bg>
    <p:spTree>
      <p:nvGrpSpPr>
        <p:cNvPr id="1" name=""/>
        <p:cNvGrpSpPr/>
        <p:nvPr/>
      </p:nvGrpSpPr>
      <p:grpSpPr>
        <a:xfrm>
          <a:off x="0" y="0"/>
          <a:ext cx="0" cy="0"/>
          <a:chOff x="0" y="0"/>
          <a:chExt cx="0" cy="0"/>
        </a:xfrm>
      </p:grpSpPr>
      <p:sp>
        <p:nvSpPr>
          <p:cNvPr id="3" name="Shape 0"/>
          <p:cNvSpPr/>
          <p:nvPr/>
        </p:nvSpPr>
        <p:spPr>
          <a:xfrm rot="0">
            <a:off x="171450" y="381000"/>
            <a:ext cx="8801100" cy="0"/>
          </a:xfrm>
          <a:prstGeom prst="line">
            <a:avLst/>
          </a:prstGeom>
          <a:noFill/>
          <a:ln w="31750">
            <a:solidFill>
              <a:srgbClr val="000000"/>
            </a:solidFill>
            <a:prstDash val="solid"/>
          </a:ln>
        </p:spPr>
      </p:sp>
      <p:sp>
        <p:nvSpPr>
          <p:cNvPr id="4" name="Shape 1"/>
          <p:cNvSpPr/>
          <p:nvPr/>
        </p:nvSpPr>
        <p:spPr>
          <a:xfrm>
            <a:off x="323850" y="4676775"/>
            <a:ext cx="2295525" cy="261937"/>
          </a:xfrm>
          <a:prstGeom prst="rect">
            <a:avLst/>
          </a:prstGeom>
          <a:noFill/>
          <a:ln/>
        </p:spPr>
      </p:sp>
      <p:sp>
        <p:nvSpPr>
          <p:cNvPr id="5" name="Shape 2"/>
          <p:cNvSpPr/>
          <p:nvPr/>
        </p:nvSpPr>
        <p:spPr>
          <a:xfrm>
            <a:off x="323850" y="4676775"/>
            <a:ext cx="1085850" cy="261937"/>
          </a:xfrm>
          <a:prstGeom prst="roundRect">
            <a:avLst>
              <a:gd name="adj" fmla="val 349092"/>
            </a:avLst>
          </a:prstGeom>
          <a:solidFill>
            <a:srgbClr val="000000"/>
          </a:solidFill>
          <a:ln/>
        </p:spPr>
      </p:sp>
      <p:sp>
        <p:nvSpPr>
          <p:cNvPr id="6" name="Shape 3"/>
          <p:cNvSpPr/>
          <p:nvPr/>
        </p:nvSpPr>
        <p:spPr>
          <a:xfrm>
            <a:off x="1433513" y="4676775"/>
            <a:ext cx="1185863" cy="261937"/>
          </a:xfrm>
          <a:prstGeom prst="roundRect">
            <a:avLst>
              <a:gd name="adj" fmla="val 349092"/>
            </a:avLst>
          </a:prstGeom>
          <a:solidFill>
            <a:srgbClr val="EDE8D8"/>
          </a:solidFill>
          <a:ln w="25400">
            <a:solidFill>
              <a:srgbClr val="000000"/>
            </a:solidFill>
            <a:prstDash val="solid"/>
          </a:ln>
        </p:spPr>
      </p:sp>
      <p:sp>
        <p:nvSpPr>
          <p:cNvPr id="7" name="Text 4"/>
          <p:cNvSpPr/>
          <p:nvPr/>
        </p:nvSpPr>
        <p:spPr>
          <a:xfrm>
            <a:off x="171450" y="147638"/>
            <a:ext cx="1171575"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8" name="Text 5"/>
          <p:cNvSpPr/>
          <p:nvPr/>
        </p:nvSpPr>
        <p:spPr>
          <a:xfrm>
            <a:off x="323850" y="1876425"/>
            <a:ext cx="8748713" cy="2266950"/>
          </a:xfrm>
          <a:prstGeom prst="rect">
            <a:avLst/>
          </a:prstGeom>
          <a:noFill/>
          <a:ln/>
        </p:spPr>
        <p:txBody>
          <a:bodyPr wrap="square" rtlCol="0" anchor="ctr"/>
          <a:lstStyle/>
          <a:p>
            <a:pPr algn="l" indent="0" marL="0">
              <a:lnSpc>
                <a:spcPts val="4125"/>
              </a:lnSpc>
              <a:buNone/>
            </a:pPr>
            <a:r>
              <a:rPr lang="en-US" sz="1800" spc="-54" kern="0" dirty="0">
                <a:solidFill>
                  <a:srgbClr val="000000">
                    <a:alpha val="99000"/>
                  </a:srgbClr>
                </a:solidFill>
                <a:latin typeface="Plus Jakarta Sans" pitchFamily="34" charset="0"/>
                <a:ea typeface="Plus Jakarta Sans" pitchFamily="34" charset="-122"/>
                <a:cs typeface="Plus Jakarta Sans" pitchFamily="34" charset="-120"/>
              </a:rPr>
              <a:t>Sektor pertanian, khususnya tanaman padi, sangat terdampak oleh perubahan iklim. Ketersediaan air sebagai komponen utama pertumbuhan tanaman makin terbatas. Di wilayah tropis seperti Indonesia, curah hujan menjadi sumber utama air bagi tanaman, sehingga perubahan pola iklim langsung memengaruhi keberhasilan panen.</a:t>
            </a:r>
            <a:endParaRPr lang="en-US" sz="1800" dirty="0"/>
          </a:p>
        </p:txBody>
      </p:sp>
      <p:sp>
        <p:nvSpPr>
          <p:cNvPr id="9" name="Text 6"/>
          <p:cNvSpPr/>
          <p:nvPr/>
        </p:nvSpPr>
        <p:spPr>
          <a:xfrm>
            <a:off x="323850" y="1042988"/>
            <a:ext cx="8748713" cy="319088"/>
          </a:xfrm>
          <a:prstGeom prst="rect">
            <a:avLst/>
          </a:prstGeom>
          <a:noFill/>
          <a:ln/>
        </p:spPr>
        <p:txBody>
          <a:bodyPr wrap="square" rtlCol="0" anchor="ctr"/>
          <a:lstStyle/>
          <a:p>
            <a:pPr algn="l" indent="0" marL="0">
              <a:lnSpc>
                <a:spcPts val="6750"/>
              </a:lnSpc>
              <a:buNone/>
            </a:pPr>
            <a:r>
              <a:rPr lang="en-US" sz="3750" b="1" spc="-112" kern="0" dirty="0">
                <a:solidFill>
                  <a:srgbClr val="000000">
                    <a:alpha val="99000"/>
                  </a:srgbClr>
                </a:solidFill>
                <a:latin typeface="Source Serif Pro" pitchFamily="34" charset="0"/>
                <a:ea typeface="Source Serif Pro" pitchFamily="34" charset="-122"/>
                <a:cs typeface="Source Serif Pro" pitchFamily="34" charset="-120"/>
              </a:rPr>
              <a:t>Dampkanya bagi Pertanian</a:t>
            </a:r>
            <a:endParaRPr lang="en-US" sz="3750" dirty="0"/>
          </a:p>
        </p:txBody>
      </p:sp>
      <p:sp>
        <p:nvSpPr>
          <p:cNvPr id="10" name="Text 7"/>
          <p:cNvSpPr/>
          <p:nvPr/>
        </p:nvSpPr>
        <p:spPr>
          <a:xfrm>
            <a:off x="1585913" y="4767263"/>
            <a:ext cx="1338262" cy="80963"/>
          </a:xfrm>
          <a:prstGeom prst="rect">
            <a:avLst/>
          </a:prstGeom>
          <a:noFill/>
          <a:ln/>
        </p:spPr>
        <p:txBody>
          <a:bodyPr wrap="square" rtlCol="0" anchor="ctr"/>
          <a:lstStyle/>
          <a:p>
            <a:pPr algn="l" indent="0" marL="0">
              <a:lnSpc>
                <a:spcPts val="1238"/>
              </a:lnSpc>
              <a:buNone/>
            </a:pPr>
            <a:r>
              <a:rPr lang="en-US" sz="1125" b="1" spc="79" kern="0" dirty="0">
                <a:solidFill>
                  <a:srgbClr val="000000">
                    <a:alpha val="99000"/>
                  </a:srgbClr>
                </a:solidFill>
                <a:latin typeface="Darker Grotesque" pitchFamily="34" charset="0"/>
                <a:ea typeface="Darker Grotesque" pitchFamily="34" charset="-122"/>
                <a:cs typeface="Darker Grotesque" pitchFamily="34" charset="-120"/>
              </a:rPr>
              <a:t>SYIAH KUALA</a:t>
            </a:r>
            <a:endParaRPr lang="en-US" sz="1125" dirty="0"/>
          </a:p>
        </p:txBody>
      </p:sp>
      <p:sp>
        <p:nvSpPr>
          <p:cNvPr id="11" name="Text 8"/>
          <p:cNvSpPr/>
          <p:nvPr/>
        </p:nvSpPr>
        <p:spPr>
          <a:xfrm>
            <a:off x="476250" y="4767263"/>
            <a:ext cx="1238250" cy="80963"/>
          </a:xfrm>
          <a:prstGeom prst="rect">
            <a:avLst/>
          </a:prstGeom>
          <a:noFill/>
          <a:ln/>
        </p:spPr>
        <p:txBody>
          <a:bodyPr wrap="square" rtlCol="0" anchor="ctr"/>
          <a:lstStyle/>
          <a:p>
            <a:pPr algn="l" indent="0" marL="0">
              <a:lnSpc>
                <a:spcPts val="1575"/>
              </a:lnSpc>
              <a:buNone/>
            </a:pPr>
            <a:r>
              <a:rPr lang="en-US" sz="1125" b="1" spc="-11" kern="0" dirty="0">
                <a:solidFill>
                  <a:srgbClr val="EAEAEA">
                    <a:alpha val="99000"/>
                  </a:srgbClr>
                </a:solidFill>
                <a:latin typeface="Darker Grotesque" pitchFamily="34" charset="0"/>
                <a:ea typeface="Darker Grotesque" pitchFamily="34" charset="-122"/>
                <a:cs typeface="Darker Grotesque" pitchFamily="34" charset="-120"/>
              </a:rPr>
              <a:t>UNIVERSITAS</a:t>
            </a:r>
            <a:endParaRPr lang="en-US" sz="11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8D8"/>
        </a:solidFill>
      </p:bgPr>
    </p:bg>
    <p:spTree>
      <p:nvGrpSpPr>
        <p:cNvPr id="1" name=""/>
        <p:cNvGrpSpPr/>
        <p:nvPr/>
      </p:nvGrpSpPr>
      <p:grpSpPr>
        <a:xfrm>
          <a:off x="0" y="0"/>
          <a:ext cx="0" cy="0"/>
          <a:chOff x="0" y="0"/>
          <a:chExt cx="0" cy="0"/>
        </a:xfrm>
      </p:grpSpPr>
      <p:sp>
        <p:nvSpPr>
          <p:cNvPr id="3" name="Text 0"/>
          <p:cNvSpPr/>
          <p:nvPr/>
        </p:nvSpPr>
        <p:spPr>
          <a:xfrm>
            <a:off x="1062038" y="3481388"/>
            <a:ext cx="1971675" cy="1423988"/>
          </a:xfrm>
          <a:prstGeom prst="rect">
            <a:avLst/>
          </a:prstGeom>
          <a:solidFill>
            <a:srgbClr val="9BA77E">
              <a:alpha val="40000"/>
            </a:srgbClr>
          </a:solidFill>
          <a:ln/>
        </p:spPr>
        <p:txBody>
          <a:bodyPr wrap="square" rtlCol="0" anchor="ctr"/>
          <a:lstStyle/>
          <a:p>
            <a:pPr indent="0" marL="0">
              <a:buNone/>
            </a:pPr>
            <a:endParaRPr lang="en-US" dirty="0"/>
          </a:p>
        </p:txBody>
      </p:sp>
      <p:pic>
        <p:nvPicPr>
          <p:cNvPr id="4" name="Image 0" descr="preencoded.png">    </p:cNvPr>
          <p:cNvPicPr>
            <a:picLocks noChangeAspect="1"/>
          </p:cNvPicPr>
          <p:nvPr/>
        </p:nvPicPr>
        <p:blipFill>
          <a:blip r:embed="rId1"/>
          <a:stretch>
            <a:fillRect/>
          </a:stretch>
        </p:blipFill>
        <p:spPr>
          <a:xfrm>
            <a:off x="1062038" y="3490913"/>
            <a:ext cx="1971675" cy="1414463"/>
          </a:xfrm>
          <a:prstGeom prst="rect">
            <a:avLst/>
          </a:prstGeom>
        </p:spPr>
      </p:pic>
      <p:sp>
        <p:nvSpPr>
          <p:cNvPr id="5" name="Text 1"/>
          <p:cNvSpPr/>
          <p:nvPr/>
        </p:nvSpPr>
        <p:spPr>
          <a:xfrm>
            <a:off x="336459" y="952736"/>
            <a:ext cx="7500834" cy="952500"/>
          </a:xfrm>
          <a:prstGeom prst="rect">
            <a:avLst/>
          </a:prstGeom>
          <a:noFill/>
          <a:ln/>
        </p:spPr>
        <p:txBody>
          <a:bodyPr wrap="square" rtlCol="0" anchor="ctr"/>
          <a:lstStyle/>
          <a:p>
            <a:pPr algn="l" indent="0" marL="0">
              <a:lnSpc>
                <a:spcPts val="3750"/>
              </a:lnSpc>
              <a:buNone/>
            </a:pPr>
            <a:r>
              <a:rPr lang="en-US" sz="3750" b="1" spc="75" kern="0" dirty="0">
                <a:solidFill>
                  <a:srgbClr val="000000">
                    <a:alpha val="99000"/>
                  </a:srgbClr>
                </a:solidFill>
                <a:latin typeface="Plus Jakarta Sans" pitchFamily="34" charset="0"/>
                <a:ea typeface="Plus Jakarta Sans" pitchFamily="34" charset="-122"/>
                <a:cs typeface="Plus Jakarta Sans" pitchFamily="34" charset="-120"/>
              </a:rPr>
              <a:t>Aceh Besar: Lumbung Pangan Nanggroe Aceh</a:t>
            </a:r>
            <a:endParaRPr lang="en-US" sz="3750" dirty="0"/>
          </a:p>
        </p:txBody>
      </p:sp>
      <p:sp>
        <p:nvSpPr>
          <p:cNvPr id="6" name="Text 2"/>
          <p:cNvSpPr/>
          <p:nvPr/>
        </p:nvSpPr>
        <p:spPr>
          <a:xfrm>
            <a:off x="4476750" y="2438400"/>
            <a:ext cx="4791075" cy="2209800"/>
          </a:xfrm>
          <a:prstGeom prst="rect">
            <a:avLst/>
          </a:prstGeom>
          <a:noFill/>
          <a:ln/>
        </p:spPr>
        <p:txBody>
          <a:bodyPr wrap="square" rtlCol="0" anchor="ctr"/>
          <a:lstStyle/>
          <a:p>
            <a:pPr algn="l" indent="0" marL="0">
              <a:lnSpc>
                <a:spcPts val="2160"/>
              </a:lnSpc>
              <a:buNone/>
            </a:pPr>
            <a:r>
              <a:rPr lang="en-US" sz="1800" spc="104" kern="0" dirty="0">
                <a:solidFill>
                  <a:srgbClr val="000000">
                    <a:alpha val="99000"/>
                  </a:srgbClr>
                </a:solidFill>
                <a:latin typeface="Plus Jakarta Sans" pitchFamily="34" charset="0"/>
                <a:ea typeface="Plus Jakarta Sans" pitchFamily="34" charset="-122"/>
                <a:cs typeface="Plus Jakarta Sans" pitchFamily="34" charset="-120"/>
              </a:rPr>
              <a:t>Aceh Besar sebagai lumbung pangan Provinsi Aceh turut terdampak perubahan iklim. Produksi padi menurun 22,30% dalam satu tahun terakhir akibat penurunan air, suhu tinggi, dan risiko gagal panen meningkat.</a:t>
            </a:r>
            <a:endParaRPr lang="en-US" sz="1800" dirty="0"/>
          </a:p>
          <a:p>
            <a:pPr algn="l" indent="0" marL="0">
              <a:lnSpc>
                <a:spcPts val="2160"/>
              </a:lnSpc>
              <a:buNone/>
            </a:pPr>
            <a:r>
              <a:rPr lang="en-US" sz="1800" spc="104" kern="0" dirty="0">
                <a:solidFill>
                  <a:srgbClr val="000000">
                    <a:alpha val="99000"/>
                  </a:srgbClr>
                </a:solidFill>
                <a:latin typeface="Plus Jakarta Sans" pitchFamily="34" charset="0"/>
                <a:ea typeface="Plus Jakarta Sans" pitchFamily="34" charset="-122"/>
                <a:cs typeface="Plus Jakarta Sans" pitchFamily="34" charset="-120"/>
              </a:rPr>
              <a:t>(BPS Aceh, 2024; Amaluddin, 2014)</a:t>
            </a:r>
            <a:endParaRPr lang="en-US" sz="1800" dirty="0"/>
          </a:p>
        </p:txBody>
      </p:sp>
      <p:sp>
        <p:nvSpPr>
          <p:cNvPr id="7" name="Text 3"/>
          <p:cNvSpPr/>
          <p:nvPr/>
        </p:nvSpPr>
        <p:spPr>
          <a:xfrm>
            <a:off x="7558088" y="257175"/>
            <a:ext cx="1171575"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8" name="Text 4"/>
          <p:cNvSpPr/>
          <p:nvPr/>
        </p:nvSpPr>
        <p:spPr>
          <a:xfrm>
            <a:off x="338138" y="257175"/>
            <a:ext cx="1128713" cy="190500"/>
          </a:xfrm>
          <a:prstGeom prst="rect">
            <a:avLst/>
          </a:prstGeom>
          <a:noFill/>
          <a:ln/>
        </p:spPr>
        <p:txBody>
          <a:bodyPr wrap="square" rtlCol="0" anchor="ctr"/>
          <a:lstStyle/>
          <a:p>
            <a:pPr algn="r" indent="0" marL="0">
              <a:lnSpc>
                <a:spcPts val="1500"/>
              </a:lnSpc>
              <a:buNone/>
            </a:pPr>
            <a:r>
              <a:rPr lang="en-US" sz="1125" spc="-25" kern="0" dirty="0">
                <a:solidFill>
                  <a:srgbClr val="6E4D2E">
                    <a:alpha val="99000"/>
                  </a:srgbClr>
                </a:solidFill>
                <a:latin typeface="Work Sans" pitchFamily="34" charset="0"/>
                <a:ea typeface="Work Sans" pitchFamily="34" charset="-122"/>
                <a:cs typeface="Work Sans" pitchFamily="34" charset="-120"/>
              </a:rPr>
              <a:t>Deck Title</a:t>
            </a:r>
            <a:endParaRPr lang="en-US" sz="11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8D8"/>
        </a:solidFill>
      </p:bgPr>
    </p:bg>
    <p:spTree>
      <p:nvGrpSpPr>
        <p:cNvPr id="1" name=""/>
        <p:cNvGrpSpPr/>
        <p:nvPr/>
      </p:nvGrpSpPr>
      <p:grpSpPr>
        <a:xfrm>
          <a:off x="0" y="0"/>
          <a:ext cx="0" cy="0"/>
          <a:chOff x="0" y="0"/>
          <a:chExt cx="0" cy="0"/>
        </a:xfrm>
      </p:grpSpPr>
      <p:sp>
        <p:nvSpPr>
          <p:cNvPr id="3" name="Shape 0"/>
          <p:cNvSpPr/>
          <p:nvPr/>
        </p:nvSpPr>
        <p:spPr>
          <a:xfrm>
            <a:off x="952500" y="952500"/>
            <a:ext cx="5776913" cy="2114550"/>
          </a:xfrm>
          <a:prstGeom prst="rect">
            <a:avLst/>
          </a:prstGeom>
          <a:noFill/>
          <a:ln/>
        </p:spPr>
      </p:sp>
      <p:sp>
        <p:nvSpPr>
          <p:cNvPr id="4" name="Shape 1"/>
          <p:cNvSpPr/>
          <p:nvPr/>
        </p:nvSpPr>
        <p:spPr>
          <a:xfrm>
            <a:off x="952500" y="3405188"/>
            <a:ext cx="6362700" cy="557213"/>
          </a:xfrm>
          <a:prstGeom prst="rect">
            <a:avLst/>
          </a:prstGeom>
          <a:noFill/>
          <a:ln/>
        </p:spPr>
      </p:sp>
      <p:pic>
        <p:nvPicPr>
          <p:cNvPr id="5" name="Image 0" descr="preencoded.png">    </p:cNvPr>
          <p:cNvPicPr>
            <a:picLocks noChangeAspect="1"/>
          </p:cNvPicPr>
          <p:nvPr/>
        </p:nvPicPr>
        <p:blipFill>
          <a:blip r:embed="rId1"/>
          <a:stretch>
            <a:fillRect/>
          </a:stretch>
        </p:blipFill>
        <p:spPr>
          <a:xfrm>
            <a:off x="381000" y="0"/>
            <a:ext cx="4763" cy="5143500"/>
          </a:xfrm>
          <a:prstGeom prst="rect">
            <a:avLst/>
          </a:prstGeom>
        </p:spPr>
      </p:pic>
      <p:pic>
        <p:nvPicPr>
          <p:cNvPr id="6" name="Image 1" descr="preencoded.png">    </p:cNvPr>
          <p:cNvPicPr>
            <a:picLocks noChangeAspect="1"/>
          </p:cNvPicPr>
          <p:nvPr/>
        </p:nvPicPr>
        <p:blipFill>
          <a:blip r:embed="rId2"/>
          <a:stretch>
            <a:fillRect/>
          </a:stretch>
        </p:blipFill>
        <p:spPr>
          <a:xfrm>
            <a:off x="-4762" y="4762500"/>
            <a:ext cx="9139238" cy="4763"/>
          </a:xfrm>
          <a:prstGeom prst="rect">
            <a:avLst/>
          </a:prstGeom>
        </p:spPr>
      </p:pic>
      <p:sp>
        <p:nvSpPr>
          <p:cNvPr id="7" name="Text 2"/>
          <p:cNvSpPr/>
          <p:nvPr/>
        </p:nvSpPr>
        <p:spPr>
          <a:xfrm>
            <a:off x="-573881" y="3502819"/>
            <a:ext cx="1985963" cy="161925"/>
          </a:xfrm>
          <a:prstGeom prst="rect">
            <a:avLst/>
          </a:prstGeom>
          <a:noFill/>
          <a:ln/>
        </p:spPr>
        <p:txBody>
          <a:bodyPr wrap="square" rtlCol="0" anchor="ctr"/>
          <a:lstStyle/>
          <a:p>
            <a:pPr algn="ctr" indent="0" marL="0">
              <a:lnSpc>
                <a:spcPts val="1260"/>
              </a:lnSpc>
              <a:buNone/>
            </a:pPr>
            <a:r>
              <a:rPr lang="en-US" sz="900" dirty="0">
                <a:solidFill>
                  <a:srgbClr val="000000">
                    <a:alpha val="99000"/>
                  </a:srgbClr>
                </a:solidFill>
                <a:latin typeface="Public Sans" pitchFamily="34" charset="0"/>
                <a:ea typeface="Public Sans" pitchFamily="34" charset="-122"/>
                <a:cs typeface="Public Sans" pitchFamily="34" charset="-120"/>
              </a:rPr>
              <a:t>UNIVERSITAS SYIAH KUALA</a:t>
            </a:r>
            <a:endParaRPr lang="en-US" sz="900" dirty="0"/>
          </a:p>
        </p:txBody>
      </p:sp>
      <p:sp>
        <p:nvSpPr>
          <p:cNvPr id="8" name="Text 3"/>
          <p:cNvSpPr/>
          <p:nvPr/>
        </p:nvSpPr>
        <p:spPr>
          <a:xfrm>
            <a:off x="-166687" y="1119188"/>
            <a:ext cx="1171575" cy="114300"/>
          </a:xfrm>
          <a:prstGeom prst="rect">
            <a:avLst/>
          </a:prstGeom>
          <a:noFill/>
          <a:ln/>
        </p:spPr>
        <p:txBody>
          <a:bodyPr wrap="square" rtlCol="0" anchor="ctr"/>
          <a:lstStyle/>
          <a:p>
            <a:pPr algn="ct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9" name="Text 4"/>
          <p:cNvSpPr/>
          <p:nvPr/>
        </p:nvSpPr>
        <p:spPr>
          <a:xfrm>
            <a:off x="952500" y="3405188"/>
            <a:ext cx="3343275" cy="557213"/>
          </a:xfrm>
          <a:prstGeom prst="rect">
            <a:avLst/>
          </a:prstGeom>
          <a:noFill/>
          <a:ln/>
        </p:spPr>
        <p:txBody>
          <a:bodyPr wrap="square" rtlCol="0" anchor="ctr"/>
          <a:lstStyle/>
          <a:p>
            <a:pPr algn="l" indent="0" marL="0">
              <a:lnSpc>
                <a:spcPts val="1454"/>
              </a:lnSpc>
              <a:buNone/>
            </a:pPr>
            <a:r>
              <a:rPr lang="en-US" sz="1200" spc="-24" kern="0" dirty="0">
                <a:solidFill>
                  <a:srgbClr val="000000">
                    <a:alpha val="99000"/>
                  </a:srgbClr>
                </a:solidFill>
                <a:latin typeface="Libre Franklin" pitchFamily="34" charset="0"/>
                <a:ea typeface="Libre Franklin" pitchFamily="34" charset="-122"/>
                <a:cs typeface="Libre Franklin" pitchFamily="34" charset="-120"/>
              </a:rPr>
              <a:t>peningkatan pengetahuan petani tidak cukup hanya melalui pelatihan atau penyuluhan</a:t>
            </a:r>
            <a:endParaRPr lang="en-US" sz="1200" dirty="0"/>
          </a:p>
        </p:txBody>
      </p:sp>
      <p:sp>
        <p:nvSpPr>
          <p:cNvPr id="10" name="Text 5"/>
          <p:cNvSpPr/>
          <p:nvPr/>
        </p:nvSpPr>
        <p:spPr>
          <a:xfrm>
            <a:off x="4429125" y="3405188"/>
            <a:ext cx="3343275" cy="371475"/>
          </a:xfrm>
          <a:prstGeom prst="rect">
            <a:avLst/>
          </a:prstGeom>
          <a:noFill/>
          <a:ln/>
        </p:spPr>
        <p:txBody>
          <a:bodyPr wrap="square" rtlCol="0" anchor="ctr"/>
          <a:lstStyle/>
          <a:p>
            <a:pPr algn="l" indent="0" marL="0">
              <a:lnSpc>
                <a:spcPts val="1454"/>
              </a:lnSpc>
              <a:buNone/>
            </a:pPr>
            <a:r>
              <a:rPr lang="en-US" sz="1200" spc="-24" kern="0" dirty="0">
                <a:solidFill>
                  <a:srgbClr val="000000">
                    <a:alpha val="99000"/>
                  </a:srgbClr>
                </a:solidFill>
                <a:latin typeface="Libre Franklin" pitchFamily="34" charset="0"/>
                <a:ea typeface="Libre Franklin" pitchFamily="34" charset="-122"/>
                <a:cs typeface="Libre Franklin" pitchFamily="34" charset="-120"/>
              </a:rPr>
              <a:t>Akses terhadap informasi yang tepat dan</a:t>
            </a:r>
            <a:endParaRPr lang="en-US" sz="1200" dirty="0"/>
          </a:p>
          <a:p>
            <a:pPr algn="l" indent="0" marL="0">
              <a:lnSpc>
                <a:spcPts val="1454"/>
              </a:lnSpc>
              <a:buNone/>
            </a:pPr>
            <a:r>
              <a:rPr lang="en-US" sz="1200" spc="-24" kern="0" dirty="0">
                <a:solidFill>
                  <a:srgbClr val="000000">
                    <a:alpha val="99000"/>
                  </a:srgbClr>
                </a:solidFill>
                <a:latin typeface="Libre Franklin" pitchFamily="34" charset="0"/>
                <a:ea typeface="Libre Franklin" pitchFamily="34" charset="-122"/>
                <a:cs typeface="Libre Franklin" pitchFamily="34" charset="-120"/>
              </a:rPr>
              <a:t>mudah dipahami juga sangat dibutuhkan</a:t>
            </a:r>
            <a:endParaRPr lang="en-US" sz="1200" dirty="0"/>
          </a:p>
        </p:txBody>
      </p:sp>
      <p:sp>
        <p:nvSpPr>
          <p:cNvPr id="11" name="Text 6"/>
          <p:cNvSpPr/>
          <p:nvPr/>
        </p:nvSpPr>
        <p:spPr>
          <a:xfrm>
            <a:off x="952500" y="952500"/>
            <a:ext cx="6234113" cy="190500"/>
          </a:xfrm>
          <a:prstGeom prst="rect">
            <a:avLst/>
          </a:prstGeom>
          <a:noFill/>
          <a:ln/>
        </p:spPr>
        <p:txBody>
          <a:bodyPr wrap="square" rtlCol="0" anchor="ctr"/>
          <a:lstStyle/>
          <a:p>
            <a:pPr algn="l" indent="0" marL="0">
              <a:lnSpc>
                <a:spcPts val="1512"/>
              </a:lnSpc>
              <a:buNone/>
            </a:pPr>
            <a:r>
              <a:rPr lang="en-US" sz="1200" b="1" spc="-24" kern="0" dirty="0">
                <a:solidFill>
                  <a:srgbClr val="000000">
                    <a:alpha val="99000"/>
                  </a:srgbClr>
                </a:solidFill>
                <a:latin typeface="Plus Jakarta Sans" pitchFamily="34" charset="0"/>
                <a:ea typeface="Plus Jakarta Sans" pitchFamily="34" charset="-122"/>
                <a:cs typeface="Plus Jakarta Sans" pitchFamily="34" charset="-120"/>
              </a:rPr>
              <a:t>Its time to work</a:t>
            </a:r>
            <a:endParaRPr lang="en-US" sz="1200" dirty="0"/>
          </a:p>
        </p:txBody>
      </p:sp>
      <p:sp>
        <p:nvSpPr>
          <p:cNvPr id="12" name="Text 7"/>
          <p:cNvSpPr/>
          <p:nvPr/>
        </p:nvSpPr>
        <p:spPr>
          <a:xfrm>
            <a:off x="952500" y="1333500"/>
            <a:ext cx="6234113" cy="1733550"/>
          </a:xfrm>
          <a:prstGeom prst="rect">
            <a:avLst/>
          </a:prstGeom>
          <a:noFill/>
          <a:ln/>
        </p:spPr>
        <p:txBody>
          <a:bodyPr wrap="square" rtlCol="0" anchor="ctr"/>
          <a:lstStyle/>
          <a:p>
            <a:pPr algn="l" indent="0" marL="0">
              <a:lnSpc>
                <a:spcPts val="3402"/>
              </a:lnSpc>
              <a:buNone/>
            </a:pPr>
            <a:r>
              <a:rPr lang="en-US" sz="2700" spc="-54" kern="0" dirty="0">
                <a:solidFill>
                  <a:srgbClr val="000000">
                    <a:alpha val="99000"/>
                  </a:srgbClr>
                </a:solidFill>
                <a:latin typeface="Plus Jakarta Sans" pitchFamily="34" charset="0"/>
                <a:ea typeface="Plus Jakarta Sans" pitchFamily="34" charset="-122"/>
                <a:cs typeface="Plus Jakarta Sans" pitchFamily="34" charset="-120"/>
              </a:rPr>
              <a:t>Pemerintah dan masyarakat perlu mengambil langkah proaktif menghadapi dampak perubahan iklim</a:t>
            </a:r>
            <a:endParaRPr lang="en-US" sz="2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8D8"/>
        </a:solidFill>
      </p:bgPr>
    </p:bg>
    <p:spTree>
      <p:nvGrpSpPr>
        <p:cNvPr id="1" name=""/>
        <p:cNvGrpSpPr/>
        <p:nvPr/>
      </p:nvGrpSpPr>
      <p:grpSpPr>
        <a:xfrm>
          <a:off x="0" y="0"/>
          <a:ext cx="0" cy="0"/>
          <a:chOff x="0" y="0"/>
          <a:chExt cx="0" cy="0"/>
        </a:xfrm>
      </p:grpSpPr>
      <p:sp>
        <p:nvSpPr>
          <p:cNvPr id="3" name="Shape 0"/>
          <p:cNvSpPr/>
          <p:nvPr/>
        </p:nvSpPr>
        <p:spPr>
          <a:xfrm>
            <a:off x="5972175" y="0"/>
            <a:ext cx="3171825" cy="5143500"/>
          </a:xfrm>
          <a:prstGeom prst="rect">
            <a:avLst/>
          </a:prstGeom>
          <a:solidFill>
            <a:srgbClr val="111111"/>
          </a:solidFill>
          <a:ln/>
        </p:spPr>
      </p:sp>
      <p:sp>
        <p:nvSpPr>
          <p:cNvPr id="4" name="Shape 1"/>
          <p:cNvSpPr/>
          <p:nvPr/>
        </p:nvSpPr>
        <p:spPr>
          <a:xfrm>
            <a:off x="800100" y="1683544"/>
            <a:ext cx="4324350" cy="1771650"/>
          </a:xfrm>
          <a:prstGeom prst="rect">
            <a:avLst/>
          </a:prstGeom>
          <a:noFill/>
          <a:ln/>
        </p:spPr>
      </p:sp>
      <p:sp>
        <p:nvSpPr>
          <p:cNvPr id="5" name="Shape 2"/>
          <p:cNvSpPr/>
          <p:nvPr/>
        </p:nvSpPr>
        <p:spPr>
          <a:xfrm>
            <a:off x="6491288" y="1047750"/>
            <a:ext cx="2133600" cy="1047750"/>
          </a:xfrm>
          <a:prstGeom prst="rect">
            <a:avLst/>
          </a:prstGeom>
          <a:noFill/>
          <a:ln/>
        </p:spPr>
      </p:sp>
      <p:sp>
        <p:nvSpPr>
          <p:cNvPr id="6" name="Shape 3"/>
          <p:cNvSpPr/>
          <p:nvPr/>
        </p:nvSpPr>
        <p:spPr>
          <a:xfrm>
            <a:off x="6491288" y="2776538"/>
            <a:ext cx="2133600" cy="1047750"/>
          </a:xfrm>
          <a:prstGeom prst="rect">
            <a:avLst/>
          </a:prstGeom>
          <a:noFill/>
          <a:ln/>
        </p:spPr>
      </p:sp>
      <p:sp>
        <p:nvSpPr>
          <p:cNvPr id="7" name="Shape 4"/>
          <p:cNvSpPr/>
          <p:nvPr/>
        </p:nvSpPr>
        <p:spPr>
          <a:xfrm>
            <a:off x="6491288" y="3957638"/>
            <a:ext cx="2133600" cy="381000"/>
          </a:xfrm>
          <a:prstGeom prst="rect">
            <a:avLst/>
          </a:prstGeom>
          <a:noFill/>
          <a:ln/>
        </p:spPr>
      </p:sp>
      <p:sp>
        <p:nvSpPr>
          <p:cNvPr id="8" name="Shape 5"/>
          <p:cNvSpPr/>
          <p:nvPr/>
        </p:nvSpPr>
        <p:spPr>
          <a:xfrm>
            <a:off x="6491288" y="1771650"/>
            <a:ext cx="2133600" cy="381000"/>
          </a:xfrm>
          <a:prstGeom prst="rect">
            <a:avLst/>
          </a:prstGeom>
          <a:noFill/>
          <a:ln/>
        </p:spPr>
      </p:sp>
      <p:pic>
        <p:nvPicPr>
          <p:cNvPr id="9" name="Image 0" descr="preencoded.png">    </p:cNvPr>
          <p:cNvPicPr>
            <a:picLocks noChangeAspect="1"/>
          </p:cNvPicPr>
          <p:nvPr/>
        </p:nvPicPr>
        <p:blipFill>
          <a:blip r:embed="rId1"/>
          <a:stretch>
            <a:fillRect/>
          </a:stretch>
        </p:blipFill>
        <p:spPr>
          <a:xfrm>
            <a:off x="381000" y="0"/>
            <a:ext cx="4763" cy="5143500"/>
          </a:xfrm>
          <a:prstGeom prst="rect">
            <a:avLst/>
          </a:prstGeom>
        </p:spPr>
      </p:pic>
      <p:pic>
        <p:nvPicPr>
          <p:cNvPr id="10" name="Image 1" descr="preencoded.png">    </p:cNvPr>
          <p:cNvPicPr>
            <a:picLocks noChangeAspect="1"/>
          </p:cNvPicPr>
          <p:nvPr/>
        </p:nvPicPr>
        <p:blipFill>
          <a:blip r:embed="rId2"/>
          <a:stretch>
            <a:fillRect/>
          </a:stretch>
        </p:blipFill>
        <p:spPr>
          <a:xfrm>
            <a:off x="-4762" y="4762500"/>
            <a:ext cx="9139238" cy="4763"/>
          </a:xfrm>
          <a:prstGeom prst="rect">
            <a:avLst/>
          </a:prstGeom>
        </p:spPr>
      </p:pic>
      <p:sp>
        <p:nvSpPr>
          <p:cNvPr id="11" name="Text 6"/>
          <p:cNvSpPr/>
          <p:nvPr/>
        </p:nvSpPr>
        <p:spPr>
          <a:xfrm>
            <a:off x="-573881" y="3502819"/>
            <a:ext cx="1985963" cy="161925"/>
          </a:xfrm>
          <a:prstGeom prst="rect">
            <a:avLst/>
          </a:prstGeom>
          <a:noFill/>
          <a:ln/>
        </p:spPr>
        <p:txBody>
          <a:bodyPr wrap="square" rtlCol="0" anchor="ctr"/>
          <a:lstStyle/>
          <a:p>
            <a:pPr algn="ctr" indent="0" marL="0">
              <a:lnSpc>
                <a:spcPts val="1260"/>
              </a:lnSpc>
              <a:buNone/>
            </a:pPr>
            <a:r>
              <a:rPr lang="en-US" sz="900" dirty="0">
                <a:solidFill>
                  <a:srgbClr val="000000">
                    <a:alpha val="99000"/>
                  </a:srgbClr>
                </a:solidFill>
                <a:latin typeface="Public Sans" pitchFamily="34" charset="0"/>
                <a:ea typeface="Public Sans" pitchFamily="34" charset="-122"/>
                <a:cs typeface="Public Sans" pitchFamily="34" charset="-120"/>
              </a:rPr>
              <a:t>UNIVERSITAS SYIAH KUALA</a:t>
            </a:r>
            <a:endParaRPr lang="en-US" sz="900" dirty="0"/>
          </a:p>
        </p:txBody>
      </p:sp>
      <p:sp>
        <p:nvSpPr>
          <p:cNvPr id="12" name="Text 7"/>
          <p:cNvSpPr/>
          <p:nvPr/>
        </p:nvSpPr>
        <p:spPr>
          <a:xfrm>
            <a:off x="-166687" y="1119188"/>
            <a:ext cx="1171575" cy="114300"/>
          </a:xfrm>
          <a:prstGeom prst="rect">
            <a:avLst/>
          </a:prstGeom>
          <a:noFill/>
          <a:ln/>
        </p:spPr>
        <p:txBody>
          <a:bodyPr wrap="square" rtlCol="0" anchor="ctr"/>
          <a:lstStyle/>
          <a:p>
            <a:pPr algn="ctr" indent="0" marL="0">
              <a:lnSpc>
                <a:spcPts val="908"/>
              </a:lnSpc>
              <a:buNone/>
            </a:pPr>
            <a:r>
              <a:rPr lang="en-US" sz="825" b="1" spc="58" kern="0" dirty="0">
                <a:solidFill>
                  <a:srgbClr val="111111">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13" name="Text 8"/>
          <p:cNvSpPr/>
          <p:nvPr/>
        </p:nvSpPr>
        <p:spPr>
          <a:xfrm>
            <a:off x="800100" y="1683544"/>
            <a:ext cx="4781550" cy="1771650"/>
          </a:xfrm>
          <a:prstGeom prst="rect">
            <a:avLst/>
          </a:prstGeom>
          <a:noFill/>
          <a:ln/>
        </p:spPr>
        <p:txBody>
          <a:bodyPr wrap="square" rtlCol="0" anchor="ctr"/>
          <a:lstStyle/>
          <a:p>
            <a:pPr algn="l" indent="0" marL="0">
              <a:lnSpc>
                <a:spcPts val="2340"/>
              </a:lnSpc>
              <a:buNone/>
            </a:pPr>
            <a:r>
              <a:rPr lang="en-US" sz="1800" spc="-18" kern="0" dirty="0">
                <a:solidFill>
                  <a:srgbClr val="111111">
                    <a:alpha val="99000"/>
                  </a:srgbClr>
                </a:solidFill>
                <a:latin typeface="Source Serif Pro" pitchFamily="34" charset="0"/>
                <a:ea typeface="Source Serif Pro" pitchFamily="34" charset="-122"/>
                <a:cs typeface="Source Serif Pro" pitchFamily="34" charset="-120"/>
              </a:rPr>
              <a:t>Penelitian ini bertujuan mengembangkan sistem pengelolaan data iklim berbasis web yang menyajikan informasi cuaca &amp; iklim serta kalender tanam secara praktis dan mudah diakses oleh petani di Aceh Besar.</a:t>
            </a:r>
            <a:endParaRPr lang="en-US" sz="1800" dirty="0"/>
          </a:p>
        </p:txBody>
      </p:sp>
      <p:sp>
        <p:nvSpPr>
          <p:cNvPr id="14" name="Text 9"/>
          <p:cNvSpPr/>
          <p:nvPr/>
        </p:nvSpPr>
        <p:spPr>
          <a:xfrm>
            <a:off x="6491288" y="2776538"/>
            <a:ext cx="2590800" cy="1066800"/>
          </a:xfrm>
          <a:prstGeom prst="rect">
            <a:avLst/>
          </a:prstGeom>
          <a:noFill/>
          <a:ln/>
        </p:spPr>
        <p:txBody>
          <a:bodyPr wrap="square" rtlCol="0" anchor="ctr"/>
          <a:lstStyle/>
          <a:p>
            <a:pPr algn="l" indent="0" marL="0">
              <a:lnSpc>
                <a:spcPts val="1187"/>
              </a:lnSpc>
              <a:buNone/>
            </a:pPr>
            <a:r>
              <a:rPr lang="en-US" sz="900" dirty="0">
                <a:solidFill>
                  <a:srgbClr val="EDE8D8">
                    <a:alpha val="99000"/>
                  </a:srgbClr>
                </a:solidFill>
                <a:latin typeface="Roboto Mono" pitchFamily="34" charset="0"/>
                <a:ea typeface="Roboto Mono" pitchFamily="34" charset="-122"/>
                <a:cs typeface="Roboto Mono" pitchFamily="34" charset="-120"/>
              </a:rPr>
              <a:t>“Tantangan lainnya adalah bagaimana menyampaikan informasi prakiraan iklim dalam format yang mudah dipahami, sehingga dapat dimanfaatkan untuk merancang strategi budidaya”</a:t>
            </a:r>
            <a:endParaRPr lang="en-US" sz="900" dirty="0"/>
          </a:p>
        </p:txBody>
      </p:sp>
      <p:sp>
        <p:nvSpPr>
          <p:cNvPr id="15" name="Text 10"/>
          <p:cNvSpPr/>
          <p:nvPr/>
        </p:nvSpPr>
        <p:spPr>
          <a:xfrm>
            <a:off x="6491288" y="3957638"/>
            <a:ext cx="2095500" cy="304800"/>
          </a:xfrm>
          <a:prstGeom prst="rect">
            <a:avLst/>
          </a:prstGeom>
          <a:noFill/>
          <a:ln/>
        </p:spPr>
        <p:txBody>
          <a:bodyPr wrap="square" rtlCol="0" anchor="ctr"/>
          <a:lstStyle/>
          <a:p>
            <a:pPr algn="l" indent="0" marL="0">
              <a:lnSpc>
                <a:spcPts val="1187"/>
              </a:lnSpc>
              <a:buNone/>
            </a:pPr>
            <a:r>
              <a:rPr lang="en-US" sz="900" b="1" dirty="0">
                <a:solidFill>
                  <a:srgbClr val="EDE8D8">
                    <a:alpha val="99000"/>
                  </a:srgbClr>
                </a:solidFill>
                <a:latin typeface="Roboto Mono" pitchFamily="34" charset="0"/>
                <a:ea typeface="Roboto Mono" pitchFamily="34" charset="-122"/>
                <a:cs typeface="Roboto Mono" pitchFamily="34" charset="-120"/>
              </a:rPr>
              <a:t>— Fathnur &amp; Zarwazi, 2021</a:t>
            </a:r>
            <a:endParaRPr lang="en-US" sz="900" dirty="0"/>
          </a:p>
        </p:txBody>
      </p:sp>
      <p:sp>
        <p:nvSpPr>
          <p:cNvPr id="16" name="Text 11"/>
          <p:cNvSpPr/>
          <p:nvPr/>
        </p:nvSpPr>
        <p:spPr>
          <a:xfrm>
            <a:off x="6491288" y="1047750"/>
            <a:ext cx="2590800" cy="609600"/>
          </a:xfrm>
          <a:prstGeom prst="rect">
            <a:avLst/>
          </a:prstGeom>
          <a:noFill/>
          <a:ln/>
        </p:spPr>
        <p:txBody>
          <a:bodyPr wrap="square" rtlCol="0" anchor="ctr"/>
          <a:lstStyle/>
          <a:p>
            <a:pPr algn="l" indent="0" marL="0">
              <a:lnSpc>
                <a:spcPts val="1187"/>
              </a:lnSpc>
              <a:buNone/>
            </a:pPr>
            <a:r>
              <a:rPr lang="en-US" sz="900" dirty="0">
                <a:solidFill>
                  <a:srgbClr val="EDE8D8">
                    <a:alpha val="99000"/>
                  </a:srgbClr>
                </a:solidFill>
                <a:latin typeface="Roboto Mono" pitchFamily="34" charset="0"/>
                <a:ea typeface="Roboto Mono" pitchFamily="34" charset="-122"/>
                <a:cs typeface="Roboto Mono" pitchFamily="34" charset="-120"/>
              </a:rPr>
              <a:t>“Rendahnya literasi digital dan keterbatasan infrastruktur</a:t>
            </a:r>
            <a:endParaRPr lang="en-US" sz="900" dirty="0"/>
          </a:p>
          <a:p>
            <a:pPr algn="l" indent="0" marL="0">
              <a:lnSpc>
                <a:spcPts val="1187"/>
              </a:lnSpc>
              <a:buNone/>
            </a:pPr>
            <a:r>
              <a:rPr lang="en-US" sz="900" dirty="0">
                <a:solidFill>
                  <a:srgbClr val="EDE8D8">
                    <a:alpha val="99000"/>
                  </a:srgbClr>
                </a:solidFill>
                <a:latin typeface="Roboto Mono" pitchFamily="34" charset="0"/>
                <a:ea typeface="Roboto Mono" pitchFamily="34" charset="-122"/>
                <a:cs typeface="Roboto Mono" pitchFamily="34" charset="-120"/>
              </a:rPr>
              <a:t>menghambat adopsi teknologi pertanian di Provinsi Ace”</a:t>
            </a:r>
            <a:endParaRPr lang="en-US" sz="900" dirty="0"/>
          </a:p>
        </p:txBody>
      </p:sp>
      <p:sp>
        <p:nvSpPr>
          <p:cNvPr id="17" name="Text 12"/>
          <p:cNvSpPr/>
          <p:nvPr/>
        </p:nvSpPr>
        <p:spPr>
          <a:xfrm>
            <a:off x="6491288" y="1771650"/>
            <a:ext cx="2095500" cy="152400"/>
          </a:xfrm>
          <a:prstGeom prst="rect">
            <a:avLst/>
          </a:prstGeom>
          <a:noFill/>
          <a:ln/>
        </p:spPr>
        <p:txBody>
          <a:bodyPr wrap="square" rtlCol="0" anchor="ctr"/>
          <a:lstStyle/>
          <a:p>
            <a:pPr algn="l" indent="0" marL="0">
              <a:lnSpc>
                <a:spcPts val="1187"/>
              </a:lnSpc>
              <a:buNone/>
            </a:pPr>
            <a:r>
              <a:rPr lang="en-US" sz="900" b="1" dirty="0">
                <a:solidFill>
                  <a:srgbClr val="EDE8D8">
                    <a:alpha val="99000"/>
                  </a:srgbClr>
                </a:solidFill>
                <a:latin typeface="Roboto Mono" pitchFamily="34" charset="0"/>
                <a:ea typeface="Roboto Mono" pitchFamily="34" charset="-122"/>
                <a:cs typeface="Roboto Mono" pitchFamily="34" charset="-120"/>
              </a:rPr>
              <a:t>—</a:t>
            </a:r>
            <a:pPr algn="l" indent="0" marL="0">
              <a:lnSpc>
                <a:spcPts val="1187"/>
              </a:lnSpc>
              <a:buNone/>
            </a:pPr>
            <a:r>
              <a:rPr lang="en-US" sz="900" b="1" dirty="0">
                <a:solidFill>
                  <a:srgbClr val="EDE8D8">
                    <a:alpha val="99000"/>
                  </a:srgbClr>
                </a:solidFill>
                <a:latin typeface="Roboto Mono" pitchFamily="34" charset="0"/>
                <a:ea typeface="Roboto Mono" pitchFamily="34" charset="-122"/>
                <a:cs typeface="Roboto Mono" pitchFamily="34" charset="-120"/>
              </a:rPr>
              <a:t> Agussabti et al, 2022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8D8"/>
        </a:solidFill>
      </p:bgPr>
    </p:bg>
    <p:spTree>
      <p:nvGrpSpPr>
        <p:cNvPr id="1" name=""/>
        <p:cNvGrpSpPr/>
        <p:nvPr/>
      </p:nvGrpSpPr>
      <p:grpSpPr>
        <a:xfrm>
          <a:off x="0" y="0"/>
          <a:ext cx="0" cy="0"/>
          <a:chOff x="0" y="0"/>
          <a:chExt cx="0" cy="0"/>
        </a:xfrm>
      </p:grpSpPr>
      <p:sp>
        <p:nvSpPr>
          <p:cNvPr id="3" name="Shape 0"/>
          <p:cNvSpPr/>
          <p:nvPr/>
        </p:nvSpPr>
        <p:spPr>
          <a:xfrm>
            <a:off x="0" y="238125"/>
            <a:ext cx="9144000" cy="0"/>
          </a:xfrm>
          <a:prstGeom prst="line">
            <a:avLst/>
          </a:prstGeom>
          <a:noFill/>
          <a:ln w="12700">
            <a:solidFill>
              <a:srgbClr val="000000"/>
            </a:solidFill>
            <a:prstDash val="solid"/>
          </a:ln>
        </p:spPr>
      </p:sp>
      <p:sp>
        <p:nvSpPr>
          <p:cNvPr id="4" name="Shape 1"/>
          <p:cNvSpPr/>
          <p:nvPr/>
        </p:nvSpPr>
        <p:spPr>
          <a:xfrm>
            <a:off x="4572000" y="4362450"/>
            <a:ext cx="4572000" cy="0"/>
          </a:xfrm>
          <a:prstGeom prst="line">
            <a:avLst/>
          </a:prstGeom>
          <a:noFill/>
          <a:ln w="12700">
            <a:solidFill>
              <a:srgbClr val="000000"/>
            </a:solidFill>
            <a:prstDash val="solid"/>
          </a:ln>
        </p:spPr>
      </p:sp>
      <p:sp>
        <p:nvSpPr>
          <p:cNvPr id="5" name="Shape 2"/>
          <p:cNvSpPr/>
          <p:nvPr/>
        </p:nvSpPr>
        <p:spPr>
          <a:xfrm>
            <a:off x="4572000" y="3581400"/>
            <a:ext cx="4572000" cy="0"/>
          </a:xfrm>
          <a:prstGeom prst="line">
            <a:avLst/>
          </a:prstGeom>
          <a:noFill/>
          <a:ln w="12700">
            <a:solidFill>
              <a:srgbClr val="000000"/>
            </a:solidFill>
            <a:prstDash val="solid"/>
          </a:ln>
        </p:spPr>
      </p:sp>
      <p:sp>
        <p:nvSpPr>
          <p:cNvPr id="6" name="Shape 3"/>
          <p:cNvSpPr/>
          <p:nvPr/>
        </p:nvSpPr>
        <p:spPr>
          <a:xfrm>
            <a:off x="4572000" y="2800350"/>
            <a:ext cx="4572000" cy="0"/>
          </a:xfrm>
          <a:prstGeom prst="line">
            <a:avLst/>
          </a:prstGeom>
          <a:noFill/>
          <a:ln w="12700">
            <a:solidFill>
              <a:srgbClr val="000000"/>
            </a:solidFill>
            <a:prstDash val="solid"/>
          </a:ln>
        </p:spPr>
      </p:sp>
      <p:sp>
        <p:nvSpPr>
          <p:cNvPr id="7" name="Shape 4"/>
          <p:cNvSpPr/>
          <p:nvPr/>
        </p:nvSpPr>
        <p:spPr>
          <a:xfrm rot="-5400000">
            <a:off x="2119313" y="2690813"/>
            <a:ext cx="4905375" cy="0"/>
          </a:xfrm>
          <a:prstGeom prst="line">
            <a:avLst/>
          </a:prstGeom>
          <a:noFill/>
          <a:ln w="12700">
            <a:solidFill>
              <a:srgbClr val="000000"/>
            </a:solidFill>
            <a:prstDash val="solid"/>
          </a:ln>
        </p:spPr>
      </p:sp>
      <p:pic>
        <p:nvPicPr>
          <p:cNvPr id="8" name="Image 0" descr="preencoded.png">    </p:cNvPr>
          <p:cNvPicPr>
            <a:picLocks noChangeAspect="1"/>
          </p:cNvPicPr>
          <p:nvPr/>
        </p:nvPicPr>
        <p:blipFill>
          <a:blip r:embed="rId1"/>
          <a:stretch>
            <a:fillRect/>
          </a:stretch>
        </p:blipFill>
        <p:spPr>
          <a:xfrm>
            <a:off x="681038" y="790575"/>
            <a:ext cx="3071813" cy="3569494"/>
          </a:xfrm>
          <a:prstGeom prst="rect">
            <a:avLst/>
          </a:prstGeom>
        </p:spPr>
      </p:pic>
      <p:sp>
        <p:nvSpPr>
          <p:cNvPr id="9" name="Text 5"/>
          <p:cNvSpPr/>
          <p:nvPr/>
        </p:nvSpPr>
        <p:spPr>
          <a:xfrm>
            <a:off x="4843463" y="3083719"/>
            <a:ext cx="1695450" cy="214313"/>
          </a:xfrm>
          <a:prstGeom prst="rect">
            <a:avLst/>
          </a:prstGeom>
          <a:noFill/>
          <a:ln/>
        </p:spPr>
        <p:txBody>
          <a:bodyPr wrap="square" rtlCol="0" anchor="ctr"/>
          <a:lstStyle/>
          <a:p>
            <a:pPr algn="l" indent="0" marL="0">
              <a:lnSpc>
                <a:spcPts val="1688"/>
              </a:lnSpc>
              <a:buNone/>
            </a:pPr>
            <a:r>
              <a:rPr lang="en-US" sz="1500" dirty="0">
                <a:solidFill>
                  <a:srgbClr val="000000">
                    <a:alpha val="99000"/>
                  </a:srgbClr>
                </a:solidFill>
                <a:latin typeface="Public Sans" pitchFamily="34" charset="0"/>
                <a:ea typeface="Public Sans" pitchFamily="34" charset="-122"/>
                <a:cs typeface="Public Sans" pitchFamily="34" charset="-120"/>
              </a:rPr>
              <a:t>DATA</a:t>
            </a:r>
            <a:endParaRPr lang="en-US" sz="1500" dirty="0"/>
          </a:p>
        </p:txBody>
      </p:sp>
      <p:sp>
        <p:nvSpPr>
          <p:cNvPr id="10" name="Text 6"/>
          <p:cNvSpPr/>
          <p:nvPr/>
        </p:nvSpPr>
        <p:spPr>
          <a:xfrm>
            <a:off x="6234113" y="3028950"/>
            <a:ext cx="3081338" cy="323850"/>
          </a:xfrm>
          <a:prstGeom prst="rect">
            <a:avLst/>
          </a:prstGeom>
          <a:noFill/>
          <a:ln/>
        </p:spPr>
        <p:txBody>
          <a:bodyPr wrap="square" rtlCol="0" anchor="ctr"/>
          <a:lstStyle/>
          <a:p>
            <a:pPr algn="l" indent="0" marL="0">
              <a:lnSpc>
                <a:spcPts val="1260"/>
              </a:lnSpc>
              <a:buNone/>
            </a:pPr>
            <a:r>
              <a:rPr lang="en-US" sz="900" dirty="0">
                <a:solidFill>
                  <a:srgbClr val="000000">
                    <a:alpha val="99000"/>
                  </a:srgbClr>
                </a:solidFill>
                <a:latin typeface="Public Sans" pitchFamily="34" charset="0"/>
                <a:ea typeface="Public Sans" pitchFamily="34" charset="-122"/>
                <a:cs typeface="Public Sans" pitchFamily="34" charset="-120"/>
              </a:rPr>
              <a:t>BMKG (Aceh Besar), NOAA, dan citra satelit dari Google Earth Engine (GEE)</a:t>
            </a:r>
            <a:endParaRPr lang="en-US" sz="900" dirty="0"/>
          </a:p>
        </p:txBody>
      </p:sp>
      <p:sp>
        <p:nvSpPr>
          <p:cNvPr id="11" name="Text 7"/>
          <p:cNvSpPr/>
          <p:nvPr/>
        </p:nvSpPr>
        <p:spPr>
          <a:xfrm>
            <a:off x="4843463" y="3864769"/>
            <a:ext cx="1695450" cy="214313"/>
          </a:xfrm>
          <a:prstGeom prst="rect">
            <a:avLst/>
          </a:prstGeom>
          <a:noFill/>
          <a:ln/>
        </p:spPr>
        <p:txBody>
          <a:bodyPr wrap="square" rtlCol="0" anchor="ctr"/>
          <a:lstStyle/>
          <a:p>
            <a:pPr algn="l" indent="0" marL="0">
              <a:lnSpc>
                <a:spcPts val="1688"/>
              </a:lnSpc>
              <a:buNone/>
            </a:pPr>
            <a:r>
              <a:rPr lang="en-US" sz="1313" dirty="0">
                <a:solidFill>
                  <a:srgbClr val="000000">
                    <a:alpha val="99000"/>
                  </a:srgbClr>
                </a:solidFill>
                <a:latin typeface="Public Sans" pitchFamily="34" charset="0"/>
                <a:ea typeface="Public Sans" pitchFamily="34" charset="-122"/>
                <a:cs typeface="Public Sans" pitchFamily="34" charset="-120"/>
              </a:rPr>
              <a:t>PENYIMPANAN</a:t>
            </a:r>
            <a:endParaRPr lang="en-US" sz="1313" dirty="0"/>
          </a:p>
        </p:txBody>
      </p:sp>
      <p:sp>
        <p:nvSpPr>
          <p:cNvPr id="12" name="Text 8"/>
          <p:cNvSpPr/>
          <p:nvPr/>
        </p:nvSpPr>
        <p:spPr>
          <a:xfrm>
            <a:off x="6234113" y="3810000"/>
            <a:ext cx="3081338" cy="323850"/>
          </a:xfrm>
          <a:prstGeom prst="rect">
            <a:avLst/>
          </a:prstGeom>
          <a:noFill/>
          <a:ln/>
        </p:spPr>
        <p:txBody>
          <a:bodyPr wrap="square" rtlCol="0" anchor="ctr"/>
          <a:lstStyle/>
          <a:p>
            <a:pPr algn="l" indent="0" marL="0">
              <a:lnSpc>
                <a:spcPts val="1260"/>
              </a:lnSpc>
              <a:buNone/>
            </a:pPr>
            <a:r>
              <a:rPr lang="en-US" sz="900" dirty="0">
                <a:solidFill>
                  <a:srgbClr val="000000">
                    <a:alpha val="99000"/>
                  </a:srgbClr>
                </a:solidFill>
                <a:latin typeface="Public Sans" pitchFamily="34" charset="0"/>
                <a:ea typeface="Public Sans" pitchFamily="34" charset="-122"/>
                <a:cs typeface="Public Sans" pitchFamily="34" charset="-120"/>
              </a:rPr>
              <a:t>Format JSON, disimpan menggunakan database MongoDB.</a:t>
            </a:r>
            <a:endParaRPr lang="en-US" sz="900" dirty="0"/>
          </a:p>
        </p:txBody>
      </p:sp>
      <p:sp>
        <p:nvSpPr>
          <p:cNvPr id="13" name="Text 9"/>
          <p:cNvSpPr/>
          <p:nvPr/>
        </p:nvSpPr>
        <p:spPr>
          <a:xfrm>
            <a:off x="4843463" y="4645819"/>
            <a:ext cx="1695450" cy="214313"/>
          </a:xfrm>
          <a:prstGeom prst="rect">
            <a:avLst/>
          </a:prstGeom>
          <a:noFill/>
          <a:ln/>
        </p:spPr>
        <p:txBody>
          <a:bodyPr wrap="square" rtlCol="0" anchor="ctr"/>
          <a:lstStyle/>
          <a:p>
            <a:pPr algn="l" indent="0" marL="0">
              <a:lnSpc>
                <a:spcPts val="1688"/>
              </a:lnSpc>
              <a:buNone/>
            </a:pPr>
            <a:r>
              <a:rPr lang="en-US" sz="1500" dirty="0">
                <a:solidFill>
                  <a:srgbClr val="000000">
                    <a:alpha val="99000"/>
                  </a:srgbClr>
                </a:solidFill>
                <a:latin typeface="Public Sans" pitchFamily="34" charset="0"/>
                <a:ea typeface="Public Sans" pitchFamily="34" charset="-122"/>
                <a:cs typeface="Public Sans" pitchFamily="34" charset="-120"/>
              </a:rPr>
              <a:t>ANALISA</a:t>
            </a:r>
            <a:endParaRPr lang="en-US" sz="1500" dirty="0"/>
          </a:p>
        </p:txBody>
      </p:sp>
      <p:sp>
        <p:nvSpPr>
          <p:cNvPr id="14" name="Text 10"/>
          <p:cNvSpPr/>
          <p:nvPr/>
        </p:nvSpPr>
        <p:spPr>
          <a:xfrm>
            <a:off x="6234113" y="4591050"/>
            <a:ext cx="3081338" cy="323850"/>
          </a:xfrm>
          <a:prstGeom prst="rect">
            <a:avLst/>
          </a:prstGeom>
          <a:noFill/>
          <a:ln/>
        </p:spPr>
        <p:txBody>
          <a:bodyPr wrap="square" rtlCol="0" anchor="ctr"/>
          <a:lstStyle/>
          <a:p>
            <a:pPr algn="l" indent="0" marL="0">
              <a:lnSpc>
                <a:spcPts val="1260"/>
              </a:lnSpc>
              <a:buNone/>
            </a:pPr>
            <a:r>
              <a:rPr lang="en-US" sz="900" dirty="0">
                <a:solidFill>
                  <a:srgbClr val="000000">
                    <a:alpha val="99000"/>
                  </a:srgbClr>
                </a:solidFill>
                <a:latin typeface="Public Sans" pitchFamily="34" charset="0"/>
                <a:ea typeface="Public Sans" pitchFamily="34" charset="-122"/>
                <a:cs typeface="Public Sans" pitchFamily="34" charset="-120"/>
              </a:rPr>
              <a:t>Menggunakan metode exponential smoothing (Holt-Winters) untuk peramalan cuaca.</a:t>
            </a:r>
            <a:endParaRPr lang="en-US" sz="900" dirty="0"/>
          </a:p>
        </p:txBody>
      </p:sp>
      <p:sp>
        <p:nvSpPr>
          <p:cNvPr id="15" name="Text 11"/>
          <p:cNvSpPr/>
          <p:nvPr/>
        </p:nvSpPr>
        <p:spPr>
          <a:xfrm>
            <a:off x="4843463" y="1328738"/>
            <a:ext cx="4471988" cy="381000"/>
          </a:xfrm>
          <a:prstGeom prst="rect">
            <a:avLst/>
          </a:prstGeom>
          <a:noFill/>
          <a:ln/>
        </p:spPr>
        <p:txBody>
          <a:bodyPr wrap="square" rtlCol="0" anchor="ctr"/>
          <a:lstStyle/>
          <a:p>
            <a:pPr algn="ctr"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ARSITEKTUR</a:t>
            </a:r>
            <a:endParaRPr lang="en-US" sz="2813" dirty="0"/>
          </a:p>
        </p:txBody>
      </p:sp>
      <p:sp>
        <p:nvSpPr>
          <p:cNvPr id="16" name="Text 12"/>
          <p:cNvSpPr/>
          <p:nvPr/>
        </p:nvSpPr>
        <p:spPr>
          <a:xfrm>
            <a:off x="285750" y="47625"/>
            <a:ext cx="1985963" cy="161925"/>
          </a:xfrm>
          <a:prstGeom prst="rect">
            <a:avLst/>
          </a:prstGeom>
          <a:noFill/>
          <a:ln/>
        </p:spPr>
        <p:txBody>
          <a:bodyPr wrap="square" rtlCol="0" anchor="ctr"/>
          <a:lstStyle/>
          <a:p>
            <a:pPr algn="l" indent="0" marL="0">
              <a:lnSpc>
                <a:spcPts val="1260"/>
              </a:lnSpc>
              <a:buNone/>
            </a:pPr>
            <a:r>
              <a:rPr lang="en-US" sz="900" dirty="0">
                <a:solidFill>
                  <a:srgbClr val="000000">
                    <a:alpha val="99000"/>
                  </a:srgbClr>
                </a:solidFill>
                <a:latin typeface="Public Sans" pitchFamily="34" charset="0"/>
                <a:ea typeface="Public Sans" pitchFamily="34" charset="-122"/>
                <a:cs typeface="Public Sans" pitchFamily="34" charset="-120"/>
              </a:rPr>
              <a:t>UNIVERSITAS SYIAH KUALA</a:t>
            </a:r>
            <a:endParaRPr lang="en-US" sz="900" dirty="0"/>
          </a:p>
        </p:txBody>
      </p:sp>
      <p:sp>
        <p:nvSpPr>
          <p:cNvPr id="17" name="Text 13"/>
          <p:cNvSpPr/>
          <p:nvPr/>
        </p:nvSpPr>
        <p:spPr>
          <a:xfrm>
            <a:off x="8143875" y="47625"/>
            <a:ext cx="1171575" cy="114300"/>
          </a:xfrm>
          <a:prstGeom prst="rect">
            <a:avLst/>
          </a:prstGeom>
          <a:noFill/>
          <a:ln/>
        </p:spPr>
        <p:txBody>
          <a:bodyPr wrap="square" rtlCol="0" anchor="ctr"/>
          <a:lstStyle/>
          <a:p>
            <a:pPr algn="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EDE8D8"/>
            </a:solidFill>
            <a:prstDash val="solid"/>
          </a:ln>
        </p:spPr>
      </p:sp>
      <p:sp>
        <p:nvSpPr>
          <p:cNvPr id="3" name="Shape 1"/>
          <p:cNvSpPr/>
          <p:nvPr/>
        </p:nvSpPr>
        <p:spPr>
          <a:xfrm>
            <a:off x="0" y="971550"/>
            <a:ext cx="9144000" cy="0"/>
          </a:xfrm>
          <a:prstGeom prst="line">
            <a:avLst/>
          </a:prstGeom>
          <a:noFill/>
          <a:ln w="12700">
            <a:solidFill>
              <a:srgbClr val="EDE8D8"/>
            </a:solidFill>
            <a:prstDash val="solid"/>
          </a:ln>
        </p:spPr>
      </p:sp>
      <p:sp>
        <p:nvSpPr>
          <p:cNvPr id="4" name="Text 2"/>
          <p:cNvSpPr/>
          <p:nvPr/>
        </p:nvSpPr>
        <p:spPr>
          <a:xfrm>
            <a:off x="2786063" y="366713"/>
            <a:ext cx="4029075" cy="457200"/>
          </a:xfrm>
          <a:prstGeom prst="rect">
            <a:avLst/>
          </a:prstGeom>
          <a:noFill/>
          <a:ln/>
        </p:spPr>
        <p:txBody>
          <a:bodyPr wrap="square" rtlCol="0" anchor="ctr"/>
          <a:lstStyle/>
          <a:p>
            <a:pPr algn="ctr" indent="0" marL="0">
              <a:lnSpc>
                <a:spcPts val="3600"/>
              </a:lnSpc>
              <a:buNone/>
            </a:pPr>
            <a:r>
              <a:rPr lang="en-US" sz="2813" dirty="0">
                <a:solidFill>
                  <a:srgbClr val="EDE8D8">
                    <a:alpha val="99000"/>
                  </a:srgbClr>
                </a:solidFill>
                <a:latin typeface="Lora" pitchFamily="34" charset="0"/>
                <a:ea typeface="Lora" pitchFamily="34" charset="-122"/>
                <a:cs typeface="Lora" pitchFamily="34" charset="-120"/>
              </a:rPr>
              <a:t>RUMUSAN MASALAH</a:t>
            </a:r>
            <a:endParaRPr lang="en-US" sz="2813" dirty="0"/>
          </a:p>
        </p:txBody>
      </p:sp>
      <p:sp>
        <p:nvSpPr>
          <p:cNvPr id="5" name="Text 3"/>
          <p:cNvSpPr/>
          <p:nvPr/>
        </p:nvSpPr>
        <p:spPr>
          <a:xfrm>
            <a:off x="800100" y="1900238"/>
            <a:ext cx="2690813" cy="381000"/>
          </a:xfrm>
          <a:prstGeom prst="rect">
            <a:avLst/>
          </a:prstGeom>
          <a:noFill/>
          <a:ln/>
        </p:spPr>
        <p:txBody>
          <a:bodyPr wrap="square" rtlCol="0" anchor="ctr"/>
          <a:lstStyle/>
          <a:p>
            <a:pPr algn="ctr" indent="0" marL="0">
              <a:lnSpc>
                <a:spcPts val="3000"/>
              </a:lnSpc>
              <a:buNone/>
            </a:pPr>
            <a:r>
              <a:rPr lang="en-US" sz="2813" spc="-112" kern="0" dirty="0">
                <a:solidFill>
                  <a:srgbClr val="EDE8D8">
                    <a:alpha val="99000"/>
                  </a:srgbClr>
                </a:solidFill>
                <a:latin typeface="Public Sans" pitchFamily="34" charset="0"/>
                <a:ea typeface="Public Sans" pitchFamily="34" charset="-122"/>
                <a:cs typeface="Public Sans" pitchFamily="34" charset="-120"/>
              </a:rPr>
              <a:t>01</a:t>
            </a:r>
            <a:endParaRPr lang="en-US" sz="2813" dirty="0"/>
          </a:p>
        </p:txBody>
      </p:sp>
      <p:sp>
        <p:nvSpPr>
          <p:cNvPr id="6" name="Text 4"/>
          <p:cNvSpPr/>
          <p:nvPr/>
        </p:nvSpPr>
        <p:spPr>
          <a:xfrm>
            <a:off x="285750" y="2571750"/>
            <a:ext cx="4100513" cy="1157288"/>
          </a:xfrm>
          <a:prstGeom prst="rect">
            <a:avLst/>
          </a:prstGeom>
          <a:noFill/>
          <a:ln/>
        </p:spPr>
        <p:txBody>
          <a:bodyPr wrap="square" rtlCol="0" anchor="ctr"/>
          <a:lstStyle/>
          <a:p>
            <a:pPr algn="l" indent="0" marL="0">
              <a:lnSpc>
                <a:spcPts val="2025"/>
              </a:lnSpc>
              <a:buNone/>
            </a:pPr>
            <a:r>
              <a:rPr lang="en-US" sz="1425" dirty="0">
                <a:solidFill>
                  <a:srgbClr val="EDE8D8">
                    <a:alpha val="99000"/>
                  </a:srgbClr>
                </a:solidFill>
                <a:latin typeface="Public Sans" pitchFamily="34" charset="0"/>
                <a:ea typeface="Public Sans" pitchFamily="34" charset="-122"/>
                <a:cs typeface="Public Sans" pitchFamily="34" charset="-120"/>
              </a:rPr>
              <a:t>Bagaimana merancang sistem manajemen data iklim yang terstruktur menggunakan MongoDB sehingga dapat dimanfaatkan untuk membantu petani maupun mendukung penelitian lanjutan?</a:t>
            </a:r>
            <a:endParaRPr lang="en-US" sz="1425" dirty="0"/>
          </a:p>
        </p:txBody>
      </p:sp>
      <p:sp>
        <p:nvSpPr>
          <p:cNvPr id="7" name="Text 5"/>
          <p:cNvSpPr/>
          <p:nvPr/>
        </p:nvSpPr>
        <p:spPr>
          <a:xfrm>
            <a:off x="6072188" y="1900238"/>
            <a:ext cx="2690813" cy="381000"/>
          </a:xfrm>
          <a:prstGeom prst="rect">
            <a:avLst/>
          </a:prstGeom>
          <a:noFill/>
          <a:ln/>
        </p:spPr>
        <p:txBody>
          <a:bodyPr wrap="square" rtlCol="0" anchor="ctr"/>
          <a:lstStyle/>
          <a:p>
            <a:pPr algn="ctr" indent="0" marL="0">
              <a:lnSpc>
                <a:spcPts val="3000"/>
              </a:lnSpc>
              <a:buNone/>
            </a:pPr>
            <a:r>
              <a:rPr lang="en-US" sz="2813" spc="-112" kern="0" dirty="0">
                <a:solidFill>
                  <a:srgbClr val="EDE8D8">
                    <a:alpha val="99000"/>
                  </a:srgbClr>
                </a:solidFill>
                <a:latin typeface="Public Sans" pitchFamily="34" charset="0"/>
                <a:ea typeface="Public Sans" pitchFamily="34" charset="-122"/>
                <a:cs typeface="Public Sans" pitchFamily="34" charset="-120"/>
              </a:rPr>
              <a:t>02</a:t>
            </a:r>
            <a:endParaRPr lang="en-US" sz="2813" dirty="0"/>
          </a:p>
        </p:txBody>
      </p:sp>
      <p:sp>
        <p:nvSpPr>
          <p:cNvPr id="8" name="Text 6"/>
          <p:cNvSpPr/>
          <p:nvPr/>
        </p:nvSpPr>
        <p:spPr>
          <a:xfrm>
            <a:off x="4953000" y="2443163"/>
            <a:ext cx="4362450" cy="900113"/>
          </a:xfrm>
          <a:prstGeom prst="rect">
            <a:avLst/>
          </a:prstGeom>
          <a:noFill/>
          <a:ln/>
        </p:spPr>
        <p:txBody>
          <a:bodyPr wrap="square" rtlCol="0" anchor="ctr"/>
          <a:lstStyle/>
          <a:p>
            <a:pPr algn="l" indent="0" marL="0">
              <a:lnSpc>
                <a:spcPts val="2025"/>
              </a:lnSpc>
              <a:buNone/>
            </a:pPr>
            <a:r>
              <a:rPr lang="en-US" sz="1425" dirty="0">
                <a:solidFill>
                  <a:srgbClr val="EDE8D8">
                    <a:alpha val="99000"/>
                  </a:srgbClr>
                </a:solidFill>
                <a:latin typeface="Public Sans" pitchFamily="34" charset="0"/>
                <a:ea typeface="Public Sans" pitchFamily="34" charset="-122"/>
                <a:cs typeface="Public Sans" pitchFamily="34" charset="-120"/>
              </a:rPr>
              <a:t>Bagiamana metode Holt-Winters dapat diterapkan untuk menghasilkan informasi prediksi iklim yang mendukung pengambilan keputusan pertanian?</a:t>
            </a:r>
            <a:endParaRPr lang="en-US" sz="1425" dirty="0"/>
          </a:p>
        </p:txBody>
      </p:sp>
      <p:sp>
        <p:nvSpPr>
          <p:cNvPr id="9" name="Text 7"/>
          <p:cNvSpPr/>
          <p:nvPr/>
        </p:nvSpPr>
        <p:spPr>
          <a:xfrm>
            <a:off x="285750" y="47625"/>
            <a:ext cx="1985963" cy="161925"/>
          </a:xfrm>
          <a:prstGeom prst="rect">
            <a:avLst/>
          </a:prstGeom>
          <a:noFill/>
          <a:ln/>
        </p:spPr>
        <p:txBody>
          <a:bodyPr wrap="square" rtlCol="0" anchor="ctr"/>
          <a:lstStyle/>
          <a:p>
            <a:pPr algn="l" indent="0" marL="0">
              <a:lnSpc>
                <a:spcPts val="1260"/>
              </a:lnSpc>
              <a:buNone/>
            </a:pPr>
            <a:r>
              <a:rPr lang="en-US" sz="900" dirty="0">
                <a:solidFill>
                  <a:srgbClr val="EDE8D8">
                    <a:alpha val="99000"/>
                  </a:srgbClr>
                </a:solidFill>
                <a:latin typeface="Public Sans" pitchFamily="34" charset="0"/>
                <a:ea typeface="Public Sans" pitchFamily="34" charset="-122"/>
                <a:cs typeface="Public Sans" pitchFamily="34" charset="-120"/>
              </a:rPr>
              <a:t>UNIVERSITAS SYIAH KUALA</a:t>
            </a:r>
            <a:endParaRPr lang="en-US" sz="900" dirty="0"/>
          </a:p>
        </p:txBody>
      </p:sp>
      <p:sp>
        <p:nvSpPr>
          <p:cNvPr id="10" name="Text 8"/>
          <p:cNvSpPr/>
          <p:nvPr/>
        </p:nvSpPr>
        <p:spPr>
          <a:xfrm>
            <a:off x="8143875" y="47625"/>
            <a:ext cx="1171575" cy="114300"/>
          </a:xfrm>
          <a:prstGeom prst="rect">
            <a:avLst/>
          </a:prstGeom>
          <a:noFill/>
          <a:ln/>
        </p:spPr>
        <p:txBody>
          <a:bodyPr wrap="square" rtlCol="0" anchor="ctr"/>
          <a:lstStyle/>
          <a:p>
            <a:pPr algn="r" indent="0" marL="0">
              <a:lnSpc>
                <a:spcPts val="908"/>
              </a:lnSpc>
              <a:buNone/>
            </a:pPr>
            <a:r>
              <a:rPr lang="en-US" sz="825" b="1" spc="58" kern="0" dirty="0">
                <a:solidFill>
                  <a:srgbClr val="EDE8D8">
                    <a:alpha val="99000"/>
                  </a:srgbClr>
                </a:solidFill>
                <a:latin typeface="Plus Jakarta Sans" pitchFamily="34" charset="0"/>
                <a:ea typeface="Plus Jakarta Sans" pitchFamily="34" charset="-122"/>
                <a:cs typeface="Plus Jakarta Sans" pitchFamily="34" charset="-120"/>
              </a:rPr>
              <a:t>MEI 27, 2025</a:t>
            </a:r>
            <a:endParaRPr lang="en-US" sz="8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8D8"/>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000000"/>
            </a:solidFill>
            <a:prstDash val="solid"/>
          </a:ln>
        </p:spPr>
      </p:sp>
      <p:sp>
        <p:nvSpPr>
          <p:cNvPr id="3" name="Shape 1"/>
          <p:cNvSpPr/>
          <p:nvPr/>
        </p:nvSpPr>
        <p:spPr>
          <a:xfrm>
            <a:off x="0" y="971550"/>
            <a:ext cx="9144000" cy="0"/>
          </a:xfrm>
          <a:prstGeom prst="line">
            <a:avLst/>
          </a:prstGeom>
          <a:noFill/>
          <a:ln w="12700">
            <a:solidFill>
              <a:srgbClr val="000000"/>
            </a:solidFill>
            <a:prstDash val="solid"/>
          </a:ln>
        </p:spPr>
      </p:sp>
      <p:sp>
        <p:nvSpPr>
          <p:cNvPr id="4" name="Text 2"/>
          <p:cNvSpPr/>
          <p:nvPr/>
        </p:nvSpPr>
        <p:spPr>
          <a:xfrm>
            <a:off x="2781300" y="366713"/>
            <a:ext cx="4038600" cy="457200"/>
          </a:xfrm>
          <a:prstGeom prst="rect">
            <a:avLst/>
          </a:prstGeom>
          <a:noFill/>
          <a:ln/>
        </p:spPr>
        <p:txBody>
          <a:bodyPr wrap="square" rtlCol="0" anchor="ctr"/>
          <a:lstStyle/>
          <a:p>
            <a:pPr algn="ctr" indent="0" marL="0">
              <a:lnSpc>
                <a:spcPts val="3600"/>
              </a:lnSpc>
              <a:buNone/>
            </a:pPr>
            <a:r>
              <a:rPr lang="en-US" sz="2813" dirty="0">
                <a:solidFill>
                  <a:srgbClr val="000000">
                    <a:alpha val="99000"/>
                  </a:srgbClr>
                </a:solidFill>
                <a:latin typeface="Lora" pitchFamily="34" charset="0"/>
                <a:ea typeface="Lora" pitchFamily="34" charset="-122"/>
                <a:cs typeface="Lora" pitchFamily="34" charset="-120"/>
              </a:rPr>
              <a:t>TUJUAN PENELITIAN</a:t>
            </a:r>
            <a:endParaRPr lang="en-US" sz="2813" dirty="0"/>
          </a:p>
        </p:txBody>
      </p:sp>
      <p:sp>
        <p:nvSpPr>
          <p:cNvPr id="5" name="Text 3"/>
          <p:cNvSpPr/>
          <p:nvPr/>
        </p:nvSpPr>
        <p:spPr>
          <a:xfrm>
            <a:off x="800100" y="1900238"/>
            <a:ext cx="2690813" cy="381000"/>
          </a:xfrm>
          <a:prstGeom prst="rect">
            <a:avLst/>
          </a:prstGeom>
          <a:noFill/>
          <a:ln/>
        </p:spPr>
        <p:txBody>
          <a:bodyPr wrap="square" rtlCol="0" anchor="ctr"/>
          <a:lstStyle/>
          <a:p>
            <a:pPr algn="ctr"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01</a:t>
            </a:r>
            <a:endParaRPr lang="en-US" sz="2813" dirty="0"/>
          </a:p>
        </p:txBody>
      </p:sp>
      <p:sp>
        <p:nvSpPr>
          <p:cNvPr id="6" name="Text 4"/>
          <p:cNvSpPr/>
          <p:nvPr/>
        </p:nvSpPr>
        <p:spPr>
          <a:xfrm>
            <a:off x="285750" y="2443163"/>
            <a:ext cx="4100513" cy="642938"/>
          </a:xfrm>
          <a:prstGeom prst="rect">
            <a:avLst/>
          </a:prstGeom>
          <a:noFill/>
          <a:ln/>
        </p:spPr>
        <p:txBody>
          <a:bodyPr wrap="square" rtlCol="0" anchor="ctr"/>
          <a:lstStyle/>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Membangun sistem manajemen data iklim menggunakan MongoDB untuk mendukung petani dan penelitian lanjutan.</a:t>
            </a:r>
            <a:endParaRPr lang="en-US" sz="1425" dirty="0"/>
          </a:p>
        </p:txBody>
      </p:sp>
      <p:sp>
        <p:nvSpPr>
          <p:cNvPr id="7" name="Text 5"/>
          <p:cNvSpPr/>
          <p:nvPr/>
        </p:nvSpPr>
        <p:spPr>
          <a:xfrm>
            <a:off x="6072188" y="1900238"/>
            <a:ext cx="2690813" cy="381000"/>
          </a:xfrm>
          <a:prstGeom prst="rect">
            <a:avLst/>
          </a:prstGeom>
          <a:noFill/>
          <a:ln/>
        </p:spPr>
        <p:txBody>
          <a:bodyPr wrap="square" rtlCol="0" anchor="ctr"/>
          <a:lstStyle/>
          <a:p>
            <a:pPr algn="ctr"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02</a:t>
            </a:r>
            <a:endParaRPr lang="en-US" sz="2813" dirty="0"/>
          </a:p>
        </p:txBody>
      </p:sp>
      <p:sp>
        <p:nvSpPr>
          <p:cNvPr id="8" name="Text 6"/>
          <p:cNvSpPr/>
          <p:nvPr/>
        </p:nvSpPr>
        <p:spPr>
          <a:xfrm>
            <a:off x="4953000" y="2443163"/>
            <a:ext cx="4362450" cy="642938"/>
          </a:xfrm>
          <a:prstGeom prst="rect">
            <a:avLst/>
          </a:prstGeom>
          <a:noFill/>
          <a:ln/>
        </p:spPr>
        <p:txBody>
          <a:bodyPr wrap="square" rtlCol="0" anchor="ctr"/>
          <a:lstStyle/>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Menggunakan metode Holt-Winters untuk memprediksi data iklim, serta membantu petani menentukan waktu tanam dan panen.</a:t>
            </a:r>
            <a:endParaRPr lang="en-US" sz="1425" dirty="0"/>
          </a:p>
        </p:txBody>
      </p:sp>
      <p:sp>
        <p:nvSpPr>
          <p:cNvPr id="9" name="Text 7"/>
          <p:cNvSpPr/>
          <p:nvPr/>
        </p:nvSpPr>
        <p:spPr>
          <a:xfrm>
            <a:off x="285750" y="47625"/>
            <a:ext cx="1638300" cy="161925"/>
          </a:xfrm>
          <a:prstGeom prst="rect">
            <a:avLst/>
          </a:prstGeom>
          <a:noFill/>
          <a:ln/>
        </p:spPr>
        <p:txBody>
          <a:bodyPr wrap="square" rtlCol="0" anchor="ctr"/>
          <a:lstStyle/>
          <a:p>
            <a:pPr algn="l" indent="0" marL="0">
              <a:lnSpc>
                <a:spcPts val="1260"/>
              </a:lnSpc>
              <a:buNone/>
            </a:pPr>
            <a:r>
              <a:rPr lang="en-US" sz="900" dirty="0">
                <a:solidFill>
                  <a:srgbClr val="000000">
                    <a:alpha val="99000"/>
                  </a:srgbClr>
                </a:solidFill>
                <a:latin typeface="Public Sans" pitchFamily="34" charset="0"/>
                <a:ea typeface="Public Sans" pitchFamily="34" charset="-122"/>
                <a:cs typeface="Public Sans" pitchFamily="34" charset="-120"/>
              </a:rPr>
              <a:t>SEMINAR/PROPOSAL</a:t>
            </a:r>
            <a:endParaRPr lang="en-US" sz="900" dirty="0"/>
          </a:p>
        </p:txBody>
      </p:sp>
      <p:sp>
        <p:nvSpPr>
          <p:cNvPr id="10" name="Text 8"/>
          <p:cNvSpPr/>
          <p:nvPr/>
        </p:nvSpPr>
        <p:spPr>
          <a:xfrm>
            <a:off x="7329488" y="47625"/>
            <a:ext cx="1985963" cy="161925"/>
          </a:xfrm>
          <a:prstGeom prst="rect">
            <a:avLst/>
          </a:prstGeom>
          <a:noFill/>
          <a:ln/>
        </p:spPr>
        <p:txBody>
          <a:bodyPr wrap="square" rtlCol="0" anchor="ctr"/>
          <a:lstStyle/>
          <a:p>
            <a:pPr algn="r" indent="0" marL="0">
              <a:lnSpc>
                <a:spcPts val="1260"/>
              </a:lnSpc>
              <a:buNone/>
            </a:pPr>
            <a:r>
              <a:rPr lang="en-US" sz="900" dirty="0">
                <a:solidFill>
                  <a:srgbClr val="000000">
                    <a:alpha val="99000"/>
                  </a:srgbClr>
                </a:solidFill>
                <a:latin typeface="Public Sans" pitchFamily="34" charset="0"/>
                <a:ea typeface="Public Sans" pitchFamily="34" charset="-122"/>
                <a:cs typeface="Public Sans" pitchFamily="34" charset="-120"/>
              </a:rPr>
              <a:t>UNIVERSITAS SYIAH KUALA</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E8D8"/>
        </a:solidFill>
      </p:bgPr>
    </p:bg>
    <p:spTree>
      <p:nvGrpSpPr>
        <p:cNvPr id="1" name=""/>
        <p:cNvGrpSpPr/>
        <p:nvPr/>
      </p:nvGrpSpPr>
      <p:grpSpPr>
        <a:xfrm>
          <a:off x="0" y="0"/>
          <a:ext cx="0" cy="0"/>
          <a:chOff x="0" y="0"/>
          <a:chExt cx="0" cy="0"/>
        </a:xfrm>
      </p:grpSpPr>
      <p:sp>
        <p:nvSpPr>
          <p:cNvPr id="3" name="Shape 0"/>
          <p:cNvSpPr/>
          <p:nvPr/>
        </p:nvSpPr>
        <p:spPr>
          <a:xfrm rot="0">
            <a:off x="171450" y="371475"/>
            <a:ext cx="8801100" cy="0"/>
          </a:xfrm>
          <a:prstGeom prst="line">
            <a:avLst/>
          </a:prstGeom>
          <a:noFill/>
          <a:ln w="31750">
            <a:solidFill>
              <a:srgbClr val="000000"/>
            </a:solidFill>
            <a:prstDash val="solid"/>
          </a:ln>
        </p:spPr>
      </p:sp>
      <p:sp>
        <p:nvSpPr>
          <p:cNvPr id="4" name="Shape 1"/>
          <p:cNvSpPr/>
          <p:nvPr/>
        </p:nvSpPr>
        <p:spPr>
          <a:xfrm>
            <a:off x="85725" y="1828800"/>
            <a:ext cx="2171700" cy="2476500"/>
          </a:xfrm>
          <a:prstGeom prst="roundRect">
            <a:avLst>
              <a:gd name="adj" fmla="val 8421"/>
            </a:avLst>
          </a:prstGeom>
          <a:solidFill>
            <a:srgbClr val="FFFFFF"/>
          </a:solidFill>
          <a:ln w="31750">
            <a:solidFill>
              <a:srgbClr val="000000"/>
            </a:solidFill>
            <a:prstDash val="solid"/>
          </a:ln>
        </p:spPr>
      </p:sp>
      <p:sp>
        <p:nvSpPr>
          <p:cNvPr id="5" name="Shape 2"/>
          <p:cNvSpPr/>
          <p:nvPr/>
        </p:nvSpPr>
        <p:spPr>
          <a:xfrm>
            <a:off x="2362200" y="1828800"/>
            <a:ext cx="2171700" cy="2476500"/>
          </a:xfrm>
          <a:prstGeom prst="roundRect">
            <a:avLst>
              <a:gd name="adj" fmla="val 8421"/>
            </a:avLst>
          </a:prstGeom>
          <a:solidFill>
            <a:srgbClr val="FFFFFF"/>
          </a:solidFill>
          <a:ln w="31750">
            <a:solidFill>
              <a:srgbClr val="000000"/>
            </a:solidFill>
            <a:prstDash val="solid"/>
          </a:ln>
        </p:spPr>
      </p:sp>
      <p:sp>
        <p:nvSpPr>
          <p:cNvPr id="6" name="Shape 3"/>
          <p:cNvSpPr/>
          <p:nvPr/>
        </p:nvSpPr>
        <p:spPr>
          <a:xfrm>
            <a:off x="4638675" y="1828800"/>
            <a:ext cx="2171700" cy="2476500"/>
          </a:xfrm>
          <a:prstGeom prst="roundRect">
            <a:avLst>
              <a:gd name="adj" fmla="val 8421"/>
            </a:avLst>
          </a:prstGeom>
          <a:solidFill>
            <a:srgbClr val="FFFFFF"/>
          </a:solidFill>
          <a:ln w="31750">
            <a:solidFill>
              <a:srgbClr val="000000"/>
            </a:solidFill>
            <a:prstDash val="solid"/>
          </a:ln>
        </p:spPr>
      </p:sp>
      <p:sp>
        <p:nvSpPr>
          <p:cNvPr id="7" name="Shape 4"/>
          <p:cNvSpPr/>
          <p:nvPr/>
        </p:nvSpPr>
        <p:spPr>
          <a:xfrm>
            <a:off x="6886575" y="1828800"/>
            <a:ext cx="2171700" cy="2476500"/>
          </a:xfrm>
          <a:prstGeom prst="roundRect">
            <a:avLst>
              <a:gd name="adj" fmla="val 8421"/>
            </a:avLst>
          </a:prstGeom>
          <a:solidFill>
            <a:srgbClr val="FFFFFF"/>
          </a:solidFill>
          <a:ln w="31750">
            <a:solidFill>
              <a:srgbClr val="000000"/>
            </a:solidFill>
            <a:prstDash val="solid"/>
          </a:ln>
        </p:spPr>
      </p:sp>
      <p:sp>
        <p:nvSpPr>
          <p:cNvPr id="8" name="Shape 5"/>
          <p:cNvSpPr/>
          <p:nvPr/>
        </p:nvSpPr>
        <p:spPr>
          <a:xfrm>
            <a:off x="323850" y="4676775"/>
            <a:ext cx="2295525" cy="261937"/>
          </a:xfrm>
          <a:prstGeom prst="rect">
            <a:avLst/>
          </a:prstGeom>
          <a:noFill/>
          <a:ln/>
        </p:spPr>
      </p:sp>
      <p:sp>
        <p:nvSpPr>
          <p:cNvPr id="9" name="Shape 6"/>
          <p:cNvSpPr/>
          <p:nvPr/>
        </p:nvSpPr>
        <p:spPr>
          <a:xfrm>
            <a:off x="323850" y="4676775"/>
            <a:ext cx="1085850" cy="261937"/>
          </a:xfrm>
          <a:prstGeom prst="roundRect">
            <a:avLst>
              <a:gd name="adj" fmla="val 349092"/>
            </a:avLst>
          </a:prstGeom>
          <a:solidFill>
            <a:srgbClr val="000000"/>
          </a:solidFill>
          <a:ln/>
        </p:spPr>
      </p:sp>
      <p:sp>
        <p:nvSpPr>
          <p:cNvPr id="10" name="Shape 7"/>
          <p:cNvSpPr/>
          <p:nvPr/>
        </p:nvSpPr>
        <p:spPr>
          <a:xfrm>
            <a:off x="1433513" y="4676775"/>
            <a:ext cx="1185863" cy="261937"/>
          </a:xfrm>
          <a:prstGeom prst="roundRect">
            <a:avLst>
              <a:gd name="adj" fmla="val 349092"/>
            </a:avLst>
          </a:prstGeom>
          <a:solidFill>
            <a:srgbClr val="EDE8D8"/>
          </a:solidFill>
          <a:ln w="25400">
            <a:solidFill>
              <a:srgbClr val="000000"/>
            </a:solidFill>
            <a:prstDash val="solid"/>
          </a:ln>
        </p:spPr>
      </p:sp>
      <p:sp>
        <p:nvSpPr>
          <p:cNvPr id="11" name="Shape 8"/>
          <p:cNvSpPr/>
          <p:nvPr/>
        </p:nvSpPr>
        <p:spPr>
          <a:xfrm>
            <a:off x="7529513" y="3629025"/>
            <a:ext cx="885825" cy="485775"/>
          </a:xfrm>
          <a:prstGeom prst="roundRect">
            <a:avLst>
              <a:gd name="adj" fmla="val 188235"/>
            </a:avLst>
          </a:prstGeom>
          <a:solidFill>
            <a:srgbClr val="BFBFBF"/>
          </a:solidFill>
          <a:ln w="12700">
            <a:solidFill>
              <a:srgbClr val="000000"/>
            </a:solidFill>
            <a:prstDash val="solid"/>
          </a:ln>
        </p:spPr>
      </p:sp>
      <p:sp>
        <p:nvSpPr>
          <p:cNvPr id="12" name="Shape 9"/>
          <p:cNvSpPr/>
          <p:nvPr/>
        </p:nvSpPr>
        <p:spPr>
          <a:xfrm>
            <a:off x="5281613" y="3629025"/>
            <a:ext cx="885825" cy="485775"/>
          </a:xfrm>
          <a:prstGeom prst="roundRect">
            <a:avLst>
              <a:gd name="adj" fmla="val 188235"/>
            </a:avLst>
          </a:prstGeom>
          <a:solidFill>
            <a:srgbClr val="BFBFBF"/>
          </a:solidFill>
          <a:ln w="12700">
            <a:solidFill>
              <a:srgbClr val="000000"/>
            </a:solidFill>
            <a:prstDash val="solid"/>
          </a:ln>
        </p:spPr>
      </p:sp>
      <p:sp>
        <p:nvSpPr>
          <p:cNvPr id="13" name="Shape 10"/>
          <p:cNvSpPr/>
          <p:nvPr/>
        </p:nvSpPr>
        <p:spPr>
          <a:xfrm>
            <a:off x="3005138" y="3629025"/>
            <a:ext cx="885825" cy="485775"/>
          </a:xfrm>
          <a:prstGeom prst="roundRect">
            <a:avLst>
              <a:gd name="adj" fmla="val 188235"/>
            </a:avLst>
          </a:prstGeom>
          <a:solidFill>
            <a:srgbClr val="BFBFBF"/>
          </a:solidFill>
          <a:ln w="12700">
            <a:solidFill>
              <a:srgbClr val="000000"/>
            </a:solidFill>
            <a:prstDash val="solid"/>
          </a:ln>
        </p:spPr>
      </p:sp>
      <p:sp>
        <p:nvSpPr>
          <p:cNvPr id="14" name="Shape 11"/>
          <p:cNvSpPr/>
          <p:nvPr/>
        </p:nvSpPr>
        <p:spPr>
          <a:xfrm>
            <a:off x="728663" y="3629025"/>
            <a:ext cx="885825" cy="485775"/>
          </a:xfrm>
          <a:prstGeom prst="roundRect">
            <a:avLst>
              <a:gd name="adj" fmla="val 188235"/>
            </a:avLst>
          </a:prstGeom>
          <a:solidFill>
            <a:srgbClr val="BFBFBF"/>
          </a:solidFill>
          <a:ln w="12700">
            <a:solidFill>
              <a:srgbClr val="000000"/>
            </a:solidFill>
            <a:prstDash val="solid"/>
          </a:ln>
        </p:spPr>
      </p:sp>
      <p:sp>
        <p:nvSpPr>
          <p:cNvPr id="15" name="Text 12"/>
          <p:cNvSpPr/>
          <p:nvPr/>
        </p:nvSpPr>
        <p:spPr>
          <a:xfrm>
            <a:off x="161925" y="676275"/>
            <a:ext cx="6300788" cy="304800"/>
          </a:xfrm>
          <a:prstGeom prst="rect">
            <a:avLst/>
          </a:prstGeom>
          <a:noFill/>
          <a:ln/>
        </p:spPr>
        <p:txBody>
          <a:bodyPr wrap="square" rtlCol="0" anchor="ctr"/>
          <a:lstStyle/>
          <a:p>
            <a:pPr algn="l" indent="0" marL="0">
              <a:lnSpc>
                <a:spcPts val="3750"/>
              </a:lnSpc>
              <a:buNone/>
            </a:pPr>
            <a:r>
              <a:rPr lang="en-US" sz="4275" spc="-86" kern="0" dirty="0">
                <a:solidFill>
                  <a:srgbClr val="000000">
                    <a:alpha val="99000"/>
                  </a:srgbClr>
                </a:solidFill>
                <a:latin typeface="Darker Grotesque" pitchFamily="34" charset="0"/>
                <a:ea typeface="Darker Grotesque" pitchFamily="34" charset="-122"/>
                <a:cs typeface="Darker Grotesque" pitchFamily="34" charset="-120"/>
              </a:rPr>
              <a:t>Manfaat Penelitian</a:t>
            </a:r>
            <a:endParaRPr lang="en-US" sz="4275" dirty="0"/>
          </a:p>
        </p:txBody>
      </p:sp>
      <p:sp>
        <p:nvSpPr>
          <p:cNvPr id="16" name="Text 13"/>
          <p:cNvSpPr/>
          <p:nvPr/>
        </p:nvSpPr>
        <p:spPr>
          <a:xfrm>
            <a:off x="171450" y="171450"/>
            <a:ext cx="1104900" cy="119063"/>
          </a:xfrm>
          <a:prstGeom prst="rect">
            <a:avLst/>
          </a:prstGeom>
          <a:noFill/>
          <a:ln/>
        </p:spPr>
        <p:txBody>
          <a:bodyPr wrap="square" rtlCol="0" anchor="ctr"/>
          <a:lstStyle/>
          <a:p>
            <a:pPr algn="l" indent="0" marL="0">
              <a:lnSpc>
                <a:spcPts val="1650"/>
              </a:lnSpc>
              <a:buNone/>
            </a:pPr>
            <a:r>
              <a:rPr lang="en-US" sz="1650" spc="-49" kern="0" dirty="0">
                <a:solidFill>
                  <a:srgbClr val="000000">
                    <a:alpha val="99000"/>
                  </a:srgbClr>
                </a:solidFill>
                <a:latin typeface="Darker Grotesque" pitchFamily="34" charset="0"/>
                <a:ea typeface="Darker Grotesque" pitchFamily="34" charset="-122"/>
                <a:cs typeface="Darker Grotesque" pitchFamily="34" charset="-120"/>
              </a:rPr>
              <a:t>QUOTES</a:t>
            </a:r>
            <a:endParaRPr lang="en-US" sz="1650" dirty="0"/>
          </a:p>
        </p:txBody>
      </p:sp>
      <p:sp>
        <p:nvSpPr>
          <p:cNvPr id="17" name="Text 14"/>
          <p:cNvSpPr/>
          <p:nvPr/>
        </p:nvSpPr>
        <p:spPr>
          <a:xfrm>
            <a:off x="1585913" y="4767263"/>
            <a:ext cx="1338262" cy="80963"/>
          </a:xfrm>
          <a:prstGeom prst="rect">
            <a:avLst/>
          </a:prstGeom>
          <a:noFill/>
          <a:ln/>
        </p:spPr>
        <p:txBody>
          <a:bodyPr wrap="square" rtlCol="0" anchor="ctr"/>
          <a:lstStyle/>
          <a:p>
            <a:pPr algn="l" indent="0" marL="0">
              <a:lnSpc>
                <a:spcPts val="1238"/>
              </a:lnSpc>
              <a:buNone/>
            </a:pPr>
            <a:r>
              <a:rPr lang="en-US" sz="1125" b="1" spc="79" kern="0" dirty="0">
                <a:solidFill>
                  <a:srgbClr val="000000">
                    <a:alpha val="99000"/>
                  </a:srgbClr>
                </a:solidFill>
                <a:latin typeface="Darker Grotesque" pitchFamily="34" charset="0"/>
                <a:ea typeface="Darker Grotesque" pitchFamily="34" charset="-122"/>
                <a:cs typeface="Darker Grotesque" pitchFamily="34" charset="-120"/>
              </a:rPr>
              <a:t>SYIAH KUALA</a:t>
            </a:r>
            <a:endParaRPr lang="en-US" sz="1125" dirty="0"/>
          </a:p>
        </p:txBody>
      </p:sp>
      <p:sp>
        <p:nvSpPr>
          <p:cNvPr id="18" name="Text 15"/>
          <p:cNvSpPr/>
          <p:nvPr/>
        </p:nvSpPr>
        <p:spPr>
          <a:xfrm>
            <a:off x="476250" y="4767263"/>
            <a:ext cx="1238250" cy="80963"/>
          </a:xfrm>
          <a:prstGeom prst="rect">
            <a:avLst/>
          </a:prstGeom>
          <a:noFill/>
          <a:ln/>
        </p:spPr>
        <p:txBody>
          <a:bodyPr wrap="square" rtlCol="0" anchor="ctr"/>
          <a:lstStyle/>
          <a:p>
            <a:pPr algn="l" indent="0" marL="0">
              <a:lnSpc>
                <a:spcPts val="1575"/>
              </a:lnSpc>
              <a:buNone/>
            </a:pPr>
            <a:r>
              <a:rPr lang="en-US" sz="1125" b="1" spc="-11" kern="0" dirty="0">
                <a:solidFill>
                  <a:srgbClr val="EAEAEA">
                    <a:alpha val="99000"/>
                  </a:srgbClr>
                </a:solidFill>
                <a:latin typeface="Darker Grotesque" pitchFamily="34" charset="0"/>
                <a:ea typeface="Darker Grotesque" pitchFamily="34" charset="-122"/>
                <a:cs typeface="Darker Grotesque" pitchFamily="34" charset="-120"/>
              </a:rPr>
              <a:t>UNIVERSITAS</a:t>
            </a:r>
            <a:endParaRPr lang="en-US" sz="1125" dirty="0"/>
          </a:p>
        </p:txBody>
      </p:sp>
      <p:sp>
        <p:nvSpPr>
          <p:cNvPr id="19" name="Text 16"/>
          <p:cNvSpPr/>
          <p:nvPr/>
        </p:nvSpPr>
        <p:spPr>
          <a:xfrm>
            <a:off x="6848475" y="2114550"/>
            <a:ext cx="2714625" cy="709613"/>
          </a:xfrm>
          <a:prstGeom prst="rect">
            <a:avLst/>
          </a:prstGeom>
          <a:noFill/>
          <a:ln/>
        </p:spPr>
        <p:txBody>
          <a:bodyPr wrap="square" rtlCol="0" anchor="ctr"/>
          <a:lstStyle/>
          <a:p>
            <a:pPr algn="ctr" indent="0" marL="0">
              <a:lnSpc>
                <a:spcPts val="1620"/>
              </a:lnSpc>
              <a:buNone/>
            </a:pPr>
            <a:r>
              <a:rPr lang="en-US" sz="1350" spc="-40" kern="0" dirty="0">
                <a:solidFill>
                  <a:srgbClr val="000000">
                    <a:alpha val="99000"/>
                  </a:srgbClr>
                </a:solidFill>
                <a:latin typeface="Darker Grotesque" pitchFamily="34" charset="0"/>
                <a:ea typeface="Darker Grotesque" pitchFamily="34" charset="-122"/>
                <a:cs typeface="Darker Grotesque" pitchFamily="34" charset="-120"/>
              </a:rPr>
              <a:t>Membantu petani dalam </a:t>
            </a:r>
            <a:endParaRPr lang="en-US" sz="1350" dirty="0"/>
          </a:p>
          <a:p>
            <a:pPr algn="ctr" indent="0" marL="0">
              <a:lnSpc>
                <a:spcPts val="1620"/>
              </a:lnSpc>
              <a:buNone/>
            </a:pPr>
            <a:r>
              <a:rPr lang="en-US" sz="1350" spc="-40" kern="0" dirty="0">
                <a:solidFill>
                  <a:srgbClr val="000000">
                    <a:alpha val="99000"/>
                  </a:srgbClr>
                </a:solidFill>
                <a:latin typeface="Darker Grotesque" pitchFamily="34" charset="0"/>
                <a:ea typeface="Darker Grotesque" pitchFamily="34" charset="-122"/>
                <a:cs typeface="Darker Grotesque" pitchFamily="34" charset="-120"/>
              </a:rPr>
              <a:t>pengambilan keputusan tanam </a:t>
            </a:r>
            <a:endParaRPr lang="en-US" sz="1350" dirty="0"/>
          </a:p>
          <a:p>
            <a:pPr algn="ctr" indent="0" marL="0">
              <a:lnSpc>
                <a:spcPts val="1620"/>
              </a:lnSpc>
              <a:buNone/>
            </a:pPr>
            <a:r>
              <a:rPr lang="en-US" sz="1350" spc="-40" kern="0" dirty="0">
                <a:solidFill>
                  <a:srgbClr val="000000">
                    <a:alpha val="99000"/>
                  </a:srgbClr>
                </a:solidFill>
                <a:latin typeface="Darker Grotesque" pitchFamily="34" charset="0"/>
                <a:ea typeface="Darker Grotesque" pitchFamily="34" charset="-122"/>
                <a:cs typeface="Darker Grotesque" pitchFamily="34" charset="-120"/>
              </a:rPr>
              <a:t>melalui penyajian </a:t>
            </a:r>
            <a:pPr algn="ctr" indent="0" marL="0">
              <a:lnSpc>
                <a:spcPts val="1620"/>
              </a:lnSpc>
              <a:buNone/>
            </a:pPr>
            <a:r>
              <a:rPr lang="en-US" sz="1350" spc="-40" kern="0" dirty="0">
                <a:solidFill>
                  <a:srgbClr val="000000">
                    <a:alpha val="99000"/>
                  </a:srgbClr>
                </a:solidFill>
                <a:latin typeface="Darker Grotesque" pitchFamily="34" charset="0"/>
                <a:ea typeface="Darker Grotesque" pitchFamily="34" charset="-122"/>
                <a:cs typeface="Darker Grotesque" pitchFamily="34" charset="-120"/>
              </a:rPr>
              <a:t>informasi cuaca  serta kalender tanam</a:t>
            </a:r>
            <a:endParaRPr lang="en-US" sz="1350" dirty="0"/>
          </a:p>
        </p:txBody>
      </p:sp>
      <p:sp>
        <p:nvSpPr>
          <p:cNvPr id="20" name="Text 17"/>
          <p:cNvSpPr/>
          <p:nvPr/>
        </p:nvSpPr>
        <p:spPr>
          <a:xfrm>
            <a:off x="7867650" y="3812381"/>
            <a:ext cx="666750" cy="119063"/>
          </a:xfrm>
          <a:prstGeom prst="rect">
            <a:avLst/>
          </a:prstGeom>
          <a:noFill/>
          <a:ln/>
        </p:spPr>
        <p:txBody>
          <a:bodyPr wrap="square" rtlCol="0" anchor="ctr"/>
          <a:lstStyle/>
          <a:p>
            <a:pPr algn="ctr" indent="0" marL="0">
              <a:lnSpc>
                <a:spcPts val="1650"/>
              </a:lnSpc>
              <a:buNone/>
            </a:pPr>
            <a:r>
              <a:rPr lang="en-US" sz="1650" spc="-49" kern="0" dirty="0">
                <a:solidFill>
                  <a:srgbClr val="000000">
                    <a:alpha val="99000"/>
                  </a:srgbClr>
                </a:solidFill>
                <a:latin typeface="Darker Grotesque" pitchFamily="34" charset="0"/>
                <a:ea typeface="Darker Grotesque" pitchFamily="34" charset="-122"/>
                <a:cs typeface="Darker Grotesque" pitchFamily="34" charset="-120"/>
              </a:rPr>
              <a:t>04</a:t>
            </a:r>
            <a:endParaRPr lang="en-US" sz="1650" dirty="0"/>
          </a:p>
        </p:txBody>
      </p:sp>
      <p:sp>
        <p:nvSpPr>
          <p:cNvPr id="21" name="Text 18"/>
          <p:cNvSpPr/>
          <p:nvPr/>
        </p:nvSpPr>
        <p:spPr>
          <a:xfrm>
            <a:off x="4600575" y="2114550"/>
            <a:ext cx="2714625" cy="504825"/>
          </a:xfrm>
          <a:prstGeom prst="rect">
            <a:avLst/>
          </a:prstGeom>
          <a:noFill/>
          <a:ln/>
        </p:spPr>
        <p:txBody>
          <a:bodyPr wrap="square" rtlCol="0" anchor="ctr"/>
          <a:lstStyle/>
          <a:p>
            <a:pPr algn="ctr" indent="0" marL="0">
              <a:lnSpc>
                <a:spcPts val="1620"/>
              </a:lnSpc>
              <a:buNone/>
            </a:pPr>
            <a:r>
              <a:rPr lang="en-US" sz="1350" spc="-40" kern="0" dirty="0">
                <a:solidFill>
                  <a:srgbClr val="000000">
                    <a:alpha val="99000"/>
                  </a:srgbClr>
                </a:solidFill>
                <a:latin typeface="Darker Grotesque" pitchFamily="34" charset="0"/>
                <a:ea typeface="Darker Grotesque" pitchFamily="34" charset="-122"/>
                <a:cs typeface="Darker Grotesque" pitchFamily="34" charset="-120"/>
              </a:rPr>
              <a:t>Menyajikan data iklim secara transparan untuk meningkatkan pemahaman dan partisipasi publik.</a:t>
            </a:r>
            <a:endParaRPr lang="en-US" sz="1350" dirty="0"/>
          </a:p>
        </p:txBody>
      </p:sp>
      <p:sp>
        <p:nvSpPr>
          <p:cNvPr id="22" name="Text 19"/>
          <p:cNvSpPr/>
          <p:nvPr/>
        </p:nvSpPr>
        <p:spPr>
          <a:xfrm>
            <a:off x="5622131" y="3812381"/>
            <a:ext cx="661988" cy="119063"/>
          </a:xfrm>
          <a:prstGeom prst="rect">
            <a:avLst/>
          </a:prstGeom>
          <a:noFill/>
          <a:ln/>
        </p:spPr>
        <p:txBody>
          <a:bodyPr wrap="square" rtlCol="0" anchor="ctr"/>
          <a:lstStyle/>
          <a:p>
            <a:pPr algn="ctr" indent="0" marL="0">
              <a:lnSpc>
                <a:spcPts val="1650"/>
              </a:lnSpc>
              <a:buNone/>
            </a:pPr>
            <a:r>
              <a:rPr lang="en-US" sz="1650" spc="-49" kern="0" dirty="0">
                <a:solidFill>
                  <a:srgbClr val="000000">
                    <a:alpha val="99000"/>
                  </a:srgbClr>
                </a:solidFill>
                <a:latin typeface="Darker Grotesque" pitchFamily="34" charset="0"/>
                <a:ea typeface="Darker Grotesque" pitchFamily="34" charset="-122"/>
                <a:cs typeface="Darker Grotesque" pitchFamily="34" charset="-120"/>
              </a:rPr>
              <a:t>03</a:t>
            </a:r>
            <a:endParaRPr lang="en-US" sz="1650" dirty="0"/>
          </a:p>
        </p:txBody>
      </p:sp>
      <p:sp>
        <p:nvSpPr>
          <p:cNvPr id="23" name="Text 20"/>
          <p:cNvSpPr/>
          <p:nvPr/>
        </p:nvSpPr>
        <p:spPr>
          <a:xfrm>
            <a:off x="2319338" y="2143125"/>
            <a:ext cx="2714625" cy="504825"/>
          </a:xfrm>
          <a:prstGeom prst="rect">
            <a:avLst/>
          </a:prstGeom>
          <a:noFill/>
          <a:ln/>
        </p:spPr>
        <p:txBody>
          <a:bodyPr wrap="square" rtlCol="0" anchor="ctr"/>
          <a:lstStyle/>
          <a:p>
            <a:pPr algn="ctr" indent="0" marL="0">
              <a:lnSpc>
                <a:spcPts val="1620"/>
              </a:lnSpc>
              <a:buNone/>
            </a:pPr>
            <a:r>
              <a:rPr lang="en-US" sz="1350" spc="-40" kern="0" dirty="0">
                <a:solidFill>
                  <a:srgbClr val="000000">
                    <a:alpha val="99000"/>
                  </a:srgbClr>
                </a:solidFill>
                <a:latin typeface="Darker Grotesque" pitchFamily="34" charset="0"/>
                <a:ea typeface="Darker Grotesque" pitchFamily="34" charset="-122"/>
                <a:cs typeface="Darker Grotesque" pitchFamily="34" charset="-120"/>
              </a:rPr>
              <a:t>Membuka peluang pemanfaatan </a:t>
            </a:r>
            <a:endParaRPr lang="en-US" sz="1350" dirty="0"/>
          </a:p>
          <a:p>
            <a:pPr algn="ctr" indent="0" marL="0">
              <a:lnSpc>
                <a:spcPts val="1620"/>
              </a:lnSpc>
              <a:buNone/>
            </a:pPr>
            <a:r>
              <a:rPr lang="en-US" sz="1350" spc="-40" kern="0" dirty="0">
                <a:solidFill>
                  <a:srgbClr val="000000">
                    <a:alpha val="99000"/>
                  </a:srgbClr>
                </a:solidFill>
                <a:latin typeface="Darker Grotesque" pitchFamily="34" charset="0"/>
                <a:ea typeface="Darker Grotesque" pitchFamily="34" charset="-122"/>
                <a:cs typeface="Darker Grotesque" pitchFamily="34" charset="-120"/>
              </a:rPr>
              <a:t>data iklim terstruktur untuk </a:t>
            </a:r>
            <a:endParaRPr lang="en-US" sz="1350" dirty="0"/>
          </a:p>
          <a:p>
            <a:pPr algn="ctr" indent="0" marL="0">
              <a:lnSpc>
                <a:spcPts val="1620"/>
              </a:lnSpc>
              <a:buNone/>
            </a:pPr>
            <a:r>
              <a:rPr lang="en-US" sz="1350" spc="-40" kern="0" dirty="0">
                <a:solidFill>
                  <a:srgbClr val="000000">
                    <a:alpha val="99000"/>
                  </a:srgbClr>
                </a:solidFill>
                <a:latin typeface="Darker Grotesque" pitchFamily="34" charset="0"/>
                <a:ea typeface="Darker Grotesque" pitchFamily="34" charset="-122"/>
                <a:cs typeface="Darker Grotesque" pitchFamily="34" charset="-120"/>
              </a:rPr>
              <a:t>penelitian lanjutan</a:t>
            </a:r>
            <a:endParaRPr lang="en-US" sz="1350" dirty="0"/>
          </a:p>
        </p:txBody>
      </p:sp>
      <p:sp>
        <p:nvSpPr>
          <p:cNvPr id="24" name="Text 21"/>
          <p:cNvSpPr/>
          <p:nvPr/>
        </p:nvSpPr>
        <p:spPr>
          <a:xfrm>
            <a:off x="3345656" y="3812381"/>
            <a:ext cx="661988" cy="119063"/>
          </a:xfrm>
          <a:prstGeom prst="rect">
            <a:avLst/>
          </a:prstGeom>
          <a:noFill/>
          <a:ln/>
        </p:spPr>
        <p:txBody>
          <a:bodyPr wrap="square" rtlCol="0" anchor="ctr"/>
          <a:lstStyle/>
          <a:p>
            <a:pPr algn="ctr" indent="0" marL="0">
              <a:lnSpc>
                <a:spcPts val="1650"/>
              </a:lnSpc>
              <a:buNone/>
            </a:pPr>
            <a:r>
              <a:rPr lang="en-US" sz="1650" spc="-49" kern="0" dirty="0">
                <a:solidFill>
                  <a:srgbClr val="000000">
                    <a:alpha val="99000"/>
                  </a:srgbClr>
                </a:solidFill>
                <a:latin typeface="Darker Grotesque" pitchFamily="34" charset="0"/>
                <a:ea typeface="Darker Grotesque" pitchFamily="34" charset="-122"/>
                <a:cs typeface="Darker Grotesque" pitchFamily="34" charset="-120"/>
              </a:rPr>
              <a:t>02</a:t>
            </a:r>
            <a:endParaRPr lang="en-US" sz="1650" dirty="0"/>
          </a:p>
        </p:txBody>
      </p:sp>
      <p:sp>
        <p:nvSpPr>
          <p:cNvPr id="25" name="Text 22"/>
          <p:cNvSpPr/>
          <p:nvPr/>
        </p:nvSpPr>
        <p:spPr>
          <a:xfrm>
            <a:off x="47625" y="2114550"/>
            <a:ext cx="2714625" cy="709613"/>
          </a:xfrm>
          <a:prstGeom prst="rect">
            <a:avLst/>
          </a:prstGeom>
          <a:noFill/>
          <a:ln/>
        </p:spPr>
        <p:txBody>
          <a:bodyPr wrap="square" rtlCol="0" anchor="ctr"/>
          <a:lstStyle/>
          <a:p>
            <a:pPr algn="ctr" indent="0" marL="0">
              <a:lnSpc>
                <a:spcPts val="1620"/>
              </a:lnSpc>
              <a:buNone/>
            </a:pPr>
            <a:r>
              <a:rPr lang="en-US" sz="1350" spc="-40" kern="0" dirty="0">
                <a:solidFill>
                  <a:srgbClr val="000000">
                    <a:alpha val="99000"/>
                  </a:srgbClr>
                </a:solidFill>
                <a:latin typeface="Darker Grotesque" pitchFamily="34" charset="0"/>
                <a:ea typeface="Darker Grotesque" pitchFamily="34" charset="-122"/>
                <a:cs typeface="Darker Grotesque" pitchFamily="34" charset="-120"/>
              </a:rPr>
              <a:t>Menyediakan sistem data iklim terstruktur untuk mendukung perencanaan dan mitigasi di Aceh Besar.</a:t>
            </a:r>
            <a:endParaRPr lang="en-US" sz="1350" dirty="0"/>
          </a:p>
        </p:txBody>
      </p:sp>
      <p:sp>
        <p:nvSpPr>
          <p:cNvPr id="26" name="Text 23"/>
          <p:cNvSpPr/>
          <p:nvPr/>
        </p:nvSpPr>
        <p:spPr>
          <a:xfrm>
            <a:off x="1085850" y="3812381"/>
            <a:ext cx="628650" cy="119063"/>
          </a:xfrm>
          <a:prstGeom prst="rect">
            <a:avLst/>
          </a:prstGeom>
          <a:noFill/>
          <a:ln/>
        </p:spPr>
        <p:txBody>
          <a:bodyPr wrap="square" rtlCol="0" anchor="ctr"/>
          <a:lstStyle/>
          <a:p>
            <a:pPr algn="ctr" indent="0" marL="0">
              <a:lnSpc>
                <a:spcPts val="1650"/>
              </a:lnSpc>
              <a:buNone/>
            </a:pPr>
            <a:r>
              <a:rPr lang="en-US" sz="1650" spc="-49" kern="0" dirty="0">
                <a:solidFill>
                  <a:srgbClr val="000000">
                    <a:alpha val="99000"/>
                  </a:srgbClr>
                </a:solidFill>
                <a:latin typeface="Darker Grotesque" pitchFamily="34" charset="0"/>
                <a:ea typeface="Darker Grotesque" pitchFamily="34" charset="-122"/>
                <a:cs typeface="Darker Grotesque" pitchFamily="34" charset="-120"/>
              </a:rPr>
              <a:t>01</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DE8D8"/>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000000"/>
            </a:solidFill>
            <a:prstDash val="solid"/>
          </a:ln>
        </p:spPr>
      </p:sp>
      <p:sp>
        <p:nvSpPr>
          <p:cNvPr id="3" name="Text 1"/>
          <p:cNvSpPr/>
          <p:nvPr/>
        </p:nvSpPr>
        <p:spPr>
          <a:xfrm>
            <a:off x="285750" y="2157413"/>
            <a:ext cx="9029700" cy="823913"/>
          </a:xfrm>
          <a:prstGeom prst="rect">
            <a:avLst/>
          </a:prstGeom>
          <a:noFill/>
          <a:ln/>
        </p:spPr>
        <p:txBody>
          <a:bodyPr wrap="square" rtlCol="0" anchor="ctr"/>
          <a:lstStyle/>
          <a:p>
            <a:pPr algn="ctr" indent="0" marL="0">
              <a:lnSpc>
                <a:spcPts val="6453"/>
              </a:lnSpc>
              <a:buNone/>
            </a:pPr>
            <a:r>
              <a:rPr lang="en-US" sz="6900" spc="-276" kern="0" dirty="0">
                <a:solidFill>
                  <a:srgbClr val="000000">
                    <a:alpha val="99000"/>
                  </a:srgbClr>
                </a:solidFill>
                <a:latin typeface="Public Sans" pitchFamily="34" charset="0"/>
                <a:ea typeface="Public Sans" pitchFamily="34" charset="-122"/>
                <a:cs typeface="Public Sans" pitchFamily="34" charset="-120"/>
              </a:rPr>
              <a:t>PUSTAKA</a:t>
            </a:r>
            <a:endParaRPr lang="en-US" sz="6900" dirty="0"/>
          </a:p>
        </p:txBody>
      </p:sp>
      <p:sp>
        <p:nvSpPr>
          <p:cNvPr id="4" name="Text 2"/>
          <p:cNvSpPr/>
          <p:nvPr/>
        </p:nvSpPr>
        <p:spPr>
          <a:xfrm>
            <a:off x="90488" y="76200"/>
            <a:ext cx="1171575"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5" name="Text 3"/>
          <p:cNvSpPr/>
          <p:nvPr/>
        </p:nvSpPr>
        <p:spPr>
          <a:xfrm>
            <a:off x="1300163" y="76200"/>
            <a:ext cx="1643063"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SEMINAR PROPOSAL</a:t>
            </a:r>
            <a:endParaRPr lang="en-US" sz="825" dirty="0"/>
          </a:p>
        </p:txBody>
      </p:sp>
      <p:sp>
        <p:nvSpPr>
          <p:cNvPr id="6" name="Text 4"/>
          <p:cNvSpPr/>
          <p:nvPr/>
        </p:nvSpPr>
        <p:spPr>
          <a:xfrm>
            <a:off x="7529513" y="76200"/>
            <a:ext cx="1981200" cy="114300"/>
          </a:xfrm>
          <a:prstGeom prst="rect">
            <a:avLst/>
          </a:prstGeom>
          <a:noFill/>
          <a:ln/>
        </p:spPr>
        <p:txBody>
          <a:bodyPr wrap="square" rtlCol="0" anchor="ctr"/>
          <a:lstStyle/>
          <a:p>
            <a:pPr algn="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UNIVERSITAS SYIAH KUALA</a:t>
            </a:r>
            <a:endParaRPr lang="en-US" sz="8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ECE6"/>
        </a:solidFill>
      </p:bgPr>
    </p:bg>
    <p:spTree>
      <p:nvGrpSpPr>
        <p:cNvPr id="1" name=""/>
        <p:cNvGrpSpPr/>
        <p:nvPr/>
      </p:nvGrpSpPr>
      <p:grpSpPr>
        <a:xfrm>
          <a:off x="0" y="0"/>
          <a:ext cx="0" cy="0"/>
          <a:chOff x="0" y="0"/>
          <a:chExt cx="0" cy="0"/>
        </a:xfrm>
      </p:grpSpPr>
      <p:sp>
        <p:nvSpPr>
          <p:cNvPr id="3" name="Shape 0"/>
          <p:cNvSpPr/>
          <p:nvPr/>
        </p:nvSpPr>
        <p:spPr>
          <a:xfrm>
            <a:off x="381000" y="295275"/>
            <a:ext cx="5219700" cy="4376738"/>
          </a:xfrm>
          <a:prstGeom prst="roundRect">
            <a:avLst>
              <a:gd name="adj" fmla="val 8357"/>
            </a:avLst>
          </a:prstGeom>
          <a:solidFill>
            <a:srgbClr val="000000"/>
          </a:solidFill>
          <a:ln/>
        </p:spPr>
      </p:sp>
      <p:sp>
        <p:nvSpPr>
          <p:cNvPr id="4" name="Shape 1"/>
          <p:cNvSpPr/>
          <p:nvPr/>
        </p:nvSpPr>
        <p:spPr>
          <a:xfrm>
            <a:off x="6072188" y="3171825"/>
            <a:ext cx="2671763" cy="1571625"/>
          </a:xfrm>
          <a:prstGeom prst="rect">
            <a:avLst/>
          </a:prstGeom>
          <a:noFill/>
          <a:ln/>
        </p:spPr>
      </p:sp>
      <p:sp>
        <p:nvSpPr>
          <p:cNvPr id="5" name="Shape 2"/>
          <p:cNvSpPr/>
          <p:nvPr/>
        </p:nvSpPr>
        <p:spPr>
          <a:xfrm>
            <a:off x="-119063" y="-7200900"/>
            <a:ext cx="9148763" cy="13725525"/>
          </a:xfrm>
          <a:prstGeom prst="rect">
            <a:avLst/>
          </a:prstGeom>
          <a:noFill/>
          <a:ln/>
        </p:spPr>
      </p:sp>
      <p:sp>
        <p:nvSpPr>
          <p:cNvPr id="6" name="Shape 3"/>
          <p:cNvSpPr/>
          <p:nvPr/>
        </p:nvSpPr>
        <p:spPr>
          <a:xfrm rot="5400000">
            <a:off x="1428750" y="-1652587"/>
            <a:ext cx="6315076" cy="8420100"/>
          </a:xfrm>
          <a:prstGeom prst="rect">
            <a:avLst/>
          </a:prstGeom>
          <a:noFill/>
          <a:ln/>
        </p:spPr>
      </p:sp>
      <p:sp>
        <p:nvSpPr>
          <p:cNvPr id="7" name="Text 4"/>
          <p:cNvSpPr/>
          <p:nvPr/>
        </p:nvSpPr>
        <p:spPr>
          <a:xfrm>
            <a:off x="1276350" y="1404938"/>
            <a:ext cx="3429000" cy="2314575"/>
          </a:xfrm>
          <a:prstGeom prst="roundRect">
            <a:avLst>
              <a:gd name="adj" fmla="val 15802"/>
            </a:avLst>
          </a:prstGeom>
          <a:solidFill>
            <a:srgbClr val="FFFFFF"/>
          </a:solidFill>
          <a:ln/>
        </p:spPr>
        <p:txBody>
          <a:bodyPr wrap="square" rtlCol="0" anchor="ctr"/>
          <a:lstStyle/>
          <a:p>
            <a:pPr indent="0" marL="0">
              <a:buNone/>
            </a:pPr>
            <a:endParaRPr lang="en-US" dirty="0"/>
          </a:p>
        </p:txBody>
      </p:sp>
      <p:pic>
        <p:nvPicPr>
          <p:cNvPr id="8" name="Image 0" descr="preencoded.png">    </p:cNvPr>
          <p:cNvPicPr>
            <a:picLocks noChangeAspect="1"/>
          </p:cNvPicPr>
          <p:nvPr/>
        </p:nvPicPr>
        <p:blipFill>
          <a:blip r:embed="rId1"/>
          <a:stretch>
            <a:fillRect/>
          </a:stretch>
        </p:blipFill>
        <p:spPr>
          <a:xfrm>
            <a:off x="1609725" y="2947988"/>
            <a:ext cx="3095625" cy="290513"/>
          </a:xfrm>
          <a:prstGeom prst="rect">
            <a:avLst/>
          </a:prstGeom>
        </p:spPr>
      </p:pic>
      <p:pic>
        <p:nvPicPr>
          <p:cNvPr id="9" name="Image 1" descr="preencoded.png">    </p:cNvPr>
          <p:cNvPicPr>
            <a:picLocks noChangeAspect="1"/>
          </p:cNvPicPr>
          <p:nvPr/>
        </p:nvPicPr>
        <p:blipFill>
          <a:blip r:embed="rId2"/>
          <a:stretch>
            <a:fillRect/>
          </a:stretch>
        </p:blipFill>
        <p:spPr>
          <a:xfrm>
            <a:off x="1609725" y="2209800"/>
            <a:ext cx="3095625" cy="361950"/>
          </a:xfrm>
          <a:prstGeom prst="rect">
            <a:avLst/>
          </a:prstGeom>
        </p:spPr>
      </p:pic>
      <p:sp>
        <p:nvSpPr>
          <p:cNvPr id="10" name="Text 5"/>
          <p:cNvSpPr/>
          <p:nvPr/>
        </p:nvSpPr>
        <p:spPr>
          <a:xfrm>
            <a:off x="1485900" y="1581150"/>
            <a:ext cx="2757488" cy="238125"/>
          </a:xfrm>
          <a:prstGeom prst="rect">
            <a:avLst/>
          </a:prstGeom>
          <a:noFill/>
          <a:ln/>
        </p:spPr>
        <p:txBody>
          <a:bodyPr wrap="square" rtlCol="0" anchor="ctr"/>
          <a:lstStyle/>
          <a:p>
            <a:pPr algn="l" indent="0" marL="0">
              <a:lnSpc>
                <a:spcPts val="1875"/>
              </a:lnSpc>
              <a:buNone/>
            </a:pPr>
            <a:r>
              <a:rPr lang="en-US" sz="1463" dirty="0">
                <a:solidFill>
                  <a:srgbClr val="000000">
                    <a:alpha val="99000"/>
                  </a:srgbClr>
                </a:solidFill>
                <a:latin typeface="Dangrek" pitchFamily="34" charset="0"/>
                <a:ea typeface="Dangrek" pitchFamily="34" charset="-122"/>
                <a:cs typeface="Dangrek" pitchFamily="34" charset="-120"/>
              </a:rPr>
              <a:t>Rumus</a:t>
            </a:r>
            <a:endParaRPr lang="en-US" sz="1463" dirty="0"/>
          </a:p>
        </p:txBody>
      </p:sp>
      <p:sp>
        <p:nvSpPr>
          <p:cNvPr id="11" name="Text 6"/>
          <p:cNvSpPr/>
          <p:nvPr/>
        </p:nvSpPr>
        <p:spPr>
          <a:xfrm>
            <a:off x="2738438" y="4810125"/>
            <a:ext cx="1905000" cy="161925"/>
          </a:xfrm>
          <a:prstGeom prst="rect">
            <a:avLst/>
          </a:prstGeom>
          <a:noFill/>
          <a:ln/>
        </p:spPr>
        <p:txBody>
          <a:bodyPr wrap="square" rtlCol="0" anchor="ctr"/>
          <a:lstStyle/>
          <a:p>
            <a:pPr algn="r" indent="0" marL="0">
              <a:lnSpc>
                <a:spcPts val="1260"/>
              </a:lnSpc>
              <a:buNone/>
            </a:pPr>
            <a:r>
              <a:rPr lang="en-US" sz="900" dirty="0">
                <a:solidFill>
                  <a:srgbClr val="000000">
                    <a:alpha val="99000"/>
                  </a:srgbClr>
                </a:solidFill>
                <a:latin typeface="Plus Jakarta Sans" pitchFamily="34" charset="0"/>
                <a:ea typeface="Plus Jakarta Sans" pitchFamily="34" charset="-122"/>
                <a:cs typeface="Plus Jakarta Sans" pitchFamily="34" charset="-120"/>
              </a:rPr>
              <a:t>UNIVERSITAS SYIAH KUALA</a:t>
            </a:r>
            <a:endParaRPr lang="en-US" sz="900" dirty="0"/>
          </a:p>
        </p:txBody>
      </p:sp>
      <p:sp>
        <p:nvSpPr>
          <p:cNvPr id="12" name="Text 7"/>
          <p:cNvSpPr/>
          <p:nvPr/>
        </p:nvSpPr>
        <p:spPr>
          <a:xfrm>
            <a:off x="4757738" y="4810125"/>
            <a:ext cx="1166812" cy="114300"/>
          </a:xfrm>
          <a:prstGeom prst="rect">
            <a:avLst/>
          </a:prstGeom>
          <a:noFill/>
          <a:ln/>
        </p:spPr>
        <p:txBody>
          <a:bodyPr wrap="square" rtlCol="0" anchor="ctr"/>
          <a:lstStyle/>
          <a:p>
            <a:pPr algn="l" indent="0" marL="0">
              <a:lnSpc>
                <a:spcPts val="908"/>
              </a:lnSpc>
              <a:buNone/>
            </a:pPr>
            <a:r>
              <a:rPr lang="en-US" sz="825"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13" name="Text 8"/>
          <p:cNvSpPr/>
          <p:nvPr/>
        </p:nvSpPr>
        <p:spPr>
          <a:xfrm>
            <a:off x="1795463" y="2733675"/>
            <a:ext cx="2757488" cy="214313"/>
          </a:xfrm>
          <a:prstGeom prst="rect">
            <a:avLst/>
          </a:prstGeom>
          <a:noFill/>
          <a:ln/>
        </p:spPr>
        <p:txBody>
          <a:bodyPr wrap="square" rtlCol="0" anchor="ctr"/>
          <a:lstStyle/>
          <a:p>
            <a:pPr algn="ctr" indent="0" marL="0">
              <a:lnSpc>
                <a:spcPts val="1688"/>
              </a:lnSpc>
              <a:buNone/>
            </a:pPr>
            <a:r>
              <a:rPr lang="en-US" sz="1125" dirty="0">
                <a:solidFill>
                  <a:srgbClr val="000000">
                    <a:alpha val="99000"/>
                  </a:srgbClr>
                </a:solidFill>
                <a:latin typeface="Source Serif Pro" pitchFamily="34" charset="0"/>
                <a:ea typeface="Source Serif Pro" pitchFamily="34" charset="-122"/>
                <a:cs typeface="Source Serif Pro" pitchFamily="34" charset="-120"/>
              </a:rPr>
              <a:t>Multiplikatif</a:t>
            </a:r>
            <a:endParaRPr lang="en-US" sz="1125" dirty="0"/>
          </a:p>
        </p:txBody>
      </p:sp>
      <p:sp>
        <p:nvSpPr>
          <p:cNvPr id="14" name="Text 9"/>
          <p:cNvSpPr/>
          <p:nvPr/>
        </p:nvSpPr>
        <p:spPr>
          <a:xfrm>
            <a:off x="1838325" y="1995487"/>
            <a:ext cx="2757488" cy="214313"/>
          </a:xfrm>
          <a:prstGeom prst="rect">
            <a:avLst/>
          </a:prstGeom>
          <a:noFill/>
          <a:ln/>
        </p:spPr>
        <p:txBody>
          <a:bodyPr wrap="square" rtlCol="0" anchor="ctr"/>
          <a:lstStyle/>
          <a:p>
            <a:pPr algn="ctr" indent="0" marL="0">
              <a:lnSpc>
                <a:spcPts val="1688"/>
              </a:lnSpc>
              <a:buNone/>
            </a:pPr>
            <a:r>
              <a:rPr lang="en-US" sz="1125" dirty="0">
                <a:solidFill>
                  <a:srgbClr val="000000">
                    <a:alpha val="99000"/>
                  </a:srgbClr>
                </a:solidFill>
                <a:latin typeface="Source Serif Pro" pitchFamily="34" charset="0"/>
                <a:ea typeface="Source Serif Pro" pitchFamily="34" charset="-122"/>
                <a:cs typeface="Source Serif Pro" pitchFamily="34" charset="-120"/>
              </a:rPr>
              <a:t>Aditif</a:t>
            </a:r>
            <a:endParaRPr lang="en-US" sz="1125" dirty="0"/>
          </a:p>
        </p:txBody>
      </p:sp>
      <p:sp>
        <p:nvSpPr>
          <p:cNvPr id="15" name="Text 10"/>
          <p:cNvSpPr/>
          <p:nvPr/>
        </p:nvSpPr>
        <p:spPr>
          <a:xfrm>
            <a:off x="6072188" y="3171825"/>
            <a:ext cx="3128963" cy="238125"/>
          </a:xfrm>
          <a:prstGeom prst="rect">
            <a:avLst/>
          </a:prstGeom>
          <a:noFill/>
          <a:ln/>
        </p:spPr>
        <p:txBody>
          <a:bodyPr wrap="square" rtlCol="0" anchor="ctr"/>
          <a:lstStyle/>
          <a:p>
            <a:pPr algn="l" indent="0" marL="0">
              <a:lnSpc>
                <a:spcPts val="1875"/>
              </a:lnSpc>
              <a:buNone/>
            </a:pPr>
            <a:r>
              <a:rPr lang="en-US" sz="1463" b="1" dirty="0">
                <a:solidFill>
                  <a:srgbClr val="000000">
                    <a:alpha val="99000"/>
                  </a:srgbClr>
                </a:solidFill>
                <a:latin typeface="Plus Jakarta Sans" pitchFamily="34" charset="0"/>
                <a:ea typeface="Plus Jakarta Sans" pitchFamily="34" charset="-122"/>
                <a:cs typeface="Plus Jakarta Sans" pitchFamily="34" charset="-120"/>
              </a:rPr>
              <a:t>Holt Winters</a:t>
            </a:r>
            <a:endParaRPr lang="en-US" sz="1463" dirty="0"/>
          </a:p>
        </p:txBody>
      </p:sp>
      <p:sp>
        <p:nvSpPr>
          <p:cNvPr id="16" name="Text 11"/>
          <p:cNvSpPr/>
          <p:nvPr/>
        </p:nvSpPr>
        <p:spPr>
          <a:xfrm>
            <a:off x="6072188" y="3552825"/>
            <a:ext cx="3128963" cy="1190625"/>
          </a:xfrm>
          <a:prstGeom prst="rect">
            <a:avLst/>
          </a:prstGeom>
          <a:noFill/>
          <a:ln/>
        </p:spPr>
        <p:txBody>
          <a:bodyPr wrap="square" rtlCol="0" anchor="ctr"/>
          <a:lstStyle/>
          <a:p>
            <a:pPr algn="l" indent="0" marL="0">
              <a:lnSpc>
                <a:spcPts val="1875"/>
              </a:lnSpc>
              <a:buNone/>
            </a:pPr>
            <a:r>
              <a:rPr lang="en-US" sz="1350" dirty="0">
                <a:solidFill>
                  <a:srgbClr val="000000">
                    <a:alpha val="99000"/>
                  </a:srgbClr>
                </a:solidFill>
                <a:latin typeface="Uchen" pitchFamily="34" charset="0"/>
                <a:ea typeface="Uchen" pitchFamily="34" charset="-122"/>
                <a:cs typeface="Uchen" pitchFamily="34" charset="-120"/>
              </a:rPr>
              <a:t>Teknik peramalan data time series yang dikembangkan untuk menagani data yang memiliki pola musiman, selain tren dan level</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ECE6"/>
        </a:solidFill>
      </p:bgPr>
    </p:bg>
    <p:spTree>
      <p:nvGrpSpPr>
        <p:cNvPr id="1" name=""/>
        <p:cNvGrpSpPr/>
        <p:nvPr/>
      </p:nvGrpSpPr>
      <p:grpSpPr>
        <a:xfrm>
          <a:off x="0" y="0"/>
          <a:ext cx="0" cy="0"/>
          <a:chOff x="0" y="0"/>
          <a:chExt cx="0" cy="0"/>
        </a:xfrm>
      </p:grpSpPr>
      <p:sp>
        <p:nvSpPr>
          <p:cNvPr id="3" name="Shape 0"/>
          <p:cNvSpPr/>
          <p:nvPr/>
        </p:nvSpPr>
        <p:spPr>
          <a:xfrm>
            <a:off x="6072188" y="2933700"/>
            <a:ext cx="2300288" cy="1809750"/>
          </a:xfrm>
          <a:prstGeom prst="rect">
            <a:avLst/>
          </a:prstGeom>
          <a:noFill/>
          <a:ln/>
        </p:spPr>
      </p:sp>
      <p:pic>
        <p:nvPicPr>
          <p:cNvPr id="4" name="Image 0" descr="preencoded.png">    </p:cNvPr>
          <p:cNvPicPr>
            <a:picLocks noChangeAspect="1"/>
          </p:cNvPicPr>
          <p:nvPr/>
        </p:nvPicPr>
        <p:blipFill>
          <a:blip r:embed="rId1"/>
          <a:stretch>
            <a:fillRect/>
          </a:stretch>
        </p:blipFill>
        <p:spPr>
          <a:xfrm>
            <a:off x="381000" y="323850"/>
            <a:ext cx="5219700" cy="4376738"/>
          </a:xfrm>
          <a:prstGeom prst="rect">
            <a:avLst/>
          </a:prstGeom>
        </p:spPr>
      </p:pic>
      <p:sp>
        <p:nvSpPr>
          <p:cNvPr id="5" name="Text 1"/>
          <p:cNvSpPr/>
          <p:nvPr/>
        </p:nvSpPr>
        <p:spPr>
          <a:xfrm>
            <a:off x="2738438" y="4810125"/>
            <a:ext cx="1905000" cy="161925"/>
          </a:xfrm>
          <a:prstGeom prst="rect">
            <a:avLst/>
          </a:prstGeom>
          <a:noFill/>
          <a:ln/>
        </p:spPr>
        <p:txBody>
          <a:bodyPr wrap="square" rtlCol="0" anchor="ctr"/>
          <a:lstStyle/>
          <a:p>
            <a:pPr algn="r" indent="0" marL="0">
              <a:lnSpc>
                <a:spcPts val="1260"/>
              </a:lnSpc>
              <a:buNone/>
            </a:pPr>
            <a:r>
              <a:rPr lang="en-US" sz="900" dirty="0">
                <a:solidFill>
                  <a:srgbClr val="000000">
                    <a:alpha val="99000"/>
                  </a:srgbClr>
                </a:solidFill>
                <a:latin typeface="Plus Jakarta Sans" pitchFamily="34" charset="0"/>
                <a:ea typeface="Plus Jakarta Sans" pitchFamily="34" charset="-122"/>
                <a:cs typeface="Plus Jakarta Sans" pitchFamily="34" charset="-120"/>
              </a:rPr>
              <a:t>UNIVERSITAS SYIAH KUALA</a:t>
            </a:r>
            <a:endParaRPr lang="en-US" sz="900" dirty="0"/>
          </a:p>
        </p:txBody>
      </p:sp>
      <p:sp>
        <p:nvSpPr>
          <p:cNvPr id="6" name="Text 2"/>
          <p:cNvSpPr/>
          <p:nvPr/>
        </p:nvSpPr>
        <p:spPr>
          <a:xfrm>
            <a:off x="4757738" y="4810125"/>
            <a:ext cx="1166812" cy="114300"/>
          </a:xfrm>
          <a:prstGeom prst="rect">
            <a:avLst/>
          </a:prstGeom>
          <a:noFill/>
          <a:ln/>
        </p:spPr>
        <p:txBody>
          <a:bodyPr wrap="square" rtlCol="0" anchor="ctr"/>
          <a:lstStyle/>
          <a:p>
            <a:pPr algn="l" indent="0" marL="0">
              <a:lnSpc>
                <a:spcPts val="908"/>
              </a:lnSpc>
              <a:buNone/>
            </a:pPr>
            <a:r>
              <a:rPr lang="en-US" sz="825"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7" name="Text 3"/>
          <p:cNvSpPr/>
          <p:nvPr/>
        </p:nvSpPr>
        <p:spPr>
          <a:xfrm>
            <a:off x="6072188" y="2933700"/>
            <a:ext cx="2757488" cy="238125"/>
          </a:xfrm>
          <a:prstGeom prst="rect">
            <a:avLst/>
          </a:prstGeom>
          <a:noFill/>
          <a:ln/>
        </p:spPr>
        <p:txBody>
          <a:bodyPr wrap="square" rtlCol="0" anchor="ctr"/>
          <a:lstStyle/>
          <a:p>
            <a:pPr algn="l" indent="0" marL="0">
              <a:lnSpc>
                <a:spcPts val="1875"/>
              </a:lnSpc>
              <a:buNone/>
            </a:pPr>
            <a:r>
              <a:rPr lang="en-US" sz="1463" dirty="0">
                <a:solidFill>
                  <a:srgbClr val="000000">
                    <a:alpha val="99000"/>
                  </a:srgbClr>
                </a:solidFill>
                <a:latin typeface="Dangrek" pitchFamily="34" charset="0"/>
                <a:ea typeface="Dangrek" pitchFamily="34" charset="-122"/>
                <a:cs typeface="Dangrek" pitchFamily="34" charset="-120"/>
              </a:rPr>
              <a:t>Dataset</a:t>
            </a:r>
            <a:endParaRPr lang="en-US" sz="1463" dirty="0"/>
          </a:p>
        </p:txBody>
      </p:sp>
      <p:sp>
        <p:nvSpPr>
          <p:cNvPr id="8" name="Text 4"/>
          <p:cNvSpPr/>
          <p:nvPr/>
        </p:nvSpPr>
        <p:spPr>
          <a:xfrm>
            <a:off x="6072188" y="3314700"/>
            <a:ext cx="2757488" cy="1428750"/>
          </a:xfrm>
          <a:prstGeom prst="rect">
            <a:avLst/>
          </a:prstGeom>
          <a:noFill/>
          <a:ln/>
        </p:spPr>
        <p:txBody>
          <a:bodyPr wrap="square" rtlCol="0" anchor="ctr"/>
          <a:lstStyle/>
          <a:p>
            <a:pPr algn="l" indent="0" marL="0">
              <a:lnSpc>
                <a:spcPts val="1875"/>
              </a:lnSpc>
              <a:buNone/>
            </a:pPr>
            <a:r>
              <a:rPr lang="en-US" sz="1350" dirty="0">
                <a:solidFill>
                  <a:srgbClr val="000000">
                    <a:alpha val="99000"/>
                  </a:srgbClr>
                </a:solidFill>
                <a:latin typeface="Uchen" pitchFamily="34" charset="0"/>
                <a:ea typeface="Uchen" pitchFamily="34" charset="-122"/>
                <a:cs typeface="Uchen" pitchFamily="34" charset="-120"/>
              </a:rPr>
              <a:t>kumpulan data yang tersusun secara terstruktur, dapat diakses sekaligus melalui tautan atau perintah, dan sering diperbarui secara berkala. </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ECE6"/>
        </a:solidFill>
      </p:bgPr>
    </p:bg>
    <p:spTree>
      <p:nvGrpSpPr>
        <p:cNvPr id="1" name=""/>
        <p:cNvGrpSpPr/>
        <p:nvPr/>
      </p:nvGrpSpPr>
      <p:grpSpPr>
        <a:xfrm>
          <a:off x="0" y="0"/>
          <a:ext cx="0" cy="0"/>
          <a:chOff x="0" y="0"/>
          <a:chExt cx="0" cy="0"/>
        </a:xfrm>
      </p:grpSpPr>
      <p:sp>
        <p:nvSpPr>
          <p:cNvPr id="3" name="Shape 0"/>
          <p:cNvSpPr/>
          <p:nvPr/>
        </p:nvSpPr>
        <p:spPr>
          <a:xfrm>
            <a:off x="381000" y="323850"/>
            <a:ext cx="5219700" cy="4376738"/>
          </a:xfrm>
          <a:prstGeom prst="roundRect">
            <a:avLst>
              <a:gd name="adj" fmla="val 8357"/>
            </a:avLst>
          </a:prstGeom>
          <a:solidFill>
            <a:srgbClr val="000000"/>
          </a:solidFill>
          <a:ln/>
        </p:spPr>
      </p:sp>
      <p:sp>
        <p:nvSpPr>
          <p:cNvPr id="4" name="Shape 1"/>
          <p:cNvSpPr/>
          <p:nvPr/>
        </p:nvSpPr>
        <p:spPr>
          <a:xfrm>
            <a:off x="6072188" y="2457450"/>
            <a:ext cx="2300288" cy="2286000"/>
          </a:xfrm>
          <a:prstGeom prst="rect">
            <a:avLst/>
          </a:prstGeom>
          <a:noFill/>
          <a:ln/>
        </p:spPr>
      </p:sp>
      <p:sp>
        <p:nvSpPr>
          <p:cNvPr id="5" name="Shape 2"/>
          <p:cNvSpPr/>
          <p:nvPr/>
        </p:nvSpPr>
        <p:spPr>
          <a:xfrm>
            <a:off x="-119063" y="-7172325"/>
            <a:ext cx="9148763" cy="13725525"/>
          </a:xfrm>
          <a:prstGeom prst="rect">
            <a:avLst/>
          </a:prstGeom>
          <a:noFill/>
          <a:ln/>
        </p:spPr>
      </p:sp>
      <p:sp>
        <p:nvSpPr>
          <p:cNvPr id="6" name="Shape 3"/>
          <p:cNvSpPr/>
          <p:nvPr/>
        </p:nvSpPr>
        <p:spPr>
          <a:xfrm rot="5400000">
            <a:off x="1428750" y="-1624012"/>
            <a:ext cx="6315076" cy="8420100"/>
          </a:xfrm>
          <a:prstGeom prst="rect">
            <a:avLst/>
          </a:prstGeom>
          <a:noFill/>
          <a:ln/>
        </p:spPr>
      </p:sp>
      <p:pic>
        <p:nvPicPr>
          <p:cNvPr id="7" name="Image 0" descr="preencoded.png">    </p:cNvPr>
          <p:cNvPicPr>
            <a:picLocks noChangeAspect="1"/>
          </p:cNvPicPr>
          <p:nvPr/>
        </p:nvPicPr>
        <p:blipFill>
          <a:blip r:embed="rId1"/>
          <a:stretch>
            <a:fillRect/>
          </a:stretch>
        </p:blipFill>
        <p:spPr>
          <a:xfrm>
            <a:off x="381000" y="323850"/>
            <a:ext cx="5219700" cy="4376738"/>
          </a:xfrm>
          <a:prstGeom prst="rect">
            <a:avLst/>
          </a:prstGeom>
        </p:spPr>
      </p:pic>
      <p:sp>
        <p:nvSpPr>
          <p:cNvPr id="8" name="Text 4"/>
          <p:cNvSpPr/>
          <p:nvPr/>
        </p:nvSpPr>
        <p:spPr>
          <a:xfrm>
            <a:off x="2738438" y="4810125"/>
            <a:ext cx="1905000" cy="161925"/>
          </a:xfrm>
          <a:prstGeom prst="rect">
            <a:avLst/>
          </a:prstGeom>
          <a:noFill/>
          <a:ln/>
        </p:spPr>
        <p:txBody>
          <a:bodyPr wrap="square" rtlCol="0" anchor="ctr"/>
          <a:lstStyle/>
          <a:p>
            <a:pPr algn="r" indent="0" marL="0">
              <a:lnSpc>
                <a:spcPts val="1260"/>
              </a:lnSpc>
              <a:buNone/>
            </a:pPr>
            <a:r>
              <a:rPr lang="en-US" sz="900" dirty="0">
                <a:solidFill>
                  <a:srgbClr val="000000">
                    <a:alpha val="99000"/>
                  </a:srgbClr>
                </a:solidFill>
                <a:latin typeface="Plus Jakarta Sans" pitchFamily="34" charset="0"/>
                <a:ea typeface="Plus Jakarta Sans" pitchFamily="34" charset="-122"/>
                <a:cs typeface="Plus Jakarta Sans" pitchFamily="34" charset="-120"/>
              </a:rPr>
              <a:t>UNIVERSITAS SYIAH KUALA</a:t>
            </a:r>
            <a:endParaRPr lang="en-US" sz="900" dirty="0"/>
          </a:p>
        </p:txBody>
      </p:sp>
      <p:sp>
        <p:nvSpPr>
          <p:cNvPr id="9" name="Text 5"/>
          <p:cNvSpPr/>
          <p:nvPr/>
        </p:nvSpPr>
        <p:spPr>
          <a:xfrm>
            <a:off x="4757738" y="4810125"/>
            <a:ext cx="1166812" cy="114300"/>
          </a:xfrm>
          <a:prstGeom prst="rect">
            <a:avLst/>
          </a:prstGeom>
          <a:noFill/>
          <a:ln/>
        </p:spPr>
        <p:txBody>
          <a:bodyPr wrap="square" rtlCol="0" anchor="ctr"/>
          <a:lstStyle/>
          <a:p>
            <a:pPr algn="l" indent="0" marL="0">
              <a:lnSpc>
                <a:spcPts val="908"/>
              </a:lnSpc>
              <a:buNone/>
            </a:pPr>
            <a:r>
              <a:rPr lang="en-US" sz="825"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10" name="Text 6"/>
          <p:cNvSpPr/>
          <p:nvPr/>
        </p:nvSpPr>
        <p:spPr>
          <a:xfrm>
            <a:off x="6072188" y="2457450"/>
            <a:ext cx="2757488" cy="476250"/>
          </a:xfrm>
          <a:prstGeom prst="rect">
            <a:avLst/>
          </a:prstGeom>
          <a:noFill/>
          <a:ln/>
        </p:spPr>
        <p:txBody>
          <a:bodyPr wrap="square" rtlCol="0" anchor="ctr"/>
          <a:lstStyle/>
          <a:p>
            <a:pPr algn="l" indent="0" marL="0">
              <a:lnSpc>
                <a:spcPts val="1875"/>
              </a:lnSpc>
              <a:buNone/>
            </a:pPr>
            <a:r>
              <a:rPr lang="en-US" sz="1463" dirty="0">
                <a:solidFill>
                  <a:srgbClr val="000000">
                    <a:alpha val="99000"/>
                  </a:srgbClr>
                </a:solidFill>
                <a:latin typeface="Dangrek" pitchFamily="34" charset="0"/>
                <a:ea typeface="Dangrek" pitchFamily="34" charset="-122"/>
                <a:cs typeface="Dangrek" pitchFamily="34" charset="-120"/>
              </a:rPr>
              <a:t>Database Mangement System</a:t>
            </a:r>
            <a:endParaRPr lang="en-US" sz="1463" dirty="0"/>
          </a:p>
        </p:txBody>
      </p:sp>
      <p:sp>
        <p:nvSpPr>
          <p:cNvPr id="11" name="Text 7"/>
          <p:cNvSpPr/>
          <p:nvPr/>
        </p:nvSpPr>
        <p:spPr>
          <a:xfrm>
            <a:off x="6072188" y="3076575"/>
            <a:ext cx="2757488" cy="1666875"/>
          </a:xfrm>
          <a:prstGeom prst="rect">
            <a:avLst/>
          </a:prstGeom>
          <a:noFill/>
          <a:ln/>
        </p:spPr>
        <p:txBody>
          <a:bodyPr wrap="square" rtlCol="0" anchor="ctr"/>
          <a:lstStyle/>
          <a:p>
            <a:pPr algn="l" indent="0" marL="0">
              <a:lnSpc>
                <a:spcPts val="1875"/>
              </a:lnSpc>
              <a:buNone/>
            </a:pPr>
            <a:r>
              <a:rPr lang="en-US" sz="1350" dirty="0">
                <a:solidFill>
                  <a:srgbClr val="000000">
                    <a:alpha val="99000"/>
                  </a:srgbClr>
                </a:solidFill>
                <a:latin typeface="Uchen" pitchFamily="34" charset="0"/>
                <a:ea typeface="Uchen" pitchFamily="34" charset="-122"/>
                <a:cs typeface="Uchen" pitchFamily="34" charset="-120"/>
              </a:rPr>
              <a:t>Perangkat lunak yang digunakan untuk mengelola dan menjalankan query pada basis data. </a:t>
            </a:r>
            <a:endParaRPr lang="en-US" sz="1350" dirty="0"/>
          </a:p>
          <a:p>
            <a:pPr algn="l" indent="0" marL="0">
              <a:lnSpc>
                <a:spcPts val="1875"/>
              </a:lnSpc>
              <a:buNone/>
            </a:pPr>
            <a:r>
              <a:rPr lang="en-US" sz="1350" dirty="0">
                <a:solidFill>
                  <a:srgbClr val="000000">
                    <a:alpha val="99000"/>
                  </a:srgbClr>
                </a:solidFill>
                <a:latin typeface="Uchen" pitchFamily="34" charset="0"/>
                <a:ea typeface="Uchen" pitchFamily="34" charset="-122"/>
                <a:cs typeface="Uchen" pitchFamily="34" charset="-120"/>
              </a:rPr>
              <a:t>Dapat menyimpan dan mengakses data secara mudah, cepat, dan efisien</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DE8D8"/>
        </a:solidFill>
      </p:bgPr>
    </p:bg>
    <p:spTree>
      <p:nvGrpSpPr>
        <p:cNvPr id="1" name=""/>
        <p:cNvGrpSpPr/>
        <p:nvPr/>
      </p:nvGrpSpPr>
      <p:grpSpPr>
        <a:xfrm>
          <a:off x="0" y="0"/>
          <a:ext cx="0" cy="0"/>
          <a:chOff x="0" y="0"/>
          <a:chExt cx="0" cy="0"/>
        </a:xfrm>
      </p:grpSpPr>
      <p:sp>
        <p:nvSpPr>
          <p:cNvPr id="3" name="Shape 0"/>
          <p:cNvSpPr/>
          <p:nvPr/>
        </p:nvSpPr>
        <p:spPr>
          <a:xfrm>
            <a:off x="6919913" y="733425"/>
            <a:ext cx="552450" cy="552450"/>
          </a:xfrm>
          <a:prstGeom prst="rect">
            <a:avLst/>
          </a:prstGeom>
          <a:noFill/>
          <a:ln/>
        </p:spPr>
      </p:sp>
      <p:pic>
        <p:nvPicPr>
          <p:cNvPr id="4" name="Image 0" descr="preencoded.png">    </p:cNvPr>
          <p:cNvPicPr>
            <a:picLocks noChangeAspect="1"/>
          </p:cNvPicPr>
          <p:nvPr/>
        </p:nvPicPr>
        <p:blipFill>
          <a:blip r:embed="rId1"/>
          <a:stretch>
            <a:fillRect/>
          </a:stretch>
        </p:blipFill>
        <p:spPr>
          <a:xfrm>
            <a:off x="90488" y="238125"/>
            <a:ext cx="8963025" cy="4814888"/>
          </a:xfrm>
          <a:prstGeom prst="rect">
            <a:avLst/>
          </a:prstGeom>
        </p:spPr>
      </p:pic>
      <p:pic>
        <p:nvPicPr>
          <p:cNvPr id="5" name="Image 1" descr="preencoded.png">    </p:cNvPr>
          <p:cNvPicPr>
            <a:picLocks noChangeAspect="1"/>
          </p:cNvPicPr>
          <p:nvPr/>
        </p:nvPicPr>
        <p:blipFill>
          <a:blip r:embed="rId2"/>
          <a:stretch>
            <a:fillRect/>
          </a:stretch>
        </p:blipFill>
        <p:spPr>
          <a:xfrm>
            <a:off x="6681788" y="3619500"/>
            <a:ext cx="504825" cy="504825"/>
          </a:xfrm>
          <a:prstGeom prst="rect">
            <a:avLst/>
          </a:prstGeom>
        </p:spPr>
      </p:pic>
      <p:pic>
        <p:nvPicPr>
          <p:cNvPr id="6" name="Image 2" descr="preencoded.png">    </p:cNvPr>
          <p:cNvPicPr>
            <a:picLocks noChangeAspect="1"/>
          </p:cNvPicPr>
          <p:nvPr/>
        </p:nvPicPr>
        <p:blipFill>
          <a:blip r:embed="rId3"/>
          <a:stretch>
            <a:fillRect/>
          </a:stretch>
        </p:blipFill>
        <p:spPr>
          <a:xfrm>
            <a:off x="6925661" y="739180"/>
            <a:ext cx="540934" cy="540941"/>
          </a:xfrm>
          <a:prstGeom prst="rect">
            <a:avLst/>
          </a:prstGeom>
        </p:spPr>
      </p:pic>
      <p:pic>
        <p:nvPicPr>
          <p:cNvPr id="7" name="Image 3" descr="preencoded.png">    </p:cNvPr>
          <p:cNvPicPr>
            <a:picLocks noChangeAspect="1"/>
          </p:cNvPicPr>
          <p:nvPr/>
        </p:nvPicPr>
        <p:blipFill>
          <a:blip r:embed="rId4"/>
          <a:stretch>
            <a:fillRect/>
          </a:stretch>
        </p:blipFill>
        <p:spPr>
          <a:xfrm>
            <a:off x="7087958" y="901462"/>
            <a:ext cx="287015" cy="333114"/>
          </a:xfrm>
          <a:prstGeom prst="rect">
            <a:avLst/>
          </a:prstGeom>
        </p:spPr>
      </p:pic>
      <p:pic>
        <p:nvPicPr>
          <p:cNvPr id="8" name="Image 4" descr="preencoded.png">    </p:cNvPr>
          <p:cNvPicPr>
            <a:picLocks noChangeAspect="1"/>
          </p:cNvPicPr>
          <p:nvPr/>
        </p:nvPicPr>
        <p:blipFill>
          <a:blip r:embed="rId5"/>
          <a:stretch>
            <a:fillRect/>
          </a:stretch>
        </p:blipFill>
        <p:spPr>
          <a:xfrm>
            <a:off x="7271258" y="901462"/>
            <a:ext cx="36054" cy="216376"/>
          </a:xfrm>
          <a:prstGeom prst="rect">
            <a:avLst/>
          </a:prstGeom>
        </p:spPr>
      </p:pic>
      <p:pic>
        <p:nvPicPr>
          <p:cNvPr id="9" name="Image 5" descr="preencoded.png">    </p:cNvPr>
          <p:cNvPicPr>
            <a:picLocks noChangeAspect="1"/>
          </p:cNvPicPr>
          <p:nvPr/>
        </p:nvPicPr>
        <p:blipFill>
          <a:blip r:embed="rId6"/>
          <a:stretch>
            <a:fillRect/>
          </a:stretch>
        </p:blipFill>
        <p:spPr>
          <a:xfrm>
            <a:off x="6925661" y="739180"/>
            <a:ext cx="540934" cy="540941"/>
          </a:xfrm>
          <a:prstGeom prst="rect">
            <a:avLst/>
          </a:prstGeom>
        </p:spPr>
      </p:pic>
      <p:pic>
        <p:nvPicPr>
          <p:cNvPr id="10" name="Image 6" descr="preencoded.png">    </p:cNvPr>
          <p:cNvPicPr>
            <a:picLocks noChangeAspect="1"/>
          </p:cNvPicPr>
          <p:nvPr/>
        </p:nvPicPr>
        <p:blipFill>
          <a:blip r:embed="rId7"/>
          <a:stretch>
            <a:fillRect/>
          </a:stretch>
        </p:blipFill>
        <p:spPr>
          <a:xfrm>
            <a:off x="1638300" y="3452813"/>
            <a:ext cx="700088" cy="700088"/>
          </a:xfrm>
          <a:prstGeom prst="rect">
            <a:avLst/>
          </a:prstGeom>
        </p:spPr>
      </p:pic>
      <p:pic>
        <p:nvPicPr>
          <p:cNvPr id="11" name="Image 7" descr="preencoded.png">    </p:cNvPr>
          <p:cNvPicPr>
            <a:picLocks noChangeAspect="1"/>
          </p:cNvPicPr>
          <p:nvPr/>
        </p:nvPicPr>
        <p:blipFill>
          <a:blip r:embed="rId8"/>
          <a:stretch>
            <a:fillRect/>
          </a:stretch>
        </p:blipFill>
        <p:spPr>
          <a:xfrm>
            <a:off x="1652588" y="981075"/>
            <a:ext cx="672201" cy="495300"/>
          </a:xfrm>
          <a:prstGeom prst="rect">
            <a:avLst/>
          </a:prstGeom>
        </p:spPr>
      </p:pic>
      <p:sp>
        <p:nvSpPr>
          <p:cNvPr id="12" name="Text 1"/>
          <p:cNvSpPr/>
          <p:nvPr/>
        </p:nvSpPr>
        <p:spPr>
          <a:xfrm>
            <a:off x="3114675" y="2338388"/>
            <a:ext cx="3371850" cy="366713"/>
          </a:xfrm>
          <a:prstGeom prst="rect">
            <a:avLst/>
          </a:prstGeom>
          <a:noFill/>
          <a:ln/>
        </p:spPr>
        <p:txBody>
          <a:bodyPr wrap="square" rtlCol="0" anchor="ctr"/>
          <a:lstStyle/>
          <a:p>
            <a:pPr algn="ctr"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Tinjauan pustaka</a:t>
            </a:r>
            <a:endParaRPr lang="en-US" sz="2625" dirty="0"/>
          </a:p>
        </p:txBody>
      </p:sp>
      <p:sp>
        <p:nvSpPr>
          <p:cNvPr id="13" name="Text 2"/>
          <p:cNvSpPr/>
          <p:nvPr/>
        </p:nvSpPr>
        <p:spPr>
          <a:xfrm>
            <a:off x="4333875" y="314325"/>
            <a:ext cx="581025" cy="114300"/>
          </a:xfrm>
          <a:prstGeom prst="rect">
            <a:avLst/>
          </a:prstGeom>
          <a:noFill/>
          <a:ln/>
        </p:spPr>
        <p:txBody>
          <a:bodyPr wrap="square" rtlCol="0" anchor="ctr"/>
          <a:lstStyle/>
          <a:p>
            <a:pPr algn="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01</a:t>
            </a:r>
            <a:endParaRPr lang="en-US" sz="825" dirty="0"/>
          </a:p>
        </p:txBody>
      </p:sp>
      <p:sp>
        <p:nvSpPr>
          <p:cNvPr id="14" name="Text 3"/>
          <p:cNvSpPr/>
          <p:nvPr/>
        </p:nvSpPr>
        <p:spPr>
          <a:xfrm>
            <a:off x="4662488" y="4862513"/>
            <a:ext cx="609600"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04</a:t>
            </a:r>
            <a:endParaRPr lang="en-US" sz="825" dirty="0"/>
          </a:p>
        </p:txBody>
      </p:sp>
      <p:sp>
        <p:nvSpPr>
          <p:cNvPr id="15" name="Text 4"/>
          <p:cNvSpPr/>
          <p:nvPr/>
        </p:nvSpPr>
        <p:spPr>
          <a:xfrm>
            <a:off x="166688" y="2647950"/>
            <a:ext cx="604838"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03</a:t>
            </a:r>
            <a:endParaRPr lang="en-US" sz="825" dirty="0"/>
          </a:p>
        </p:txBody>
      </p:sp>
      <p:sp>
        <p:nvSpPr>
          <p:cNvPr id="16" name="Text 5"/>
          <p:cNvSpPr/>
          <p:nvPr/>
        </p:nvSpPr>
        <p:spPr>
          <a:xfrm>
            <a:off x="8829675" y="2409825"/>
            <a:ext cx="604838" cy="114300"/>
          </a:xfrm>
          <a:prstGeom prst="rect">
            <a:avLst/>
          </a:prstGeom>
          <a:noFill/>
          <a:ln/>
        </p:spPr>
        <p:txBody>
          <a:bodyPr wrap="square" rtlCol="0" anchor="ctr"/>
          <a:lstStyle/>
          <a:p>
            <a:pPr algn="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02</a:t>
            </a:r>
            <a:endParaRPr lang="en-US" sz="825" dirty="0"/>
          </a:p>
        </p:txBody>
      </p:sp>
      <p:sp>
        <p:nvSpPr>
          <p:cNvPr id="17" name="Text 6"/>
          <p:cNvSpPr/>
          <p:nvPr/>
        </p:nvSpPr>
        <p:spPr>
          <a:xfrm>
            <a:off x="90488" y="76200"/>
            <a:ext cx="1171575"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18" name="Text 7"/>
          <p:cNvSpPr/>
          <p:nvPr/>
        </p:nvSpPr>
        <p:spPr>
          <a:xfrm>
            <a:off x="1300163" y="76200"/>
            <a:ext cx="1643063"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SEMINAR PROPOSAL</a:t>
            </a:r>
            <a:endParaRPr lang="en-US" sz="825" dirty="0"/>
          </a:p>
        </p:txBody>
      </p:sp>
      <p:sp>
        <p:nvSpPr>
          <p:cNvPr id="19" name="Text 8"/>
          <p:cNvSpPr/>
          <p:nvPr/>
        </p:nvSpPr>
        <p:spPr>
          <a:xfrm>
            <a:off x="7529513" y="76200"/>
            <a:ext cx="1981200" cy="114300"/>
          </a:xfrm>
          <a:prstGeom prst="rect">
            <a:avLst/>
          </a:prstGeom>
          <a:noFill/>
          <a:ln/>
        </p:spPr>
        <p:txBody>
          <a:bodyPr wrap="square" rtlCol="0" anchor="ctr"/>
          <a:lstStyle/>
          <a:p>
            <a:pPr algn="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UNIVERSITAS SYIAH KUALA</a:t>
            </a:r>
            <a:endParaRPr lang="en-US" sz="825" dirty="0"/>
          </a:p>
        </p:txBody>
      </p:sp>
      <p:sp>
        <p:nvSpPr>
          <p:cNvPr id="20" name="Text 9"/>
          <p:cNvSpPr/>
          <p:nvPr/>
        </p:nvSpPr>
        <p:spPr>
          <a:xfrm>
            <a:off x="5486400" y="4157663"/>
            <a:ext cx="3371850" cy="366713"/>
          </a:xfrm>
          <a:prstGeom prst="rect">
            <a:avLst/>
          </a:prstGeom>
          <a:noFill/>
          <a:ln/>
        </p:spPr>
        <p:txBody>
          <a:bodyPr wrap="square" rtlCol="0" anchor="ctr"/>
          <a:lstStyle/>
          <a:p>
            <a:pPr algn="ctr"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HonoJs</a:t>
            </a:r>
            <a:endParaRPr lang="en-US" sz="2625" dirty="0"/>
          </a:p>
        </p:txBody>
      </p:sp>
      <p:sp>
        <p:nvSpPr>
          <p:cNvPr id="21" name="Text 10"/>
          <p:cNvSpPr/>
          <p:nvPr/>
        </p:nvSpPr>
        <p:spPr>
          <a:xfrm>
            <a:off x="5729288" y="1362075"/>
            <a:ext cx="3371850" cy="366713"/>
          </a:xfrm>
          <a:prstGeom prst="rect">
            <a:avLst/>
          </a:prstGeom>
          <a:noFill/>
          <a:ln/>
        </p:spPr>
        <p:txBody>
          <a:bodyPr wrap="square" rtlCol="0" anchor="ctr"/>
          <a:lstStyle/>
          <a:p>
            <a:pPr algn="ctr"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NextJs</a:t>
            </a:r>
            <a:endParaRPr lang="en-US" sz="2625" dirty="0"/>
          </a:p>
        </p:txBody>
      </p:sp>
      <p:sp>
        <p:nvSpPr>
          <p:cNvPr id="22" name="Text 11"/>
          <p:cNvSpPr/>
          <p:nvPr/>
        </p:nvSpPr>
        <p:spPr>
          <a:xfrm>
            <a:off x="561975" y="4157663"/>
            <a:ext cx="3371850" cy="366713"/>
          </a:xfrm>
          <a:prstGeom prst="rect">
            <a:avLst/>
          </a:prstGeom>
          <a:noFill/>
          <a:ln/>
        </p:spPr>
        <p:txBody>
          <a:bodyPr wrap="square" rtlCol="0" anchor="ctr"/>
          <a:lstStyle/>
          <a:p>
            <a:pPr algn="ctr"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MongoDB</a:t>
            </a:r>
            <a:endParaRPr lang="en-US" sz="2625" dirty="0"/>
          </a:p>
        </p:txBody>
      </p:sp>
      <p:sp>
        <p:nvSpPr>
          <p:cNvPr id="23" name="Text 12"/>
          <p:cNvSpPr/>
          <p:nvPr/>
        </p:nvSpPr>
        <p:spPr>
          <a:xfrm>
            <a:off x="547688" y="1476375"/>
            <a:ext cx="3371850" cy="366713"/>
          </a:xfrm>
          <a:prstGeom prst="rect">
            <a:avLst/>
          </a:prstGeom>
          <a:noFill/>
          <a:ln/>
        </p:spPr>
        <p:txBody>
          <a:bodyPr wrap="square" rtlCol="0" anchor="ctr"/>
          <a:lstStyle/>
          <a:p>
            <a:pPr algn="ctr" indent="0" marL="0">
              <a:lnSpc>
                <a:spcPts val="2888"/>
              </a:lnSpc>
              <a:buNone/>
            </a:pPr>
            <a:r>
              <a:rPr lang="en-US" sz="2625" spc="-58" kern="0" dirty="0">
                <a:solidFill>
                  <a:srgbClr val="000000">
                    <a:alpha val="99000"/>
                  </a:srgbClr>
                </a:solidFill>
                <a:latin typeface="Plus Jakarta Sans" pitchFamily="34" charset="0"/>
                <a:ea typeface="Plus Jakarta Sans" pitchFamily="34" charset="-122"/>
                <a:cs typeface="Plus Jakarta Sans" pitchFamily="34" charset="-120"/>
              </a:rPr>
              <a:t>Flask</a:t>
            </a:r>
            <a:endParaRPr lang="en-US" sz="26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DE8D8"/>
        </a:solidFill>
      </p:bgPr>
    </p:bg>
    <p:spTree>
      <p:nvGrpSpPr>
        <p:cNvPr id="1" name=""/>
        <p:cNvGrpSpPr/>
        <p:nvPr/>
      </p:nvGrpSpPr>
      <p:grpSpPr>
        <a:xfrm>
          <a:off x="0" y="0"/>
          <a:ext cx="0" cy="0"/>
          <a:chOff x="0" y="0"/>
          <a:chExt cx="0" cy="0"/>
        </a:xfrm>
      </p:grpSpPr>
      <p:sp>
        <p:nvSpPr>
          <p:cNvPr id="3" name="Shape 0"/>
          <p:cNvSpPr/>
          <p:nvPr/>
        </p:nvSpPr>
        <p:spPr>
          <a:xfrm>
            <a:off x="4038600" y="266700"/>
            <a:ext cx="2652713" cy="1609725"/>
          </a:xfrm>
          <a:prstGeom prst="roundRect">
            <a:avLst>
              <a:gd name="adj" fmla="val 28402"/>
            </a:avLst>
          </a:prstGeom>
          <a:solidFill>
            <a:srgbClr val="E0EAFF"/>
          </a:solidFill>
          <a:ln w="12700">
            <a:solidFill>
              <a:srgbClr val="000000"/>
            </a:solidFill>
            <a:prstDash val="solid"/>
          </a:ln>
        </p:spPr>
      </p:sp>
      <p:sp>
        <p:nvSpPr>
          <p:cNvPr id="4" name="Shape 1"/>
          <p:cNvSpPr/>
          <p:nvPr/>
        </p:nvSpPr>
        <p:spPr>
          <a:xfrm>
            <a:off x="4038600" y="2081212"/>
            <a:ext cx="2652713" cy="2409825"/>
          </a:xfrm>
          <a:prstGeom prst="roundRect">
            <a:avLst>
              <a:gd name="adj" fmla="val 18972"/>
            </a:avLst>
          </a:prstGeom>
          <a:solidFill>
            <a:srgbClr val="F2E2FF"/>
          </a:solidFill>
          <a:ln w="12700">
            <a:solidFill>
              <a:srgbClr val="000000"/>
            </a:solidFill>
            <a:prstDash val="solid"/>
          </a:ln>
        </p:spPr>
      </p:sp>
      <p:sp>
        <p:nvSpPr>
          <p:cNvPr id="5" name="Shape 2"/>
          <p:cNvSpPr/>
          <p:nvPr/>
        </p:nvSpPr>
        <p:spPr>
          <a:xfrm>
            <a:off x="6929438" y="266700"/>
            <a:ext cx="1933575" cy="4224338"/>
          </a:xfrm>
          <a:prstGeom prst="roundRect">
            <a:avLst>
              <a:gd name="adj" fmla="val 23645"/>
            </a:avLst>
          </a:prstGeom>
          <a:solidFill>
            <a:srgbClr val="F5F5F5"/>
          </a:solidFill>
          <a:ln w="12700">
            <a:solidFill>
              <a:srgbClr val="000000"/>
            </a:solidFill>
            <a:prstDash val="solid"/>
          </a:ln>
        </p:spPr>
      </p:sp>
      <p:sp>
        <p:nvSpPr>
          <p:cNvPr id="6" name="Shape 3"/>
          <p:cNvSpPr/>
          <p:nvPr/>
        </p:nvSpPr>
        <p:spPr>
          <a:xfrm>
            <a:off x="666750" y="266700"/>
            <a:ext cx="3133725" cy="4224338"/>
          </a:xfrm>
          <a:prstGeom prst="roundRect">
            <a:avLst>
              <a:gd name="adj" fmla="val 14590"/>
            </a:avLst>
          </a:prstGeom>
          <a:solidFill>
            <a:srgbClr val="EDE8D8"/>
          </a:solidFill>
          <a:ln w="12700">
            <a:solidFill>
              <a:srgbClr val="000000"/>
            </a:solidFill>
            <a:prstDash val="solid"/>
          </a:ln>
        </p:spPr>
      </p:sp>
      <p:sp>
        <p:nvSpPr>
          <p:cNvPr id="7" name="Shape 4"/>
          <p:cNvSpPr/>
          <p:nvPr/>
        </p:nvSpPr>
        <p:spPr>
          <a:xfrm>
            <a:off x="857250" y="457200"/>
            <a:ext cx="2752725" cy="2738438"/>
          </a:xfrm>
          <a:prstGeom prst="rect">
            <a:avLst/>
          </a:prstGeom>
          <a:noFill/>
          <a:ln/>
        </p:spPr>
      </p:sp>
      <p:sp>
        <p:nvSpPr>
          <p:cNvPr id="8" name="Shape 5"/>
          <p:cNvSpPr/>
          <p:nvPr/>
        </p:nvSpPr>
        <p:spPr>
          <a:xfrm>
            <a:off x="7119938" y="457200"/>
            <a:ext cx="1571625" cy="3805237"/>
          </a:xfrm>
          <a:prstGeom prst="rect">
            <a:avLst/>
          </a:prstGeom>
          <a:noFill/>
          <a:ln/>
        </p:spPr>
      </p:sp>
      <p:sp>
        <p:nvSpPr>
          <p:cNvPr id="9" name="Shape 6"/>
          <p:cNvSpPr/>
          <p:nvPr/>
        </p:nvSpPr>
        <p:spPr>
          <a:xfrm>
            <a:off x="4229100" y="2271713"/>
            <a:ext cx="2271713" cy="2047875"/>
          </a:xfrm>
          <a:prstGeom prst="rect">
            <a:avLst/>
          </a:prstGeom>
          <a:noFill/>
          <a:ln/>
        </p:spPr>
      </p:sp>
      <p:sp>
        <p:nvSpPr>
          <p:cNvPr id="10" name="Shape 7"/>
          <p:cNvSpPr/>
          <p:nvPr/>
        </p:nvSpPr>
        <p:spPr>
          <a:xfrm>
            <a:off x="4229100" y="457200"/>
            <a:ext cx="2271713" cy="933450"/>
          </a:xfrm>
          <a:prstGeom prst="rect">
            <a:avLst/>
          </a:prstGeom>
          <a:noFill/>
          <a:ln/>
        </p:spPr>
      </p:sp>
      <p:pic>
        <p:nvPicPr>
          <p:cNvPr id="11" name="Image 0" descr="preencoded.png">    </p:cNvPr>
          <p:cNvPicPr>
            <a:picLocks noChangeAspect="1"/>
          </p:cNvPicPr>
          <p:nvPr/>
        </p:nvPicPr>
        <p:blipFill>
          <a:blip r:embed="rId1"/>
          <a:stretch>
            <a:fillRect/>
          </a:stretch>
        </p:blipFill>
        <p:spPr>
          <a:xfrm>
            <a:off x="381000" y="0"/>
            <a:ext cx="4763" cy="5143500"/>
          </a:xfrm>
          <a:prstGeom prst="rect">
            <a:avLst/>
          </a:prstGeom>
        </p:spPr>
      </p:pic>
      <p:pic>
        <p:nvPicPr>
          <p:cNvPr id="12" name="Image 1" descr="preencoded.png">    </p:cNvPr>
          <p:cNvPicPr>
            <a:picLocks noChangeAspect="1"/>
          </p:cNvPicPr>
          <p:nvPr/>
        </p:nvPicPr>
        <p:blipFill>
          <a:blip r:embed="rId2"/>
          <a:stretch>
            <a:fillRect/>
          </a:stretch>
        </p:blipFill>
        <p:spPr>
          <a:xfrm>
            <a:off x="381000" y="4762500"/>
            <a:ext cx="8763000" cy="4763"/>
          </a:xfrm>
          <a:prstGeom prst="rect">
            <a:avLst/>
          </a:prstGeom>
        </p:spPr>
      </p:pic>
      <p:sp>
        <p:nvSpPr>
          <p:cNvPr id="13" name="Text 8"/>
          <p:cNvSpPr/>
          <p:nvPr/>
        </p:nvSpPr>
        <p:spPr>
          <a:xfrm>
            <a:off x="-573881" y="3502819"/>
            <a:ext cx="1985963" cy="161925"/>
          </a:xfrm>
          <a:prstGeom prst="rect">
            <a:avLst/>
          </a:prstGeom>
          <a:noFill/>
          <a:ln/>
        </p:spPr>
        <p:txBody>
          <a:bodyPr wrap="square" rtlCol="0" anchor="ctr"/>
          <a:lstStyle/>
          <a:p>
            <a:pPr algn="ctr" indent="0" marL="0">
              <a:lnSpc>
                <a:spcPts val="1260"/>
              </a:lnSpc>
              <a:buNone/>
            </a:pPr>
            <a:r>
              <a:rPr lang="en-US" sz="900" dirty="0">
                <a:solidFill>
                  <a:srgbClr val="000000">
                    <a:alpha val="99000"/>
                  </a:srgbClr>
                </a:solidFill>
                <a:latin typeface="Public Sans" pitchFamily="34" charset="0"/>
                <a:ea typeface="Public Sans" pitchFamily="34" charset="-122"/>
                <a:cs typeface="Public Sans" pitchFamily="34" charset="-120"/>
              </a:rPr>
              <a:t>UNIVERSITAS SYIAH KUALA</a:t>
            </a:r>
            <a:endParaRPr lang="en-US" sz="900" dirty="0"/>
          </a:p>
        </p:txBody>
      </p:sp>
      <p:sp>
        <p:nvSpPr>
          <p:cNvPr id="14" name="Text 9"/>
          <p:cNvSpPr/>
          <p:nvPr/>
        </p:nvSpPr>
        <p:spPr>
          <a:xfrm>
            <a:off x="-166687" y="1119188"/>
            <a:ext cx="1171575" cy="114300"/>
          </a:xfrm>
          <a:prstGeom prst="rect">
            <a:avLst/>
          </a:prstGeom>
          <a:noFill/>
          <a:ln/>
        </p:spPr>
        <p:txBody>
          <a:bodyPr wrap="square" rtlCol="0" anchor="ctr"/>
          <a:lstStyle/>
          <a:p>
            <a:pPr algn="ctr" indent="0" marL="0">
              <a:lnSpc>
                <a:spcPts val="908"/>
              </a:lnSpc>
              <a:buNone/>
            </a:pPr>
            <a:r>
              <a:rPr lang="en-US" sz="825" b="1" spc="58" kern="0" dirty="0">
                <a:solidFill>
                  <a:srgbClr val="111111">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15" name="Text 10"/>
          <p:cNvSpPr/>
          <p:nvPr/>
        </p:nvSpPr>
        <p:spPr>
          <a:xfrm>
            <a:off x="857250" y="457200"/>
            <a:ext cx="3209925" cy="414338"/>
          </a:xfrm>
          <a:prstGeom prst="rect">
            <a:avLst/>
          </a:prstGeom>
          <a:noFill/>
          <a:ln/>
        </p:spPr>
        <p:txBody>
          <a:bodyPr wrap="square" rtlCol="0" anchor="ctr"/>
          <a:lstStyle/>
          <a:p>
            <a:pPr algn="l" indent="0" marL="0">
              <a:lnSpc>
                <a:spcPts val="3272"/>
              </a:lnSpc>
              <a:buNone/>
            </a:pPr>
            <a:r>
              <a:rPr lang="en-US" sz="2700" spc="-54" kern="0" dirty="0">
                <a:solidFill>
                  <a:srgbClr val="000000">
                    <a:alpha val="99000"/>
                  </a:srgbClr>
                </a:solidFill>
                <a:latin typeface="Libre Franklin" pitchFamily="34" charset="0"/>
                <a:ea typeface="Libre Franklin" pitchFamily="34" charset="-122"/>
                <a:cs typeface="Libre Franklin" pitchFamily="34" charset="-120"/>
              </a:rPr>
              <a:t>REST API</a:t>
            </a:r>
            <a:endParaRPr lang="en-US" sz="2700" dirty="0"/>
          </a:p>
        </p:txBody>
      </p:sp>
      <p:sp>
        <p:nvSpPr>
          <p:cNvPr id="16" name="Text 11"/>
          <p:cNvSpPr/>
          <p:nvPr/>
        </p:nvSpPr>
        <p:spPr>
          <a:xfrm>
            <a:off x="857250" y="1062038"/>
            <a:ext cx="3209925" cy="2133600"/>
          </a:xfrm>
          <a:prstGeom prst="rect">
            <a:avLst/>
          </a:prstGeom>
          <a:noFill/>
          <a:ln/>
        </p:spPr>
        <p:txBody>
          <a:bodyPr wrap="square" rtlCol="0" anchor="ctr"/>
          <a:lstStyle/>
          <a:p>
            <a:pPr algn="l" indent="0" marL="0">
              <a:lnSpc>
                <a:spcPts val="1200"/>
              </a:lnSpc>
              <a:buNone/>
            </a:pPr>
            <a:r>
              <a:rPr lang="en-US" sz="1200" dirty="0">
                <a:solidFill>
                  <a:srgbClr val="000000">
                    <a:alpha val="99000"/>
                  </a:srgbClr>
                </a:solidFill>
                <a:latin typeface="Plus Jakarta Sans" pitchFamily="34" charset="0"/>
                <a:ea typeface="Plus Jakarta Sans" pitchFamily="34" charset="-122"/>
                <a:cs typeface="Plus Jakarta Sans" pitchFamily="34" charset="-120"/>
              </a:rPr>
              <a:t>arsitektur API populer yang memanfaatkan HTTP (GET, POST, PUT, DELETE) dan umumnya mengembalikan data dalam format JSON. </a:t>
            </a:r>
            <a:endParaRPr lang="en-US" sz="1200" dirty="0"/>
          </a:p>
          <a:p>
            <a:pPr algn="l" indent="0" marL="0">
              <a:lnSpc>
                <a:spcPts val="1200"/>
              </a:lnSpc>
              <a:buNone/>
            </a:pPr>
            <a:r>
              <a:rPr lang="en-US" sz="1200" dirty="0">
                <a:solidFill>
                  <a:srgbClr val="000000">
                    <a:alpha val="99000"/>
                  </a:srgbClr>
                </a:solidFill>
                <a:latin typeface="Plus Jakarta Sans" pitchFamily="34" charset="0"/>
                <a:ea typeface="Plus Jakarta Sans" pitchFamily="34" charset="-122"/>
                <a:cs typeface="Plus Jakarta Sans" pitchFamily="34" charset="-120"/>
              </a:rPr>
              <a:t>REST dikenal karena sederhana, fleksibel, dan mudah diintegrasikan antar aplikasi.</a:t>
            </a:r>
            <a:endParaRPr lang="en-US" sz="1200" dirty="0"/>
          </a:p>
          <a:p>
            <a:pPr algn="l" indent="0" marL="0">
              <a:lnSpc>
                <a:spcPts val="1200"/>
              </a:lnSpc>
              <a:buNone/>
            </a:pPr>
            <a:r>
              <a:rPr lang="en-US" sz="1200" dirty="0">
                <a:solidFill>
                  <a:srgbClr val="000000">
                    <a:alpha val="99000"/>
                  </a:srgbClr>
                </a:solidFill>
                <a:latin typeface="Plus Jakarta Sans" pitchFamily="34" charset="0"/>
                <a:ea typeface="Plus Jakarta Sans" pitchFamily="34" charset="-122"/>
                <a:cs typeface="Plus Jakarta Sans" pitchFamily="34" charset="-120"/>
              </a:rPr>
              <a:t>Penelitian ini menerapkan REST API untuk komunikasi frontend-backend dan sistem analisis</a:t>
            </a:r>
            <a:endParaRPr lang="en-US" sz="1200" dirty="0"/>
          </a:p>
        </p:txBody>
      </p:sp>
      <p:sp>
        <p:nvSpPr>
          <p:cNvPr id="17" name="Text 12"/>
          <p:cNvSpPr/>
          <p:nvPr/>
        </p:nvSpPr>
        <p:spPr>
          <a:xfrm>
            <a:off x="7119938" y="457200"/>
            <a:ext cx="2028825" cy="828675"/>
          </a:xfrm>
          <a:prstGeom prst="rect">
            <a:avLst/>
          </a:prstGeom>
          <a:noFill/>
          <a:ln/>
        </p:spPr>
        <p:txBody>
          <a:bodyPr wrap="square" rtlCol="0" anchor="ctr"/>
          <a:lstStyle/>
          <a:p>
            <a:pPr algn="l" indent="0" marL="0">
              <a:lnSpc>
                <a:spcPts val="3272"/>
              </a:lnSpc>
              <a:buNone/>
            </a:pPr>
            <a:r>
              <a:rPr lang="en-US" sz="2700" spc="-54" kern="0" dirty="0">
                <a:solidFill>
                  <a:srgbClr val="000000">
                    <a:alpha val="99000"/>
                  </a:srgbClr>
                </a:solidFill>
                <a:latin typeface="Libre Franklin" pitchFamily="34" charset="0"/>
                <a:ea typeface="Libre Franklin" pitchFamily="34" charset="-122"/>
                <a:cs typeface="Libre Franklin" pitchFamily="34" charset="-120"/>
              </a:rPr>
              <a:t>BLACK BOX </a:t>
            </a:r>
            <a:endParaRPr lang="en-US" sz="2700" dirty="0"/>
          </a:p>
        </p:txBody>
      </p:sp>
      <p:sp>
        <p:nvSpPr>
          <p:cNvPr id="18" name="Text 13"/>
          <p:cNvSpPr/>
          <p:nvPr/>
        </p:nvSpPr>
        <p:spPr>
          <a:xfrm>
            <a:off x="7119938" y="1476375"/>
            <a:ext cx="2028825" cy="2786063"/>
          </a:xfrm>
          <a:prstGeom prst="rect">
            <a:avLst/>
          </a:prstGeom>
          <a:noFill/>
          <a:ln/>
        </p:spPr>
        <p:txBody>
          <a:bodyPr wrap="square" rtlCol="0" anchor="ctr"/>
          <a:lstStyle/>
          <a:p>
            <a:pPr algn="l" indent="0" marL="0">
              <a:lnSpc>
                <a:spcPts val="1454"/>
              </a:lnSpc>
              <a:buNone/>
            </a:pPr>
            <a:r>
              <a:rPr lang="en-US" sz="1200" spc="-24" kern="0" dirty="0">
                <a:solidFill>
                  <a:srgbClr val="000000">
                    <a:alpha val="99000"/>
                  </a:srgbClr>
                </a:solidFill>
                <a:latin typeface="Libre Franklin" pitchFamily="34" charset="0"/>
                <a:ea typeface="Libre Franklin" pitchFamily="34" charset="-122"/>
                <a:cs typeface="Libre Franklin" pitchFamily="34" charset="-120"/>
              </a:rPr>
              <a:t>bentuk pengujian yang dilakukan untuk mengamati hasil input dan output dari perangkat lunak tanpa mengetahui struktur kode dari perangkat lunak.   Pengujian ini dilakukan di akhir pembuatan perangkat lunak untuk mengetahui apakah perangkat lunak dapat berfungsi dengan baik.</a:t>
            </a:r>
            <a:endParaRPr lang="en-US" sz="1200" dirty="0"/>
          </a:p>
        </p:txBody>
      </p:sp>
      <p:sp>
        <p:nvSpPr>
          <p:cNvPr id="19" name="Text 14"/>
          <p:cNvSpPr/>
          <p:nvPr/>
        </p:nvSpPr>
        <p:spPr>
          <a:xfrm>
            <a:off x="4229100" y="2271713"/>
            <a:ext cx="2728913" cy="185738"/>
          </a:xfrm>
          <a:prstGeom prst="rect">
            <a:avLst/>
          </a:prstGeom>
          <a:noFill/>
          <a:ln/>
        </p:spPr>
        <p:txBody>
          <a:bodyPr wrap="square" rtlCol="0" anchor="ctr"/>
          <a:lstStyle/>
          <a:p>
            <a:pPr algn="l" indent="0" marL="0">
              <a:lnSpc>
                <a:spcPts val="1454"/>
              </a:lnSpc>
              <a:buNone/>
            </a:pPr>
            <a:r>
              <a:rPr lang="en-US" sz="1200" b="1" spc="-24" kern="0" dirty="0">
                <a:solidFill>
                  <a:srgbClr val="000000">
                    <a:alpha val="99000"/>
                  </a:srgbClr>
                </a:solidFill>
                <a:latin typeface="Libre Franklin" pitchFamily="34" charset="0"/>
                <a:ea typeface="Libre Franklin" pitchFamily="34" charset="-122"/>
                <a:cs typeface="Libre Franklin" pitchFamily="34" charset="-120"/>
              </a:rPr>
              <a:t>Metode Agile</a:t>
            </a:r>
            <a:endParaRPr lang="en-US" sz="1200" dirty="0"/>
          </a:p>
        </p:txBody>
      </p:sp>
      <p:sp>
        <p:nvSpPr>
          <p:cNvPr id="20" name="Text 15"/>
          <p:cNvSpPr/>
          <p:nvPr/>
        </p:nvSpPr>
        <p:spPr>
          <a:xfrm>
            <a:off x="4229100" y="2647950"/>
            <a:ext cx="2728913" cy="1671638"/>
          </a:xfrm>
          <a:prstGeom prst="rect">
            <a:avLst/>
          </a:prstGeom>
          <a:noFill/>
          <a:ln/>
        </p:spPr>
        <p:txBody>
          <a:bodyPr wrap="square" rtlCol="0" anchor="ctr"/>
          <a:lstStyle/>
          <a:p>
            <a:pPr algn="l" indent="0" marL="0">
              <a:lnSpc>
                <a:spcPts val="1454"/>
              </a:lnSpc>
              <a:buNone/>
            </a:pPr>
            <a:r>
              <a:rPr lang="en-US" sz="1200" spc="-24" kern="0" dirty="0">
                <a:solidFill>
                  <a:srgbClr val="000000">
                    <a:alpha val="99000"/>
                  </a:srgbClr>
                </a:solidFill>
                <a:latin typeface="Libre Franklin" pitchFamily="34" charset="0"/>
                <a:ea typeface="Libre Franklin" pitchFamily="34" charset="-122"/>
                <a:cs typeface="Libre Franklin" pitchFamily="34" charset="-120"/>
              </a:rPr>
              <a:t>metode pengembangan perangkat lunak yang didasarkan pada pengerjaannya yang berulang dengan jangka waktu yang pendek.   membutuhkan adaptasi yang cepat dari pengembang terhadap perubahan yang mungkin terjadi </a:t>
            </a:r>
            <a:endParaRPr lang="en-US" sz="1200" dirty="0"/>
          </a:p>
        </p:txBody>
      </p:sp>
      <p:sp>
        <p:nvSpPr>
          <p:cNvPr id="21" name="Text 16"/>
          <p:cNvSpPr/>
          <p:nvPr/>
        </p:nvSpPr>
        <p:spPr>
          <a:xfrm>
            <a:off x="4229100" y="457200"/>
            <a:ext cx="2728913" cy="185738"/>
          </a:xfrm>
          <a:prstGeom prst="rect">
            <a:avLst/>
          </a:prstGeom>
          <a:noFill/>
          <a:ln/>
        </p:spPr>
        <p:txBody>
          <a:bodyPr wrap="square" rtlCol="0" anchor="ctr"/>
          <a:lstStyle/>
          <a:p>
            <a:pPr algn="l" indent="0" marL="0">
              <a:lnSpc>
                <a:spcPts val="1454"/>
              </a:lnSpc>
              <a:buNone/>
            </a:pPr>
            <a:r>
              <a:rPr lang="en-US" sz="1200" b="1" spc="-24" kern="0" dirty="0">
                <a:solidFill>
                  <a:srgbClr val="000000">
                    <a:alpha val="99000"/>
                  </a:srgbClr>
                </a:solidFill>
                <a:latin typeface="Libre Franklin" pitchFamily="34" charset="0"/>
                <a:ea typeface="Libre Franklin" pitchFamily="34" charset="-122"/>
                <a:cs typeface="Libre Franklin" pitchFamily="34" charset="-120"/>
              </a:rPr>
              <a:t>POSTMAN</a:t>
            </a:r>
            <a:endParaRPr lang="en-US" sz="1200" dirty="0"/>
          </a:p>
        </p:txBody>
      </p:sp>
      <p:sp>
        <p:nvSpPr>
          <p:cNvPr id="22" name="Text 17"/>
          <p:cNvSpPr/>
          <p:nvPr/>
        </p:nvSpPr>
        <p:spPr>
          <a:xfrm>
            <a:off x="4229100" y="833438"/>
            <a:ext cx="2728913" cy="557213"/>
          </a:xfrm>
          <a:prstGeom prst="rect">
            <a:avLst/>
          </a:prstGeom>
          <a:noFill/>
          <a:ln/>
        </p:spPr>
        <p:txBody>
          <a:bodyPr wrap="square" rtlCol="0" anchor="ctr"/>
          <a:lstStyle/>
          <a:p>
            <a:pPr algn="l" indent="0" marL="0">
              <a:lnSpc>
                <a:spcPts val="1454"/>
              </a:lnSpc>
              <a:buNone/>
            </a:pPr>
            <a:r>
              <a:rPr lang="en-US" sz="1200" spc="-24" kern="0" dirty="0">
                <a:solidFill>
                  <a:srgbClr val="000000">
                    <a:alpha val="99000"/>
                  </a:srgbClr>
                </a:solidFill>
                <a:latin typeface="Libre Franklin" pitchFamily="34" charset="0"/>
                <a:ea typeface="Libre Franklin" pitchFamily="34" charset="-122"/>
                <a:cs typeface="Libre Franklin" pitchFamily="34" charset="-120"/>
              </a:rPr>
              <a:t>platform yang digunakan untuk merancang, membangun, dan menguji API</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ECE6"/>
        </a:solidFill>
      </p:bgPr>
    </p:bg>
    <p:spTree>
      <p:nvGrpSpPr>
        <p:cNvPr id="1" name=""/>
        <p:cNvGrpSpPr/>
        <p:nvPr/>
      </p:nvGrpSpPr>
      <p:grpSpPr>
        <a:xfrm>
          <a:off x="0" y="0"/>
          <a:ext cx="0" cy="0"/>
          <a:chOff x="0" y="0"/>
          <a:chExt cx="0" cy="0"/>
        </a:xfrm>
      </p:grpSpPr>
      <p:sp>
        <p:nvSpPr>
          <p:cNvPr id="3" name="Shape 0"/>
          <p:cNvSpPr/>
          <p:nvPr/>
        </p:nvSpPr>
        <p:spPr>
          <a:xfrm>
            <a:off x="381000" y="323850"/>
            <a:ext cx="5219700" cy="4376738"/>
          </a:xfrm>
          <a:prstGeom prst="roundRect">
            <a:avLst>
              <a:gd name="adj" fmla="val 8357"/>
            </a:avLst>
          </a:prstGeom>
          <a:solidFill>
            <a:srgbClr val="000000"/>
          </a:solidFill>
          <a:ln/>
        </p:spPr>
      </p:sp>
      <p:sp>
        <p:nvSpPr>
          <p:cNvPr id="4" name="Shape 1"/>
          <p:cNvSpPr/>
          <p:nvPr/>
        </p:nvSpPr>
        <p:spPr>
          <a:xfrm>
            <a:off x="6072188" y="2933700"/>
            <a:ext cx="2743200" cy="1809750"/>
          </a:xfrm>
          <a:prstGeom prst="rect">
            <a:avLst/>
          </a:prstGeom>
          <a:noFill/>
          <a:ln/>
        </p:spPr>
      </p:sp>
      <p:sp>
        <p:nvSpPr>
          <p:cNvPr id="5" name="Shape 2"/>
          <p:cNvSpPr/>
          <p:nvPr/>
        </p:nvSpPr>
        <p:spPr>
          <a:xfrm>
            <a:off x="381000" y="323850"/>
            <a:ext cx="5219700" cy="4376738"/>
          </a:xfrm>
          <a:prstGeom prst="roundRect">
            <a:avLst/>
          </a:prstGeom>
          <a:solidFill>
            <a:srgbClr val="FFFFFF"/>
          </a:solidFill>
          <a:ln/>
        </p:spPr>
      </p:sp>
      <p:sp>
        <p:nvSpPr>
          <p:cNvPr id="6" name="Shape 3"/>
          <p:cNvSpPr/>
          <p:nvPr/>
        </p:nvSpPr>
        <p:spPr>
          <a:xfrm>
            <a:off x="-119063" y="-7172325"/>
            <a:ext cx="9148763" cy="13725525"/>
          </a:xfrm>
          <a:prstGeom prst="rect">
            <a:avLst/>
          </a:prstGeom>
          <a:noFill/>
          <a:ln/>
        </p:spPr>
      </p:sp>
      <p:sp>
        <p:nvSpPr>
          <p:cNvPr id="7" name="Shape 4"/>
          <p:cNvSpPr/>
          <p:nvPr/>
        </p:nvSpPr>
        <p:spPr>
          <a:xfrm rot="5400000">
            <a:off x="1428750" y="-1624012"/>
            <a:ext cx="6315076" cy="8420100"/>
          </a:xfrm>
          <a:prstGeom prst="rect">
            <a:avLst/>
          </a:prstGeom>
          <a:noFill/>
          <a:ln/>
        </p:spPr>
      </p:sp>
      <p:pic>
        <p:nvPicPr>
          <p:cNvPr id="8" name="Image 0" descr="preencoded.png">    </p:cNvPr>
          <p:cNvPicPr>
            <a:picLocks noChangeAspect="1"/>
          </p:cNvPicPr>
          <p:nvPr/>
        </p:nvPicPr>
        <p:blipFill>
          <a:blip r:embed="rId1"/>
          <a:stretch>
            <a:fillRect/>
          </a:stretch>
        </p:blipFill>
        <p:spPr>
          <a:xfrm>
            <a:off x="1478626" y="1562715"/>
            <a:ext cx="3160998" cy="2089859"/>
          </a:xfrm>
          <a:prstGeom prst="rect">
            <a:avLst/>
          </a:prstGeom>
        </p:spPr>
      </p:pic>
      <p:pic>
        <p:nvPicPr>
          <p:cNvPr id="9" name="Image 1" descr="preencoded.png">    </p:cNvPr>
          <p:cNvPicPr>
            <a:picLocks noChangeAspect="1"/>
          </p:cNvPicPr>
          <p:nvPr/>
        </p:nvPicPr>
        <p:blipFill>
          <a:blip r:embed="rId2"/>
          <a:stretch>
            <a:fillRect/>
          </a:stretch>
        </p:blipFill>
        <p:spPr>
          <a:xfrm>
            <a:off x="1638616" y="2872626"/>
            <a:ext cx="2419834" cy="744394"/>
          </a:xfrm>
          <a:prstGeom prst="rect">
            <a:avLst/>
          </a:prstGeom>
        </p:spPr>
      </p:pic>
      <p:pic>
        <p:nvPicPr>
          <p:cNvPr id="10" name="Image 2" descr="preencoded.png">    </p:cNvPr>
          <p:cNvPicPr>
            <a:picLocks noChangeAspect="1"/>
          </p:cNvPicPr>
          <p:nvPr/>
        </p:nvPicPr>
        <p:blipFill>
          <a:blip r:embed="rId3"/>
          <a:stretch>
            <a:fillRect/>
          </a:stretch>
        </p:blipFill>
        <p:spPr>
          <a:xfrm>
            <a:off x="2373567" y="3087612"/>
            <a:ext cx="199988" cy="249983"/>
          </a:xfrm>
          <a:prstGeom prst="rect">
            <a:avLst/>
          </a:prstGeom>
        </p:spPr>
      </p:pic>
      <p:pic>
        <p:nvPicPr>
          <p:cNvPr id="11" name="Image 3" descr="preencoded.png">    </p:cNvPr>
          <p:cNvPicPr>
            <a:picLocks noChangeAspect="1"/>
          </p:cNvPicPr>
          <p:nvPr/>
        </p:nvPicPr>
        <p:blipFill>
          <a:blip r:embed="rId4"/>
          <a:stretch>
            <a:fillRect/>
          </a:stretch>
        </p:blipFill>
        <p:spPr>
          <a:xfrm>
            <a:off x="2403556" y="3127609"/>
            <a:ext cx="139991" cy="179988"/>
          </a:xfrm>
          <a:prstGeom prst="rect">
            <a:avLst/>
          </a:prstGeom>
        </p:spPr>
      </p:pic>
      <p:pic>
        <p:nvPicPr>
          <p:cNvPr id="12" name="Image 4" descr="preencoded.png">    </p:cNvPr>
          <p:cNvPicPr>
            <a:picLocks noChangeAspect="1"/>
          </p:cNvPicPr>
          <p:nvPr/>
        </p:nvPicPr>
        <p:blipFill>
          <a:blip r:embed="rId5"/>
          <a:stretch>
            <a:fillRect/>
          </a:stretch>
        </p:blipFill>
        <p:spPr>
          <a:xfrm>
            <a:off x="1398650" y="2038182"/>
            <a:ext cx="3704741" cy="1924371"/>
          </a:xfrm>
          <a:prstGeom prst="rect">
            <a:avLst/>
          </a:prstGeom>
        </p:spPr>
      </p:pic>
      <p:pic>
        <p:nvPicPr>
          <p:cNvPr id="13" name="Image 5" descr="preencoded.png">    </p:cNvPr>
          <p:cNvPicPr>
            <a:picLocks noChangeAspect="1"/>
          </p:cNvPicPr>
          <p:nvPr/>
        </p:nvPicPr>
        <p:blipFill>
          <a:blip r:embed="rId6"/>
          <a:stretch>
            <a:fillRect/>
          </a:stretch>
        </p:blipFill>
        <p:spPr>
          <a:xfrm>
            <a:off x="828675" y="2657641"/>
            <a:ext cx="4319699" cy="214985"/>
          </a:xfrm>
          <a:prstGeom prst="rect">
            <a:avLst/>
          </a:prstGeom>
        </p:spPr>
      </p:pic>
      <p:pic>
        <p:nvPicPr>
          <p:cNvPr id="14" name="Image 6" descr="preencoded.png">    </p:cNvPr>
          <p:cNvPicPr>
            <a:picLocks noChangeAspect="1"/>
          </p:cNvPicPr>
          <p:nvPr/>
        </p:nvPicPr>
        <p:blipFill>
          <a:blip r:embed="rId7"/>
          <a:stretch>
            <a:fillRect/>
          </a:stretch>
        </p:blipFill>
        <p:spPr>
          <a:xfrm>
            <a:off x="1623622" y="3387591"/>
            <a:ext cx="1179928" cy="562521"/>
          </a:xfrm>
          <a:prstGeom prst="rect">
            <a:avLst/>
          </a:prstGeom>
        </p:spPr>
      </p:pic>
      <p:pic>
        <p:nvPicPr>
          <p:cNvPr id="15" name="Image 7" descr="preencoded.png">    </p:cNvPr>
          <p:cNvPicPr>
            <a:picLocks noChangeAspect="1"/>
          </p:cNvPicPr>
          <p:nvPr/>
        </p:nvPicPr>
        <p:blipFill>
          <a:blip r:embed="rId8"/>
          <a:stretch>
            <a:fillRect/>
          </a:stretch>
        </p:blipFill>
        <p:spPr>
          <a:xfrm>
            <a:off x="1628626" y="3437588"/>
            <a:ext cx="1294916" cy="519570"/>
          </a:xfrm>
          <a:prstGeom prst="rect">
            <a:avLst/>
          </a:prstGeom>
        </p:spPr>
      </p:pic>
      <p:pic>
        <p:nvPicPr>
          <p:cNvPr id="16" name="Image 8" descr="preencoded.png">    </p:cNvPr>
          <p:cNvPicPr>
            <a:picLocks noChangeAspect="1"/>
          </p:cNvPicPr>
          <p:nvPr/>
        </p:nvPicPr>
        <p:blipFill>
          <a:blip r:embed="rId9"/>
          <a:stretch>
            <a:fillRect/>
          </a:stretch>
        </p:blipFill>
        <p:spPr>
          <a:xfrm>
            <a:off x="1395040" y="1062749"/>
            <a:ext cx="1969870" cy="1424903"/>
          </a:xfrm>
          <a:prstGeom prst="rect">
            <a:avLst/>
          </a:prstGeom>
        </p:spPr>
      </p:pic>
      <p:pic>
        <p:nvPicPr>
          <p:cNvPr id="17" name="Image 9" descr="preencoded.png">    </p:cNvPr>
          <p:cNvPicPr>
            <a:picLocks noChangeAspect="1"/>
          </p:cNvPicPr>
          <p:nvPr/>
        </p:nvPicPr>
        <p:blipFill>
          <a:blip r:embed="rId10"/>
          <a:stretch>
            <a:fillRect/>
          </a:stretch>
        </p:blipFill>
        <p:spPr>
          <a:xfrm>
            <a:off x="1380046" y="1047750"/>
            <a:ext cx="3753352" cy="2929369"/>
          </a:xfrm>
          <a:prstGeom prst="rect">
            <a:avLst/>
          </a:prstGeom>
        </p:spPr>
      </p:pic>
      <p:sp>
        <p:nvSpPr>
          <p:cNvPr id="18" name="Text 5"/>
          <p:cNvSpPr/>
          <p:nvPr/>
        </p:nvSpPr>
        <p:spPr>
          <a:xfrm>
            <a:off x="2738438" y="4810125"/>
            <a:ext cx="1905000" cy="161925"/>
          </a:xfrm>
          <a:prstGeom prst="rect">
            <a:avLst/>
          </a:prstGeom>
          <a:noFill/>
          <a:ln/>
        </p:spPr>
        <p:txBody>
          <a:bodyPr wrap="square" rtlCol="0" anchor="ctr"/>
          <a:lstStyle/>
          <a:p>
            <a:pPr algn="r" indent="0" marL="0">
              <a:lnSpc>
                <a:spcPts val="1260"/>
              </a:lnSpc>
              <a:buNone/>
            </a:pPr>
            <a:r>
              <a:rPr lang="en-US" sz="900" dirty="0">
                <a:solidFill>
                  <a:srgbClr val="000000">
                    <a:alpha val="99000"/>
                  </a:srgbClr>
                </a:solidFill>
                <a:latin typeface="Plus Jakarta Sans" pitchFamily="34" charset="0"/>
                <a:ea typeface="Plus Jakarta Sans" pitchFamily="34" charset="-122"/>
                <a:cs typeface="Plus Jakarta Sans" pitchFamily="34" charset="-120"/>
              </a:rPr>
              <a:t>UNIVERSITAS SYIAH KUALA</a:t>
            </a:r>
            <a:endParaRPr lang="en-US" sz="900" dirty="0"/>
          </a:p>
        </p:txBody>
      </p:sp>
      <p:sp>
        <p:nvSpPr>
          <p:cNvPr id="19" name="Text 6"/>
          <p:cNvSpPr/>
          <p:nvPr/>
        </p:nvSpPr>
        <p:spPr>
          <a:xfrm>
            <a:off x="4757738" y="4810125"/>
            <a:ext cx="1166812" cy="114300"/>
          </a:xfrm>
          <a:prstGeom prst="rect">
            <a:avLst/>
          </a:prstGeom>
          <a:noFill/>
          <a:ln/>
        </p:spPr>
        <p:txBody>
          <a:bodyPr wrap="square" rtlCol="0" anchor="ctr"/>
          <a:lstStyle/>
          <a:p>
            <a:pPr algn="l" indent="0" marL="0">
              <a:lnSpc>
                <a:spcPts val="908"/>
              </a:lnSpc>
              <a:buNone/>
            </a:pPr>
            <a:r>
              <a:rPr lang="en-US" sz="825"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20" name="Text 7"/>
          <p:cNvSpPr/>
          <p:nvPr/>
        </p:nvSpPr>
        <p:spPr>
          <a:xfrm>
            <a:off x="6072188" y="2933700"/>
            <a:ext cx="3200400" cy="238125"/>
          </a:xfrm>
          <a:prstGeom prst="rect">
            <a:avLst/>
          </a:prstGeom>
          <a:noFill/>
          <a:ln/>
        </p:spPr>
        <p:txBody>
          <a:bodyPr wrap="square" rtlCol="0" anchor="ctr"/>
          <a:lstStyle/>
          <a:p>
            <a:pPr algn="l" indent="0" marL="0">
              <a:lnSpc>
                <a:spcPts val="1875"/>
              </a:lnSpc>
              <a:buNone/>
            </a:pPr>
            <a:r>
              <a:rPr lang="en-US" sz="1463" dirty="0">
                <a:solidFill>
                  <a:srgbClr val="000000">
                    <a:alpha val="99000"/>
                  </a:srgbClr>
                </a:solidFill>
                <a:latin typeface="Dangrek" pitchFamily="34" charset="0"/>
                <a:ea typeface="Dangrek" pitchFamily="34" charset="-122"/>
                <a:cs typeface="Dangrek" pitchFamily="34" charset="-120"/>
              </a:rPr>
              <a:t>Docker</a:t>
            </a:r>
            <a:endParaRPr lang="en-US" sz="1463" dirty="0"/>
          </a:p>
        </p:txBody>
      </p:sp>
      <p:sp>
        <p:nvSpPr>
          <p:cNvPr id="21" name="Text 8"/>
          <p:cNvSpPr/>
          <p:nvPr/>
        </p:nvSpPr>
        <p:spPr>
          <a:xfrm>
            <a:off x="6072188" y="3314700"/>
            <a:ext cx="3200400" cy="1428750"/>
          </a:xfrm>
          <a:prstGeom prst="rect">
            <a:avLst/>
          </a:prstGeom>
          <a:noFill/>
          <a:ln/>
        </p:spPr>
        <p:txBody>
          <a:bodyPr wrap="square" rtlCol="0" anchor="ctr"/>
          <a:lstStyle/>
          <a:p>
            <a:pPr algn="l" indent="0" marL="0">
              <a:lnSpc>
                <a:spcPts val="1875"/>
              </a:lnSpc>
              <a:buNone/>
            </a:pPr>
            <a:r>
              <a:rPr lang="en-US" sz="1350" dirty="0">
                <a:solidFill>
                  <a:srgbClr val="000000">
                    <a:alpha val="99000"/>
                  </a:srgbClr>
                </a:solidFill>
                <a:latin typeface="Uchen" pitchFamily="34" charset="0"/>
                <a:ea typeface="Uchen" pitchFamily="34" charset="-122"/>
                <a:cs typeface="Uchen" pitchFamily="34" charset="-120"/>
              </a:rPr>
              <a:t>Docker adalah platform open-source yang memungkinkan pengembang membuat, mengemas, dan menjalankan aplikasi dalam container yang ringan dan fleksibel.</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DE8D8"/>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381000" y="0"/>
            <a:ext cx="4763" cy="5143500"/>
          </a:xfrm>
          <a:prstGeom prst="rect">
            <a:avLst/>
          </a:prstGeom>
        </p:spPr>
      </p:pic>
      <p:pic>
        <p:nvPicPr>
          <p:cNvPr id="4" name="Image 1" descr="preencoded.png">    </p:cNvPr>
          <p:cNvPicPr>
            <a:picLocks noChangeAspect="1"/>
          </p:cNvPicPr>
          <p:nvPr/>
        </p:nvPicPr>
        <p:blipFill>
          <a:blip r:embed="rId2"/>
          <a:stretch>
            <a:fillRect/>
          </a:stretch>
        </p:blipFill>
        <p:spPr>
          <a:xfrm>
            <a:off x="381000" y="4762500"/>
            <a:ext cx="8763000" cy="4763"/>
          </a:xfrm>
          <a:prstGeom prst="rect">
            <a:avLst/>
          </a:prstGeom>
        </p:spPr>
      </p:pic>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1785938" y="1176338"/>
          <a:ext cx="5573316" cy="2647950"/>
        </p:xfrm>
        <a:graphic>
          <a:graphicData uri="http://schemas.openxmlformats.org/drawingml/2006/table">
            <a:tbl>
              <a:tblPr/>
              <a:tblGrid>
                <a:gridCol w="1047750"/>
                <a:gridCol w="1363266"/>
                <a:gridCol w="1799034"/>
                <a:gridCol w="1363266"/>
              </a:tblGrid>
              <a:tr h="419100">
                <a:tc>
                  <a:txBody>
                    <a:bodyPr/>
                    <a:lstStyle/>
                    <a:p>
                      <a:pPr algn="ctr" indent="0" marL="0">
                        <a:lnSpc>
                          <a:spcPts val="1818"/>
                        </a:lnSpc>
                        <a:buNone/>
                      </a:pPr>
                      <a:r>
                        <a:rPr lang="en-US" sz="1500" spc="-30" kern="0" dirty="0">
                          <a:solidFill>
                            <a:srgbClr val="000000">
                              <a:alpha val="99000"/>
                            </a:srgbClr>
                          </a:solidFill>
                          <a:latin typeface="Libre Franklin" pitchFamily="34" charset="0"/>
                          <a:ea typeface="Libre Franklin" pitchFamily="34" charset="-122"/>
                          <a:cs typeface="Libre Franklin" pitchFamily="34" charset="-120"/>
                        </a:rPr>
                        <a:t>Tahun</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alpha val="0"/>
                      </a:srgbClr>
                    </a:solidFill>
                  </a:tcPr>
                </a:tc>
                <a:tc>
                  <a:txBody>
                    <a:bodyPr/>
                    <a:lstStyle/>
                    <a:p>
                      <a:pPr algn="l" indent="0" marL="0">
                        <a:lnSpc>
                          <a:spcPts val="1818"/>
                        </a:lnSpc>
                        <a:buNone/>
                      </a:pPr>
                      <a:r>
                        <a:rPr lang="en-US" sz="1500" spc="-30" kern="0" dirty="0">
                          <a:solidFill>
                            <a:srgbClr val="000000">
                              <a:alpha val="99000"/>
                            </a:srgbClr>
                          </a:solidFill>
                          <a:latin typeface="Libre Franklin" pitchFamily="34" charset="0"/>
                          <a:ea typeface="Libre Franklin" pitchFamily="34" charset="-122"/>
                          <a:cs typeface="Libre Franklin" pitchFamily="34" charset="-120"/>
                        </a:rPr>
                        <a:t>Penulis</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alpha val="0"/>
                      </a:srgbClr>
                    </a:solidFill>
                  </a:tcPr>
                </a:tc>
                <a:tc>
                  <a:txBody>
                    <a:bodyPr/>
                    <a:lstStyle/>
                    <a:p>
                      <a:pPr algn="l" indent="0" marL="0">
                        <a:lnSpc>
                          <a:spcPts val="1818"/>
                        </a:lnSpc>
                        <a:buNone/>
                      </a:pPr>
                      <a:r>
                        <a:rPr lang="en-US" sz="1500" spc="-30" kern="0" dirty="0">
                          <a:solidFill>
                            <a:srgbClr val="000000">
                              <a:alpha val="99000"/>
                            </a:srgbClr>
                          </a:solidFill>
                          <a:latin typeface="Libre Franklin" pitchFamily="34" charset="0"/>
                          <a:ea typeface="Libre Franklin" pitchFamily="34" charset="-122"/>
                          <a:cs typeface="Libre Franklin" pitchFamily="34" charset="-120"/>
                        </a:rPr>
                        <a:t>Judul</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alpha val="0"/>
                      </a:srgbClr>
                    </a:solidFill>
                  </a:tcPr>
                </a:tc>
                <a:tc>
                  <a:txBody>
                    <a:bodyPr/>
                    <a:lstStyle/>
                    <a:p>
                      <a:pPr algn="l" indent="0" marL="0">
                        <a:lnSpc>
                          <a:spcPts val="1818"/>
                        </a:lnSpc>
                        <a:buNone/>
                      </a:pPr>
                      <a:r>
                        <a:rPr lang="en-US" sz="1500" spc="-30" kern="0" dirty="0">
                          <a:solidFill>
                            <a:srgbClr val="000000">
                              <a:alpha val="99000"/>
                            </a:srgbClr>
                          </a:solidFill>
                          <a:latin typeface="Libre Franklin" pitchFamily="34" charset="0"/>
                          <a:ea typeface="Libre Franklin" pitchFamily="34" charset="-122"/>
                          <a:cs typeface="Libre Franklin" pitchFamily="34" charset="-120"/>
                        </a:rPr>
                        <a:t>Perbedaan</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alpha val="0"/>
                      </a:srgbClr>
                    </a:solidFill>
                  </a:tcPr>
                </a:tc>
              </a:tr>
              <a:tr h="742950">
                <a:tc>
                  <a:txBody>
                    <a:bodyPr/>
                    <a:lstStyle/>
                    <a:p>
                      <a:pPr algn="l" indent="0" marL="0">
                        <a:lnSpc>
                          <a:spcPts val="1091"/>
                        </a:lnSpc>
                        <a:buNone/>
                      </a:pPr>
                      <a:r>
                        <a:rPr lang="en-US" sz="900" spc="-18" kern="0" dirty="0">
                          <a:solidFill>
                            <a:srgbClr val="000000">
                              <a:alpha val="99000"/>
                            </a:srgbClr>
                          </a:solidFill>
                          <a:latin typeface="Libre Franklin" pitchFamily="34" charset="0"/>
                          <a:ea typeface="Libre Franklin" pitchFamily="34" charset="-122"/>
                          <a:cs typeface="Libre Franklin" pitchFamily="34" charset="-120"/>
                        </a:rPr>
                        <a:t>2024</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alpha val="0"/>
                      </a:srgbClr>
                    </a:solidFill>
                  </a:tcPr>
                </a:tc>
                <a:tc>
                  <a:txBody>
                    <a:bodyPr/>
                    <a:lstStyle/>
                    <a:p>
                      <a:pPr algn="l" indent="0" marL="0">
                        <a:lnSpc>
                          <a:spcPts val="1091"/>
                        </a:lnSpc>
                        <a:buNone/>
                      </a:pPr>
                      <a:r>
                        <a:rPr lang="en-US" sz="900" spc="-18" kern="0" dirty="0">
                          <a:solidFill>
                            <a:srgbClr val="000000">
                              <a:alpha val="99000"/>
                            </a:srgbClr>
                          </a:solidFill>
                          <a:latin typeface="Libre Franklin" pitchFamily="34" charset="0"/>
                          <a:ea typeface="Libre Franklin" pitchFamily="34" charset="-122"/>
                          <a:cs typeface="Libre Franklin" pitchFamily="34" charset="-120"/>
                        </a:rPr>
                        <a:t>Sopyandi</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alpha val="0"/>
                      </a:srgbClr>
                    </a:solidFill>
                  </a:tcPr>
                </a:tc>
                <a:tc>
                  <a:txBody>
                    <a:bodyPr/>
                    <a:lstStyle/>
                    <a:p>
                      <a:pPr algn="l" indent="0" marL="0">
                        <a:lnSpc>
                          <a:spcPts val="1091"/>
                        </a:lnSpc>
                        <a:buNone/>
                      </a:pPr>
                      <a:r>
                        <a:rPr lang="en-US" sz="900" spc="-18" kern="0" dirty="0">
                          <a:solidFill>
                            <a:srgbClr val="000000">
                              <a:alpha val="99000"/>
                            </a:srgbClr>
                          </a:solidFill>
                          <a:latin typeface="Libre Franklin" pitchFamily="34" charset="0"/>
                          <a:ea typeface="Libre Franklin" pitchFamily="34" charset="-122"/>
                          <a:cs typeface="Libre Franklin" pitchFamily="34" charset="-120"/>
                        </a:rPr>
                        <a:t>Bangun Aplikasi</a:t>
                      </a:r>
                      <a:endParaRPr lang="en-US" sz="1200" dirty="0"/>
                    </a:p>
                    <a:p>
                      <a:pPr algn="l" indent="0" marL="0">
                        <a:lnSpc>
                          <a:spcPts val="1091"/>
                        </a:lnSpc>
                        <a:buNone/>
                      </a:pPr>
                      <a:r>
                        <a:rPr lang="en-US" sz="900" spc="-18" kern="0" dirty="0">
                          <a:solidFill>
                            <a:srgbClr val="000000">
                              <a:alpha val="99000"/>
                            </a:srgbClr>
                          </a:solidFill>
                          <a:latin typeface="Libre Franklin" pitchFamily="34" charset="0"/>
                          <a:ea typeface="Libre Franklin" pitchFamily="34" charset="-122"/>
                          <a:cs typeface="Libre Franklin" pitchFamily="34" charset="-120"/>
                        </a:rPr>
                        <a:t>Tracking Cuaca Menggunakan Public API Berbasis Website</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alpha val="0"/>
                      </a:srgbClr>
                    </a:solidFill>
                  </a:tcPr>
                </a:tc>
                <a:tc>
                  <a:txBody>
                    <a:bodyPr/>
                    <a:lstStyle/>
                    <a:p>
                      <a:pPr algn="l" indent="0" marL="0">
                        <a:lnSpc>
                          <a:spcPts val="1091"/>
                        </a:lnSpc>
                        <a:buNone/>
                      </a:pPr>
                      <a:r>
                        <a:rPr lang="en-US" sz="900" spc="-18" kern="0" dirty="0">
                          <a:solidFill>
                            <a:srgbClr val="000000">
                              <a:alpha val="99000"/>
                            </a:srgbClr>
                          </a:solidFill>
                          <a:latin typeface="Libre Franklin" pitchFamily="34" charset="0"/>
                          <a:ea typeface="Libre Franklin" pitchFamily="34" charset="-122"/>
                          <a:cs typeface="Libre Franklin" pitchFamily="34" charset="-120"/>
                        </a:rPr>
                        <a:t>penelitian ini hanya memakai data dari OpenWeather tanpa database</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alpha val="0"/>
                      </a:srgbClr>
                    </a:solidFill>
                  </a:tcPr>
                </a:tc>
              </a:tr>
              <a:tr h="742950">
                <a:tc>
                  <a:txBody>
                    <a:bodyPr/>
                    <a:lstStyle/>
                    <a:p>
                      <a:pPr algn="l" indent="0" marL="0">
                        <a:lnSpc>
                          <a:spcPts val="1091"/>
                        </a:lnSpc>
                        <a:buNone/>
                      </a:pPr>
                      <a:r>
                        <a:rPr lang="en-US" sz="900" spc="-18" kern="0" dirty="0">
                          <a:solidFill>
                            <a:srgbClr val="000000">
                              <a:alpha val="99000"/>
                            </a:srgbClr>
                          </a:solidFill>
                          <a:latin typeface="Libre Franklin" pitchFamily="34" charset="0"/>
                          <a:ea typeface="Libre Franklin" pitchFamily="34" charset="-122"/>
                          <a:cs typeface="Libre Franklin" pitchFamily="34" charset="-120"/>
                        </a:rPr>
                        <a:t>2024</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alpha val="0"/>
                      </a:srgbClr>
                    </a:solidFill>
                  </a:tcPr>
                </a:tc>
                <a:tc>
                  <a:txBody>
                    <a:bodyPr/>
                    <a:lstStyle/>
                    <a:p>
                      <a:pPr algn="l" indent="0" marL="0">
                        <a:lnSpc>
                          <a:spcPts val="1091"/>
                        </a:lnSpc>
                        <a:buNone/>
                      </a:pPr>
                      <a:r>
                        <a:rPr lang="en-US" sz="900" spc="-18" kern="0" dirty="0">
                          <a:solidFill>
                            <a:srgbClr val="000000">
                              <a:alpha val="99000"/>
                            </a:srgbClr>
                          </a:solidFill>
                          <a:latin typeface="Libre Franklin" pitchFamily="34" charset="0"/>
                          <a:ea typeface="Libre Franklin" pitchFamily="34" charset="-122"/>
                          <a:cs typeface="Libre Franklin" pitchFamily="34" charset="-120"/>
                        </a:rPr>
                        <a:t>Rahman</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alpha val="0"/>
                      </a:srgbClr>
                    </a:solidFill>
                  </a:tcPr>
                </a:tc>
                <a:tc>
                  <a:txBody>
                    <a:bodyPr/>
                    <a:lstStyle/>
                    <a:p>
                      <a:pPr algn="l" indent="0" marL="0">
                        <a:lnSpc>
                          <a:spcPts val="1091"/>
                        </a:lnSpc>
                        <a:buNone/>
                      </a:pPr>
                      <a:r>
                        <a:rPr lang="en-US" sz="900" spc="-18" kern="0" dirty="0">
                          <a:solidFill>
                            <a:srgbClr val="000000">
                              <a:alpha val="99000"/>
                            </a:srgbClr>
                          </a:solidFill>
                          <a:latin typeface="Libre Franklin" pitchFamily="34" charset="0"/>
                          <a:ea typeface="Libre Franklin" pitchFamily="34" charset="-122"/>
                          <a:cs typeface="Libre Franklin" pitchFamily="34" charset="-120"/>
                        </a:rPr>
                        <a:t>Rainfall Forecasting</a:t>
                      </a:r>
                      <a:endParaRPr lang="en-US" sz="1200" dirty="0"/>
                    </a:p>
                    <a:p>
                      <a:pPr algn="l" indent="0" marL="0">
                        <a:lnSpc>
                          <a:spcPts val="1091"/>
                        </a:lnSpc>
                        <a:buNone/>
                      </a:pPr>
                      <a:r>
                        <a:rPr lang="en-US" sz="900" spc="-18" kern="0" dirty="0">
                          <a:solidFill>
                            <a:srgbClr val="000000">
                              <a:alpha val="99000"/>
                            </a:srgbClr>
                          </a:solidFill>
                          <a:latin typeface="Libre Franklin" pitchFamily="34" charset="0"/>
                          <a:ea typeface="Libre Franklin" pitchFamily="34" charset="-122"/>
                          <a:cs typeface="Libre Franklin" pitchFamily="34" charset="-120"/>
                        </a:rPr>
                        <a:t>Using the Holt-</a:t>
                      </a:r>
                      <a:endParaRPr lang="en-US" sz="1200" dirty="0"/>
                    </a:p>
                    <a:p>
                      <a:pPr algn="l" indent="0" marL="0">
                        <a:lnSpc>
                          <a:spcPts val="1091"/>
                        </a:lnSpc>
                        <a:buNone/>
                      </a:pPr>
                      <a:r>
                        <a:rPr lang="en-US" sz="900" spc="-18" kern="0" dirty="0">
                          <a:solidFill>
                            <a:srgbClr val="000000">
                              <a:alpha val="99000"/>
                            </a:srgbClr>
                          </a:solidFill>
                          <a:latin typeface="Libre Franklin" pitchFamily="34" charset="0"/>
                          <a:ea typeface="Libre Franklin" pitchFamily="34" charset="-122"/>
                          <a:cs typeface="Libre Franklin" pitchFamily="34" charset="-120"/>
                        </a:rPr>
                        <a:t>Winters Exponential</a:t>
                      </a:r>
                      <a:endParaRPr lang="en-US" sz="1200" dirty="0"/>
                    </a:p>
                    <a:p>
                      <a:pPr algn="l" indent="0" marL="0">
                        <a:lnSpc>
                          <a:spcPts val="1091"/>
                        </a:lnSpc>
                        <a:buNone/>
                      </a:pPr>
                      <a:r>
                        <a:rPr lang="en-US" sz="900" spc="-18" kern="0" dirty="0">
                          <a:solidFill>
                            <a:srgbClr val="000000">
                              <a:alpha val="99000"/>
                            </a:srgbClr>
                          </a:solidFill>
                          <a:latin typeface="Libre Franklin" pitchFamily="34" charset="0"/>
                          <a:ea typeface="Libre Franklin" pitchFamily="34" charset="-122"/>
                          <a:cs typeface="Libre Franklin" pitchFamily="34" charset="-120"/>
                        </a:rPr>
                        <a:t>Smoothing Method</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alpha val="0"/>
                      </a:srgbClr>
                    </a:solidFill>
                  </a:tcPr>
                </a:tc>
                <a:tc>
                  <a:txBody>
                    <a:bodyPr/>
                    <a:lstStyle/>
                    <a:p>
                      <a:pPr algn="l" indent="0" marL="0">
                        <a:lnSpc>
                          <a:spcPts val="1091"/>
                        </a:lnSpc>
                        <a:buNone/>
                      </a:pPr>
                      <a:r>
                        <a:rPr lang="en-US" sz="900" spc="-18" kern="0" dirty="0">
                          <a:solidFill>
                            <a:srgbClr val="000000">
                              <a:alpha val="99000"/>
                            </a:srgbClr>
                          </a:solidFill>
                          <a:latin typeface="Libre Franklin" pitchFamily="34" charset="0"/>
                          <a:ea typeface="Libre Franklin" pitchFamily="34" charset="-122"/>
                          <a:cs typeface="Libre Franklin" pitchFamily="34" charset="-120"/>
                        </a:rPr>
                        <a:t>Analisis hanya berfokus pada peramalan curah hujan</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alpha val="0"/>
                      </a:srgbClr>
                    </a:solidFill>
                  </a:tcPr>
                </a:tc>
              </a:tr>
              <a:tr h="742950">
                <a:tc>
                  <a:txBody>
                    <a:bodyPr/>
                    <a:lstStyle/>
                    <a:p>
                      <a:pPr algn="l" indent="0" marL="0">
                        <a:lnSpc>
                          <a:spcPts val="1091"/>
                        </a:lnSpc>
                        <a:buNone/>
                      </a:pPr>
                      <a:r>
                        <a:rPr lang="en-US" sz="900" spc="-18" kern="0" dirty="0">
                          <a:solidFill>
                            <a:srgbClr val="000000">
                              <a:alpha val="99000"/>
                            </a:srgbClr>
                          </a:solidFill>
                          <a:latin typeface="Libre Franklin" pitchFamily="34" charset="0"/>
                          <a:ea typeface="Libre Franklin" pitchFamily="34" charset="-122"/>
                          <a:cs typeface="Libre Franklin" pitchFamily="34" charset="-120"/>
                        </a:rPr>
                        <a:t>2018</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alpha val="0"/>
                      </a:srgbClr>
                    </a:solidFill>
                  </a:tcPr>
                </a:tc>
                <a:tc>
                  <a:txBody>
                    <a:bodyPr/>
                    <a:lstStyle/>
                    <a:p>
                      <a:pPr algn="l" indent="0" marL="0">
                        <a:lnSpc>
                          <a:spcPts val="1091"/>
                        </a:lnSpc>
                        <a:buNone/>
                      </a:pPr>
                      <a:r>
                        <a:rPr lang="en-US" sz="900" spc="-18" kern="0" dirty="0">
                          <a:solidFill>
                            <a:srgbClr val="000000">
                              <a:alpha val="99000"/>
                            </a:srgbClr>
                          </a:solidFill>
                          <a:latin typeface="Libre Franklin" pitchFamily="34" charset="0"/>
                          <a:ea typeface="Libre Franklin" pitchFamily="34" charset="-122"/>
                          <a:cs typeface="Libre Franklin" pitchFamily="34" charset="-120"/>
                        </a:rPr>
                        <a:t>Panjaitan</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alpha val="0"/>
                      </a:srgbClr>
                    </a:solidFill>
                  </a:tcPr>
                </a:tc>
                <a:tc>
                  <a:txBody>
                    <a:bodyPr/>
                    <a:lstStyle/>
                    <a:p>
                      <a:pPr algn="l" indent="0" marL="0">
                        <a:lnSpc>
                          <a:spcPts val="1091"/>
                        </a:lnSpc>
                        <a:buNone/>
                      </a:pPr>
                      <a:r>
                        <a:rPr lang="en-US" sz="900" spc="-18" kern="0" dirty="0">
                          <a:solidFill>
                            <a:srgbClr val="000000">
                              <a:alpha val="99000"/>
                            </a:srgbClr>
                          </a:solidFill>
                          <a:latin typeface="Libre Franklin" pitchFamily="34" charset="0"/>
                          <a:ea typeface="Libre Franklin" pitchFamily="34" charset="-122"/>
                          <a:cs typeface="Libre Franklin" pitchFamily="34" charset="-120"/>
                        </a:rPr>
                        <a:t>Sistem Monitoring</a:t>
                      </a:r>
                      <a:endParaRPr lang="en-US" sz="1200" dirty="0"/>
                    </a:p>
                    <a:p>
                      <a:pPr algn="l" indent="0" marL="0">
                        <a:lnSpc>
                          <a:spcPts val="1091"/>
                        </a:lnSpc>
                        <a:buNone/>
                      </a:pPr>
                      <a:r>
                        <a:rPr lang="en-US" sz="900" spc="-18" kern="0" dirty="0">
                          <a:solidFill>
                            <a:srgbClr val="000000">
                              <a:alpha val="99000"/>
                            </a:srgbClr>
                          </a:solidFill>
                          <a:latin typeface="Libre Franklin" pitchFamily="34" charset="0"/>
                          <a:ea typeface="Libre Franklin" pitchFamily="34" charset="-122"/>
                          <a:cs typeface="Libre Franklin" pitchFamily="34" charset="-120"/>
                        </a:rPr>
                        <a:t>Cuaca dan Identifikasi Keadaan</a:t>
                      </a:r>
                      <a:endParaRPr lang="en-US" sz="1200" dirty="0"/>
                    </a:p>
                    <a:p>
                      <a:pPr algn="l" indent="0" marL="0">
                        <a:lnSpc>
                          <a:spcPts val="1091"/>
                        </a:lnSpc>
                        <a:buNone/>
                      </a:pPr>
                      <a:r>
                        <a:rPr lang="en-US" sz="900" spc="-18" kern="0" dirty="0">
                          <a:solidFill>
                            <a:srgbClr val="000000">
                              <a:alpha val="99000"/>
                            </a:srgbClr>
                          </a:solidFill>
                          <a:latin typeface="Libre Franklin" pitchFamily="34" charset="0"/>
                          <a:ea typeface="Libre Franklin" pitchFamily="34" charset="-122"/>
                          <a:cs typeface="Libre Franklin" pitchFamily="34" charset="-120"/>
                        </a:rPr>
                        <a:t>Cuaca Menggunakan</a:t>
                      </a:r>
                      <a:endParaRPr lang="en-US" sz="1200" dirty="0"/>
                    </a:p>
                    <a:p>
                      <a:pPr algn="l" indent="0" marL="0">
                        <a:lnSpc>
                          <a:spcPts val="1091"/>
                        </a:lnSpc>
                        <a:buNone/>
                      </a:pPr>
                      <a:r>
                        <a:rPr lang="en-US" sz="900" spc="-18" kern="0" dirty="0">
                          <a:solidFill>
                            <a:srgbClr val="000000">
                              <a:alpha val="99000"/>
                            </a:srgbClr>
                          </a:solidFill>
                          <a:latin typeface="Libre Franklin" pitchFamily="34" charset="0"/>
                          <a:ea typeface="Libre Franklin" pitchFamily="34" charset="-122"/>
                          <a:cs typeface="Libre Franklin" pitchFamily="34" charset="-120"/>
                        </a:rPr>
                        <a:t>Teknik Web Scraping</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alpha val="0"/>
                      </a:srgbClr>
                    </a:solidFill>
                  </a:tcPr>
                </a:tc>
                <a:tc>
                  <a:txBody>
                    <a:bodyPr/>
                    <a:lstStyle/>
                    <a:p>
                      <a:pPr algn="l" indent="0" marL="0">
                        <a:lnSpc>
                          <a:spcPts val="1091"/>
                        </a:lnSpc>
                        <a:buNone/>
                      </a:pPr>
                      <a:r>
                        <a:rPr lang="en-US" sz="900" spc="-18" kern="0" dirty="0">
                          <a:solidFill>
                            <a:srgbClr val="000000">
                              <a:alpha val="99000"/>
                            </a:srgbClr>
                          </a:solidFill>
                          <a:latin typeface="Libre Franklin" pitchFamily="34" charset="0"/>
                          <a:ea typeface="Libre Franklin" pitchFamily="34" charset="-122"/>
                          <a:cs typeface="Libre Franklin" pitchFamily="34" charset="-120"/>
                        </a:rPr>
                        <a:t>menggunakan web scraping dan algoritma KNN untuk klasifikasi cuaca </a:t>
                      </a:r>
                      <a:endParaRPr lang="en-US" sz="1200" dirty="0"/>
                    </a:p>
                  </a:txBody>
                  <a:tcPr marL="91440" marR="91440" marT="45720" marB="45720">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alpha val="0"/>
                      </a:srgbClr>
                    </a:solidFill>
                  </a:tcPr>
                </a:tc>
              </a:tr>
            </a:tbl>
          </a:graphicData>
        </a:graphic>
      </p:graphicFrame>
      <p:sp>
        <p:nvSpPr>
          <p:cNvPr id="6" name="Text 0"/>
          <p:cNvSpPr/>
          <p:nvPr/>
        </p:nvSpPr>
        <p:spPr>
          <a:xfrm>
            <a:off x="-573881" y="3502819"/>
            <a:ext cx="1985963" cy="161925"/>
          </a:xfrm>
          <a:prstGeom prst="rect">
            <a:avLst/>
          </a:prstGeom>
          <a:noFill/>
          <a:ln/>
        </p:spPr>
        <p:txBody>
          <a:bodyPr wrap="square" rtlCol="0" anchor="ctr"/>
          <a:lstStyle/>
          <a:p>
            <a:pPr algn="ctr" indent="0" marL="0">
              <a:lnSpc>
                <a:spcPts val="1260"/>
              </a:lnSpc>
              <a:buNone/>
            </a:pPr>
            <a:r>
              <a:rPr lang="en-US" sz="900" dirty="0">
                <a:solidFill>
                  <a:srgbClr val="000000">
                    <a:alpha val="99000"/>
                  </a:srgbClr>
                </a:solidFill>
                <a:latin typeface="Public Sans" pitchFamily="34" charset="0"/>
                <a:ea typeface="Public Sans" pitchFamily="34" charset="-122"/>
                <a:cs typeface="Public Sans" pitchFamily="34" charset="-120"/>
              </a:rPr>
              <a:t>UNIVERSITAS SYIAH KUALA</a:t>
            </a:r>
            <a:endParaRPr lang="en-US" sz="900" dirty="0"/>
          </a:p>
        </p:txBody>
      </p:sp>
      <p:sp>
        <p:nvSpPr>
          <p:cNvPr id="7" name="Text 1"/>
          <p:cNvSpPr/>
          <p:nvPr/>
        </p:nvSpPr>
        <p:spPr>
          <a:xfrm>
            <a:off x="-166687" y="1119188"/>
            <a:ext cx="1171575" cy="114300"/>
          </a:xfrm>
          <a:prstGeom prst="rect">
            <a:avLst/>
          </a:prstGeom>
          <a:noFill/>
          <a:ln/>
        </p:spPr>
        <p:txBody>
          <a:bodyPr wrap="square" rtlCol="0" anchor="ctr"/>
          <a:lstStyle/>
          <a:p>
            <a:pPr algn="ctr" indent="0" marL="0">
              <a:lnSpc>
                <a:spcPts val="908"/>
              </a:lnSpc>
              <a:buNone/>
            </a:pPr>
            <a:r>
              <a:rPr lang="en-US" sz="825" b="1" spc="58" kern="0" dirty="0">
                <a:solidFill>
                  <a:srgbClr val="111111">
                    <a:alpha val="99000"/>
                  </a:srgbClr>
                </a:solidFill>
                <a:latin typeface="Plus Jakarta Sans" pitchFamily="34" charset="0"/>
                <a:ea typeface="Plus Jakarta Sans" pitchFamily="34" charset="-122"/>
                <a:cs typeface="Plus Jakarta Sans" pitchFamily="34" charset="-120"/>
              </a:rPr>
              <a:t>MEI 27, 2025</a:t>
            </a:r>
            <a:endParaRPr lang="en-US" sz="8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DE8D8"/>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000000"/>
            </a:solidFill>
            <a:prstDash val="solid"/>
          </a:ln>
        </p:spPr>
      </p:sp>
      <p:sp>
        <p:nvSpPr>
          <p:cNvPr id="3" name="Text 1"/>
          <p:cNvSpPr/>
          <p:nvPr/>
        </p:nvSpPr>
        <p:spPr>
          <a:xfrm>
            <a:off x="285750" y="2157413"/>
            <a:ext cx="9029700" cy="823913"/>
          </a:xfrm>
          <a:prstGeom prst="rect">
            <a:avLst/>
          </a:prstGeom>
          <a:noFill/>
          <a:ln/>
        </p:spPr>
        <p:txBody>
          <a:bodyPr wrap="square" rtlCol="0" anchor="ctr"/>
          <a:lstStyle/>
          <a:p>
            <a:pPr algn="ctr" indent="0" marL="0">
              <a:lnSpc>
                <a:spcPts val="6453"/>
              </a:lnSpc>
              <a:buNone/>
            </a:pPr>
            <a:r>
              <a:rPr lang="en-US" sz="6900" spc="-276" kern="0" dirty="0">
                <a:solidFill>
                  <a:srgbClr val="000000">
                    <a:alpha val="99000"/>
                  </a:srgbClr>
                </a:solidFill>
                <a:latin typeface="Public Sans" pitchFamily="34" charset="0"/>
                <a:ea typeface="Public Sans" pitchFamily="34" charset="-122"/>
                <a:cs typeface="Public Sans" pitchFamily="34" charset="-120"/>
              </a:rPr>
              <a:t>METODOLOGI</a:t>
            </a:r>
            <a:endParaRPr lang="en-US" sz="6900" dirty="0"/>
          </a:p>
        </p:txBody>
      </p:sp>
      <p:sp>
        <p:nvSpPr>
          <p:cNvPr id="4" name="Text 2"/>
          <p:cNvSpPr/>
          <p:nvPr/>
        </p:nvSpPr>
        <p:spPr>
          <a:xfrm>
            <a:off x="90488" y="76200"/>
            <a:ext cx="1171575"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5" name="Text 3"/>
          <p:cNvSpPr/>
          <p:nvPr/>
        </p:nvSpPr>
        <p:spPr>
          <a:xfrm>
            <a:off x="1300163" y="76200"/>
            <a:ext cx="1643063"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SEMINAR PROPOSAL</a:t>
            </a:r>
            <a:endParaRPr lang="en-US" sz="825" dirty="0"/>
          </a:p>
        </p:txBody>
      </p:sp>
      <p:sp>
        <p:nvSpPr>
          <p:cNvPr id="6" name="Text 4"/>
          <p:cNvSpPr/>
          <p:nvPr/>
        </p:nvSpPr>
        <p:spPr>
          <a:xfrm>
            <a:off x="7529513" y="76200"/>
            <a:ext cx="1981200" cy="114300"/>
          </a:xfrm>
          <a:prstGeom prst="rect">
            <a:avLst/>
          </a:prstGeom>
          <a:noFill/>
          <a:ln/>
        </p:spPr>
        <p:txBody>
          <a:bodyPr wrap="square" rtlCol="0" anchor="ctr"/>
          <a:lstStyle/>
          <a:p>
            <a:pPr algn="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UNIVERSITAS SYIAH KUALA</a:t>
            </a:r>
            <a:endParaRPr lang="en-US" sz="8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DE8D8"/>
        </a:solidFill>
      </p:bgPr>
    </p:bg>
    <p:spTree>
      <p:nvGrpSpPr>
        <p:cNvPr id="1" name=""/>
        <p:cNvGrpSpPr/>
        <p:nvPr/>
      </p:nvGrpSpPr>
      <p:grpSpPr>
        <a:xfrm>
          <a:off x="0" y="0"/>
          <a:ext cx="0" cy="0"/>
          <a:chOff x="0" y="0"/>
          <a:chExt cx="0" cy="0"/>
        </a:xfrm>
      </p:grpSpPr>
      <p:sp>
        <p:nvSpPr>
          <p:cNvPr id="2" name="Shape 0"/>
          <p:cNvSpPr/>
          <p:nvPr/>
        </p:nvSpPr>
        <p:spPr>
          <a:xfrm>
            <a:off x="4691063" y="0"/>
            <a:ext cx="4452938" cy="4762500"/>
          </a:xfrm>
          <a:prstGeom prst="rect">
            <a:avLst/>
          </a:prstGeom>
          <a:solidFill>
            <a:srgbClr val="D9D9D9"/>
          </a:solidFill>
          <a:ln/>
        </p:spPr>
      </p:sp>
      <p:sp>
        <p:nvSpPr>
          <p:cNvPr id="3" name="Shape 1"/>
          <p:cNvSpPr/>
          <p:nvPr/>
        </p:nvSpPr>
        <p:spPr>
          <a:xfrm>
            <a:off x="381000" y="0"/>
            <a:ext cx="4310063" cy="4762500"/>
          </a:xfrm>
          <a:prstGeom prst="rect">
            <a:avLst/>
          </a:prstGeom>
          <a:solidFill>
            <a:srgbClr val="F5F5F5"/>
          </a:solidFill>
          <a:ln/>
        </p:spPr>
      </p:sp>
      <p:sp>
        <p:nvSpPr>
          <p:cNvPr id="4" name="Shape 2"/>
          <p:cNvSpPr/>
          <p:nvPr/>
        </p:nvSpPr>
        <p:spPr>
          <a:xfrm>
            <a:off x="952500" y="952500"/>
            <a:ext cx="3167063" cy="985838"/>
          </a:xfrm>
          <a:prstGeom prst="rect">
            <a:avLst/>
          </a:prstGeom>
          <a:noFill/>
          <a:ln/>
        </p:spPr>
      </p:sp>
      <p:sp>
        <p:nvSpPr>
          <p:cNvPr id="5" name="Shape 3"/>
          <p:cNvSpPr/>
          <p:nvPr/>
        </p:nvSpPr>
        <p:spPr>
          <a:xfrm>
            <a:off x="5224463" y="952500"/>
            <a:ext cx="3348038" cy="1809750"/>
          </a:xfrm>
          <a:prstGeom prst="rect">
            <a:avLst/>
          </a:prstGeom>
          <a:noFill/>
          <a:ln/>
        </p:spPr>
      </p:sp>
      <p:pic>
        <p:nvPicPr>
          <p:cNvPr id="6" name="Image 0" descr="preencoded.png">    </p:cNvPr>
          <p:cNvPicPr>
            <a:picLocks noChangeAspect="1"/>
          </p:cNvPicPr>
          <p:nvPr/>
        </p:nvPicPr>
        <p:blipFill>
          <a:blip r:embed="rId1"/>
          <a:stretch>
            <a:fillRect/>
          </a:stretch>
        </p:blipFill>
        <p:spPr>
          <a:xfrm>
            <a:off x="381000" y="0"/>
            <a:ext cx="4763" cy="5143500"/>
          </a:xfrm>
          <a:prstGeom prst="rect">
            <a:avLst/>
          </a:prstGeom>
        </p:spPr>
      </p:pic>
      <p:pic>
        <p:nvPicPr>
          <p:cNvPr id="7" name="Image 1" descr="preencoded.png">    </p:cNvPr>
          <p:cNvPicPr>
            <a:picLocks noChangeAspect="1"/>
          </p:cNvPicPr>
          <p:nvPr/>
        </p:nvPicPr>
        <p:blipFill>
          <a:blip r:embed="rId2"/>
          <a:stretch>
            <a:fillRect/>
          </a:stretch>
        </p:blipFill>
        <p:spPr>
          <a:xfrm>
            <a:off x="0" y="4762500"/>
            <a:ext cx="9144000" cy="4763"/>
          </a:xfrm>
          <a:prstGeom prst="rect">
            <a:avLst/>
          </a:prstGeom>
        </p:spPr>
      </p:pic>
      <p:pic>
        <p:nvPicPr>
          <p:cNvPr id="8" name="Image 2" descr="preencoded.png">    </p:cNvPr>
          <p:cNvPicPr>
            <a:picLocks noChangeAspect="1"/>
          </p:cNvPicPr>
          <p:nvPr/>
        </p:nvPicPr>
        <p:blipFill>
          <a:blip r:embed="rId3"/>
          <a:stretch>
            <a:fillRect/>
          </a:stretch>
        </p:blipFill>
        <p:spPr>
          <a:xfrm>
            <a:off x="4691062" y="0"/>
            <a:ext cx="3572" cy="4762500"/>
          </a:xfrm>
          <a:prstGeom prst="rect">
            <a:avLst/>
          </a:prstGeom>
        </p:spPr>
      </p:pic>
      <p:sp>
        <p:nvSpPr>
          <p:cNvPr id="9" name="Text 4"/>
          <p:cNvSpPr/>
          <p:nvPr/>
        </p:nvSpPr>
        <p:spPr>
          <a:xfrm>
            <a:off x="571500" y="190500"/>
            <a:ext cx="1828800" cy="152400"/>
          </a:xfrm>
          <a:prstGeom prst="rect">
            <a:avLst/>
          </a:prstGeom>
          <a:noFill/>
          <a:ln/>
        </p:spPr>
        <p:txBody>
          <a:bodyPr wrap="square" rtlCol="0" anchor="ctr"/>
          <a:lstStyle/>
          <a:p>
            <a:pPr algn="l" indent="0" marL="0">
              <a:lnSpc>
                <a:spcPts val="1200"/>
              </a:lnSpc>
              <a:buNone/>
            </a:pPr>
            <a:r>
              <a:rPr lang="en-US" sz="1200" dirty="0">
                <a:solidFill>
                  <a:srgbClr val="000000">
                    <a:alpha val="99000"/>
                  </a:srgbClr>
                </a:solidFill>
                <a:latin typeface="Red Hat Mono" pitchFamily="34" charset="0"/>
                <a:ea typeface="Red Hat Mono" pitchFamily="34" charset="-122"/>
                <a:cs typeface="Red Hat Mono" pitchFamily="34" charset="-120"/>
              </a:rPr>
              <a:t>RECOMMENDATIONS</a:t>
            </a:r>
            <a:endParaRPr lang="en-US" sz="1200" dirty="0"/>
          </a:p>
        </p:txBody>
      </p:sp>
      <p:sp>
        <p:nvSpPr>
          <p:cNvPr id="10" name="Text 5"/>
          <p:cNvSpPr/>
          <p:nvPr/>
        </p:nvSpPr>
        <p:spPr>
          <a:xfrm>
            <a:off x="-573881" y="3502819"/>
            <a:ext cx="1985963" cy="161925"/>
          </a:xfrm>
          <a:prstGeom prst="rect">
            <a:avLst/>
          </a:prstGeom>
          <a:noFill/>
          <a:ln/>
        </p:spPr>
        <p:txBody>
          <a:bodyPr wrap="square" rtlCol="0" anchor="ctr"/>
          <a:lstStyle/>
          <a:p>
            <a:pPr algn="ctr" indent="0" marL="0">
              <a:lnSpc>
                <a:spcPts val="1260"/>
              </a:lnSpc>
              <a:buNone/>
            </a:pPr>
            <a:r>
              <a:rPr lang="en-US" sz="900" dirty="0">
                <a:solidFill>
                  <a:srgbClr val="000000">
                    <a:alpha val="99000"/>
                  </a:srgbClr>
                </a:solidFill>
                <a:latin typeface="Public Sans" pitchFamily="34" charset="0"/>
                <a:ea typeface="Public Sans" pitchFamily="34" charset="-122"/>
                <a:cs typeface="Public Sans" pitchFamily="34" charset="-120"/>
              </a:rPr>
              <a:t>UNIVERSITAS SYIAH KUALA</a:t>
            </a:r>
            <a:endParaRPr lang="en-US" sz="900" dirty="0"/>
          </a:p>
        </p:txBody>
      </p:sp>
      <p:sp>
        <p:nvSpPr>
          <p:cNvPr id="11" name="Text 6"/>
          <p:cNvSpPr/>
          <p:nvPr/>
        </p:nvSpPr>
        <p:spPr>
          <a:xfrm>
            <a:off x="-166687" y="1119188"/>
            <a:ext cx="1171575" cy="114300"/>
          </a:xfrm>
          <a:prstGeom prst="rect">
            <a:avLst/>
          </a:prstGeom>
          <a:noFill/>
          <a:ln/>
        </p:spPr>
        <p:txBody>
          <a:bodyPr wrap="square" rtlCol="0" anchor="ctr"/>
          <a:lstStyle/>
          <a:p>
            <a:pPr algn="ctr" indent="0" marL="0">
              <a:lnSpc>
                <a:spcPts val="908"/>
              </a:lnSpc>
              <a:buNone/>
            </a:pPr>
            <a:r>
              <a:rPr lang="en-US" sz="825" b="1" spc="58" kern="0" dirty="0">
                <a:solidFill>
                  <a:srgbClr val="111111">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12" name="Text 7"/>
          <p:cNvSpPr/>
          <p:nvPr/>
        </p:nvSpPr>
        <p:spPr>
          <a:xfrm>
            <a:off x="952500" y="952500"/>
            <a:ext cx="3624263" cy="185738"/>
          </a:xfrm>
          <a:prstGeom prst="rect">
            <a:avLst/>
          </a:prstGeom>
          <a:noFill/>
          <a:ln/>
        </p:spPr>
        <p:txBody>
          <a:bodyPr wrap="square" rtlCol="0" anchor="ctr"/>
          <a:lstStyle/>
          <a:p>
            <a:pPr algn="l" indent="0" marL="0">
              <a:lnSpc>
                <a:spcPts val="1454"/>
              </a:lnSpc>
              <a:buNone/>
            </a:pPr>
            <a:r>
              <a:rPr lang="en-US" sz="1200" b="1" spc="-24" kern="0" dirty="0">
                <a:solidFill>
                  <a:srgbClr val="000000">
                    <a:alpha val="99000"/>
                  </a:srgbClr>
                </a:solidFill>
                <a:latin typeface="Libre Franklin" pitchFamily="34" charset="0"/>
                <a:ea typeface="Libre Franklin" pitchFamily="34" charset="-122"/>
                <a:cs typeface="Libre Franklin" pitchFamily="34" charset="-120"/>
              </a:rPr>
              <a:t>Tempat</a:t>
            </a:r>
            <a:endParaRPr lang="en-US" sz="1200" dirty="0"/>
          </a:p>
        </p:txBody>
      </p:sp>
      <p:sp>
        <p:nvSpPr>
          <p:cNvPr id="13" name="Text 8"/>
          <p:cNvSpPr/>
          <p:nvPr/>
        </p:nvSpPr>
        <p:spPr>
          <a:xfrm>
            <a:off x="952500" y="1519238"/>
            <a:ext cx="3624263" cy="419100"/>
          </a:xfrm>
          <a:prstGeom prst="rect">
            <a:avLst/>
          </a:prstGeom>
          <a:noFill/>
          <a:ln/>
        </p:spPr>
        <p:txBody>
          <a:bodyPr wrap="square" rtlCol="0" anchor="ctr"/>
          <a:lstStyle/>
          <a:p>
            <a:pPr algn="l" indent="0" marL="0">
              <a:lnSpc>
                <a:spcPts val="1636"/>
              </a:lnSpc>
              <a:buNone/>
            </a:pPr>
            <a:r>
              <a:rPr lang="en-US" sz="1350" spc="-27" kern="0" dirty="0">
                <a:solidFill>
                  <a:srgbClr val="000000">
                    <a:alpha val="99000"/>
                  </a:srgbClr>
                </a:solidFill>
                <a:latin typeface="Libre Franklin" pitchFamily="34" charset="0"/>
                <a:ea typeface="Libre Franklin" pitchFamily="34" charset="-122"/>
                <a:cs typeface="Libre Franklin" pitchFamily="34" charset="-120"/>
              </a:rPr>
              <a:t>Laboratorium Strategic Risk Governance Lantai 3, Gedung TDMRC USK</a:t>
            </a:r>
            <a:endParaRPr lang="en-US" sz="1350" dirty="0"/>
          </a:p>
        </p:txBody>
      </p:sp>
      <p:sp>
        <p:nvSpPr>
          <p:cNvPr id="14" name="Text 9"/>
          <p:cNvSpPr/>
          <p:nvPr/>
        </p:nvSpPr>
        <p:spPr>
          <a:xfrm>
            <a:off x="5224463" y="952500"/>
            <a:ext cx="3805238" cy="185738"/>
          </a:xfrm>
          <a:prstGeom prst="rect">
            <a:avLst/>
          </a:prstGeom>
          <a:noFill/>
          <a:ln/>
        </p:spPr>
        <p:txBody>
          <a:bodyPr wrap="square" rtlCol="0" anchor="ctr"/>
          <a:lstStyle/>
          <a:p>
            <a:pPr algn="l" indent="0" marL="0">
              <a:lnSpc>
                <a:spcPts val="1454"/>
              </a:lnSpc>
              <a:buNone/>
            </a:pPr>
            <a:r>
              <a:rPr lang="en-US" sz="1200" b="1" spc="-24" kern="0" dirty="0">
                <a:solidFill>
                  <a:srgbClr val="000000">
                    <a:alpha val="99000"/>
                  </a:srgbClr>
                </a:solidFill>
                <a:latin typeface="Libre Franklin" pitchFamily="34" charset="0"/>
                <a:ea typeface="Libre Franklin" pitchFamily="34" charset="-122"/>
                <a:cs typeface="Libre Franklin" pitchFamily="34" charset="-120"/>
              </a:rPr>
              <a:t>Waktu Penelitian</a:t>
            </a:r>
            <a:endParaRPr lang="en-US" sz="1200" dirty="0"/>
          </a:p>
        </p:txBody>
      </p:sp>
      <p:sp>
        <p:nvSpPr>
          <p:cNvPr id="15" name="Text 10"/>
          <p:cNvSpPr/>
          <p:nvPr/>
        </p:nvSpPr>
        <p:spPr>
          <a:xfrm>
            <a:off x="5224463" y="1519238"/>
            <a:ext cx="3805238" cy="1243013"/>
          </a:xfrm>
          <a:prstGeom prst="rect">
            <a:avLst/>
          </a:prstGeom>
          <a:noFill/>
          <a:ln/>
        </p:spPr>
        <p:txBody>
          <a:bodyPr wrap="square" rtlCol="0" anchor="ctr"/>
          <a:lstStyle/>
          <a:p>
            <a:pPr algn="l" indent="0" marL="0">
              <a:lnSpc>
                <a:spcPts val="3272"/>
              </a:lnSpc>
              <a:buNone/>
            </a:pPr>
            <a:r>
              <a:rPr lang="en-US" sz="2700" spc="-54" kern="0" dirty="0">
                <a:solidFill>
                  <a:srgbClr val="000000">
                    <a:alpha val="99000"/>
                  </a:srgbClr>
                </a:solidFill>
                <a:latin typeface="Libre Franklin" pitchFamily="34" charset="0"/>
                <a:ea typeface="Libre Franklin" pitchFamily="34" charset="-122"/>
                <a:cs typeface="Libre Franklin" pitchFamily="34" charset="-120"/>
              </a:rPr>
              <a:t>6 bulan terhitung dari bulan Maret 2025 hingga Agustus 2025</a:t>
            </a:r>
            <a:endParaRPr lang="en-US" sz="2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DE8D8"/>
        </a:solidFill>
      </p:bgPr>
    </p:bg>
    <p:spTree>
      <p:nvGrpSpPr>
        <p:cNvPr id="1" name=""/>
        <p:cNvGrpSpPr/>
        <p:nvPr/>
      </p:nvGrpSpPr>
      <p:grpSpPr>
        <a:xfrm>
          <a:off x="0" y="0"/>
          <a:ext cx="0" cy="0"/>
          <a:chOff x="0" y="0"/>
          <a:chExt cx="0" cy="0"/>
        </a:xfrm>
      </p:grpSpPr>
      <p:sp>
        <p:nvSpPr>
          <p:cNvPr id="3" name="Shape 0"/>
          <p:cNvSpPr/>
          <p:nvPr/>
        </p:nvSpPr>
        <p:spPr>
          <a:xfrm>
            <a:off x="0" y="666750"/>
            <a:ext cx="9144000" cy="0"/>
          </a:xfrm>
          <a:prstGeom prst="line">
            <a:avLst/>
          </a:prstGeom>
          <a:noFill/>
          <a:ln w="76200">
            <a:solidFill>
              <a:srgbClr val="000000"/>
            </a:solidFill>
            <a:prstDash val="solid"/>
          </a:ln>
        </p:spPr>
      </p:sp>
      <p:sp>
        <p:nvSpPr>
          <p:cNvPr id="4" name="Shape 1"/>
          <p:cNvSpPr/>
          <p:nvPr/>
        </p:nvSpPr>
        <p:spPr>
          <a:xfrm>
            <a:off x="0" y="1333500"/>
            <a:ext cx="9144000" cy="0"/>
          </a:xfrm>
          <a:prstGeom prst="line">
            <a:avLst/>
          </a:prstGeom>
          <a:noFill/>
          <a:ln w="12700">
            <a:solidFill>
              <a:srgbClr val="000000"/>
            </a:solidFill>
            <a:prstDash val="solid"/>
          </a:ln>
        </p:spPr>
      </p:sp>
      <p:sp>
        <p:nvSpPr>
          <p:cNvPr id="5" name="Shape 2"/>
          <p:cNvSpPr/>
          <p:nvPr/>
        </p:nvSpPr>
        <p:spPr>
          <a:xfrm>
            <a:off x="0" y="4819650"/>
            <a:ext cx="9144000" cy="0"/>
          </a:xfrm>
          <a:prstGeom prst="line">
            <a:avLst/>
          </a:prstGeom>
          <a:noFill/>
          <a:ln w="12700">
            <a:solidFill>
              <a:srgbClr val="000000"/>
            </a:solidFill>
            <a:prstDash val="solid"/>
          </a:ln>
        </p:spPr>
      </p:sp>
      <p:sp>
        <p:nvSpPr>
          <p:cNvPr id="6" name="Shape 3"/>
          <p:cNvSpPr/>
          <p:nvPr/>
        </p:nvSpPr>
        <p:spPr>
          <a:xfrm rot="5400000">
            <a:off x="2495550" y="2743200"/>
            <a:ext cx="4152900" cy="0"/>
          </a:xfrm>
          <a:prstGeom prst="line">
            <a:avLst/>
          </a:prstGeom>
          <a:noFill/>
          <a:ln w="12700">
            <a:solidFill>
              <a:srgbClr val="000000"/>
            </a:solidFill>
            <a:prstDash val="solid"/>
          </a:ln>
        </p:spPr>
      </p:sp>
      <p:sp>
        <p:nvSpPr>
          <p:cNvPr id="7" name="Shape 4"/>
          <p:cNvSpPr/>
          <p:nvPr/>
        </p:nvSpPr>
        <p:spPr>
          <a:xfrm>
            <a:off x="1933575" y="857250"/>
            <a:ext cx="1381125" cy="285750"/>
          </a:xfrm>
          <a:prstGeom prst="rect">
            <a:avLst/>
          </a:prstGeom>
          <a:noFill/>
          <a:ln/>
        </p:spPr>
      </p:sp>
      <p:sp>
        <p:nvSpPr>
          <p:cNvPr id="8" name="Shape 5"/>
          <p:cNvSpPr/>
          <p:nvPr/>
        </p:nvSpPr>
        <p:spPr>
          <a:xfrm>
            <a:off x="1252538" y="919162"/>
            <a:ext cx="157163" cy="157163"/>
          </a:xfrm>
          <a:prstGeom prst="ellipse">
            <a:avLst/>
          </a:prstGeom>
          <a:solidFill>
            <a:srgbClr val="63BF6D"/>
          </a:solidFill>
          <a:ln w="12700">
            <a:solidFill>
              <a:srgbClr val="000000"/>
            </a:solidFill>
            <a:prstDash val="solid"/>
          </a:ln>
        </p:spPr>
      </p:sp>
      <p:sp>
        <p:nvSpPr>
          <p:cNvPr id="9" name="Shape 6"/>
          <p:cNvSpPr/>
          <p:nvPr/>
        </p:nvSpPr>
        <p:spPr>
          <a:xfrm>
            <a:off x="1552575" y="919162"/>
            <a:ext cx="157163" cy="157163"/>
          </a:xfrm>
          <a:prstGeom prst="ellipse">
            <a:avLst/>
          </a:prstGeom>
          <a:solidFill>
            <a:srgbClr val="F0CB39"/>
          </a:solidFill>
          <a:ln w="12700">
            <a:solidFill>
              <a:srgbClr val="000000"/>
            </a:solidFill>
            <a:prstDash val="solid"/>
          </a:ln>
        </p:spPr>
      </p:sp>
      <p:sp>
        <p:nvSpPr>
          <p:cNvPr id="10" name="Shape 7"/>
          <p:cNvSpPr/>
          <p:nvPr/>
        </p:nvSpPr>
        <p:spPr>
          <a:xfrm>
            <a:off x="1852612" y="919162"/>
            <a:ext cx="157163" cy="157163"/>
          </a:xfrm>
          <a:prstGeom prst="ellipse">
            <a:avLst/>
          </a:prstGeom>
          <a:solidFill>
            <a:srgbClr val="F07039"/>
          </a:solidFill>
          <a:ln w="12700">
            <a:solidFill>
              <a:srgbClr val="000000"/>
            </a:solidFill>
            <a:prstDash val="solid"/>
          </a:ln>
        </p:spPr>
      </p:sp>
      <p:sp>
        <p:nvSpPr>
          <p:cNvPr id="11" name="Shape 8"/>
          <p:cNvSpPr/>
          <p:nvPr/>
        </p:nvSpPr>
        <p:spPr>
          <a:xfrm>
            <a:off x="6910388" y="921544"/>
            <a:ext cx="157163" cy="157163"/>
          </a:xfrm>
          <a:prstGeom prst="ellipse">
            <a:avLst/>
          </a:prstGeom>
          <a:solidFill>
            <a:srgbClr val="63BF6D"/>
          </a:solidFill>
          <a:ln w="12700">
            <a:solidFill>
              <a:srgbClr val="000000"/>
            </a:solidFill>
            <a:prstDash val="solid"/>
          </a:ln>
        </p:spPr>
      </p:sp>
      <p:sp>
        <p:nvSpPr>
          <p:cNvPr id="12" name="Shape 9"/>
          <p:cNvSpPr/>
          <p:nvPr/>
        </p:nvSpPr>
        <p:spPr>
          <a:xfrm>
            <a:off x="7210425" y="921544"/>
            <a:ext cx="157163" cy="157163"/>
          </a:xfrm>
          <a:prstGeom prst="ellipse">
            <a:avLst/>
          </a:prstGeom>
          <a:solidFill>
            <a:srgbClr val="F0CB39"/>
          </a:solidFill>
          <a:ln w="12700">
            <a:solidFill>
              <a:srgbClr val="000000"/>
            </a:solidFill>
            <a:prstDash val="solid"/>
          </a:ln>
        </p:spPr>
      </p:sp>
      <p:sp>
        <p:nvSpPr>
          <p:cNvPr id="13" name="Shape 10"/>
          <p:cNvSpPr/>
          <p:nvPr/>
        </p:nvSpPr>
        <p:spPr>
          <a:xfrm>
            <a:off x="7510462" y="921544"/>
            <a:ext cx="157163" cy="157163"/>
          </a:xfrm>
          <a:prstGeom prst="ellipse">
            <a:avLst/>
          </a:prstGeom>
          <a:solidFill>
            <a:srgbClr val="F07039"/>
          </a:solidFill>
          <a:ln w="12700">
            <a:solidFill>
              <a:srgbClr val="000000"/>
            </a:solidFill>
            <a:prstDash val="solid"/>
          </a:ln>
        </p:spPr>
      </p:sp>
      <p:sp>
        <p:nvSpPr>
          <p:cNvPr id="14" name="Text 11"/>
          <p:cNvSpPr/>
          <p:nvPr/>
        </p:nvSpPr>
        <p:spPr>
          <a:xfrm>
            <a:off x="5891213" y="857250"/>
            <a:ext cx="1285875" cy="285750"/>
          </a:xfrm>
          <a:prstGeom prst="rect">
            <a:avLst/>
          </a:prstGeom>
          <a:noFill/>
          <a:ln/>
        </p:spPr>
        <p:txBody>
          <a:bodyPr wrap="square" rtlCol="0" anchor="ctr"/>
          <a:lstStyle/>
          <a:p>
            <a:pPr algn="r" indent="0" marL="0">
              <a:lnSpc>
                <a:spcPts val="2250"/>
              </a:lnSpc>
              <a:buNone/>
            </a:pPr>
            <a:r>
              <a:rPr lang="en-US" sz="1350" spc="27" kern="0" dirty="0">
                <a:solidFill>
                  <a:srgbClr val="000000">
                    <a:alpha val="99000"/>
                  </a:srgbClr>
                </a:solidFill>
                <a:latin typeface="Space Grotesk" pitchFamily="34" charset="0"/>
                <a:ea typeface="Space Grotesk" pitchFamily="34" charset="-122"/>
                <a:cs typeface="Space Grotesk" pitchFamily="34" charset="-120"/>
              </a:rPr>
              <a:t>Software:</a:t>
            </a:r>
            <a:endParaRPr lang="en-US" sz="1350" dirty="0"/>
          </a:p>
        </p:txBody>
      </p:sp>
      <p:sp>
        <p:nvSpPr>
          <p:cNvPr id="15" name="Text 12"/>
          <p:cNvSpPr/>
          <p:nvPr/>
        </p:nvSpPr>
        <p:spPr>
          <a:xfrm>
            <a:off x="190500" y="2909888"/>
            <a:ext cx="4648200" cy="333375"/>
          </a:xfrm>
          <a:prstGeom prst="rect">
            <a:avLst/>
          </a:prstGeom>
          <a:noFill/>
          <a:ln/>
        </p:spPr>
        <p:txBody>
          <a:bodyPr wrap="square" rtlCol="0" anchor="ctr"/>
          <a:lstStyle/>
          <a:p>
            <a:pPr algn="ctr" indent="0" marL="0">
              <a:lnSpc>
                <a:spcPts val="2625"/>
              </a:lnSpc>
              <a:buNone/>
            </a:pPr>
            <a:r>
              <a:rPr lang="en-US" sz="2400" spc="48" kern="0" dirty="0">
                <a:solidFill>
                  <a:srgbClr val="000000">
                    <a:alpha val="99000"/>
                  </a:srgbClr>
                </a:solidFill>
                <a:latin typeface="Besley" pitchFamily="34" charset="0"/>
                <a:ea typeface="Besley" pitchFamily="34" charset="-122"/>
                <a:cs typeface="Besley" pitchFamily="34" charset="-120"/>
              </a:rPr>
              <a:t>MACBOOK AIR M3</a:t>
            </a:r>
            <a:endParaRPr lang="en-US" sz="2400" dirty="0"/>
          </a:p>
        </p:txBody>
      </p:sp>
      <p:sp>
        <p:nvSpPr>
          <p:cNvPr id="16" name="Text 13"/>
          <p:cNvSpPr/>
          <p:nvPr/>
        </p:nvSpPr>
        <p:spPr>
          <a:xfrm>
            <a:off x="4762500" y="1504950"/>
            <a:ext cx="4648200" cy="3143250"/>
          </a:xfrm>
          <a:prstGeom prst="rect">
            <a:avLst/>
          </a:prstGeom>
          <a:noFill/>
          <a:ln/>
        </p:spPr>
        <p:txBody>
          <a:bodyPr wrap="square" rtlCol="0" anchor="ctr"/>
          <a:lstStyle/>
          <a:p>
            <a:pPr algn="l" marL="342900" indent="-342900">
              <a:lnSpc>
                <a:spcPts val="4125"/>
              </a:lnSpc>
              <a:buSzPct val="100000"/>
              <a:buChar char="•"/>
            </a:pPr>
            <a:r>
              <a:rPr lang="en-US" sz="1350" dirty="0">
                <a:solidFill>
                  <a:srgbClr val="000000">
                    <a:alpha val="99000"/>
                  </a:srgbClr>
                </a:solidFill>
                <a:latin typeface="Almarai" pitchFamily="34" charset="0"/>
                <a:ea typeface="Almarai" pitchFamily="34" charset="-122"/>
                <a:cs typeface="Almarai" pitchFamily="34" charset="-120"/>
              </a:rPr>
              <a:t>Next.js versi 15.1.4</a:t>
            </a:r>
            <a:endParaRPr lang="en-US" sz="1350" dirty="0"/>
          </a:p>
          <a:p>
            <a:pPr algn="l" marL="342900" indent="-342900">
              <a:lnSpc>
                <a:spcPts val="4125"/>
              </a:lnSpc>
              <a:buSzPct val="100000"/>
              <a:buChar char="•"/>
            </a:pPr>
            <a:r>
              <a:rPr lang="en-US" sz="1350" dirty="0">
                <a:solidFill>
                  <a:srgbClr val="000000">
                    <a:alpha val="99000"/>
                  </a:srgbClr>
                </a:solidFill>
                <a:latin typeface="Almarai" pitchFamily="34" charset="0"/>
                <a:ea typeface="Almarai" pitchFamily="34" charset="-122"/>
                <a:cs typeface="Almarai" pitchFamily="34" charset="-120"/>
              </a:rPr>
              <a:t>MongoDB versi 6.12.0</a:t>
            </a:r>
            <a:endParaRPr lang="en-US" sz="1350" dirty="0"/>
          </a:p>
          <a:p>
            <a:pPr algn="l" marL="342900" indent="-342900">
              <a:lnSpc>
                <a:spcPts val="4125"/>
              </a:lnSpc>
              <a:buSzPct val="100000"/>
              <a:buChar char="•"/>
            </a:pPr>
            <a:r>
              <a:rPr lang="en-US" sz="1350" dirty="0">
                <a:solidFill>
                  <a:srgbClr val="000000">
                    <a:alpha val="99000"/>
                  </a:srgbClr>
                </a:solidFill>
                <a:latin typeface="Almarai" pitchFamily="34" charset="0"/>
                <a:ea typeface="Almarai" pitchFamily="34" charset="-122"/>
                <a:cs typeface="Almarai" pitchFamily="34" charset="-120"/>
              </a:rPr>
              <a:t>Hono.js versi 4.6.16</a:t>
            </a:r>
            <a:endParaRPr lang="en-US" sz="1350" dirty="0"/>
          </a:p>
          <a:p>
            <a:pPr algn="l" marL="342900" indent="-342900">
              <a:lnSpc>
                <a:spcPts val="4125"/>
              </a:lnSpc>
              <a:buSzPct val="100000"/>
              <a:buChar char="•"/>
            </a:pPr>
            <a:r>
              <a:rPr lang="en-US" sz="1350" dirty="0">
                <a:solidFill>
                  <a:srgbClr val="000000">
                    <a:alpha val="99000"/>
                  </a:srgbClr>
                </a:solidFill>
                <a:latin typeface="Almarai" pitchFamily="34" charset="0"/>
                <a:ea typeface="Almarai" pitchFamily="34" charset="-122"/>
                <a:cs typeface="Almarai" pitchFamily="34" charset="-120"/>
              </a:rPr>
              <a:t>Visual Studio Code versi 1.92.2</a:t>
            </a:r>
            <a:endParaRPr lang="en-US" sz="1350" dirty="0"/>
          </a:p>
          <a:p>
            <a:pPr algn="l" marL="342900" indent="-342900">
              <a:lnSpc>
                <a:spcPts val="4125"/>
              </a:lnSpc>
              <a:buSzPct val="100000"/>
              <a:buChar char="•"/>
            </a:pPr>
            <a:r>
              <a:rPr lang="en-US" sz="1350" dirty="0">
                <a:solidFill>
                  <a:srgbClr val="000000">
                    <a:alpha val="99000"/>
                  </a:srgbClr>
                </a:solidFill>
                <a:latin typeface="Almarai" pitchFamily="34" charset="0"/>
                <a:ea typeface="Almarai" pitchFamily="34" charset="-122"/>
                <a:cs typeface="Almarai" pitchFamily="34" charset="-120"/>
              </a:rPr>
              <a:t>Typescript versi 5.0</a:t>
            </a:r>
            <a:endParaRPr lang="en-US" sz="1350" dirty="0"/>
          </a:p>
          <a:p>
            <a:pPr algn="l" marL="342900" indent="-342900">
              <a:lnSpc>
                <a:spcPts val="4125"/>
              </a:lnSpc>
              <a:buSzPct val="100000"/>
              <a:buChar char="•"/>
            </a:pPr>
            <a:r>
              <a:rPr lang="en-US" sz="1350" dirty="0">
                <a:solidFill>
                  <a:srgbClr val="000000">
                    <a:alpha val="99000"/>
                  </a:srgbClr>
                </a:solidFill>
                <a:latin typeface="Almarai" pitchFamily="34" charset="0"/>
                <a:ea typeface="Almarai" pitchFamily="34" charset="-122"/>
                <a:cs typeface="Almarai" pitchFamily="34" charset="-120"/>
              </a:rPr>
              <a:t>Postman versi 11.33.4</a:t>
            </a:r>
            <a:endParaRPr lang="en-US" sz="1350" dirty="0"/>
          </a:p>
        </p:txBody>
      </p:sp>
      <p:sp>
        <p:nvSpPr>
          <p:cNvPr id="17" name="Text 14"/>
          <p:cNvSpPr/>
          <p:nvPr/>
        </p:nvSpPr>
        <p:spPr>
          <a:xfrm>
            <a:off x="3429000" y="190500"/>
            <a:ext cx="2743200" cy="285750"/>
          </a:xfrm>
          <a:prstGeom prst="rect">
            <a:avLst/>
          </a:prstGeom>
          <a:noFill/>
          <a:ln/>
        </p:spPr>
        <p:txBody>
          <a:bodyPr wrap="square" rtlCol="0" anchor="ctr"/>
          <a:lstStyle/>
          <a:p>
            <a:pPr algn="ctr" indent="0" marL="0">
              <a:lnSpc>
                <a:spcPts val="2250"/>
              </a:lnSpc>
              <a:buNone/>
            </a:pPr>
            <a:r>
              <a:rPr lang="en-US" sz="2100" spc="210" kern="0" dirty="0">
                <a:solidFill>
                  <a:srgbClr val="000000">
                    <a:alpha val="99000"/>
                  </a:srgbClr>
                </a:solidFill>
                <a:latin typeface="Space Grotesk" pitchFamily="34" charset="0"/>
                <a:ea typeface="Space Grotesk" pitchFamily="34" charset="-122"/>
                <a:cs typeface="Space Grotesk" pitchFamily="34" charset="-120"/>
              </a:rPr>
              <a:t>Alat dan Bahan</a:t>
            </a:r>
            <a:endParaRPr lang="en-US" sz="2100" dirty="0"/>
          </a:p>
        </p:txBody>
      </p:sp>
      <p:sp>
        <p:nvSpPr>
          <p:cNvPr id="18" name="Text 15"/>
          <p:cNvSpPr/>
          <p:nvPr/>
        </p:nvSpPr>
        <p:spPr>
          <a:xfrm>
            <a:off x="90488" y="4919663"/>
            <a:ext cx="1171575"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19" name="Text 16"/>
          <p:cNvSpPr/>
          <p:nvPr/>
        </p:nvSpPr>
        <p:spPr>
          <a:xfrm>
            <a:off x="1300163" y="4919663"/>
            <a:ext cx="1643063"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SEMINAR PROPOSAL</a:t>
            </a:r>
            <a:endParaRPr lang="en-US" sz="825" dirty="0"/>
          </a:p>
        </p:txBody>
      </p:sp>
      <p:sp>
        <p:nvSpPr>
          <p:cNvPr id="20" name="Text 17"/>
          <p:cNvSpPr/>
          <p:nvPr/>
        </p:nvSpPr>
        <p:spPr>
          <a:xfrm>
            <a:off x="7529513" y="4919663"/>
            <a:ext cx="1981200" cy="114300"/>
          </a:xfrm>
          <a:prstGeom prst="rect">
            <a:avLst/>
          </a:prstGeom>
          <a:noFill/>
          <a:ln/>
        </p:spPr>
        <p:txBody>
          <a:bodyPr wrap="square" rtlCol="0" anchor="ctr"/>
          <a:lstStyle/>
          <a:p>
            <a:pPr algn="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UNIVERSITAS SYIAH KUALA</a:t>
            </a:r>
            <a:endParaRPr lang="en-US" sz="825" dirty="0"/>
          </a:p>
        </p:txBody>
      </p:sp>
      <p:sp>
        <p:nvSpPr>
          <p:cNvPr id="21" name="Text 18"/>
          <p:cNvSpPr/>
          <p:nvPr/>
        </p:nvSpPr>
        <p:spPr>
          <a:xfrm>
            <a:off x="2221706" y="857250"/>
            <a:ext cx="1262063" cy="285750"/>
          </a:xfrm>
          <a:prstGeom prst="rect">
            <a:avLst/>
          </a:prstGeom>
          <a:noFill/>
          <a:ln/>
        </p:spPr>
        <p:txBody>
          <a:bodyPr wrap="square" rtlCol="0" anchor="ctr"/>
          <a:lstStyle/>
          <a:p>
            <a:pPr algn="r" indent="0" marL="0">
              <a:lnSpc>
                <a:spcPts val="2250"/>
              </a:lnSpc>
              <a:buNone/>
            </a:pPr>
            <a:r>
              <a:rPr lang="en-US" sz="1350" spc="27" kern="0" dirty="0">
                <a:solidFill>
                  <a:srgbClr val="000000">
                    <a:alpha val="99000"/>
                  </a:srgbClr>
                </a:solidFill>
                <a:latin typeface="Space Grotesk" pitchFamily="34" charset="0"/>
                <a:ea typeface="Space Grotesk" pitchFamily="34" charset="-122"/>
                <a:cs typeface="Space Grotesk" pitchFamily="34" charset="-120"/>
              </a:rPr>
              <a:t>Hardware</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DE8D8"/>
        </a:solidFill>
      </p:bgPr>
    </p:bg>
    <p:spTree>
      <p:nvGrpSpPr>
        <p:cNvPr id="1" name=""/>
        <p:cNvGrpSpPr/>
        <p:nvPr/>
      </p:nvGrpSpPr>
      <p:grpSpPr>
        <a:xfrm>
          <a:off x="0" y="0"/>
          <a:ext cx="0" cy="0"/>
          <a:chOff x="0" y="0"/>
          <a:chExt cx="0" cy="0"/>
        </a:xfrm>
      </p:grpSpPr>
      <p:sp>
        <p:nvSpPr>
          <p:cNvPr id="2" name="Shape 0"/>
          <p:cNvSpPr/>
          <p:nvPr/>
        </p:nvSpPr>
        <p:spPr>
          <a:xfrm>
            <a:off x="476250" y="2662238"/>
            <a:ext cx="8667750" cy="0"/>
          </a:xfrm>
          <a:prstGeom prst="line">
            <a:avLst/>
          </a:prstGeom>
          <a:noFill/>
          <a:ln w="12700">
            <a:solidFill>
              <a:srgbClr val="003310"/>
            </a:solidFill>
            <a:prstDash val="solid"/>
          </a:ln>
        </p:spPr>
      </p:sp>
      <p:sp>
        <p:nvSpPr>
          <p:cNvPr id="3" name="Shape 1"/>
          <p:cNvSpPr/>
          <p:nvPr/>
        </p:nvSpPr>
        <p:spPr>
          <a:xfrm>
            <a:off x="476250" y="2028825"/>
            <a:ext cx="962025" cy="242888"/>
          </a:xfrm>
          <a:prstGeom prst="roundRect">
            <a:avLst>
              <a:gd name="adj" fmla="val 150588"/>
            </a:avLst>
          </a:prstGeom>
          <a:solidFill>
            <a:srgbClr val="C7EF4E"/>
          </a:solidFill>
          <a:ln/>
        </p:spPr>
      </p:sp>
      <p:sp>
        <p:nvSpPr>
          <p:cNvPr id="4" name="Shape 2"/>
          <p:cNvSpPr/>
          <p:nvPr/>
        </p:nvSpPr>
        <p:spPr>
          <a:xfrm>
            <a:off x="2562225" y="2028825"/>
            <a:ext cx="962025" cy="242888"/>
          </a:xfrm>
          <a:prstGeom prst="roundRect">
            <a:avLst>
              <a:gd name="adj" fmla="val 150588"/>
            </a:avLst>
          </a:prstGeom>
          <a:solidFill>
            <a:srgbClr val="C7EF4E"/>
          </a:solidFill>
          <a:ln/>
        </p:spPr>
      </p:sp>
      <p:sp>
        <p:nvSpPr>
          <p:cNvPr id="5" name="Shape 3"/>
          <p:cNvSpPr/>
          <p:nvPr/>
        </p:nvSpPr>
        <p:spPr>
          <a:xfrm>
            <a:off x="4648200" y="2028825"/>
            <a:ext cx="962025" cy="242888"/>
          </a:xfrm>
          <a:prstGeom prst="roundRect">
            <a:avLst>
              <a:gd name="adj" fmla="val 150588"/>
            </a:avLst>
          </a:prstGeom>
          <a:solidFill>
            <a:srgbClr val="C7EF4E"/>
          </a:solidFill>
          <a:ln/>
        </p:spPr>
      </p:sp>
      <p:sp>
        <p:nvSpPr>
          <p:cNvPr id="6" name="Shape 4"/>
          <p:cNvSpPr/>
          <p:nvPr/>
        </p:nvSpPr>
        <p:spPr>
          <a:xfrm>
            <a:off x="6757988" y="2028825"/>
            <a:ext cx="962025" cy="242888"/>
          </a:xfrm>
          <a:prstGeom prst="roundRect">
            <a:avLst>
              <a:gd name="adj" fmla="val 150588"/>
            </a:avLst>
          </a:prstGeom>
          <a:solidFill>
            <a:srgbClr val="C7EF4E"/>
          </a:solidFill>
          <a:ln/>
        </p:spPr>
      </p:sp>
      <p:sp>
        <p:nvSpPr>
          <p:cNvPr id="7" name="Shape 5"/>
          <p:cNvSpPr/>
          <p:nvPr/>
        </p:nvSpPr>
        <p:spPr>
          <a:xfrm>
            <a:off x="476250" y="2633663"/>
            <a:ext cx="57150" cy="57150"/>
          </a:xfrm>
          <a:prstGeom prst="ellipse">
            <a:avLst/>
          </a:prstGeom>
          <a:solidFill>
            <a:srgbClr val="003310"/>
          </a:solidFill>
          <a:ln/>
        </p:spPr>
      </p:sp>
      <p:sp>
        <p:nvSpPr>
          <p:cNvPr id="8" name="Shape 6"/>
          <p:cNvSpPr/>
          <p:nvPr/>
        </p:nvSpPr>
        <p:spPr>
          <a:xfrm>
            <a:off x="2562225" y="2633663"/>
            <a:ext cx="57150" cy="57150"/>
          </a:xfrm>
          <a:prstGeom prst="ellipse">
            <a:avLst/>
          </a:prstGeom>
          <a:solidFill>
            <a:srgbClr val="003310"/>
          </a:solidFill>
          <a:ln/>
        </p:spPr>
      </p:sp>
      <p:sp>
        <p:nvSpPr>
          <p:cNvPr id="9" name="Shape 7"/>
          <p:cNvSpPr/>
          <p:nvPr/>
        </p:nvSpPr>
        <p:spPr>
          <a:xfrm>
            <a:off x="4643438" y="2633663"/>
            <a:ext cx="57150" cy="57150"/>
          </a:xfrm>
          <a:prstGeom prst="ellipse">
            <a:avLst/>
          </a:prstGeom>
          <a:solidFill>
            <a:srgbClr val="003310"/>
          </a:solidFill>
          <a:ln/>
        </p:spPr>
      </p:sp>
      <p:sp>
        <p:nvSpPr>
          <p:cNvPr id="10" name="Shape 8"/>
          <p:cNvSpPr/>
          <p:nvPr/>
        </p:nvSpPr>
        <p:spPr>
          <a:xfrm>
            <a:off x="6729413" y="2633663"/>
            <a:ext cx="57150" cy="57150"/>
          </a:xfrm>
          <a:prstGeom prst="ellipse">
            <a:avLst/>
          </a:prstGeom>
          <a:solidFill>
            <a:srgbClr val="003310"/>
          </a:solidFill>
          <a:ln/>
        </p:spPr>
      </p:sp>
      <p:sp>
        <p:nvSpPr>
          <p:cNvPr id="11" name="Shape 9"/>
          <p:cNvSpPr/>
          <p:nvPr/>
        </p:nvSpPr>
        <p:spPr>
          <a:xfrm>
            <a:off x="476250" y="476250"/>
            <a:ext cx="8177213" cy="0"/>
          </a:xfrm>
          <a:prstGeom prst="line">
            <a:avLst/>
          </a:prstGeom>
          <a:noFill/>
          <a:ln w="12700">
            <a:solidFill>
              <a:srgbClr val="7A7A7A"/>
            </a:solidFill>
            <a:prstDash val="solid"/>
          </a:ln>
        </p:spPr>
      </p:sp>
      <p:sp>
        <p:nvSpPr>
          <p:cNvPr id="12" name="Text 10"/>
          <p:cNvSpPr/>
          <p:nvPr/>
        </p:nvSpPr>
        <p:spPr>
          <a:xfrm>
            <a:off x="476250" y="914400"/>
            <a:ext cx="5872163" cy="419100"/>
          </a:xfrm>
          <a:prstGeom prst="rect">
            <a:avLst/>
          </a:prstGeom>
          <a:noFill/>
          <a:ln/>
        </p:spPr>
        <p:txBody>
          <a:bodyPr wrap="square" rtlCol="0" anchor="ctr"/>
          <a:lstStyle/>
          <a:p>
            <a:pPr algn="l" indent="0" marL="0">
              <a:lnSpc>
                <a:spcPts val="3300"/>
              </a:lnSpc>
              <a:buNone/>
            </a:pPr>
            <a:r>
              <a:rPr lang="en-US" sz="3000" spc="-60" kern="0" dirty="0">
                <a:solidFill>
                  <a:srgbClr val="000000">
                    <a:alpha val="99000"/>
                  </a:srgbClr>
                </a:solidFill>
                <a:latin typeface="Neuton" pitchFamily="34" charset="0"/>
                <a:ea typeface="Neuton" pitchFamily="34" charset="-122"/>
                <a:cs typeface="Neuton" pitchFamily="34" charset="-120"/>
              </a:rPr>
              <a:t>Jadwal Pelaksanaan</a:t>
            </a:r>
            <a:endParaRPr lang="en-US" sz="3000" dirty="0"/>
          </a:p>
        </p:txBody>
      </p:sp>
      <p:sp>
        <p:nvSpPr>
          <p:cNvPr id="13" name="Text 11"/>
          <p:cNvSpPr/>
          <p:nvPr/>
        </p:nvSpPr>
        <p:spPr>
          <a:xfrm>
            <a:off x="476250" y="2971800"/>
            <a:ext cx="2290763" cy="1214438"/>
          </a:xfrm>
          <a:prstGeom prst="rect">
            <a:avLst/>
          </a:prstGeom>
          <a:noFill/>
          <a:ln/>
        </p:spPr>
        <p:txBody>
          <a:bodyPr wrap="square" rtlCol="0" anchor="ctr"/>
          <a:lstStyle/>
          <a:p>
            <a:pPr algn="l" marL="342900" indent="-342900">
              <a:lnSpc>
                <a:spcPts val="1170"/>
              </a:lnSpc>
              <a:buSzPct val="100000"/>
              <a:buChar char="•"/>
            </a:pPr>
            <a:r>
              <a:rPr lang="en-US" sz="900" dirty="0">
                <a:solidFill>
                  <a:srgbClr val="000000">
                    <a:alpha val="99000"/>
                  </a:srgbClr>
                </a:solidFill>
                <a:latin typeface="Plus Jakarta Sans" pitchFamily="34" charset="0"/>
                <a:ea typeface="Plus Jakarta Sans" pitchFamily="34" charset="-122"/>
                <a:cs typeface="Plus Jakarta Sans" pitchFamily="34" charset="-120"/>
              </a:rPr>
              <a:t>Analisa Kebutuhan</a:t>
            </a:r>
            <a:endParaRPr lang="en-US" sz="900" dirty="0"/>
          </a:p>
          <a:p>
            <a:pPr algn="l" marL="342900" indent="-342900">
              <a:lnSpc>
                <a:spcPts val="1170"/>
              </a:lnSpc>
              <a:buSzPct val="100000"/>
              <a:buChar char="•"/>
            </a:pPr>
            <a:r>
              <a:rPr lang="en-US" sz="900" dirty="0">
                <a:solidFill>
                  <a:srgbClr val="000000">
                    <a:alpha val="99000"/>
                  </a:srgbClr>
                </a:solidFill>
                <a:latin typeface="Plus Jakarta Sans" pitchFamily="34" charset="0"/>
                <a:ea typeface="Plus Jakarta Sans" pitchFamily="34" charset="-122"/>
                <a:cs typeface="Plus Jakarta Sans" pitchFamily="34" charset="-120"/>
              </a:rPr>
              <a:t>Mengidentifikasi dan mendefiniskan kebutuhan sistem, baik kebutuhan fungsional maupun non-fungsional</a:t>
            </a:r>
            <a:endParaRPr lang="en-US" sz="900" dirty="0"/>
          </a:p>
        </p:txBody>
      </p:sp>
      <p:sp>
        <p:nvSpPr>
          <p:cNvPr id="14" name="Text 12"/>
          <p:cNvSpPr/>
          <p:nvPr/>
        </p:nvSpPr>
        <p:spPr>
          <a:xfrm>
            <a:off x="2562225" y="2971800"/>
            <a:ext cx="2290763" cy="1066800"/>
          </a:xfrm>
          <a:prstGeom prst="rect">
            <a:avLst/>
          </a:prstGeom>
          <a:noFill/>
          <a:ln/>
        </p:spPr>
        <p:txBody>
          <a:bodyPr wrap="square" rtlCol="0" anchor="ctr"/>
          <a:lstStyle/>
          <a:p>
            <a:pPr algn="l" marL="342900" indent="-342900">
              <a:lnSpc>
                <a:spcPts val="1170"/>
              </a:lnSpc>
              <a:buSzPct val="100000"/>
              <a:buChar char="•"/>
            </a:pPr>
            <a:r>
              <a:rPr lang="en-US" sz="900" dirty="0">
                <a:solidFill>
                  <a:srgbClr val="000000">
                    <a:alpha val="99000"/>
                  </a:srgbClr>
                </a:solidFill>
                <a:latin typeface="Plus Jakarta Sans" pitchFamily="34" charset="0"/>
                <a:ea typeface="Plus Jakarta Sans" pitchFamily="34" charset="-122"/>
                <a:cs typeface="Plus Jakarta Sans" pitchFamily="34" charset="-120"/>
              </a:rPr>
              <a:t>Perancangan Sistem</a:t>
            </a:r>
            <a:endParaRPr lang="en-US" sz="900" dirty="0"/>
          </a:p>
          <a:p>
            <a:pPr algn="l" marL="342900" indent="-342900">
              <a:lnSpc>
                <a:spcPts val="1170"/>
              </a:lnSpc>
              <a:buSzPct val="100000"/>
              <a:buChar char="•"/>
            </a:pPr>
            <a:r>
              <a:rPr lang="en-US" sz="900" dirty="0">
                <a:solidFill>
                  <a:srgbClr val="000000">
                    <a:alpha val="99000"/>
                  </a:srgbClr>
                </a:solidFill>
                <a:latin typeface="Plus Jakarta Sans" pitchFamily="34" charset="0"/>
                <a:ea typeface="Plus Jakarta Sans" pitchFamily="34" charset="-122"/>
                <a:cs typeface="Plus Jakarta Sans" pitchFamily="34" charset="-120"/>
              </a:rPr>
              <a:t>Mendesain arsitektur sistem, alur kerja, tampilan antarmuka, serta perencanaan basis data dan integrasi data iklim.</a:t>
            </a:r>
            <a:endParaRPr lang="en-US" sz="900" dirty="0"/>
          </a:p>
        </p:txBody>
      </p:sp>
      <p:sp>
        <p:nvSpPr>
          <p:cNvPr id="15" name="Text 13"/>
          <p:cNvSpPr/>
          <p:nvPr/>
        </p:nvSpPr>
        <p:spPr>
          <a:xfrm>
            <a:off x="4648200" y="2971800"/>
            <a:ext cx="2290763" cy="1066800"/>
          </a:xfrm>
          <a:prstGeom prst="rect">
            <a:avLst/>
          </a:prstGeom>
          <a:noFill/>
          <a:ln/>
        </p:spPr>
        <p:txBody>
          <a:bodyPr wrap="square" rtlCol="0" anchor="ctr"/>
          <a:lstStyle/>
          <a:p>
            <a:pPr algn="l" marL="342900" indent="-342900">
              <a:lnSpc>
                <a:spcPts val="1170"/>
              </a:lnSpc>
              <a:buSzPct val="100000"/>
              <a:buChar char="•"/>
            </a:pPr>
            <a:r>
              <a:rPr lang="en-US" sz="900" dirty="0">
                <a:solidFill>
                  <a:srgbClr val="000000">
                    <a:alpha val="99000"/>
                  </a:srgbClr>
                </a:solidFill>
                <a:latin typeface="Plus Jakarta Sans" pitchFamily="34" charset="0"/>
                <a:ea typeface="Plus Jakarta Sans" pitchFamily="34" charset="-122"/>
                <a:cs typeface="Plus Jakarta Sans" pitchFamily="34" charset="-120"/>
              </a:rPr>
              <a:t>Impementasi </a:t>
            </a:r>
            <a:endParaRPr lang="en-US" sz="900" dirty="0"/>
          </a:p>
          <a:p>
            <a:pPr algn="l" marL="342900" indent="-342900">
              <a:lnSpc>
                <a:spcPts val="1170"/>
              </a:lnSpc>
              <a:buSzPct val="100000"/>
              <a:buChar char="•"/>
            </a:pPr>
            <a:r>
              <a:rPr lang="en-US" sz="900" dirty="0">
                <a:solidFill>
                  <a:srgbClr val="000000">
                    <a:alpha val="99000"/>
                  </a:srgbClr>
                </a:solidFill>
                <a:latin typeface="Plus Jakarta Sans" pitchFamily="34" charset="0"/>
                <a:ea typeface="Plus Jakarta Sans" pitchFamily="34" charset="-122"/>
                <a:cs typeface="Plus Jakarta Sans" pitchFamily="34" charset="-120"/>
              </a:rPr>
              <a:t>Pengembangan aplikasi web meliputi backend, frontend, integrasi API data iklim, serta fitur analisis dan visualisasi.</a:t>
            </a:r>
            <a:endParaRPr lang="en-US" sz="900" dirty="0"/>
          </a:p>
        </p:txBody>
      </p:sp>
      <p:sp>
        <p:nvSpPr>
          <p:cNvPr id="16" name="Text 14"/>
          <p:cNvSpPr/>
          <p:nvPr/>
        </p:nvSpPr>
        <p:spPr>
          <a:xfrm>
            <a:off x="6734175" y="2971800"/>
            <a:ext cx="2290763" cy="1066800"/>
          </a:xfrm>
          <a:prstGeom prst="rect">
            <a:avLst/>
          </a:prstGeom>
          <a:noFill/>
          <a:ln/>
        </p:spPr>
        <p:txBody>
          <a:bodyPr wrap="square" rtlCol="0" anchor="ctr"/>
          <a:lstStyle/>
          <a:p>
            <a:pPr algn="l" marL="342900" indent="-342900">
              <a:lnSpc>
                <a:spcPts val="1170"/>
              </a:lnSpc>
              <a:buSzPct val="100000"/>
              <a:buChar char="•"/>
            </a:pPr>
            <a:r>
              <a:rPr lang="en-US" sz="900" dirty="0">
                <a:solidFill>
                  <a:srgbClr val="000000">
                    <a:alpha val="99000"/>
                  </a:srgbClr>
                </a:solidFill>
                <a:latin typeface="Plus Jakarta Sans" pitchFamily="34" charset="0"/>
                <a:ea typeface="Plus Jakarta Sans" pitchFamily="34" charset="-122"/>
                <a:cs typeface="Plus Jakarta Sans" pitchFamily="34" charset="-120"/>
              </a:rPr>
              <a:t>Impementasi </a:t>
            </a:r>
            <a:endParaRPr lang="en-US" sz="900" dirty="0"/>
          </a:p>
          <a:p>
            <a:pPr algn="l" marL="342900" indent="-342900">
              <a:lnSpc>
                <a:spcPts val="1170"/>
              </a:lnSpc>
              <a:buSzPct val="100000"/>
              <a:buChar char="•"/>
            </a:pPr>
            <a:r>
              <a:rPr lang="en-US" sz="900" dirty="0">
                <a:solidFill>
                  <a:srgbClr val="000000">
                    <a:alpha val="99000"/>
                  </a:srgbClr>
                </a:solidFill>
                <a:latin typeface="Plus Jakarta Sans" pitchFamily="34" charset="0"/>
                <a:ea typeface="Plus Jakarta Sans" pitchFamily="34" charset="-122"/>
                <a:cs typeface="Plus Jakarta Sans" pitchFamily="34" charset="-120"/>
              </a:rPr>
              <a:t>Pengembangan aplikasi web meliputi backend, frontend, integrasi API data iklim, serta fitur analisis dan visualisasi.</a:t>
            </a:r>
            <a:endParaRPr lang="en-US" sz="900" dirty="0"/>
          </a:p>
        </p:txBody>
      </p:sp>
      <p:sp>
        <p:nvSpPr>
          <p:cNvPr id="17" name="Text 15"/>
          <p:cNvSpPr/>
          <p:nvPr/>
        </p:nvSpPr>
        <p:spPr>
          <a:xfrm>
            <a:off x="476250" y="190500"/>
            <a:ext cx="1171575"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18" name="Text 16"/>
          <p:cNvSpPr/>
          <p:nvPr/>
        </p:nvSpPr>
        <p:spPr>
          <a:xfrm>
            <a:off x="7129463" y="204788"/>
            <a:ext cx="1981200" cy="114300"/>
          </a:xfrm>
          <a:prstGeom prst="rect">
            <a:avLst/>
          </a:prstGeom>
          <a:noFill/>
          <a:ln/>
        </p:spPr>
        <p:txBody>
          <a:bodyPr wrap="square" rtlCol="0" anchor="ctr"/>
          <a:lstStyle/>
          <a:p>
            <a:pPr algn="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UNIVERSITAS SYIAH KUALA</a:t>
            </a:r>
            <a:endParaRPr lang="en-US" sz="825" dirty="0"/>
          </a:p>
        </p:txBody>
      </p:sp>
      <p:sp>
        <p:nvSpPr>
          <p:cNvPr id="19" name="Text 17"/>
          <p:cNvSpPr/>
          <p:nvPr/>
        </p:nvSpPr>
        <p:spPr>
          <a:xfrm>
            <a:off x="7138988" y="2076450"/>
            <a:ext cx="657225" cy="147638"/>
          </a:xfrm>
          <a:prstGeom prst="rect">
            <a:avLst/>
          </a:prstGeom>
          <a:noFill/>
          <a:ln/>
        </p:spPr>
        <p:txBody>
          <a:bodyPr wrap="square" rtlCol="0" anchor="ctr"/>
          <a:lstStyle/>
          <a:p>
            <a:pPr algn="l" indent="0" marL="0">
              <a:lnSpc>
                <a:spcPts val="1170"/>
              </a:lnSpc>
              <a:buNone/>
            </a:pPr>
            <a:r>
              <a:rPr lang="en-US" sz="900" dirty="0">
                <a:solidFill>
                  <a:srgbClr val="000000">
                    <a:alpha val="99000"/>
                  </a:srgbClr>
                </a:solidFill>
                <a:latin typeface="Open Sans" pitchFamily="34" charset="0"/>
                <a:ea typeface="Open Sans" pitchFamily="34" charset="-122"/>
                <a:cs typeface="Open Sans" pitchFamily="34" charset="-120"/>
              </a:rPr>
              <a:t>Juni</a:t>
            </a:r>
            <a:endParaRPr lang="en-US" sz="900" dirty="0"/>
          </a:p>
        </p:txBody>
      </p:sp>
      <p:sp>
        <p:nvSpPr>
          <p:cNvPr id="20" name="Text 18"/>
          <p:cNvSpPr/>
          <p:nvPr/>
        </p:nvSpPr>
        <p:spPr>
          <a:xfrm>
            <a:off x="5029200" y="2076450"/>
            <a:ext cx="657225" cy="147638"/>
          </a:xfrm>
          <a:prstGeom prst="rect">
            <a:avLst/>
          </a:prstGeom>
          <a:noFill/>
          <a:ln/>
        </p:spPr>
        <p:txBody>
          <a:bodyPr wrap="square" rtlCol="0" anchor="ctr"/>
          <a:lstStyle/>
          <a:p>
            <a:pPr algn="l" indent="0" marL="0">
              <a:lnSpc>
                <a:spcPts val="1170"/>
              </a:lnSpc>
              <a:buNone/>
            </a:pPr>
            <a:r>
              <a:rPr lang="en-US" sz="900" dirty="0">
                <a:solidFill>
                  <a:srgbClr val="000000">
                    <a:alpha val="99000"/>
                  </a:srgbClr>
                </a:solidFill>
                <a:latin typeface="Open Sans" pitchFamily="34" charset="0"/>
                <a:ea typeface="Open Sans" pitchFamily="34" charset="-122"/>
                <a:cs typeface="Open Sans" pitchFamily="34" charset="-120"/>
              </a:rPr>
              <a:t>Mei</a:t>
            </a:r>
            <a:endParaRPr lang="en-US" sz="900" dirty="0"/>
          </a:p>
        </p:txBody>
      </p:sp>
      <p:sp>
        <p:nvSpPr>
          <p:cNvPr id="21" name="Text 19"/>
          <p:cNvSpPr/>
          <p:nvPr/>
        </p:nvSpPr>
        <p:spPr>
          <a:xfrm>
            <a:off x="2919413" y="2076450"/>
            <a:ext cx="704850" cy="147638"/>
          </a:xfrm>
          <a:prstGeom prst="rect">
            <a:avLst/>
          </a:prstGeom>
          <a:noFill/>
          <a:ln/>
        </p:spPr>
        <p:txBody>
          <a:bodyPr wrap="square" rtlCol="0" anchor="ctr"/>
          <a:lstStyle/>
          <a:p>
            <a:pPr algn="l" indent="0" marL="0">
              <a:lnSpc>
                <a:spcPts val="1170"/>
              </a:lnSpc>
              <a:buNone/>
            </a:pPr>
            <a:r>
              <a:rPr lang="en-US" sz="900" dirty="0">
                <a:solidFill>
                  <a:srgbClr val="000000">
                    <a:alpha val="99000"/>
                  </a:srgbClr>
                </a:solidFill>
                <a:latin typeface="Open Sans" pitchFamily="34" charset="0"/>
                <a:ea typeface="Open Sans" pitchFamily="34" charset="-122"/>
                <a:cs typeface="Open Sans" pitchFamily="34" charset="-120"/>
              </a:rPr>
              <a:t>April</a:t>
            </a:r>
            <a:endParaRPr lang="en-US" sz="900" dirty="0"/>
          </a:p>
        </p:txBody>
      </p:sp>
      <p:sp>
        <p:nvSpPr>
          <p:cNvPr id="22" name="Text 20"/>
          <p:cNvSpPr/>
          <p:nvPr/>
        </p:nvSpPr>
        <p:spPr>
          <a:xfrm>
            <a:off x="797719" y="2076450"/>
            <a:ext cx="776287" cy="147638"/>
          </a:xfrm>
          <a:prstGeom prst="rect">
            <a:avLst/>
          </a:prstGeom>
          <a:noFill/>
          <a:ln/>
        </p:spPr>
        <p:txBody>
          <a:bodyPr wrap="square" rtlCol="0" anchor="ctr"/>
          <a:lstStyle/>
          <a:p>
            <a:pPr algn="l" indent="0" marL="0">
              <a:lnSpc>
                <a:spcPts val="1170"/>
              </a:lnSpc>
              <a:buNone/>
            </a:pPr>
            <a:r>
              <a:rPr lang="en-US" sz="900" dirty="0">
                <a:solidFill>
                  <a:srgbClr val="000000">
                    <a:alpha val="99000"/>
                  </a:srgbClr>
                </a:solidFill>
                <a:latin typeface="Open Sans" pitchFamily="34" charset="0"/>
                <a:ea typeface="Open Sans" pitchFamily="34" charset="-122"/>
                <a:cs typeface="Open Sans" pitchFamily="34" charset="-120"/>
              </a:rPr>
              <a:t>Maret</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DE8D8"/>
        </a:solidFill>
      </p:bgPr>
    </p:bg>
    <p:spTree>
      <p:nvGrpSpPr>
        <p:cNvPr id="1" name=""/>
        <p:cNvGrpSpPr/>
        <p:nvPr/>
      </p:nvGrpSpPr>
      <p:grpSpPr>
        <a:xfrm>
          <a:off x="0" y="0"/>
          <a:ext cx="0" cy="0"/>
          <a:chOff x="0" y="0"/>
          <a:chExt cx="0" cy="0"/>
        </a:xfrm>
      </p:grpSpPr>
      <p:sp>
        <p:nvSpPr>
          <p:cNvPr id="2" name="Shape 0"/>
          <p:cNvSpPr/>
          <p:nvPr/>
        </p:nvSpPr>
        <p:spPr>
          <a:xfrm>
            <a:off x="476250" y="2662238"/>
            <a:ext cx="4224338" cy="0"/>
          </a:xfrm>
          <a:prstGeom prst="line">
            <a:avLst/>
          </a:prstGeom>
          <a:noFill/>
          <a:ln w="8866">
            <a:solidFill>
              <a:srgbClr val="003310"/>
            </a:solidFill>
            <a:prstDash val="solid"/>
          </a:ln>
        </p:spPr>
      </p:sp>
      <p:sp>
        <p:nvSpPr>
          <p:cNvPr id="3" name="Shape 1"/>
          <p:cNvSpPr/>
          <p:nvPr/>
        </p:nvSpPr>
        <p:spPr>
          <a:xfrm>
            <a:off x="476250" y="2028825"/>
            <a:ext cx="962025" cy="242888"/>
          </a:xfrm>
          <a:prstGeom prst="roundRect">
            <a:avLst>
              <a:gd name="adj" fmla="val 150588"/>
            </a:avLst>
          </a:prstGeom>
          <a:solidFill>
            <a:srgbClr val="C7EF4E"/>
          </a:solidFill>
          <a:ln/>
        </p:spPr>
      </p:sp>
      <p:sp>
        <p:nvSpPr>
          <p:cNvPr id="4" name="Shape 2"/>
          <p:cNvSpPr/>
          <p:nvPr/>
        </p:nvSpPr>
        <p:spPr>
          <a:xfrm>
            <a:off x="2562225" y="2028825"/>
            <a:ext cx="962025" cy="242888"/>
          </a:xfrm>
          <a:prstGeom prst="roundRect">
            <a:avLst>
              <a:gd name="adj" fmla="val 150588"/>
            </a:avLst>
          </a:prstGeom>
          <a:solidFill>
            <a:srgbClr val="C7EF4E"/>
          </a:solidFill>
          <a:ln/>
        </p:spPr>
      </p:sp>
      <p:sp>
        <p:nvSpPr>
          <p:cNvPr id="5" name="Shape 3"/>
          <p:cNvSpPr/>
          <p:nvPr/>
        </p:nvSpPr>
        <p:spPr>
          <a:xfrm>
            <a:off x="476250" y="2633663"/>
            <a:ext cx="57150" cy="57150"/>
          </a:xfrm>
          <a:prstGeom prst="ellipse">
            <a:avLst/>
          </a:prstGeom>
          <a:solidFill>
            <a:srgbClr val="003310"/>
          </a:solidFill>
          <a:ln/>
        </p:spPr>
      </p:sp>
      <p:sp>
        <p:nvSpPr>
          <p:cNvPr id="6" name="Shape 4"/>
          <p:cNvSpPr/>
          <p:nvPr/>
        </p:nvSpPr>
        <p:spPr>
          <a:xfrm>
            <a:off x="2562225" y="2633663"/>
            <a:ext cx="57150" cy="57150"/>
          </a:xfrm>
          <a:prstGeom prst="ellipse">
            <a:avLst/>
          </a:prstGeom>
          <a:solidFill>
            <a:srgbClr val="003310"/>
          </a:solidFill>
          <a:ln/>
        </p:spPr>
      </p:sp>
      <p:sp>
        <p:nvSpPr>
          <p:cNvPr id="7" name="Shape 5"/>
          <p:cNvSpPr/>
          <p:nvPr/>
        </p:nvSpPr>
        <p:spPr>
          <a:xfrm>
            <a:off x="4643438" y="2633663"/>
            <a:ext cx="57150" cy="57150"/>
          </a:xfrm>
          <a:prstGeom prst="ellipse">
            <a:avLst/>
          </a:prstGeom>
          <a:solidFill>
            <a:srgbClr val="003310"/>
          </a:solidFill>
          <a:ln/>
        </p:spPr>
      </p:sp>
      <p:sp>
        <p:nvSpPr>
          <p:cNvPr id="8" name="Shape 6"/>
          <p:cNvSpPr/>
          <p:nvPr/>
        </p:nvSpPr>
        <p:spPr>
          <a:xfrm>
            <a:off x="476250" y="476250"/>
            <a:ext cx="8177213" cy="0"/>
          </a:xfrm>
          <a:prstGeom prst="line">
            <a:avLst/>
          </a:prstGeom>
          <a:noFill/>
          <a:ln w="12700">
            <a:solidFill>
              <a:srgbClr val="7A7A7A"/>
            </a:solidFill>
            <a:prstDash val="solid"/>
          </a:ln>
        </p:spPr>
      </p:sp>
      <p:pic>
        <p:nvPicPr>
          <p:cNvPr id="9" name="Image 0" descr="preencoded.png">    </p:cNvPr>
          <p:cNvPicPr>
            <a:picLocks noChangeAspect="1"/>
          </p:cNvPicPr>
          <p:nvPr/>
        </p:nvPicPr>
        <p:blipFill>
          <a:blip r:embed="rId1"/>
          <a:stretch>
            <a:fillRect/>
          </a:stretch>
        </p:blipFill>
        <p:spPr>
          <a:xfrm>
            <a:off x="4824413" y="2128838"/>
            <a:ext cx="1066800" cy="1066800"/>
          </a:xfrm>
          <a:prstGeom prst="rect">
            <a:avLst/>
          </a:prstGeom>
        </p:spPr>
      </p:pic>
      <p:sp>
        <p:nvSpPr>
          <p:cNvPr id="10" name="Text 7"/>
          <p:cNvSpPr/>
          <p:nvPr/>
        </p:nvSpPr>
        <p:spPr>
          <a:xfrm>
            <a:off x="476250" y="914400"/>
            <a:ext cx="5872163" cy="419100"/>
          </a:xfrm>
          <a:prstGeom prst="rect">
            <a:avLst/>
          </a:prstGeom>
          <a:noFill/>
          <a:ln/>
        </p:spPr>
        <p:txBody>
          <a:bodyPr wrap="square" rtlCol="0" anchor="ctr"/>
          <a:lstStyle/>
          <a:p>
            <a:pPr algn="l" indent="0" marL="0">
              <a:lnSpc>
                <a:spcPts val="3300"/>
              </a:lnSpc>
              <a:buNone/>
            </a:pPr>
            <a:r>
              <a:rPr lang="en-US" sz="3000" spc="-60" kern="0" dirty="0">
                <a:solidFill>
                  <a:srgbClr val="000000">
                    <a:alpha val="99000"/>
                  </a:srgbClr>
                </a:solidFill>
                <a:latin typeface="Neuton" pitchFamily="34" charset="0"/>
                <a:ea typeface="Neuton" pitchFamily="34" charset="-122"/>
                <a:cs typeface="Neuton" pitchFamily="34" charset="-120"/>
              </a:rPr>
              <a:t>Jadwal Pelaksanaan</a:t>
            </a:r>
            <a:endParaRPr lang="en-US" sz="3000" dirty="0"/>
          </a:p>
        </p:txBody>
      </p:sp>
      <p:sp>
        <p:nvSpPr>
          <p:cNvPr id="11" name="Text 8"/>
          <p:cNvSpPr/>
          <p:nvPr/>
        </p:nvSpPr>
        <p:spPr>
          <a:xfrm>
            <a:off x="476250" y="2971800"/>
            <a:ext cx="2290763" cy="1066800"/>
          </a:xfrm>
          <a:prstGeom prst="rect">
            <a:avLst/>
          </a:prstGeom>
          <a:noFill/>
          <a:ln/>
        </p:spPr>
        <p:txBody>
          <a:bodyPr wrap="square" rtlCol="0" anchor="ctr"/>
          <a:lstStyle/>
          <a:p>
            <a:pPr algn="l" marL="342900" indent="-342900">
              <a:lnSpc>
                <a:spcPts val="1170"/>
              </a:lnSpc>
              <a:buSzPct val="100000"/>
              <a:buChar char="•"/>
            </a:pPr>
            <a:r>
              <a:rPr lang="en-US" sz="900" dirty="0">
                <a:solidFill>
                  <a:srgbClr val="000000">
                    <a:alpha val="99000"/>
                  </a:srgbClr>
                </a:solidFill>
                <a:latin typeface="Plus Jakarta Sans" pitchFamily="34" charset="0"/>
                <a:ea typeface="Plus Jakarta Sans" pitchFamily="34" charset="-122"/>
                <a:cs typeface="Plus Jakarta Sans" pitchFamily="34" charset="-120"/>
              </a:rPr>
              <a:t>Pengujian Sistem </a:t>
            </a:r>
            <a:endParaRPr lang="en-US" sz="900" dirty="0"/>
          </a:p>
          <a:p>
            <a:pPr algn="l" marL="342900" indent="-342900">
              <a:lnSpc>
                <a:spcPts val="1170"/>
              </a:lnSpc>
              <a:buSzPct val="100000"/>
              <a:buChar char="•"/>
            </a:pPr>
            <a:r>
              <a:rPr lang="en-US" sz="900" dirty="0">
                <a:solidFill>
                  <a:srgbClr val="000000">
                    <a:alpha val="99000"/>
                  </a:srgbClr>
                </a:solidFill>
                <a:latin typeface="Plus Jakarta Sans" pitchFamily="34" charset="0"/>
                <a:ea typeface="Plus Jakarta Sans" pitchFamily="34" charset="-122"/>
                <a:cs typeface="Plus Jakarta Sans" pitchFamily="34" charset="-120"/>
              </a:rPr>
              <a:t>Melakukan uji fungsionalitas dan keandalan sistem serta perbaikan berdasarkan hasil pengujian</a:t>
            </a:r>
            <a:endParaRPr lang="en-US" sz="900" dirty="0"/>
          </a:p>
        </p:txBody>
      </p:sp>
      <p:sp>
        <p:nvSpPr>
          <p:cNvPr id="12" name="Text 9"/>
          <p:cNvSpPr/>
          <p:nvPr/>
        </p:nvSpPr>
        <p:spPr>
          <a:xfrm>
            <a:off x="2562225" y="2971800"/>
            <a:ext cx="2290763" cy="1066800"/>
          </a:xfrm>
          <a:prstGeom prst="rect">
            <a:avLst/>
          </a:prstGeom>
          <a:noFill/>
          <a:ln/>
        </p:spPr>
        <p:txBody>
          <a:bodyPr wrap="square" rtlCol="0" anchor="ctr"/>
          <a:lstStyle/>
          <a:p>
            <a:pPr algn="l" marL="342900" indent="-342900">
              <a:lnSpc>
                <a:spcPts val="1170"/>
              </a:lnSpc>
              <a:buSzPct val="100000"/>
              <a:buChar char="•"/>
            </a:pPr>
            <a:r>
              <a:rPr lang="en-US" sz="900" dirty="0">
                <a:solidFill>
                  <a:srgbClr val="000000">
                    <a:alpha val="99000"/>
                  </a:srgbClr>
                </a:solidFill>
                <a:latin typeface="Plus Jakarta Sans" pitchFamily="34" charset="0"/>
                <a:ea typeface="Plus Jakarta Sans" pitchFamily="34" charset="-122"/>
                <a:cs typeface="Plus Jakarta Sans" pitchFamily="34" charset="-120"/>
              </a:rPr>
              <a:t>Penyusunan Laporan Akhir</a:t>
            </a:r>
            <a:endParaRPr lang="en-US" sz="900" dirty="0"/>
          </a:p>
          <a:p>
            <a:pPr algn="l" marL="342900" indent="-342900">
              <a:lnSpc>
                <a:spcPts val="1170"/>
              </a:lnSpc>
              <a:buSzPct val="100000"/>
              <a:buChar char="•"/>
            </a:pPr>
            <a:r>
              <a:rPr lang="en-US" sz="900" dirty="0">
                <a:solidFill>
                  <a:srgbClr val="000000">
                    <a:alpha val="99000"/>
                  </a:srgbClr>
                </a:solidFill>
                <a:latin typeface="Plus Jakarta Sans" pitchFamily="34" charset="0"/>
                <a:ea typeface="Plus Jakarta Sans" pitchFamily="34" charset="-122"/>
                <a:cs typeface="Plus Jakarta Sans" pitchFamily="34" charset="-120"/>
              </a:rPr>
              <a:t>Merangkum seluruh proses penelitian, hasil implementasi, dan evaluasi sistem ke dalam laporan akhir.</a:t>
            </a:r>
            <a:endParaRPr lang="en-US" sz="900" dirty="0"/>
          </a:p>
        </p:txBody>
      </p:sp>
      <p:sp>
        <p:nvSpPr>
          <p:cNvPr id="13" name="Text 10"/>
          <p:cNvSpPr/>
          <p:nvPr/>
        </p:nvSpPr>
        <p:spPr>
          <a:xfrm>
            <a:off x="476250" y="190500"/>
            <a:ext cx="1171575"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14" name="Text 11"/>
          <p:cNvSpPr/>
          <p:nvPr/>
        </p:nvSpPr>
        <p:spPr>
          <a:xfrm>
            <a:off x="7129463" y="204788"/>
            <a:ext cx="1981200" cy="114300"/>
          </a:xfrm>
          <a:prstGeom prst="rect">
            <a:avLst/>
          </a:prstGeom>
          <a:noFill/>
          <a:ln/>
        </p:spPr>
        <p:txBody>
          <a:bodyPr wrap="square" rtlCol="0" anchor="ctr"/>
          <a:lstStyle/>
          <a:p>
            <a:pPr algn="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UNIVERSITAS SYIAH KUALA</a:t>
            </a:r>
            <a:endParaRPr lang="en-US" sz="825" dirty="0"/>
          </a:p>
        </p:txBody>
      </p:sp>
      <p:sp>
        <p:nvSpPr>
          <p:cNvPr id="15" name="Text 12"/>
          <p:cNvSpPr/>
          <p:nvPr/>
        </p:nvSpPr>
        <p:spPr>
          <a:xfrm>
            <a:off x="2828925" y="2076450"/>
            <a:ext cx="885825" cy="147638"/>
          </a:xfrm>
          <a:prstGeom prst="rect">
            <a:avLst/>
          </a:prstGeom>
          <a:noFill/>
          <a:ln/>
        </p:spPr>
        <p:txBody>
          <a:bodyPr wrap="square" rtlCol="0" anchor="ctr"/>
          <a:lstStyle/>
          <a:p>
            <a:pPr algn="l" indent="0" marL="0">
              <a:lnSpc>
                <a:spcPts val="1170"/>
              </a:lnSpc>
              <a:buNone/>
            </a:pPr>
            <a:r>
              <a:rPr lang="en-US" sz="900" dirty="0">
                <a:solidFill>
                  <a:srgbClr val="000000">
                    <a:alpha val="99000"/>
                  </a:srgbClr>
                </a:solidFill>
                <a:latin typeface="Open Sans" pitchFamily="34" charset="0"/>
                <a:ea typeface="Open Sans" pitchFamily="34" charset="-122"/>
                <a:cs typeface="Open Sans" pitchFamily="34" charset="-120"/>
              </a:rPr>
              <a:t>Agustus</a:t>
            </a:r>
            <a:endParaRPr lang="en-US" sz="900" dirty="0"/>
          </a:p>
        </p:txBody>
      </p:sp>
      <p:sp>
        <p:nvSpPr>
          <p:cNvPr id="16" name="Text 13"/>
          <p:cNvSpPr/>
          <p:nvPr/>
        </p:nvSpPr>
        <p:spPr>
          <a:xfrm>
            <a:off x="876300" y="2076450"/>
            <a:ext cx="619125" cy="147638"/>
          </a:xfrm>
          <a:prstGeom prst="rect">
            <a:avLst/>
          </a:prstGeom>
          <a:noFill/>
          <a:ln/>
        </p:spPr>
        <p:txBody>
          <a:bodyPr wrap="square" rtlCol="0" anchor="ctr"/>
          <a:lstStyle/>
          <a:p>
            <a:pPr algn="l" indent="0" marL="0">
              <a:lnSpc>
                <a:spcPts val="1170"/>
              </a:lnSpc>
              <a:buNone/>
            </a:pPr>
            <a:r>
              <a:rPr lang="en-US" sz="900" dirty="0">
                <a:solidFill>
                  <a:srgbClr val="000000">
                    <a:alpha val="99000"/>
                  </a:srgbClr>
                </a:solidFill>
                <a:latin typeface="Open Sans" pitchFamily="34" charset="0"/>
                <a:ea typeface="Open Sans" pitchFamily="34" charset="-122"/>
                <a:cs typeface="Open Sans" pitchFamily="34" charset="-120"/>
              </a:rPr>
              <a:t>Juli</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DE8D8"/>
        </a:solidFill>
      </p:bgPr>
    </p:bg>
    <p:spTree>
      <p:nvGrpSpPr>
        <p:cNvPr id="1" name=""/>
        <p:cNvGrpSpPr/>
        <p:nvPr/>
      </p:nvGrpSpPr>
      <p:grpSpPr>
        <a:xfrm>
          <a:off x="0" y="0"/>
          <a:ext cx="0" cy="0"/>
          <a:chOff x="0" y="0"/>
          <a:chExt cx="0" cy="0"/>
        </a:xfrm>
      </p:grpSpPr>
      <p:sp>
        <p:nvSpPr>
          <p:cNvPr id="2" name="Shape 0"/>
          <p:cNvSpPr/>
          <p:nvPr/>
        </p:nvSpPr>
        <p:spPr>
          <a:xfrm>
            <a:off x="0" y="666750"/>
            <a:ext cx="9144000" cy="0"/>
          </a:xfrm>
          <a:prstGeom prst="line">
            <a:avLst/>
          </a:prstGeom>
          <a:noFill/>
          <a:ln w="76200">
            <a:solidFill>
              <a:srgbClr val="000000"/>
            </a:solidFill>
            <a:prstDash val="solid"/>
          </a:ln>
        </p:spPr>
      </p:sp>
      <p:sp>
        <p:nvSpPr>
          <p:cNvPr id="3" name="Shape 1"/>
          <p:cNvSpPr/>
          <p:nvPr/>
        </p:nvSpPr>
        <p:spPr>
          <a:xfrm>
            <a:off x="0" y="4819650"/>
            <a:ext cx="9144000" cy="0"/>
          </a:xfrm>
          <a:prstGeom prst="line">
            <a:avLst/>
          </a:prstGeom>
          <a:noFill/>
          <a:ln w="12700">
            <a:solidFill>
              <a:srgbClr val="000000"/>
            </a:solidFill>
            <a:prstDash val="solid"/>
          </a:ln>
        </p:spPr>
      </p:sp>
      <p:sp>
        <p:nvSpPr>
          <p:cNvPr id="4" name="Text 2"/>
          <p:cNvSpPr/>
          <p:nvPr/>
        </p:nvSpPr>
        <p:spPr>
          <a:xfrm>
            <a:off x="4074533" y="971649"/>
            <a:ext cx="1234177" cy="617089"/>
          </a:xfrm>
          <a:prstGeom prst="roundRect">
            <a:avLst>
              <a:gd name="adj" fmla="val 8891"/>
            </a:avLst>
          </a:prstGeom>
          <a:solidFill>
            <a:srgbClr val="874FFF"/>
          </a:solidFill>
          <a:ln/>
        </p:spPr>
        <p:txBody>
          <a:bodyPr wrap="square" rtlCol="0" anchor="ctr"/>
          <a:lstStyle/>
          <a:p>
            <a:pPr indent="0" marL="0">
              <a:buNone/>
            </a:pPr>
            <a:r>
              <a:rPr lang="en-US" dirty="0">
                <a:solidFill>
                  <a:srgbClr val="000000"/>
                </a:solidFill>
              </a:rPr>
              <a:t>Analisa Kebutuhan</a:t>
            </a:r>
            <a:endParaRPr lang="en-US" dirty="0"/>
          </a:p>
        </p:txBody>
      </p:sp>
      <p:sp>
        <p:nvSpPr>
          <p:cNvPr id="5" name="Text 3"/>
          <p:cNvSpPr/>
          <p:nvPr/>
        </p:nvSpPr>
        <p:spPr>
          <a:xfrm>
            <a:off x="6719199" y="971649"/>
            <a:ext cx="1234177" cy="617089"/>
          </a:xfrm>
          <a:prstGeom prst="roundRect">
            <a:avLst>
              <a:gd name="adj" fmla="val 8891"/>
            </a:avLst>
          </a:prstGeom>
          <a:solidFill>
            <a:srgbClr val="874FFF"/>
          </a:solidFill>
          <a:ln/>
        </p:spPr>
        <p:txBody>
          <a:bodyPr wrap="square" rtlCol="0" anchor="ctr"/>
          <a:lstStyle/>
          <a:p>
            <a:pPr indent="0" marL="0">
              <a:buNone/>
            </a:pPr>
            <a:r>
              <a:rPr lang="en-US" dirty="0">
                <a:solidFill>
                  <a:srgbClr val="000000"/>
                </a:solidFill>
              </a:rPr>
              <a:t>Perancangan Sistem</a:t>
            </a:r>
            <a:endParaRPr lang="en-US" dirty="0"/>
          </a:p>
        </p:txBody>
      </p:sp>
      <p:sp>
        <p:nvSpPr>
          <p:cNvPr id="6" name="Text 4"/>
          <p:cNvSpPr/>
          <p:nvPr/>
        </p:nvSpPr>
        <p:spPr>
          <a:xfrm>
            <a:off x="6719199" y="2338060"/>
            <a:ext cx="1234177" cy="617089"/>
          </a:xfrm>
          <a:prstGeom prst="roundRect">
            <a:avLst>
              <a:gd name="adj" fmla="val 8891"/>
            </a:avLst>
          </a:prstGeom>
          <a:solidFill>
            <a:srgbClr val="874FFF"/>
          </a:solidFill>
          <a:ln/>
        </p:spPr>
        <p:txBody>
          <a:bodyPr wrap="square" rtlCol="0" anchor="ctr"/>
          <a:lstStyle/>
          <a:p>
            <a:pPr indent="0" marL="0">
              <a:buNone/>
            </a:pPr>
            <a:r>
              <a:rPr lang="en-US" dirty="0">
                <a:solidFill>
                  <a:srgbClr val="000000"/>
                </a:solidFill>
              </a:rPr>
              <a:t>Implementasi</a:t>
            </a:r>
            <a:endParaRPr lang="en-US" dirty="0"/>
          </a:p>
        </p:txBody>
      </p:sp>
      <p:sp>
        <p:nvSpPr>
          <p:cNvPr id="7" name="Text 5"/>
          <p:cNvSpPr/>
          <p:nvPr/>
        </p:nvSpPr>
        <p:spPr>
          <a:xfrm>
            <a:off x="4074533" y="2338060"/>
            <a:ext cx="1234177" cy="617089"/>
          </a:xfrm>
          <a:prstGeom prst="roundRect">
            <a:avLst>
              <a:gd name="adj" fmla="val 8891"/>
            </a:avLst>
          </a:prstGeom>
          <a:solidFill>
            <a:srgbClr val="874FFF"/>
          </a:solidFill>
          <a:ln/>
        </p:spPr>
        <p:txBody>
          <a:bodyPr wrap="square" rtlCol="0" anchor="ctr"/>
          <a:lstStyle/>
          <a:p>
            <a:pPr indent="0" marL="0">
              <a:buNone/>
            </a:pPr>
            <a:r>
              <a:rPr lang="en-US" dirty="0">
                <a:solidFill>
                  <a:srgbClr val="000000"/>
                </a:solidFill>
              </a:rPr>
              <a:t>Pengujian Sistem</a:t>
            </a:r>
            <a:endParaRPr lang="en-US" dirty="0"/>
          </a:p>
        </p:txBody>
      </p:sp>
      <p:sp>
        <p:nvSpPr>
          <p:cNvPr id="8" name="Text 6"/>
          <p:cNvSpPr/>
          <p:nvPr/>
        </p:nvSpPr>
        <p:spPr>
          <a:xfrm>
            <a:off x="1562100" y="2338060"/>
            <a:ext cx="1234177" cy="617089"/>
          </a:xfrm>
          <a:prstGeom prst="roundRect">
            <a:avLst>
              <a:gd name="adj" fmla="val 8891"/>
            </a:avLst>
          </a:prstGeom>
          <a:solidFill>
            <a:srgbClr val="874FFF"/>
          </a:solidFill>
          <a:ln/>
        </p:spPr>
        <p:txBody>
          <a:bodyPr wrap="square" rtlCol="0" anchor="ctr"/>
          <a:lstStyle/>
          <a:p>
            <a:pPr indent="0" marL="0">
              <a:buNone/>
            </a:pPr>
            <a:r>
              <a:rPr lang="en-US" dirty="0">
                <a:solidFill>
                  <a:srgbClr val="000000"/>
                </a:solidFill>
              </a:rPr>
              <a:t>Pemanfaatan Sistem oleh Petani</a:t>
            </a:r>
            <a:endParaRPr lang="en-US" dirty="0"/>
          </a:p>
        </p:txBody>
      </p:sp>
      <p:sp>
        <p:nvSpPr>
          <p:cNvPr id="9" name="Text 7"/>
          <p:cNvSpPr/>
          <p:nvPr/>
        </p:nvSpPr>
        <p:spPr>
          <a:xfrm>
            <a:off x="1694334" y="795338"/>
            <a:ext cx="969711" cy="969711"/>
          </a:xfrm>
          <a:prstGeom prst="ellipse">
            <a:avLst/>
          </a:prstGeom>
          <a:solidFill>
            <a:srgbClr val="66D575"/>
          </a:solidFill>
          <a:ln/>
        </p:spPr>
        <p:txBody>
          <a:bodyPr wrap="square" rtlCol="0" anchor="ctr"/>
          <a:lstStyle/>
          <a:p>
            <a:pPr indent="0" marL="0">
              <a:buNone/>
            </a:pPr>
            <a:r>
              <a:rPr lang="en-US" dirty="0">
                <a:solidFill>
                  <a:srgbClr val="000000"/>
                </a:solidFill>
              </a:rPr>
              <a:t>Mulai</a:t>
            </a:r>
            <a:endParaRPr lang="en-US" dirty="0"/>
          </a:p>
        </p:txBody>
      </p:sp>
      <p:sp>
        <p:nvSpPr>
          <p:cNvPr id="10" name="Text 8"/>
          <p:cNvSpPr/>
          <p:nvPr/>
        </p:nvSpPr>
        <p:spPr>
          <a:xfrm>
            <a:off x="1694334" y="3528159"/>
            <a:ext cx="969711" cy="969711"/>
          </a:xfrm>
          <a:prstGeom prst="ellipse">
            <a:avLst/>
          </a:prstGeom>
          <a:solidFill>
            <a:srgbClr val="FFCD29"/>
          </a:solidFill>
          <a:ln/>
        </p:spPr>
        <p:txBody>
          <a:bodyPr wrap="square" rtlCol="0" anchor="ctr"/>
          <a:lstStyle/>
          <a:p>
            <a:pPr indent="0" marL="0">
              <a:buNone/>
            </a:pPr>
            <a:r>
              <a:rPr lang="en-US" dirty="0">
                <a:solidFill>
                  <a:srgbClr val="000000"/>
                </a:solidFill>
              </a:rPr>
              <a:t>Selesai</a:t>
            </a:r>
            <a:endParaRPr lang="en-US" dirty="0"/>
          </a:p>
        </p:txBody>
      </p:sp>
      <p:pic>
        <p:nvPicPr>
          <p:cNvPr id="11" name="Image 0" descr="preencoded.png">    </p:cNvPr>
          <p:cNvPicPr>
            <a:picLocks noChangeAspect="1"/>
          </p:cNvPicPr>
          <p:nvPr/>
        </p:nvPicPr>
        <p:blipFill>
          <a:blip r:embed="rId1"/>
          <a:stretch>
            <a:fillRect/>
          </a:stretch>
        </p:blipFill>
        <p:spPr>
          <a:xfrm>
            <a:off x="2692622" y="1280193"/>
            <a:ext cx="1370005" cy="140283"/>
          </a:xfrm>
          <a:prstGeom prst="rect">
            <a:avLst/>
          </a:prstGeom>
        </p:spPr>
      </p:pic>
      <p:pic>
        <p:nvPicPr>
          <p:cNvPr id="12" name="Image 1" descr="preencoded.png">    </p:cNvPr>
          <p:cNvPicPr>
            <a:picLocks noChangeAspect="1"/>
          </p:cNvPicPr>
          <p:nvPr/>
        </p:nvPicPr>
        <p:blipFill>
          <a:blip r:embed="rId2"/>
          <a:stretch>
            <a:fillRect/>
          </a:stretch>
        </p:blipFill>
        <p:spPr>
          <a:xfrm>
            <a:off x="5337284" y="1280193"/>
            <a:ext cx="1370009" cy="140283"/>
          </a:xfrm>
          <a:prstGeom prst="rect">
            <a:avLst/>
          </a:prstGeom>
        </p:spPr>
      </p:pic>
      <p:pic>
        <p:nvPicPr>
          <p:cNvPr id="13" name="Image 2" descr="preencoded.png">    </p:cNvPr>
          <p:cNvPicPr>
            <a:picLocks noChangeAspect="1"/>
          </p:cNvPicPr>
          <p:nvPr/>
        </p:nvPicPr>
        <p:blipFill>
          <a:blip r:embed="rId3"/>
          <a:stretch>
            <a:fillRect/>
          </a:stretch>
        </p:blipFill>
        <p:spPr>
          <a:xfrm>
            <a:off x="7336287" y="1617313"/>
            <a:ext cx="140280" cy="708841"/>
          </a:xfrm>
          <a:prstGeom prst="rect">
            <a:avLst/>
          </a:prstGeom>
        </p:spPr>
      </p:pic>
      <p:pic>
        <p:nvPicPr>
          <p:cNvPr id="14" name="Image 3" descr="preencoded.png">    </p:cNvPr>
          <p:cNvPicPr>
            <a:picLocks noChangeAspect="1"/>
          </p:cNvPicPr>
          <p:nvPr/>
        </p:nvPicPr>
        <p:blipFill>
          <a:blip r:embed="rId4"/>
          <a:stretch>
            <a:fillRect/>
          </a:stretch>
        </p:blipFill>
        <p:spPr>
          <a:xfrm>
            <a:off x="5339665" y="2646604"/>
            <a:ext cx="1370009" cy="140284"/>
          </a:xfrm>
          <a:prstGeom prst="rect">
            <a:avLst/>
          </a:prstGeom>
        </p:spPr>
      </p:pic>
      <p:pic>
        <p:nvPicPr>
          <p:cNvPr id="15" name="Image 4" descr="preencoded.png">    </p:cNvPr>
          <p:cNvPicPr>
            <a:picLocks noChangeAspect="1"/>
          </p:cNvPicPr>
          <p:nvPr/>
        </p:nvPicPr>
        <p:blipFill>
          <a:blip r:embed="rId5"/>
          <a:stretch>
            <a:fillRect/>
          </a:stretch>
        </p:blipFill>
        <p:spPr>
          <a:xfrm>
            <a:off x="2827232" y="2646604"/>
            <a:ext cx="1237776" cy="140284"/>
          </a:xfrm>
          <a:prstGeom prst="rect">
            <a:avLst/>
          </a:prstGeom>
        </p:spPr>
      </p:pic>
      <p:pic>
        <p:nvPicPr>
          <p:cNvPr id="16" name="Image 5" descr="preencoded.png">    </p:cNvPr>
          <p:cNvPicPr>
            <a:picLocks noChangeAspect="1"/>
          </p:cNvPicPr>
          <p:nvPr/>
        </p:nvPicPr>
        <p:blipFill>
          <a:blip r:embed="rId6"/>
          <a:stretch>
            <a:fillRect/>
          </a:stretch>
        </p:blipFill>
        <p:spPr>
          <a:xfrm>
            <a:off x="2179188" y="2983724"/>
            <a:ext cx="140280" cy="532529"/>
          </a:xfrm>
          <a:prstGeom prst="rect">
            <a:avLst/>
          </a:prstGeom>
        </p:spPr>
      </p:pic>
      <p:sp>
        <p:nvSpPr>
          <p:cNvPr id="17" name="Text 9"/>
          <p:cNvSpPr/>
          <p:nvPr/>
        </p:nvSpPr>
        <p:spPr>
          <a:xfrm>
            <a:off x="3190875" y="190500"/>
            <a:ext cx="3219450" cy="285750"/>
          </a:xfrm>
          <a:prstGeom prst="rect">
            <a:avLst/>
          </a:prstGeom>
          <a:noFill/>
          <a:ln/>
        </p:spPr>
        <p:txBody>
          <a:bodyPr wrap="square" rtlCol="0" anchor="ctr"/>
          <a:lstStyle/>
          <a:p>
            <a:pPr algn="ctr" indent="0" marL="0">
              <a:lnSpc>
                <a:spcPts val="2250"/>
              </a:lnSpc>
              <a:buNone/>
            </a:pPr>
            <a:r>
              <a:rPr lang="en-US" sz="2100" spc="210" kern="0" dirty="0">
                <a:solidFill>
                  <a:srgbClr val="000000">
                    <a:alpha val="99000"/>
                  </a:srgbClr>
                </a:solidFill>
                <a:latin typeface="Space Grotesk" pitchFamily="34" charset="0"/>
                <a:ea typeface="Space Grotesk" pitchFamily="34" charset="-122"/>
                <a:cs typeface="Space Grotesk" pitchFamily="34" charset="-120"/>
              </a:rPr>
              <a:t>Metode Penelitian</a:t>
            </a:r>
            <a:endParaRPr lang="en-US" sz="2100" dirty="0"/>
          </a:p>
        </p:txBody>
      </p:sp>
      <p:sp>
        <p:nvSpPr>
          <p:cNvPr id="18" name="Text 10"/>
          <p:cNvSpPr/>
          <p:nvPr/>
        </p:nvSpPr>
        <p:spPr>
          <a:xfrm>
            <a:off x="90488" y="4919663"/>
            <a:ext cx="1171575"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19" name="Text 11"/>
          <p:cNvSpPr/>
          <p:nvPr/>
        </p:nvSpPr>
        <p:spPr>
          <a:xfrm>
            <a:off x="1300163" y="4919663"/>
            <a:ext cx="1643063"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SEMINAR PROPOSAL</a:t>
            </a:r>
            <a:endParaRPr lang="en-US" sz="825" dirty="0"/>
          </a:p>
        </p:txBody>
      </p:sp>
      <p:sp>
        <p:nvSpPr>
          <p:cNvPr id="20" name="Text 12"/>
          <p:cNvSpPr/>
          <p:nvPr/>
        </p:nvSpPr>
        <p:spPr>
          <a:xfrm>
            <a:off x="7529513" y="4919663"/>
            <a:ext cx="1981200" cy="114300"/>
          </a:xfrm>
          <a:prstGeom prst="rect">
            <a:avLst/>
          </a:prstGeom>
          <a:noFill/>
          <a:ln/>
        </p:spPr>
        <p:txBody>
          <a:bodyPr wrap="square" rtlCol="0" anchor="ctr"/>
          <a:lstStyle/>
          <a:p>
            <a:pPr algn="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UNIVERSITAS SYIAH KUALA</a:t>
            </a:r>
            <a:endParaRPr lang="en-US" sz="8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DE8D8"/>
        </a:solidFill>
      </p:bgPr>
    </p:bg>
    <p:spTree>
      <p:nvGrpSpPr>
        <p:cNvPr id="1" name=""/>
        <p:cNvGrpSpPr/>
        <p:nvPr/>
      </p:nvGrpSpPr>
      <p:grpSpPr>
        <a:xfrm>
          <a:off x="0" y="0"/>
          <a:ext cx="0" cy="0"/>
          <a:chOff x="0" y="0"/>
          <a:chExt cx="0" cy="0"/>
        </a:xfrm>
      </p:grpSpPr>
      <p:sp>
        <p:nvSpPr>
          <p:cNvPr id="3" name="Shape 0"/>
          <p:cNvSpPr/>
          <p:nvPr/>
        </p:nvSpPr>
        <p:spPr>
          <a:xfrm>
            <a:off x="90488" y="238125"/>
            <a:ext cx="8963025" cy="4814888"/>
          </a:xfrm>
          <a:prstGeom prst="roundRect">
            <a:avLst>
              <a:gd name="adj" fmla="val 2849"/>
            </a:avLst>
          </a:prstGeom>
          <a:noFill/>
          <a:ln w="12700">
            <a:solidFill>
              <a:srgbClr val="000000"/>
            </a:solidFill>
            <a:prstDash val="solid"/>
          </a:ln>
        </p:spPr>
      </p:sp>
      <p:sp>
        <p:nvSpPr>
          <p:cNvPr id="4" name="Shape 1"/>
          <p:cNvSpPr/>
          <p:nvPr/>
        </p:nvSpPr>
        <p:spPr>
          <a:xfrm>
            <a:off x="995363" y="2214563"/>
            <a:ext cx="2719388" cy="1085850"/>
          </a:xfrm>
          <a:prstGeom prst="rect">
            <a:avLst/>
          </a:prstGeom>
          <a:noFill/>
          <a:ln/>
        </p:spPr>
      </p:sp>
      <p:sp>
        <p:nvSpPr>
          <p:cNvPr id="5" name="Shape 2"/>
          <p:cNvSpPr/>
          <p:nvPr/>
        </p:nvSpPr>
        <p:spPr>
          <a:xfrm>
            <a:off x="7197282" y="3466487"/>
            <a:ext cx="109387" cy="109387"/>
          </a:xfrm>
          <a:prstGeom prst="ellipse">
            <a:avLst/>
          </a:prstGeom>
          <a:solidFill>
            <a:srgbClr val="FFFFFF"/>
          </a:solidFill>
          <a:ln w="32411">
            <a:solidFill>
              <a:srgbClr val="2C2C2E"/>
            </a:solidFill>
            <a:prstDash val="solid"/>
          </a:ln>
        </p:spPr>
      </p:sp>
      <p:sp>
        <p:nvSpPr>
          <p:cNvPr id="6" name="Shape 3"/>
          <p:cNvSpPr/>
          <p:nvPr/>
        </p:nvSpPr>
        <p:spPr>
          <a:xfrm rot="0">
            <a:off x="6297876" y="3369255"/>
            <a:ext cx="802168" cy="0"/>
          </a:xfrm>
          <a:prstGeom prst="line">
            <a:avLst/>
          </a:prstGeom>
          <a:noFill/>
          <a:ln w="32411">
            <a:solidFill>
              <a:srgbClr val="2C2C2E"/>
            </a:solidFill>
            <a:prstDash val="solid"/>
          </a:ln>
        </p:spPr>
      </p:sp>
      <p:sp>
        <p:nvSpPr>
          <p:cNvPr id="7" name="Shape 4"/>
          <p:cNvSpPr/>
          <p:nvPr/>
        </p:nvSpPr>
        <p:spPr>
          <a:xfrm rot="5400000">
            <a:off x="7011047" y="3437878"/>
            <a:ext cx="170157" cy="0"/>
          </a:xfrm>
          <a:prstGeom prst="line">
            <a:avLst/>
          </a:prstGeom>
          <a:noFill/>
          <a:ln w="32411">
            <a:solidFill>
              <a:srgbClr val="2C2C2E"/>
            </a:solidFill>
            <a:prstDash val="solid"/>
          </a:ln>
        </p:spPr>
      </p:sp>
      <p:sp>
        <p:nvSpPr>
          <p:cNvPr id="8" name="Shape 5"/>
          <p:cNvSpPr/>
          <p:nvPr/>
        </p:nvSpPr>
        <p:spPr>
          <a:xfrm>
            <a:off x="7100050" y="3527258"/>
            <a:ext cx="97233" cy="0"/>
          </a:xfrm>
          <a:prstGeom prst="line">
            <a:avLst/>
          </a:prstGeom>
          <a:noFill/>
          <a:ln w="32411">
            <a:solidFill>
              <a:srgbClr val="2C2C2E"/>
            </a:solidFill>
            <a:prstDash val="solid"/>
          </a:ln>
        </p:spPr>
      </p:sp>
      <p:sp>
        <p:nvSpPr>
          <p:cNvPr id="9" name="Shape 6"/>
          <p:cNvSpPr/>
          <p:nvPr/>
        </p:nvSpPr>
        <p:spPr>
          <a:xfrm>
            <a:off x="5106777" y="1813535"/>
            <a:ext cx="1203252" cy="291697"/>
          </a:xfrm>
          <a:prstGeom prst="rect">
            <a:avLst/>
          </a:prstGeom>
          <a:noFill/>
          <a:ln/>
        </p:spPr>
      </p:sp>
      <p:sp>
        <p:nvSpPr>
          <p:cNvPr id="10" name="Shape 7"/>
          <p:cNvSpPr/>
          <p:nvPr/>
        </p:nvSpPr>
        <p:spPr>
          <a:xfrm>
            <a:off x="7258050" y="3369255"/>
            <a:ext cx="960171" cy="291697"/>
          </a:xfrm>
          <a:prstGeom prst="rect">
            <a:avLst/>
          </a:prstGeom>
          <a:noFill/>
          <a:ln/>
        </p:spPr>
      </p:sp>
      <p:sp>
        <p:nvSpPr>
          <p:cNvPr id="11" name="Shape 8"/>
          <p:cNvSpPr/>
          <p:nvPr/>
        </p:nvSpPr>
        <p:spPr>
          <a:xfrm rot="5400000">
            <a:off x="5621469" y="2693856"/>
            <a:ext cx="1349112" cy="0"/>
          </a:xfrm>
          <a:prstGeom prst="line">
            <a:avLst/>
          </a:prstGeom>
          <a:noFill/>
          <a:ln w="32411">
            <a:solidFill>
              <a:srgbClr val="2C2C2E"/>
            </a:solidFill>
            <a:prstDash val="solid"/>
          </a:ln>
        </p:spPr>
      </p:sp>
      <p:sp>
        <p:nvSpPr>
          <p:cNvPr id="12" name="Shape 9"/>
          <p:cNvSpPr/>
          <p:nvPr/>
        </p:nvSpPr>
        <p:spPr>
          <a:xfrm>
            <a:off x="7258050" y="3369255"/>
            <a:ext cx="960171" cy="291697"/>
          </a:xfrm>
          <a:prstGeom prst="roundRect">
            <a:avLst/>
          </a:prstGeom>
          <a:solidFill>
            <a:srgbClr val="3394FF"/>
          </a:solidFill>
          <a:ln w="32411">
            <a:solidFill>
              <a:srgbClr val="006BDF"/>
            </a:solidFill>
            <a:prstDash val="solid"/>
          </a:ln>
        </p:spPr>
      </p:sp>
      <p:sp>
        <p:nvSpPr>
          <p:cNvPr id="13" name="Shape 10"/>
          <p:cNvSpPr/>
          <p:nvPr/>
        </p:nvSpPr>
        <p:spPr>
          <a:xfrm>
            <a:off x="5106777" y="1813535"/>
            <a:ext cx="1203252" cy="291697"/>
          </a:xfrm>
          <a:prstGeom prst="roundRect">
            <a:avLst/>
          </a:prstGeom>
          <a:solidFill>
            <a:srgbClr val="5AD579"/>
          </a:solidFill>
          <a:ln w="32411">
            <a:solidFill>
              <a:srgbClr val="2BB04D"/>
            </a:solidFill>
            <a:prstDash val="solid"/>
          </a:ln>
        </p:spPr>
      </p:sp>
      <p:sp>
        <p:nvSpPr>
          <p:cNvPr id="14" name="Shape 11"/>
          <p:cNvSpPr/>
          <p:nvPr/>
        </p:nvSpPr>
        <p:spPr>
          <a:xfrm>
            <a:off x="6686810" y="1546143"/>
            <a:ext cx="1045249" cy="405603"/>
          </a:xfrm>
          <a:prstGeom prst="roundRect">
            <a:avLst>
              <a:gd name="adj" fmla="val 38618"/>
            </a:avLst>
          </a:prstGeom>
          <a:solidFill>
            <a:srgbClr val="FFFFFF"/>
          </a:solidFill>
          <a:ln/>
        </p:spPr>
      </p:sp>
      <p:sp>
        <p:nvSpPr>
          <p:cNvPr id="15" name="Shape 12"/>
          <p:cNvSpPr/>
          <p:nvPr/>
        </p:nvSpPr>
        <p:spPr>
          <a:xfrm>
            <a:off x="4572000" y="2226774"/>
            <a:ext cx="1360769" cy="531032"/>
          </a:xfrm>
          <a:prstGeom prst="roundRect">
            <a:avLst>
              <a:gd name="adj" fmla="val 38400"/>
            </a:avLst>
          </a:prstGeom>
          <a:solidFill>
            <a:srgbClr val="FFFFFF"/>
          </a:solidFill>
          <a:ln/>
        </p:spPr>
      </p:sp>
      <p:sp>
        <p:nvSpPr>
          <p:cNvPr id="16" name="Shape 13"/>
          <p:cNvSpPr/>
          <p:nvPr/>
        </p:nvSpPr>
        <p:spPr>
          <a:xfrm>
            <a:off x="7136504" y="2652165"/>
            <a:ext cx="1360769" cy="531032"/>
          </a:xfrm>
          <a:prstGeom prst="roundRect">
            <a:avLst>
              <a:gd name="adj" fmla="val 38400"/>
            </a:avLst>
          </a:prstGeom>
          <a:solidFill>
            <a:srgbClr val="FFFFFF"/>
          </a:solidFill>
          <a:ln/>
        </p:spPr>
      </p:sp>
      <p:sp>
        <p:nvSpPr>
          <p:cNvPr id="17" name="Shape 14"/>
          <p:cNvSpPr/>
          <p:nvPr/>
        </p:nvSpPr>
        <p:spPr>
          <a:xfrm>
            <a:off x="5512789" y="3442670"/>
            <a:ext cx="1360769" cy="531032"/>
          </a:xfrm>
          <a:prstGeom prst="roundRect">
            <a:avLst>
              <a:gd name="adj" fmla="val 38400"/>
            </a:avLst>
          </a:prstGeom>
          <a:solidFill>
            <a:srgbClr val="FFFFFF"/>
          </a:solidFill>
          <a:ln/>
        </p:spPr>
      </p:sp>
      <p:sp>
        <p:nvSpPr>
          <p:cNvPr id="18" name="Shape 15"/>
          <p:cNvSpPr/>
          <p:nvPr/>
        </p:nvSpPr>
        <p:spPr>
          <a:xfrm>
            <a:off x="4722847" y="1123950"/>
            <a:ext cx="1360769" cy="531032"/>
          </a:xfrm>
          <a:prstGeom prst="roundRect">
            <a:avLst>
              <a:gd name="adj" fmla="val 38400"/>
            </a:avLst>
          </a:prstGeom>
          <a:solidFill>
            <a:srgbClr val="FFFFFF"/>
          </a:solidFill>
          <a:ln/>
        </p:spPr>
      </p:sp>
      <p:pic>
        <p:nvPicPr>
          <p:cNvPr id="19" name="Image 0" descr="preencoded.png">    </p:cNvPr>
          <p:cNvPicPr>
            <a:picLocks noChangeAspect="1"/>
          </p:cNvPicPr>
          <p:nvPr/>
        </p:nvPicPr>
        <p:blipFill>
          <a:blip r:embed="rId1"/>
          <a:stretch>
            <a:fillRect/>
          </a:stretch>
        </p:blipFill>
        <p:spPr>
          <a:xfrm>
            <a:off x="6771894" y="1631222"/>
            <a:ext cx="401084" cy="85079"/>
          </a:xfrm>
          <a:prstGeom prst="rect">
            <a:avLst/>
          </a:prstGeom>
        </p:spPr>
      </p:pic>
      <p:pic>
        <p:nvPicPr>
          <p:cNvPr id="20" name="Image 1" descr="preencoded.png">    </p:cNvPr>
          <p:cNvPicPr>
            <a:picLocks noChangeAspect="1"/>
          </p:cNvPicPr>
          <p:nvPr/>
        </p:nvPicPr>
        <p:blipFill>
          <a:blip r:embed="rId2"/>
          <a:stretch>
            <a:fillRect/>
          </a:stretch>
        </p:blipFill>
        <p:spPr>
          <a:xfrm>
            <a:off x="4678207" y="2332982"/>
            <a:ext cx="498755" cy="122813"/>
          </a:xfrm>
          <a:prstGeom prst="rect">
            <a:avLst/>
          </a:prstGeom>
        </p:spPr>
      </p:pic>
      <p:pic>
        <p:nvPicPr>
          <p:cNvPr id="21" name="Image 2" descr="preencoded.png">    </p:cNvPr>
          <p:cNvPicPr>
            <a:picLocks noChangeAspect="1"/>
          </p:cNvPicPr>
          <p:nvPr/>
        </p:nvPicPr>
        <p:blipFill>
          <a:blip r:embed="rId3"/>
          <a:stretch>
            <a:fillRect/>
          </a:stretch>
        </p:blipFill>
        <p:spPr>
          <a:xfrm>
            <a:off x="7242711" y="2758370"/>
            <a:ext cx="393980" cy="122813"/>
          </a:xfrm>
          <a:prstGeom prst="rect">
            <a:avLst/>
          </a:prstGeom>
        </p:spPr>
      </p:pic>
      <p:pic>
        <p:nvPicPr>
          <p:cNvPr id="22" name="Image 3" descr="preencoded.png">    </p:cNvPr>
          <p:cNvPicPr>
            <a:picLocks noChangeAspect="1"/>
          </p:cNvPicPr>
          <p:nvPr/>
        </p:nvPicPr>
        <p:blipFill>
          <a:blip r:embed="rId4"/>
          <a:stretch>
            <a:fillRect/>
          </a:stretch>
        </p:blipFill>
        <p:spPr>
          <a:xfrm>
            <a:off x="5633396" y="3656981"/>
            <a:ext cx="520787" cy="195899"/>
          </a:xfrm>
          <a:prstGeom prst="rect">
            <a:avLst/>
          </a:prstGeom>
        </p:spPr>
      </p:pic>
      <p:pic>
        <p:nvPicPr>
          <p:cNvPr id="23" name="Image 4" descr="preencoded.png">    </p:cNvPr>
          <p:cNvPicPr>
            <a:picLocks noChangeAspect="1"/>
          </p:cNvPicPr>
          <p:nvPr/>
        </p:nvPicPr>
        <p:blipFill>
          <a:blip r:embed="rId5"/>
          <a:stretch>
            <a:fillRect/>
          </a:stretch>
        </p:blipFill>
        <p:spPr>
          <a:xfrm>
            <a:off x="4829054" y="1230155"/>
            <a:ext cx="393980" cy="122813"/>
          </a:xfrm>
          <a:prstGeom prst="rect">
            <a:avLst/>
          </a:prstGeom>
        </p:spPr>
      </p:pic>
      <p:sp>
        <p:nvSpPr>
          <p:cNvPr id="24" name="Text 16"/>
          <p:cNvSpPr/>
          <p:nvPr/>
        </p:nvSpPr>
        <p:spPr>
          <a:xfrm>
            <a:off x="90488" y="76200"/>
            <a:ext cx="1171575"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25" name="Text 17"/>
          <p:cNvSpPr/>
          <p:nvPr/>
        </p:nvSpPr>
        <p:spPr>
          <a:xfrm>
            <a:off x="1300163" y="76200"/>
            <a:ext cx="1643063"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SEMINAR PROPOSAL</a:t>
            </a:r>
            <a:endParaRPr lang="en-US" sz="825" dirty="0"/>
          </a:p>
        </p:txBody>
      </p:sp>
      <p:sp>
        <p:nvSpPr>
          <p:cNvPr id="26" name="Text 18"/>
          <p:cNvSpPr/>
          <p:nvPr/>
        </p:nvSpPr>
        <p:spPr>
          <a:xfrm>
            <a:off x="7529513" y="76200"/>
            <a:ext cx="1981200" cy="114300"/>
          </a:xfrm>
          <a:prstGeom prst="rect">
            <a:avLst/>
          </a:prstGeom>
          <a:noFill/>
          <a:ln/>
        </p:spPr>
        <p:txBody>
          <a:bodyPr wrap="square" rtlCol="0" anchor="ctr"/>
          <a:lstStyle/>
          <a:p>
            <a:pPr algn="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UNIVERSITAS SYIAH KUALA</a:t>
            </a:r>
            <a:endParaRPr lang="en-US" sz="825" dirty="0"/>
          </a:p>
        </p:txBody>
      </p:sp>
      <p:sp>
        <p:nvSpPr>
          <p:cNvPr id="27" name="Text 19"/>
          <p:cNvSpPr/>
          <p:nvPr/>
        </p:nvSpPr>
        <p:spPr>
          <a:xfrm>
            <a:off x="995363" y="2214563"/>
            <a:ext cx="2824163"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Analisa Kebutuhan</a:t>
            </a:r>
            <a:endParaRPr lang="en-US" sz="1500" dirty="0"/>
          </a:p>
        </p:txBody>
      </p:sp>
      <p:sp>
        <p:nvSpPr>
          <p:cNvPr id="28" name="Text 20"/>
          <p:cNvSpPr/>
          <p:nvPr/>
        </p:nvSpPr>
        <p:spPr>
          <a:xfrm>
            <a:off x="995363" y="2614613"/>
            <a:ext cx="3176588" cy="685800"/>
          </a:xfrm>
          <a:prstGeom prst="rect">
            <a:avLst/>
          </a:prstGeom>
          <a:noFill/>
          <a:ln/>
        </p:spPr>
        <p:txBody>
          <a:bodyPr wrap="square" rtlCol="0" anchor="ctr"/>
          <a:lstStyle/>
          <a:p>
            <a:pPr algn="l" indent="0" marL="0">
              <a:lnSpc>
                <a:spcPts val="1350"/>
              </a:lnSpc>
              <a:buNone/>
            </a:pPr>
            <a:r>
              <a:rPr lang="en-US" sz="900" spc="-20" kern="0" dirty="0">
                <a:solidFill>
                  <a:srgbClr val="000000">
                    <a:alpha val="99000"/>
                  </a:srgbClr>
                </a:solidFill>
                <a:latin typeface="Plus Jakarta Sans" pitchFamily="34" charset="0"/>
                <a:ea typeface="Plus Jakarta Sans" pitchFamily="34" charset="-122"/>
                <a:cs typeface="Plus Jakarta Sans" pitchFamily="34" charset="-120"/>
              </a:rPr>
              <a:t>Identifikasi kebutuhan sistem, baik kebutuhan fungsional maupun non-fungsional. Hasil analisis  didokumentasikan dalam bentuk product backlog berisi daftar prioritas pengembangan.</a:t>
            </a:r>
            <a:endParaRPr lang="en-US" sz="900" dirty="0"/>
          </a:p>
        </p:txBody>
      </p:sp>
      <p:sp>
        <p:nvSpPr>
          <p:cNvPr id="29" name="Text 21"/>
          <p:cNvSpPr/>
          <p:nvPr/>
        </p:nvSpPr>
        <p:spPr>
          <a:xfrm>
            <a:off x="7379587" y="3442181"/>
            <a:ext cx="1174290" cy="158003"/>
          </a:xfrm>
          <a:prstGeom prst="rect">
            <a:avLst/>
          </a:prstGeom>
          <a:noFill/>
          <a:ln/>
        </p:spPr>
        <p:txBody>
          <a:bodyPr wrap="square" rtlCol="0" anchor="ctr"/>
          <a:lstStyle/>
          <a:p>
            <a:pPr algn="l" indent="0" marL="0">
              <a:lnSpc>
                <a:spcPts val="1157"/>
              </a:lnSpc>
              <a:buNone/>
            </a:pPr>
            <a:r>
              <a:rPr lang="en-US" sz="890" dirty="0">
                <a:solidFill>
                  <a:srgbClr val="FAFAFC">
                    <a:alpha val="99000"/>
                  </a:srgbClr>
                </a:solidFill>
                <a:latin typeface="IBM Plex Sans" pitchFamily="34" charset="0"/>
                <a:ea typeface="IBM Plex Sans" pitchFamily="34" charset="-122"/>
                <a:cs typeface="IBM Plex Sans" pitchFamily="34" charset="-120"/>
              </a:rPr>
              <a:t>2. Select Plan</a:t>
            </a:r>
            <a:endParaRPr lang="en-US" sz="890" dirty="0"/>
          </a:p>
        </p:txBody>
      </p:sp>
      <p:sp>
        <p:nvSpPr>
          <p:cNvPr id="30" name="Text 22"/>
          <p:cNvSpPr/>
          <p:nvPr/>
        </p:nvSpPr>
        <p:spPr>
          <a:xfrm>
            <a:off x="5228313" y="1886458"/>
            <a:ext cx="1417371" cy="158003"/>
          </a:xfrm>
          <a:prstGeom prst="rect">
            <a:avLst/>
          </a:prstGeom>
          <a:noFill/>
          <a:ln/>
        </p:spPr>
        <p:txBody>
          <a:bodyPr wrap="square" rtlCol="0" anchor="ctr"/>
          <a:lstStyle/>
          <a:p>
            <a:pPr algn="l" marL="342900" indent="-342900">
              <a:lnSpc>
                <a:spcPts val="1157"/>
              </a:lnSpc>
              <a:buSzPct val="100000"/>
              <a:buFont typeface="+mj-lt"/>
              <a:buAutoNum type="arabicPeriod" startAt="1"/>
            </a:pPr>
            <a:r>
              <a:rPr lang="en-US" sz="890" dirty="0">
                <a:solidFill>
                  <a:srgbClr val="FAFAFC">
                    <a:alpha val="99000"/>
                  </a:srgbClr>
                </a:solidFill>
                <a:latin typeface="IBM Plex Sans" pitchFamily="34" charset="0"/>
                <a:ea typeface="IBM Plex Sans" pitchFamily="34" charset="-122"/>
                <a:cs typeface="IBM Plex Sans" pitchFamily="34" charset="-120"/>
              </a:rPr>
              <a:t>Create account</a:t>
            </a:r>
            <a:endParaRPr lang="en-US" sz="890" dirty="0"/>
          </a:p>
        </p:txBody>
      </p:sp>
      <p:sp>
        <p:nvSpPr>
          <p:cNvPr id="31" name="Text 23"/>
          <p:cNvSpPr/>
          <p:nvPr/>
        </p:nvSpPr>
        <p:spPr>
          <a:xfrm>
            <a:off x="6768387" y="1765391"/>
            <a:ext cx="1339289" cy="104775"/>
          </a:xfrm>
          <a:prstGeom prst="rect">
            <a:avLst/>
          </a:prstGeom>
          <a:noFill/>
          <a:ln/>
        </p:spPr>
        <p:txBody>
          <a:bodyPr wrap="square" rtlCol="0" anchor="ctr"/>
          <a:lstStyle/>
          <a:p>
            <a:pPr algn="l" indent="0" marL="0">
              <a:lnSpc>
                <a:spcPts val="835"/>
              </a:lnSpc>
              <a:buNone/>
            </a:pPr>
            <a:r>
              <a:rPr lang="en-US" sz="642" dirty="0">
                <a:solidFill>
                  <a:srgbClr val="2C2C2E">
                    <a:alpha val="99000"/>
                  </a:srgbClr>
                </a:solidFill>
                <a:latin typeface="IBM Plex Sans" pitchFamily="34" charset="0"/>
                <a:ea typeface="IBM Plex Sans" pitchFamily="34" charset="-122"/>
                <a:cs typeface="IBM Plex Sans" pitchFamily="34" charset="-120"/>
              </a:rPr>
              <a:t>Signup via gmail</a:t>
            </a:r>
            <a:endParaRPr lang="en-US" sz="642" dirty="0"/>
          </a:p>
        </p:txBody>
      </p:sp>
      <p:sp>
        <p:nvSpPr>
          <p:cNvPr id="32" name="Text 24"/>
          <p:cNvSpPr/>
          <p:nvPr/>
        </p:nvSpPr>
        <p:spPr>
          <a:xfrm>
            <a:off x="4678207" y="2512204"/>
            <a:ext cx="1605557" cy="139396"/>
          </a:xfrm>
          <a:prstGeom prst="rect">
            <a:avLst/>
          </a:prstGeom>
          <a:noFill/>
          <a:ln/>
        </p:spPr>
        <p:txBody>
          <a:bodyPr wrap="square" rtlCol="0" anchor="ctr"/>
          <a:lstStyle/>
          <a:p>
            <a:pPr algn="l" indent="0" marL="0">
              <a:lnSpc>
                <a:spcPts val="1087"/>
              </a:lnSpc>
              <a:buNone/>
            </a:pPr>
            <a:r>
              <a:rPr lang="en-US" sz="836" dirty="0">
                <a:solidFill>
                  <a:srgbClr val="2C2C2E">
                    <a:alpha val="99000"/>
                  </a:srgbClr>
                </a:solidFill>
                <a:latin typeface="IBM Plex Sans" pitchFamily="34" charset="0"/>
                <a:ea typeface="IBM Plex Sans" pitchFamily="34" charset="-122"/>
                <a:cs typeface="IBM Plex Sans" pitchFamily="34" charset="-120"/>
              </a:rPr>
              <a:t>User onboarding hints</a:t>
            </a:r>
            <a:endParaRPr lang="en-US" sz="836" dirty="0"/>
          </a:p>
        </p:txBody>
      </p:sp>
      <p:sp>
        <p:nvSpPr>
          <p:cNvPr id="33" name="Text 25"/>
          <p:cNvSpPr/>
          <p:nvPr/>
        </p:nvSpPr>
        <p:spPr>
          <a:xfrm>
            <a:off x="7242711" y="2937595"/>
            <a:ext cx="1605557" cy="139396"/>
          </a:xfrm>
          <a:prstGeom prst="rect">
            <a:avLst/>
          </a:prstGeom>
          <a:noFill/>
          <a:ln/>
        </p:spPr>
        <p:txBody>
          <a:bodyPr wrap="square" rtlCol="0" anchor="ctr"/>
          <a:lstStyle/>
          <a:p>
            <a:pPr algn="l" indent="0" marL="0">
              <a:lnSpc>
                <a:spcPts val="1087"/>
              </a:lnSpc>
              <a:buNone/>
            </a:pPr>
            <a:r>
              <a:rPr lang="en-US" sz="836" dirty="0">
                <a:solidFill>
                  <a:srgbClr val="2C2C2E">
                    <a:alpha val="99000"/>
                  </a:srgbClr>
                </a:solidFill>
                <a:latin typeface="IBM Plex Sans" pitchFamily="34" charset="0"/>
                <a:ea typeface="IBM Plex Sans" pitchFamily="34" charset="-122"/>
                <a:cs typeface="IBM Plex Sans" pitchFamily="34" charset="-120"/>
              </a:rPr>
              <a:t>Select preferred plan</a:t>
            </a:r>
            <a:endParaRPr lang="en-US" sz="836" dirty="0"/>
          </a:p>
        </p:txBody>
      </p:sp>
      <p:sp>
        <p:nvSpPr>
          <p:cNvPr id="34" name="Text 26"/>
          <p:cNvSpPr/>
          <p:nvPr/>
        </p:nvSpPr>
        <p:spPr>
          <a:xfrm>
            <a:off x="5659636" y="3740573"/>
            <a:ext cx="1605557" cy="139396"/>
          </a:xfrm>
          <a:prstGeom prst="rect">
            <a:avLst/>
          </a:prstGeom>
          <a:noFill/>
          <a:ln/>
        </p:spPr>
        <p:txBody>
          <a:bodyPr wrap="square" rtlCol="0" anchor="ctr"/>
          <a:lstStyle/>
          <a:p>
            <a:pPr algn="l" indent="0" marL="0">
              <a:lnSpc>
                <a:spcPts val="1087"/>
              </a:lnSpc>
              <a:buNone/>
            </a:pPr>
            <a:r>
              <a:rPr lang="en-US" sz="836" dirty="0">
                <a:solidFill>
                  <a:srgbClr val="2C2C2E">
                    <a:alpha val="99000"/>
                  </a:srgbClr>
                </a:solidFill>
                <a:latin typeface="IBM Plex Sans" pitchFamily="34" charset="0"/>
                <a:ea typeface="IBM Plex Sans" pitchFamily="34" charset="-122"/>
                <a:cs typeface="IBM Plex Sans" pitchFamily="34" charset="-120"/>
              </a:rPr>
              <a:t>Stripe integration</a:t>
            </a:r>
            <a:endParaRPr lang="en-US" sz="836" dirty="0"/>
          </a:p>
        </p:txBody>
      </p:sp>
      <p:sp>
        <p:nvSpPr>
          <p:cNvPr id="35" name="Text 27"/>
          <p:cNvSpPr/>
          <p:nvPr/>
        </p:nvSpPr>
        <p:spPr>
          <a:xfrm>
            <a:off x="4829054" y="1409381"/>
            <a:ext cx="1605557" cy="139396"/>
          </a:xfrm>
          <a:prstGeom prst="rect">
            <a:avLst/>
          </a:prstGeom>
          <a:noFill/>
          <a:ln/>
        </p:spPr>
        <p:txBody>
          <a:bodyPr wrap="square" rtlCol="0" anchor="ctr"/>
          <a:lstStyle/>
          <a:p>
            <a:pPr algn="l" indent="0" marL="0">
              <a:lnSpc>
                <a:spcPts val="1087"/>
              </a:lnSpc>
              <a:buNone/>
            </a:pPr>
            <a:r>
              <a:rPr lang="en-US" sz="836" dirty="0">
                <a:solidFill>
                  <a:srgbClr val="2C2C2E">
                    <a:alpha val="99000"/>
                  </a:srgbClr>
                </a:solidFill>
                <a:latin typeface="IBM Plex Sans" pitchFamily="34" charset="0"/>
                <a:ea typeface="IBM Plex Sans" pitchFamily="34" charset="-122"/>
                <a:cs typeface="IBM Plex Sans" pitchFamily="34" charset="-120"/>
              </a:rPr>
              <a:t>Signup via email</a:t>
            </a:r>
            <a:endParaRPr lang="en-US" sz="836"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DE8D8"/>
        </a:solidFill>
      </p:bgPr>
    </p:bg>
    <p:spTree>
      <p:nvGrpSpPr>
        <p:cNvPr id="1" name=""/>
        <p:cNvGrpSpPr/>
        <p:nvPr/>
      </p:nvGrpSpPr>
      <p:grpSpPr>
        <a:xfrm>
          <a:off x="0" y="0"/>
          <a:ext cx="0" cy="0"/>
          <a:chOff x="0" y="0"/>
          <a:chExt cx="0" cy="0"/>
        </a:xfrm>
      </p:grpSpPr>
      <p:sp>
        <p:nvSpPr>
          <p:cNvPr id="3" name="Shape 0"/>
          <p:cNvSpPr/>
          <p:nvPr/>
        </p:nvSpPr>
        <p:spPr>
          <a:xfrm>
            <a:off x="804863" y="2171700"/>
            <a:ext cx="2366963" cy="1257300"/>
          </a:xfrm>
          <a:prstGeom prst="rect">
            <a:avLst/>
          </a:prstGeom>
          <a:noFill/>
          <a:ln/>
        </p:spPr>
      </p:sp>
      <p:pic>
        <p:nvPicPr>
          <p:cNvPr id="4" name="Image 0" descr="preencoded.png">    </p:cNvPr>
          <p:cNvPicPr>
            <a:picLocks noChangeAspect="1"/>
          </p:cNvPicPr>
          <p:nvPr/>
        </p:nvPicPr>
        <p:blipFill>
          <a:blip r:embed="rId1"/>
          <a:stretch>
            <a:fillRect/>
          </a:stretch>
        </p:blipFill>
        <p:spPr>
          <a:xfrm>
            <a:off x="90488" y="247650"/>
            <a:ext cx="8963025" cy="4814888"/>
          </a:xfrm>
          <a:prstGeom prst="rect">
            <a:avLst/>
          </a:prstGeom>
        </p:spPr>
      </p:pic>
      <p:pic>
        <p:nvPicPr>
          <p:cNvPr id="5" name="Image 1" descr="preencoded.png">    </p:cNvPr>
          <p:cNvPicPr>
            <a:picLocks noChangeAspect="1"/>
          </p:cNvPicPr>
          <p:nvPr/>
        </p:nvPicPr>
        <p:blipFill>
          <a:blip r:embed="rId2"/>
          <a:stretch>
            <a:fillRect/>
          </a:stretch>
        </p:blipFill>
        <p:spPr>
          <a:xfrm>
            <a:off x="3306840" y="642938"/>
            <a:ext cx="5644707" cy="3986213"/>
          </a:xfrm>
          <a:prstGeom prst="rect">
            <a:avLst/>
          </a:prstGeom>
        </p:spPr>
      </p:pic>
      <p:sp>
        <p:nvSpPr>
          <p:cNvPr id="6" name="Text 1"/>
          <p:cNvSpPr/>
          <p:nvPr/>
        </p:nvSpPr>
        <p:spPr>
          <a:xfrm>
            <a:off x="90488" y="76200"/>
            <a:ext cx="1171575"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7" name="Text 2"/>
          <p:cNvSpPr/>
          <p:nvPr/>
        </p:nvSpPr>
        <p:spPr>
          <a:xfrm>
            <a:off x="1300163" y="76200"/>
            <a:ext cx="1643063"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SEMINAR PROPOSAL</a:t>
            </a:r>
            <a:endParaRPr lang="en-US" sz="825" dirty="0"/>
          </a:p>
        </p:txBody>
      </p:sp>
      <p:sp>
        <p:nvSpPr>
          <p:cNvPr id="8" name="Text 3"/>
          <p:cNvSpPr/>
          <p:nvPr/>
        </p:nvSpPr>
        <p:spPr>
          <a:xfrm>
            <a:off x="7529513" y="76200"/>
            <a:ext cx="1981200" cy="114300"/>
          </a:xfrm>
          <a:prstGeom prst="rect">
            <a:avLst/>
          </a:prstGeom>
          <a:noFill/>
          <a:ln/>
        </p:spPr>
        <p:txBody>
          <a:bodyPr wrap="square" rtlCol="0" anchor="ctr"/>
          <a:lstStyle/>
          <a:p>
            <a:pPr algn="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UNIVERSITAS SYIAH KUALA</a:t>
            </a:r>
            <a:endParaRPr lang="en-US" sz="825" dirty="0"/>
          </a:p>
        </p:txBody>
      </p:sp>
      <p:sp>
        <p:nvSpPr>
          <p:cNvPr id="9" name="Text 4"/>
          <p:cNvSpPr/>
          <p:nvPr/>
        </p:nvSpPr>
        <p:spPr>
          <a:xfrm>
            <a:off x="804863" y="2171700"/>
            <a:ext cx="2824163"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Perancangan Sistem</a:t>
            </a:r>
            <a:endParaRPr lang="en-US" sz="1500" dirty="0"/>
          </a:p>
        </p:txBody>
      </p:sp>
      <p:sp>
        <p:nvSpPr>
          <p:cNvPr id="10" name="Text 5"/>
          <p:cNvSpPr/>
          <p:nvPr/>
        </p:nvSpPr>
        <p:spPr>
          <a:xfrm>
            <a:off x="804863" y="2571750"/>
            <a:ext cx="2824163" cy="857250"/>
          </a:xfrm>
          <a:prstGeom prst="rect">
            <a:avLst/>
          </a:prstGeom>
          <a:noFill/>
          <a:ln/>
        </p:spPr>
        <p:txBody>
          <a:bodyPr wrap="square" rtlCol="0" anchor="ctr"/>
          <a:lstStyle/>
          <a:p>
            <a:pPr algn="l" indent="0" marL="0">
              <a:lnSpc>
                <a:spcPts val="1350"/>
              </a:lnSpc>
              <a:buNone/>
            </a:pPr>
            <a:r>
              <a:rPr lang="en-US" sz="900" spc="-20" kern="0" dirty="0">
                <a:solidFill>
                  <a:srgbClr val="000000">
                    <a:alpha val="99000"/>
                  </a:srgbClr>
                </a:solidFill>
                <a:latin typeface="Plus Jakarta Sans" pitchFamily="34" charset="0"/>
                <a:ea typeface="Plus Jakarta Sans" pitchFamily="34" charset="-122"/>
                <a:cs typeface="Plus Jakarta Sans" pitchFamily="34" charset="-120"/>
              </a:rPr>
              <a:t>merancang arsitektur awal sistem, meliputi : </a:t>
            </a:r>
            <a:endParaRPr lang="en-US" sz="900" dirty="0"/>
          </a:p>
          <a:p>
            <a:pPr algn="l" marL="342900" indent="-342900">
              <a:lnSpc>
                <a:spcPts val="1350"/>
              </a:lnSpc>
              <a:buSzPct val="100000"/>
              <a:buChar char="•"/>
            </a:pPr>
            <a:r>
              <a:rPr lang="en-US" sz="900" spc="-20" kern="0" dirty="0">
                <a:solidFill>
                  <a:srgbClr val="000000">
                    <a:alpha val="99000"/>
                  </a:srgbClr>
                </a:solidFill>
                <a:latin typeface="Plus Jakarta Sans" pitchFamily="34" charset="0"/>
                <a:ea typeface="Plus Jakarta Sans" pitchFamily="34" charset="-122"/>
                <a:cs typeface="Plus Jakarta Sans" pitchFamily="34" charset="-120"/>
              </a:rPr>
              <a:t>Sistem Flowchart</a:t>
            </a:r>
            <a:endParaRPr lang="en-US" sz="900" dirty="0"/>
          </a:p>
          <a:p>
            <a:pPr algn="l" marL="342900" indent="-342900">
              <a:lnSpc>
                <a:spcPts val="1350"/>
              </a:lnSpc>
              <a:buSzPct val="100000"/>
              <a:buChar char="•"/>
            </a:pPr>
            <a:r>
              <a:rPr lang="en-US" sz="900" spc="-20" kern="0" dirty="0">
                <a:solidFill>
                  <a:srgbClr val="000000">
                    <a:alpha val="99000"/>
                  </a:srgbClr>
                </a:solidFill>
                <a:latin typeface="Plus Jakarta Sans" pitchFamily="34" charset="0"/>
                <a:ea typeface="Plus Jakarta Sans" pitchFamily="34" charset="-122"/>
                <a:cs typeface="Plus Jakarta Sans" pitchFamily="34" charset="-120"/>
              </a:rPr>
              <a:t>Frontend</a:t>
            </a:r>
            <a:endParaRPr lang="en-US" sz="900" dirty="0"/>
          </a:p>
          <a:p>
            <a:pPr algn="l" marL="342900" indent="-342900">
              <a:lnSpc>
                <a:spcPts val="1350"/>
              </a:lnSpc>
              <a:buSzPct val="100000"/>
              <a:buChar char="•"/>
            </a:pPr>
            <a:r>
              <a:rPr lang="en-US" sz="900" spc="-20" kern="0" dirty="0">
                <a:solidFill>
                  <a:srgbClr val="000000">
                    <a:alpha val="99000"/>
                  </a:srgbClr>
                </a:solidFill>
                <a:latin typeface="Plus Jakarta Sans" pitchFamily="34" charset="0"/>
                <a:ea typeface="Plus Jakarta Sans" pitchFamily="34" charset="-122"/>
                <a:cs typeface="Plus Jakarta Sans" pitchFamily="34" charset="-120"/>
              </a:rPr>
              <a:t>Backend</a:t>
            </a:r>
            <a:endParaRPr lang="en-US" sz="900" dirty="0"/>
          </a:p>
          <a:p>
            <a:pPr algn="l" marL="342900" indent="-342900">
              <a:lnSpc>
                <a:spcPts val="1350"/>
              </a:lnSpc>
              <a:buSzPct val="100000"/>
              <a:buChar char="•"/>
            </a:pPr>
            <a:r>
              <a:rPr lang="en-US" sz="900" spc="-20" kern="0" dirty="0">
                <a:solidFill>
                  <a:srgbClr val="000000">
                    <a:alpha val="99000"/>
                  </a:srgbClr>
                </a:solidFill>
                <a:latin typeface="Plus Jakarta Sans" pitchFamily="34" charset="0"/>
                <a:ea typeface="Plus Jakarta Sans" pitchFamily="34" charset="-122"/>
                <a:cs typeface="Plus Jakarta Sans" pitchFamily="34" charset="-120"/>
              </a:rPr>
              <a:t>Skema AnalisiS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DE8D8"/>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000000"/>
            </a:solidFill>
            <a:prstDash val="solid"/>
          </a:ln>
        </p:spPr>
      </p:sp>
      <p:sp>
        <p:nvSpPr>
          <p:cNvPr id="3" name="Shape 1"/>
          <p:cNvSpPr/>
          <p:nvPr/>
        </p:nvSpPr>
        <p:spPr>
          <a:xfrm>
            <a:off x="0" y="971550"/>
            <a:ext cx="9144000" cy="0"/>
          </a:xfrm>
          <a:prstGeom prst="line">
            <a:avLst/>
          </a:prstGeom>
          <a:noFill/>
          <a:ln w="12700">
            <a:solidFill>
              <a:srgbClr val="000000"/>
            </a:solidFill>
            <a:prstDash val="solid"/>
          </a:ln>
        </p:spPr>
      </p:sp>
      <p:sp>
        <p:nvSpPr>
          <p:cNvPr id="4" name="Shape 2"/>
          <p:cNvSpPr/>
          <p:nvPr/>
        </p:nvSpPr>
        <p:spPr>
          <a:xfrm rot="-5400000">
            <a:off x="2486025" y="3057525"/>
            <a:ext cx="4171950" cy="0"/>
          </a:xfrm>
          <a:prstGeom prst="line">
            <a:avLst/>
          </a:prstGeom>
          <a:noFill/>
          <a:ln w="12700">
            <a:solidFill>
              <a:srgbClr val="000000"/>
            </a:solidFill>
            <a:prstDash val="solid"/>
          </a:ln>
        </p:spPr>
      </p:sp>
      <p:pic>
        <p:nvPicPr>
          <p:cNvPr id="5" name="Image 0" descr="preencoded.png">    </p:cNvPr>
          <p:cNvPicPr>
            <a:picLocks noChangeAspect="1"/>
          </p:cNvPicPr>
          <p:nvPr/>
        </p:nvPicPr>
        <p:blipFill>
          <a:blip r:embed="rId1"/>
          <a:stretch>
            <a:fillRect/>
          </a:stretch>
        </p:blipFill>
        <p:spPr>
          <a:xfrm>
            <a:off x="647700" y="1119188"/>
            <a:ext cx="3117782" cy="1800225"/>
          </a:xfrm>
          <a:prstGeom prst="rect">
            <a:avLst/>
          </a:prstGeom>
        </p:spPr>
      </p:pic>
      <p:pic>
        <p:nvPicPr>
          <p:cNvPr id="6" name="Image 1" descr="preencoded.png">    </p:cNvPr>
          <p:cNvPicPr>
            <a:picLocks noChangeAspect="1"/>
          </p:cNvPicPr>
          <p:nvPr/>
        </p:nvPicPr>
        <p:blipFill>
          <a:blip r:embed="rId2"/>
          <a:stretch>
            <a:fillRect/>
          </a:stretch>
        </p:blipFill>
        <p:spPr>
          <a:xfrm>
            <a:off x="647700" y="3005138"/>
            <a:ext cx="3105150" cy="2083038"/>
          </a:xfrm>
          <a:prstGeom prst="rect">
            <a:avLst/>
          </a:prstGeom>
        </p:spPr>
      </p:pic>
      <p:pic>
        <p:nvPicPr>
          <p:cNvPr id="7" name="Image 2" descr="preencoded.png">    </p:cNvPr>
          <p:cNvPicPr>
            <a:picLocks noChangeAspect="1"/>
          </p:cNvPicPr>
          <p:nvPr/>
        </p:nvPicPr>
        <p:blipFill>
          <a:blip r:embed="rId3"/>
          <a:stretch>
            <a:fillRect/>
          </a:stretch>
        </p:blipFill>
        <p:spPr>
          <a:xfrm>
            <a:off x="5391150" y="1114425"/>
            <a:ext cx="3286720" cy="1853819"/>
          </a:xfrm>
          <a:prstGeom prst="rect">
            <a:avLst/>
          </a:prstGeom>
        </p:spPr>
      </p:pic>
      <p:pic>
        <p:nvPicPr>
          <p:cNvPr id="8" name="Image 3" descr="preencoded.png">    </p:cNvPr>
          <p:cNvPicPr>
            <a:picLocks noChangeAspect="1"/>
          </p:cNvPicPr>
          <p:nvPr/>
        </p:nvPicPr>
        <p:blipFill>
          <a:blip r:embed="rId4"/>
          <a:stretch>
            <a:fillRect/>
          </a:stretch>
        </p:blipFill>
        <p:spPr>
          <a:xfrm>
            <a:off x="5391150" y="3057525"/>
            <a:ext cx="3286125" cy="1852221"/>
          </a:xfrm>
          <a:prstGeom prst="rect">
            <a:avLst/>
          </a:prstGeom>
        </p:spPr>
      </p:pic>
      <p:sp>
        <p:nvSpPr>
          <p:cNvPr id="9" name="Text 3"/>
          <p:cNvSpPr/>
          <p:nvPr/>
        </p:nvSpPr>
        <p:spPr>
          <a:xfrm>
            <a:off x="285750" y="366713"/>
            <a:ext cx="9029700" cy="457200"/>
          </a:xfrm>
          <a:prstGeom prst="rect">
            <a:avLst/>
          </a:prstGeom>
          <a:noFill/>
          <a:ln/>
        </p:spPr>
        <p:txBody>
          <a:bodyPr wrap="square" rtlCol="0" anchor="ctr"/>
          <a:lstStyle/>
          <a:p>
            <a:pPr algn="ctr" indent="0" marL="0">
              <a:lnSpc>
                <a:spcPts val="3600"/>
              </a:lnSpc>
              <a:buNone/>
            </a:pPr>
            <a:r>
              <a:rPr lang="en-US" sz="2813" dirty="0">
                <a:solidFill>
                  <a:srgbClr val="000000">
                    <a:alpha val="99000"/>
                  </a:srgbClr>
                </a:solidFill>
                <a:latin typeface="Lora" pitchFamily="34" charset="0"/>
                <a:ea typeface="Lora" pitchFamily="34" charset="-122"/>
                <a:cs typeface="Lora" pitchFamily="34" charset="-120"/>
              </a:rPr>
              <a:t>UI CONCEPT</a:t>
            </a:r>
            <a:endParaRPr lang="en-US" sz="2813" dirty="0"/>
          </a:p>
        </p:txBody>
      </p:sp>
      <p:sp>
        <p:nvSpPr>
          <p:cNvPr id="10" name="Text 4"/>
          <p:cNvSpPr/>
          <p:nvPr/>
        </p:nvSpPr>
        <p:spPr>
          <a:xfrm>
            <a:off x="90488" y="76200"/>
            <a:ext cx="1171575"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11" name="Text 5"/>
          <p:cNvSpPr/>
          <p:nvPr/>
        </p:nvSpPr>
        <p:spPr>
          <a:xfrm>
            <a:off x="1300163" y="76200"/>
            <a:ext cx="1643063"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SEMINAR PROPOSAL</a:t>
            </a:r>
            <a:endParaRPr lang="en-US" sz="825" dirty="0"/>
          </a:p>
        </p:txBody>
      </p:sp>
      <p:sp>
        <p:nvSpPr>
          <p:cNvPr id="12" name="Text 6"/>
          <p:cNvSpPr/>
          <p:nvPr/>
        </p:nvSpPr>
        <p:spPr>
          <a:xfrm>
            <a:off x="7529513" y="76200"/>
            <a:ext cx="1981200" cy="114300"/>
          </a:xfrm>
          <a:prstGeom prst="rect">
            <a:avLst/>
          </a:prstGeom>
          <a:noFill/>
          <a:ln/>
        </p:spPr>
        <p:txBody>
          <a:bodyPr wrap="square" rtlCol="0" anchor="ctr"/>
          <a:lstStyle/>
          <a:p>
            <a:pPr algn="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UNIVERSITAS SYIAH KUALA</a:t>
            </a:r>
            <a:endParaRPr lang="en-US" sz="82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DE8D8"/>
        </a:solidFill>
      </p:bgPr>
    </p:bg>
    <p:spTree>
      <p:nvGrpSpPr>
        <p:cNvPr id="1" name=""/>
        <p:cNvGrpSpPr/>
        <p:nvPr/>
      </p:nvGrpSpPr>
      <p:grpSpPr>
        <a:xfrm>
          <a:off x="0" y="0"/>
          <a:ext cx="0" cy="0"/>
          <a:chOff x="0" y="0"/>
          <a:chExt cx="0" cy="0"/>
        </a:xfrm>
      </p:grpSpPr>
      <p:sp>
        <p:nvSpPr>
          <p:cNvPr id="3" name="Shape 0"/>
          <p:cNvSpPr/>
          <p:nvPr/>
        </p:nvSpPr>
        <p:spPr>
          <a:xfrm>
            <a:off x="885825" y="2202656"/>
            <a:ext cx="2509838" cy="742950"/>
          </a:xfrm>
          <a:prstGeom prst="rect">
            <a:avLst/>
          </a:prstGeom>
          <a:noFill/>
          <a:ln/>
        </p:spPr>
      </p:sp>
      <p:pic>
        <p:nvPicPr>
          <p:cNvPr id="4" name="Image 0" descr="preencoded.png">    </p:cNvPr>
          <p:cNvPicPr>
            <a:picLocks noChangeAspect="1"/>
          </p:cNvPicPr>
          <p:nvPr/>
        </p:nvPicPr>
        <p:blipFill>
          <a:blip r:embed="rId1"/>
          <a:stretch>
            <a:fillRect/>
          </a:stretch>
        </p:blipFill>
        <p:spPr>
          <a:xfrm>
            <a:off x="90488" y="247650"/>
            <a:ext cx="8963025" cy="4814888"/>
          </a:xfrm>
          <a:prstGeom prst="rect">
            <a:avLst/>
          </a:prstGeom>
        </p:spPr>
      </p:pic>
      <p:pic>
        <p:nvPicPr>
          <p:cNvPr id="5" name="Image 1" descr="preencoded.png">    </p:cNvPr>
          <p:cNvPicPr>
            <a:picLocks noChangeAspect="1"/>
          </p:cNvPicPr>
          <p:nvPr/>
        </p:nvPicPr>
        <p:blipFill>
          <a:blip r:embed="rId2"/>
          <a:stretch>
            <a:fillRect/>
          </a:stretch>
        </p:blipFill>
        <p:spPr>
          <a:xfrm>
            <a:off x="4300538" y="1543050"/>
            <a:ext cx="4943475" cy="2600325"/>
          </a:xfrm>
          <a:prstGeom prst="rect">
            <a:avLst/>
          </a:prstGeom>
        </p:spPr>
      </p:pic>
      <p:sp>
        <p:nvSpPr>
          <p:cNvPr id="6" name="Text 1"/>
          <p:cNvSpPr/>
          <p:nvPr/>
        </p:nvSpPr>
        <p:spPr>
          <a:xfrm>
            <a:off x="90488" y="76200"/>
            <a:ext cx="1171575"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7" name="Text 2"/>
          <p:cNvSpPr/>
          <p:nvPr/>
        </p:nvSpPr>
        <p:spPr>
          <a:xfrm>
            <a:off x="1300163" y="76200"/>
            <a:ext cx="1643063"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SEMINAR PROPOSAL</a:t>
            </a:r>
            <a:endParaRPr lang="en-US" sz="825" dirty="0"/>
          </a:p>
        </p:txBody>
      </p:sp>
      <p:sp>
        <p:nvSpPr>
          <p:cNvPr id="8" name="Text 3"/>
          <p:cNvSpPr/>
          <p:nvPr/>
        </p:nvSpPr>
        <p:spPr>
          <a:xfrm>
            <a:off x="7529513" y="76200"/>
            <a:ext cx="1981200" cy="114300"/>
          </a:xfrm>
          <a:prstGeom prst="rect">
            <a:avLst/>
          </a:prstGeom>
          <a:noFill/>
          <a:ln/>
        </p:spPr>
        <p:txBody>
          <a:bodyPr wrap="square" rtlCol="0" anchor="ctr"/>
          <a:lstStyle/>
          <a:p>
            <a:pPr algn="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UNIVERSITAS SYIAH KUALA</a:t>
            </a:r>
            <a:endParaRPr lang="en-US" sz="825" dirty="0"/>
          </a:p>
        </p:txBody>
      </p:sp>
      <p:sp>
        <p:nvSpPr>
          <p:cNvPr id="9" name="Text 4"/>
          <p:cNvSpPr/>
          <p:nvPr/>
        </p:nvSpPr>
        <p:spPr>
          <a:xfrm>
            <a:off x="885825" y="2202656"/>
            <a:ext cx="2824163"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Implementasi</a:t>
            </a:r>
            <a:endParaRPr lang="en-US" sz="1500" dirty="0"/>
          </a:p>
        </p:txBody>
      </p:sp>
      <p:sp>
        <p:nvSpPr>
          <p:cNvPr id="10" name="Text 5"/>
          <p:cNvSpPr/>
          <p:nvPr/>
        </p:nvSpPr>
        <p:spPr>
          <a:xfrm>
            <a:off x="885825" y="2602706"/>
            <a:ext cx="2967038" cy="342900"/>
          </a:xfrm>
          <a:prstGeom prst="rect">
            <a:avLst/>
          </a:prstGeom>
          <a:noFill/>
          <a:ln/>
        </p:spPr>
        <p:txBody>
          <a:bodyPr wrap="square" rtlCol="0" anchor="ctr"/>
          <a:lstStyle/>
          <a:p>
            <a:pPr algn="l" indent="0" marL="0">
              <a:lnSpc>
                <a:spcPts val="1350"/>
              </a:lnSpc>
              <a:buNone/>
            </a:pPr>
            <a:r>
              <a:rPr lang="en-US" sz="900" spc="-20" kern="0" dirty="0">
                <a:solidFill>
                  <a:srgbClr val="000000">
                    <a:alpha val="99000"/>
                  </a:srgbClr>
                </a:solidFill>
                <a:latin typeface="Plus Jakarta Sans" pitchFamily="34" charset="0"/>
                <a:ea typeface="Plus Jakarta Sans" pitchFamily="34" charset="-122"/>
                <a:cs typeface="Plus Jakarta Sans" pitchFamily="34" charset="-120"/>
              </a:rPr>
              <a:t>Didasarkan pada kebutuhan  hasil perancangan sistem.  Pengembangan mengikuti metode Agile </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DE8D8"/>
        </a:solidFill>
      </p:bgPr>
    </p:bg>
    <p:spTree>
      <p:nvGrpSpPr>
        <p:cNvPr id="1" name=""/>
        <p:cNvGrpSpPr/>
        <p:nvPr/>
      </p:nvGrpSpPr>
      <p:grpSpPr>
        <a:xfrm>
          <a:off x="0" y="0"/>
          <a:ext cx="0" cy="0"/>
          <a:chOff x="0" y="0"/>
          <a:chExt cx="0" cy="0"/>
        </a:xfrm>
      </p:grpSpPr>
      <p:sp>
        <p:nvSpPr>
          <p:cNvPr id="3" name="Shape 0"/>
          <p:cNvSpPr/>
          <p:nvPr/>
        </p:nvSpPr>
        <p:spPr>
          <a:xfrm>
            <a:off x="885825" y="2012156"/>
            <a:ext cx="2852738" cy="1123950"/>
          </a:xfrm>
          <a:prstGeom prst="rect">
            <a:avLst/>
          </a:prstGeom>
          <a:noFill/>
          <a:ln/>
        </p:spPr>
      </p:sp>
      <p:sp>
        <p:nvSpPr>
          <p:cNvPr id="4" name="Shape 1"/>
          <p:cNvSpPr/>
          <p:nvPr/>
        </p:nvSpPr>
        <p:spPr>
          <a:xfrm rot="-4497281">
            <a:off x="5528238" y="1236702"/>
            <a:ext cx="2153934" cy="2093138"/>
          </a:xfrm>
          <a:prstGeom prst="ellipse">
            <a:avLst/>
          </a:prstGeom>
          <a:solidFill>
            <a:srgbClr val="61B1ED"/>
          </a:solidFill>
          <a:ln w="107467">
            <a:solidFill>
              <a:srgbClr val="6F07F4"/>
            </a:solidFill>
            <a:prstDash val="solid"/>
          </a:ln>
        </p:spPr>
      </p:sp>
      <p:sp>
        <p:nvSpPr>
          <p:cNvPr id="5" name="Shape 2"/>
          <p:cNvSpPr/>
          <p:nvPr/>
        </p:nvSpPr>
        <p:spPr>
          <a:xfrm rot="-4497281">
            <a:off x="5676888" y="1362594"/>
            <a:ext cx="1849951" cy="1832581"/>
          </a:xfrm>
          <a:prstGeom prst="ellipse">
            <a:avLst/>
          </a:prstGeom>
          <a:solidFill>
            <a:srgbClr val="D2ECFF"/>
          </a:solidFill>
          <a:ln w="107467">
            <a:solidFill>
              <a:srgbClr val="6F07F4"/>
            </a:solidFill>
            <a:prstDash val="solid"/>
          </a:ln>
        </p:spPr>
      </p:sp>
      <p:sp>
        <p:nvSpPr>
          <p:cNvPr id="6" name="Shape 3"/>
          <p:cNvSpPr/>
          <p:nvPr/>
        </p:nvSpPr>
        <p:spPr>
          <a:xfrm rot="-1703907">
            <a:off x="5547297" y="2171907"/>
            <a:ext cx="920633" cy="469002"/>
          </a:xfrm>
          <a:prstGeom prst="roundRect">
            <a:avLst/>
          </a:prstGeom>
          <a:solidFill>
            <a:srgbClr val="FFFFFF"/>
          </a:solidFill>
          <a:ln w="107467">
            <a:solidFill>
              <a:srgbClr val="6F07F4"/>
            </a:solidFill>
            <a:prstDash val="solid"/>
          </a:ln>
        </p:spPr>
      </p:sp>
      <p:sp>
        <p:nvSpPr>
          <p:cNvPr id="7" name="Shape 4"/>
          <p:cNvSpPr/>
          <p:nvPr/>
        </p:nvSpPr>
        <p:spPr>
          <a:xfrm rot="1160360">
            <a:off x="5827061" y="2802873"/>
            <a:ext cx="503743" cy="503743"/>
          </a:xfrm>
          <a:prstGeom prst="ellipse">
            <a:avLst/>
          </a:prstGeom>
          <a:solidFill>
            <a:srgbClr val="FF004A"/>
          </a:solidFill>
          <a:ln w="107467">
            <a:solidFill>
              <a:srgbClr val="6F07F4"/>
            </a:solidFill>
            <a:prstDash val="solid"/>
          </a:ln>
        </p:spPr>
      </p:sp>
      <p:sp>
        <p:nvSpPr>
          <p:cNvPr id="8" name="Shape 5"/>
          <p:cNvSpPr/>
          <p:nvPr/>
        </p:nvSpPr>
        <p:spPr>
          <a:xfrm>
            <a:off x="6254772" y="1386726"/>
            <a:ext cx="668762" cy="668762"/>
          </a:xfrm>
          <a:prstGeom prst="ellipse">
            <a:avLst/>
          </a:prstGeom>
          <a:solidFill>
            <a:srgbClr val="FF004A"/>
          </a:solidFill>
          <a:ln w="107467">
            <a:solidFill>
              <a:srgbClr val="6F07F4"/>
            </a:solidFill>
            <a:prstDash val="solid"/>
          </a:ln>
        </p:spPr>
      </p:sp>
      <p:sp>
        <p:nvSpPr>
          <p:cNvPr id="9" name="Shape 6"/>
          <p:cNvSpPr/>
          <p:nvPr/>
        </p:nvSpPr>
        <p:spPr>
          <a:xfrm>
            <a:off x="6474883" y="1546519"/>
            <a:ext cx="303983" cy="303983"/>
          </a:xfrm>
          <a:prstGeom prst="ellipse">
            <a:avLst/>
          </a:prstGeom>
          <a:solidFill>
            <a:srgbClr val="FFD2E6"/>
          </a:solidFill>
          <a:ln w="107467">
            <a:solidFill>
              <a:srgbClr val="6F07F4"/>
            </a:solidFill>
            <a:prstDash val="solid"/>
          </a:ln>
        </p:spPr>
      </p:sp>
      <p:pic>
        <p:nvPicPr>
          <p:cNvPr id="10" name="Image 0" descr="preencoded.png">    </p:cNvPr>
          <p:cNvPicPr>
            <a:picLocks noChangeAspect="1"/>
          </p:cNvPicPr>
          <p:nvPr/>
        </p:nvPicPr>
        <p:blipFill>
          <a:blip r:embed="rId1"/>
          <a:stretch>
            <a:fillRect/>
          </a:stretch>
        </p:blipFill>
        <p:spPr>
          <a:xfrm>
            <a:off x="90488" y="247650"/>
            <a:ext cx="8963025" cy="4814888"/>
          </a:xfrm>
          <a:prstGeom prst="rect">
            <a:avLst/>
          </a:prstGeom>
        </p:spPr>
      </p:pic>
      <p:pic>
        <p:nvPicPr>
          <p:cNvPr id="11" name="Image 1" descr="preencoded.png">    </p:cNvPr>
          <p:cNvPicPr>
            <a:picLocks noChangeAspect="1"/>
          </p:cNvPicPr>
          <p:nvPr/>
        </p:nvPicPr>
        <p:blipFill>
          <a:blip r:embed="rId2"/>
          <a:stretch>
            <a:fillRect/>
          </a:stretch>
        </p:blipFill>
        <p:spPr>
          <a:xfrm>
            <a:off x="5763258" y="781050"/>
            <a:ext cx="2216767" cy="2108720"/>
          </a:xfrm>
          <a:prstGeom prst="rect">
            <a:avLst/>
          </a:prstGeom>
        </p:spPr>
      </p:pic>
      <p:pic>
        <p:nvPicPr>
          <p:cNvPr id="12" name="Image 2" descr="preencoded.png">    </p:cNvPr>
          <p:cNvPicPr>
            <a:picLocks noChangeAspect="1"/>
          </p:cNvPicPr>
          <p:nvPr/>
        </p:nvPicPr>
        <p:blipFill>
          <a:blip r:embed="rId3"/>
          <a:stretch>
            <a:fillRect/>
          </a:stretch>
        </p:blipFill>
        <p:spPr>
          <a:xfrm>
            <a:off x="6858967" y="2813551"/>
            <a:ext cx="942147" cy="1281686"/>
          </a:xfrm>
          <a:prstGeom prst="rect">
            <a:avLst/>
          </a:prstGeom>
        </p:spPr>
      </p:pic>
      <p:pic>
        <p:nvPicPr>
          <p:cNvPr id="13" name="Image 3" descr="preencoded.png">    </p:cNvPr>
          <p:cNvPicPr>
            <a:picLocks noChangeAspect="1"/>
          </p:cNvPicPr>
          <p:nvPr/>
        </p:nvPicPr>
        <p:blipFill>
          <a:blip r:embed="rId4"/>
          <a:stretch>
            <a:fillRect/>
          </a:stretch>
        </p:blipFill>
        <p:spPr>
          <a:xfrm>
            <a:off x="6131226" y="1529792"/>
            <a:ext cx="1285149" cy="1291947"/>
          </a:xfrm>
          <a:prstGeom prst="rect">
            <a:avLst/>
          </a:prstGeom>
        </p:spPr>
      </p:pic>
      <p:pic>
        <p:nvPicPr>
          <p:cNvPr id="14" name="Image 4" descr="preencoded.png">    </p:cNvPr>
          <p:cNvPicPr>
            <a:picLocks noChangeAspect="1"/>
          </p:cNvPicPr>
          <p:nvPr/>
        </p:nvPicPr>
        <p:blipFill>
          <a:blip r:embed="rId5"/>
          <a:stretch>
            <a:fillRect/>
          </a:stretch>
        </p:blipFill>
        <p:spPr>
          <a:xfrm>
            <a:off x="7759982" y="1597364"/>
            <a:ext cx="83046" cy="452462"/>
          </a:xfrm>
          <a:prstGeom prst="rect">
            <a:avLst/>
          </a:prstGeom>
        </p:spPr>
      </p:pic>
      <p:pic>
        <p:nvPicPr>
          <p:cNvPr id="15" name="Image 5" descr="preencoded.png">    </p:cNvPr>
          <p:cNvPicPr>
            <a:picLocks noChangeAspect="1"/>
          </p:cNvPicPr>
          <p:nvPr/>
        </p:nvPicPr>
        <p:blipFill>
          <a:blip r:embed="rId6"/>
          <a:stretch>
            <a:fillRect/>
          </a:stretch>
        </p:blipFill>
        <p:spPr>
          <a:xfrm>
            <a:off x="7914987" y="1586074"/>
            <a:ext cx="83046" cy="452462"/>
          </a:xfrm>
          <a:prstGeom prst="rect">
            <a:avLst/>
          </a:prstGeom>
        </p:spPr>
      </p:pic>
      <p:pic>
        <p:nvPicPr>
          <p:cNvPr id="16" name="Image 6" descr="preencoded.png">    </p:cNvPr>
          <p:cNvPicPr>
            <a:picLocks noChangeAspect="1"/>
          </p:cNvPicPr>
          <p:nvPr/>
        </p:nvPicPr>
        <p:blipFill>
          <a:blip r:embed="rId7"/>
          <a:stretch>
            <a:fillRect/>
          </a:stretch>
        </p:blipFill>
        <p:spPr>
          <a:xfrm>
            <a:off x="7663631" y="1848717"/>
            <a:ext cx="452465" cy="83045"/>
          </a:xfrm>
          <a:prstGeom prst="rect">
            <a:avLst/>
          </a:prstGeom>
        </p:spPr>
      </p:pic>
      <p:pic>
        <p:nvPicPr>
          <p:cNvPr id="17" name="Image 7" descr="preencoded.png">    </p:cNvPr>
          <p:cNvPicPr>
            <a:picLocks noChangeAspect="1"/>
          </p:cNvPicPr>
          <p:nvPr/>
        </p:nvPicPr>
        <p:blipFill>
          <a:blip r:embed="rId8"/>
          <a:stretch>
            <a:fillRect/>
          </a:stretch>
        </p:blipFill>
        <p:spPr>
          <a:xfrm>
            <a:off x="7652929" y="1702686"/>
            <a:ext cx="452521" cy="82483"/>
          </a:xfrm>
          <a:prstGeom prst="rect">
            <a:avLst/>
          </a:prstGeom>
        </p:spPr>
      </p:pic>
      <p:pic>
        <p:nvPicPr>
          <p:cNvPr id="18" name="Image 8" descr="preencoded.png">    </p:cNvPr>
          <p:cNvPicPr>
            <a:picLocks noChangeAspect="1"/>
          </p:cNvPicPr>
          <p:nvPr/>
        </p:nvPicPr>
        <p:blipFill>
          <a:blip r:embed="rId9"/>
          <a:stretch>
            <a:fillRect/>
          </a:stretch>
        </p:blipFill>
        <p:spPr>
          <a:xfrm>
            <a:off x="6323681" y="1740995"/>
            <a:ext cx="513104" cy="327361"/>
          </a:xfrm>
          <a:prstGeom prst="rect">
            <a:avLst/>
          </a:prstGeom>
        </p:spPr>
      </p:pic>
      <p:sp>
        <p:nvSpPr>
          <p:cNvPr id="19" name="Text 7"/>
          <p:cNvSpPr/>
          <p:nvPr/>
        </p:nvSpPr>
        <p:spPr>
          <a:xfrm>
            <a:off x="90488" y="76200"/>
            <a:ext cx="1171575"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20" name="Text 8"/>
          <p:cNvSpPr/>
          <p:nvPr/>
        </p:nvSpPr>
        <p:spPr>
          <a:xfrm>
            <a:off x="1300163" y="76200"/>
            <a:ext cx="1643063"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SEMINAR PROPOSAL</a:t>
            </a:r>
            <a:endParaRPr lang="en-US" sz="825" dirty="0"/>
          </a:p>
        </p:txBody>
      </p:sp>
      <p:sp>
        <p:nvSpPr>
          <p:cNvPr id="21" name="Text 9"/>
          <p:cNvSpPr/>
          <p:nvPr/>
        </p:nvSpPr>
        <p:spPr>
          <a:xfrm>
            <a:off x="7529513" y="76200"/>
            <a:ext cx="1981200" cy="114300"/>
          </a:xfrm>
          <a:prstGeom prst="rect">
            <a:avLst/>
          </a:prstGeom>
          <a:noFill/>
          <a:ln/>
        </p:spPr>
        <p:txBody>
          <a:bodyPr wrap="square" rtlCol="0" anchor="ctr"/>
          <a:lstStyle/>
          <a:p>
            <a:pPr algn="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UNIVERSITAS SYIAH KUALA</a:t>
            </a:r>
            <a:endParaRPr lang="en-US" sz="825" dirty="0"/>
          </a:p>
        </p:txBody>
      </p:sp>
      <p:sp>
        <p:nvSpPr>
          <p:cNvPr id="22" name="Text 10"/>
          <p:cNvSpPr/>
          <p:nvPr/>
        </p:nvSpPr>
        <p:spPr>
          <a:xfrm>
            <a:off x="6246344" y="2249965"/>
            <a:ext cx="1890060" cy="364337"/>
          </a:xfrm>
          <a:prstGeom prst="rect">
            <a:avLst/>
          </a:prstGeom>
          <a:noFill/>
          <a:ln/>
        </p:spPr>
        <p:txBody>
          <a:bodyPr wrap="square" rtlCol="0" anchor="ctr"/>
          <a:lstStyle/>
          <a:p>
            <a:pPr algn="ctr" indent="0" marL="0">
              <a:lnSpc>
                <a:spcPts val="2539"/>
              </a:lnSpc>
              <a:buNone/>
            </a:pPr>
            <a:r>
              <a:rPr lang="en-US" sz="2465" b="1" spc="-62" kern="0" dirty="0">
                <a:solidFill>
                  <a:srgbClr val="FFFFFF">
                    <a:alpha val="99000"/>
                  </a:srgbClr>
                </a:solidFill>
                <a:latin typeface="Roboto Mono" pitchFamily="34" charset="0"/>
                <a:ea typeface="Roboto Mono" pitchFamily="34" charset="-122"/>
                <a:cs typeface="Roboto Mono" pitchFamily="34" charset="-120"/>
              </a:rPr>
              <a:t>Log in</a:t>
            </a:r>
            <a:endParaRPr lang="en-US" sz="2465" dirty="0"/>
          </a:p>
        </p:txBody>
      </p:sp>
      <p:sp>
        <p:nvSpPr>
          <p:cNvPr id="23" name="Text 11"/>
          <p:cNvSpPr/>
          <p:nvPr/>
        </p:nvSpPr>
        <p:spPr>
          <a:xfrm>
            <a:off x="5622529" y="2319709"/>
            <a:ext cx="1221499" cy="165019"/>
          </a:xfrm>
          <a:prstGeom prst="rect">
            <a:avLst/>
          </a:prstGeom>
          <a:noFill/>
          <a:ln/>
        </p:spPr>
        <p:txBody>
          <a:bodyPr wrap="square" rtlCol="0" anchor="ctr"/>
          <a:lstStyle/>
          <a:p>
            <a:pPr algn="ctr" indent="0" marL="0">
              <a:lnSpc>
                <a:spcPts val="2539"/>
              </a:lnSpc>
              <a:buNone/>
            </a:pPr>
            <a:r>
              <a:rPr lang="en-US" sz="2856" b="1" dirty="0">
                <a:solidFill>
                  <a:srgbClr val="6F07F4">
                    <a:alpha val="99000"/>
                  </a:srgbClr>
                </a:solidFill>
                <a:latin typeface="Roboto Serif" pitchFamily="34" charset="0"/>
                <a:ea typeface="Roboto Serif" pitchFamily="34" charset="-122"/>
                <a:cs typeface="Roboto Serif" pitchFamily="34" charset="-120"/>
              </a:rPr>
              <a:t>****</a:t>
            </a:r>
            <a:endParaRPr lang="en-US" sz="2856" dirty="0"/>
          </a:p>
        </p:txBody>
      </p:sp>
      <p:sp>
        <p:nvSpPr>
          <p:cNvPr id="24" name="Text 12"/>
          <p:cNvSpPr/>
          <p:nvPr/>
        </p:nvSpPr>
        <p:spPr>
          <a:xfrm>
            <a:off x="5861788" y="2878354"/>
            <a:ext cx="891461" cy="356094"/>
          </a:xfrm>
          <a:prstGeom prst="rect">
            <a:avLst/>
          </a:prstGeom>
          <a:noFill/>
          <a:ln/>
        </p:spPr>
        <p:txBody>
          <a:bodyPr wrap="square" rtlCol="0" anchor="ctr"/>
          <a:lstStyle/>
          <a:p>
            <a:pPr algn="ctr" indent="0" marL="0">
              <a:lnSpc>
                <a:spcPts val="2539"/>
              </a:lnSpc>
              <a:buNone/>
            </a:pPr>
            <a:r>
              <a:rPr lang="en-US" sz="2539" b="1" dirty="0">
                <a:solidFill>
                  <a:srgbClr val="FFFFFF">
                    <a:alpha val="99000"/>
                  </a:srgbClr>
                </a:solidFill>
                <a:latin typeface="Roboto Serif" pitchFamily="34" charset="0"/>
                <a:ea typeface="Roboto Serif" pitchFamily="34" charset="-122"/>
                <a:cs typeface="Roboto Serif" pitchFamily="34" charset="-120"/>
              </a:rPr>
              <a:t>i</a:t>
            </a:r>
            <a:endParaRPr lang="en-US" sz="2539" dirty="0"/>
          </a:p>
        </p:txBody>
      </p:sp>
      <p:sp>
        <p:nvSpPr>
          <p:cNvPr id="25" name="Text 13"/>
          <p:cNvSpPr/>
          <p:nvPr/>
        </p:nvSpPr>
        <p:spPr>
          <a:xfrm>
            <a:off x="885825" y="2012156"/>
            <a:ext cx="2824163"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Pengujian Sistem</a:t>
            </a:r>
            <a:endParaRPr lang="en-US" sz="1500" dirty="0"/>
          </a:p>
        </p:txBody>
      </p:sp>
      <p:sp>
        <p:nvSpPr>
          <p:cNvPr id="26" name="Text 14"/>
          <p:cNvSpPr/>
          <p:nvPr/>
        </p:nvSpPr>
        <p:spPr>
          <a:xfrm>
            <a:off x="885825" y="2412206"/>
            <a:ext cx="3309938" cy="723900"/>
          </a:xfrm>
          <a:prstGeom prst="rect">
            <a:avLst/>
          </a:prstGeom>
          <a:noFill/>
          <a:ln/>
        </p:spPr>
        <p:txBody>
          <a:bodyPr wrap="square" rtlCol="0" anchor="ctr"/>
          <a:lstStyle/>
          <a:p>
            <a:pPr algn="l" indent="0" marL="0">
              <a:lnSpc>
                <a:spcPts val="1440"/>
              </a:lnSpc>
              <a:buNone/>
            </a:pPr>
            <a:r>
              <a:rPr lang="en-US" sz="900" spc="-20" kern="0" dirty="0">
                <a:solidFill>
                  <a:srgbClr val="000000">
                    <a:alpha val="99000"/>
                  </a:srgbClr>
                </a:solidFill>
                <a:latin typeface="Inter" pitchFamily="34" charset="0"/>
                <a:ea typeface="Inter" pitchFamily="34" charset="-122"/>
                <a:cs typeface="Inter" pitchFamily="34" charset="-120"/>
              </a:rPr>
              <a:t>serangkaian pengujian dilakukan untuk  memastikan bahwa sistem bekerja sesuai  kebutuhan, meliputi : </a:t>
            </a:r>
            <a:endParaRPr lang="en-US" sz="900" dirty="0"/>
          </a:p>
          <a:p>
            <a:pPr algn="l" marL="342900" indent="-342900">
              <a:lnSpc>
                <a:spcPts val="1440"/>
              </a:lnSpc>
              <a:buSzPct val="100000"/>
              <a:buChar char="•"/>
            </a:pPr>
            <a:r>
              <a:rPr lang="en-US" sz="900" spc="-20" kern="0" dirty="0">
                <a:solidFill>
                  <a:srgbClr val="000000">
                    <a:alpha val="99000"/>
                  </a:srgbClr>
                </a:solidFill>
                <a:latin typeface="Inter" pitchFamily="34" charset="0"/>
                <a:ea typeface="Inter" pitchFamily="34" charset="-122"/>
                <a:cs typeface="Inter" pitchFamily="34" charset="-120"/>
              </a:rPr>
              <a:t>Pengujian Fungisonal</a:t>
            </a:r>
            <a:endParaRPr lang="en-US" sz="900" dirty="0"/>
          </a:p>
          <a:p>
            <a:pPr algn="l" marL="342900" indent="-342900">
              <a:lnSpc>
                <a:spcPts val="1440"/>
              </a:lnSpc>
              <a:buSzPct val="100000"/>
              <a:buChar char="•"/>
            </a:pPr>
            <a:r>
              <a:rPr lang="en-US" sz="900" spc="-20" kern="0" dirty="0">
                <a:solidFill>
                  <a:srgbClr val="000000">
                    <a:alpha val="99000"/>
                  </a:srgbClr>
                </a:solidFill>
                <a:latin typeface="Inter" pitchFamily="34" charset="0"/>
                <a:ea typeface="Inter" pitchFamily="34" charset="-122"/>
                <a:cs typeface="Inter" pitchFamily="34" charset="-120"/>
              </a:rPr>
              <a:t>Pengujian API</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DE8D8"/>
        </a:solidFill>
      </p:bgPr>
    </p:bg>
    <p:spTree>
      <p:nvGrpSpPr>
        <p:cNvPr id="1" name=""/>
        <p:cNvGrpSpPr/>
        <p:nvPr/>
      </p:nvGrpSpPr>
      <p:grpSpPr>
        <a:xfrm>
          <a:off x="0" y="0"/>
          <a:ext cx="0" cy="0"/>
          <a:chOff x="0" y="0"/>
          <a:chExt cx="0" cy="0"/>
        </a:xfrm>
      </p:grpSpPr>
      <p:sp>
        <p:nvSpPr>
          <p:cNvPr id="2" name="Shape 0"/>
          <p:cNvSpPr/>
          <p:nvPr/>
        </p:nvSpPr>
        <p:spPr>
          <a:xfrm>
            <a:off x="90488" y="247650"/>
            <a:ext cx="8963025" cy="4814888"/>
          </a:xfrm>
          <a:prstGeom prst="roundRect">
            <a:avLst>
              <a:gd name="adj" fmla="val 2849"/>
            </a:avLst>
          </a:prstGeom>
          <a:noFill/>
          <a:ln w="12700">
            <a:solidFill>
              <a:srgbClr val="000000"/>
            </a:solidFill>
            <a:prstDash val="solid"/>
          </a:ln>
        </p:spPr>
      </p:sp>
      <p:sp>
        <p:nvSpPr>
          <p:cNvPr id="3" name="Shape 1"/>
          <p:cNvSpPr/>
          <p:nvPr/>
        </p:nvSpPr>
        <p:spPr>
          <a:xfrm>
            <a:off x="885825" y="1974056"/>
            <a:ext cx="2838450" cy="1200150"/>
          </a:xfrm>
          <a:prstGeom prst="rect">
            <a:avLst/>
          </a:prstGeom>
          <a:noFill/>
          <a:ln/>
        </p:spPr>
      </p:sp>
      <p:sp>
        <p:nvSpPr>
          <p:cNvPr id="4" name="Shape 2"/>
          <p:cNvSpPr/>
          <p:nvPr/>
        </p:nvSpPr>
        <p:spPr>
          <a:xfrm>
            <a:off x="5495925" y="1071563"/>
            <a:ext cx="2619375" cy="1776413"/>
          </a:xfrm>
          <a:prstGeom prst="rect">
            <a:avLst/>
          </a:prstGeom>
          <a:solidFill>
            <a:srgbClr val="089AFE"/>
          </a:solidFill>
          <a:ln w="76200">
            <a:solidFill>
              <a:srgbClr val="000000"/>
            </a:solidFill>
            <a:prstDash val="solid"/>
          </a:ln>
        </p:spPr>
      </p:sp>
      <p:sp>
        <p:nvSpPr>
          <p:cNvPr id="5" name="Shape 3"/>
          <p:cNvSpPr/>
          <p:nvPr/>
        </p:nvSpPr>
        <p:spPr>
          <a:xfrm>
            <a:off x="5495925" y="1219200"/>
            <a:ext cx="2619375" cy="1485900"/>
          </a:xfrm>
          <a:prstGeom prst="rect">
            <a:avLst/>
          </a:prstGeom>
          <a:solidFill>
            <a:srgbClr val="064272"/>
          </a:solidFill>
          <a:ln w="76200">
            <a:solidFill>
              <a:srgbClr val="000000"/>
            </a:solidFill>
            <a:prstDash val="solid"/>
          </a:ln>
        </p:spPr>
      </p:sp>
      <p:sp>
        <p:nvSpPr>
          <p:cNvPr id="6" name="Shape 4"/>
          <p:cNvSpPr/>
          <p:nvPr/>
        </p:nvSpPr>
        <p:spPr>
          <a:xfrm>
            <a:off x="5700713" y="1309688"/>
            <a:ext cx="1943100" cy="1300163"/>
          </a:xfrm>
          <a:prstGeom prst="roundRect">
            <a:avLst/>
          </a:prstGeom>
          <a:solidFill>
            <a:srgbClr val="DACECE">
              <a:alpha val="30000"/>
            </a:srgbClr>
          </a:solidFill>
          <a:ln/>
        </p:spPr>
      </p:sp>
      <p:sp>
        <p:nvSpPr>
          <p:cNvPr id="7" name="Shape 5"/>
          <p:cNvSpPr/>
          <p:nvPr/>
        </p:nvSpPr>
        <p:spPr>
          <a:xfrm>
            <a:off x="7881937" y="1295400"/>
            <a:ext cx="147638" cy="138113"/>
          </a:xfrm>
          <a:prstGeom prst="roundRect">
            <a:avLst/>
          </a:prstGeom>
          <a:solidFill>
            <a:srgbClr val="FAFFDE"/>
          </a:solidFill>
          <a:ln/>
        </p:spPr>
      </p:sp>
      <p:sp>
        <p:nvSpPr>
          <p:cNvPr id="8" name="Shape 6"/>
          <p:cNvSpPr/>
          <p:nvPr/>
        </p:nvSpPr>
        <p:spPr>
          <a:xfrm>
            <a:off x="7881937" y="1562100"/>
            <a:ext cx="147638" cy="138113"/>
          </a:xfrm>
          <a:prstGeom prst="roundRect">
            <a:avLst/>
          </a:prstGeom>
          <a:solidFill>
            <a:srgbClr val="60BEFF"/>
          </a:solidFill>
          <a:ln/>
        </p:spPr>
      </p:sp>
      <p:sp>
        <p:nvSpPr>
          <p:cNvPr id="9" name="Shape 7"/>
          <p:cNvSpPr/>
          <p:nvPr/>
        </p:nvSpPr>
        <p:spPr>
          <a:xfrm>
            <a:off x="5410200" y="2203233"/>
            <a:ext cx="614363" cy="152400"/>
          </a:xfrm>
          <a:prstGeom prst="roundRect">
            <a:avLst/>
          </a:prstGeom>
          <a:solidFill>
            <a:srgbClr val="FFC7C7"/>
          </a:solidFill>
          <a:ln/>
        </p:spPr>
      </p:sp>
      <p:sp>
        <p:nvSpPr>
          <p:cNvPr id="10" name="Shape 8"/>
          <p:cNvSpPr/>
          <p:nvPr/>
        </p:nvSpPr>
        <p:spPr>
          <a:xfrm>
            <a:off x="4748213" y="2203233"/>
            <a:ext cx="614363" cy="152400"/>
          </a:xfrm>
          <a:prstGeom prst="roundRect">
            <a:avLst/>
          </a:prstGeom>
          <a:solidFill>
            <a:srgbClr val="FFC7C7">
              <a:alpha val="25000"/>
            </a:srgbClr>
          </a:solidFill>
          <a:ln/>
        </p:spPr>
      </p:sp>
      <p:sp>
        <p:nvSpPr>
          <p:cNvPr id="11" name="Shape 9"/>
          <p:cNvSpPr/>
          <p:nvPr/>
        </p:nvSpPr>
        <p:spPr>
          <a:xfrm>
            <a:off x="4662488" y="971550"/>
            <a:ext cx="1960744" cy="1498999"/>
          </a:xfrm>
          <a:prstGeom prst="roundRect">
            <a:avLst/>
          </a:prstGeom>
          <a:solidFill>
            <a:srgbClr val="FFFFFF"/>
          </a:solidFill>
          <a:ln w="76200">
            <a:solidFill>
              <a:srgbClr val="000000"/>
            </a:solidFill>
            <a:prstDash val="solid"/>
          </a:ln>
        </p:spPr>
      </p:sp>
      <p:sp>
        <p:nvSpPr>
          <p:cNvPr id="12" name="Shape 10"/>
          <p:cNvSpPr/>
          <p:nvPr/>
        </p:nvSpPr>
        <p:spPr>
          <a:xfrm>
            <a:off x="4749505" y="1029560"/>
            <a:ext cx="69612" cy="69612"/>
          </a:xfrm>
          <a:prstGeom prst="ellipse">
            <a:avLst/>
          </a:prstGeom>
          <a:solidFill>
            <a:srgbClr val="FF8484"/>
          </a:solidFill>
          <a:ln/>
        </p:spPr>
      </p:sp>
      <p:sp>
        <p:nvSpPr>
          <p:cNvPr id="13" name="Shape 11"/>
          <p:cNvSpPr/>
          <p:nvPr/>
        </p:nvSpPr>
        <p:spPr>
          <a:xfrm>
            <a:off x="4863266" y="1029560"/>
            <a:ext cx="69612" cy="69612"/>
          </a:xfrm>
          <a:prstGeom prst="ellipse">
            <a:avLst/>
          </a:prstGeom>
          <a:solidFill>
            <a:srgbClr val="85E08E"/>
          </a:solidFill>
          <a:ln/>
        </p:spPr>
      </p:sp>
      <p:sp>
        <p:nvSpPr>
          <p:cNvPr id="14" name="Shape 12"/>
          <p:cNvSpPr/>
          <p:nvPr/>
        </p:nvSpPr>
        <p:spPr>
          <a:xfrm>
            <a:off x="4983724" y="1029560"/>
            <a:ext cx="69612" cy="69612"/>
          </a:xfrm>
          <a:prstGeom prst="ellipse">
            <a:avLst/>
          </a:prstGeom>
          <a:solidFill>
            <a:srgbClr val="FAFFDE"/>
          </a:solidFill>
          <a:ln/>
        </p:spPr>
      </p:sp>
      <p:pic>
        <p:nvPicPr>
          <p:cNvPr id="15" name="Image 0" descr="preencoded.png">    </p:cNvPr>
          <p:cNvPicPr>
            <a:picLocks noChangeAspect="1"/>
          </p:cNvPicPr>
          <p:nvPr/>
        </p:nvPicPr>
        <p:blipFill>
          <a:blip r:embed="rId1"/>
          <a:stretch>
            <a:fillRect/>
          </a:stretch>
        </p:blipFill>
        <p:spPr>
          <a:xfrm>
            <a:off x="4648200" y="2214563"/>
            <a:ext cx="241436" cy="276562"/>
          </a:xfrm>
          <a:prstGeom prst="rect">
            <a:avLst/>
          </a:prstGeom>
        </p:spPr>
      </p:pic>
      <p:pic>
        <p:nvPicPr>
          <p:cNvPr id="16" name="Image 1" descr="preencoded.png">    </p:cNvPr>
          <p:cNvPicPr>
            <a:picLocks noChangeAspect="1"/>
          </p:cNvPicPr>
          <p:nvPr/>
        </p:nvPicPr>
        <p:blipFill>
          <a:blip r:embed="rId2"/>
          <a:stretch>
            <a:fillRect/>
          </a:stretch>
        </p:blipFill>
        <p:spPr>
          <a:xfrm>
            <a:off x="4843463" y="2281237"/>
            <a:ext cx="59010" cy="30284"/>
          </a:xfrm>
          <a:prstGeom prst="rect">
            <a:avLst/>
          </a:prstGeom>
        </p:spPr>
      </p:pic>
      <p:pic>
        <p:nvPicPr>
          <p:cNvPr id="17" name="Image 2" descr="preencoded.png">    </p:cNvPr>
          <p:cNvPicPr>
            <a:picLocks noChangeAspect="1"/>
          </p:cNvPicPr>
          <p:nvPr/>
        </p:nvPicPr>
        <p:blipFill>
          <a:blip r:embed="rId3"/>
          <a:stretch>
            <a:fillRect/>
          </a:stretch>
        </p:blipFill>
        <p:spPr>
          <a:xfrm>
            <a:off x="4981111" y="2303346"/>
            <a:ext cx="58462" cy="34561"/>
          </a:xfrm>
          <a:prstGeom prst="rect">
            <a:avLst/>
          </a:prstGeom>
        </p:spPr>
      </p:pic>
      <p:pic>
        <p:nvPicPr>
          <p:cNvPr id="18" name="Image 3" descr="preencoded.png">    </p:cNvPr>
          <p:cNvPicPr>
            <a:picLocks noChangeAspect="1"/>
          </p:cNvPicPr>
          <p:nvPr/>
        </p:nvPicPr>
        <p:blipFill>
          <a:blip r:embed="rId4"/>
          <a:stretch>
            <a:fillRect/>
          </a:stretch>
        </p:blipFill>
        <p:spPr>
          <a:xfrm>
            <a:off x="4930500" y="2350434"/>
            <a:ext cx="42314" cy="55788"/>
          </a:xfrm>
          <a:prstGeom prst="rect">
            <a:avLst/>
          </a:prstGeom>
        </p:spPr>
      </p:pic>
      <p:pic>
        <p:nvPicPr>
          <p:cNvPr id="19" name="Image 4" descr="preencoded.png">    </p:cNvPr>
          <p:cNvPicPr>
            <a:picLocks noChangeAspect="1"/>
          </p:cNvPicPr>
          <p:nvPr/>
        </p:nvPicPr>
        <p:blipFill>
          <a:blip r:embed="rId5"/>
          <a:stretch>
            <a:fillRect/>
          </a:stretch>
        </p:blipFill>
        <p:spPr>
          <a:xfrm>
            <a:off x="4895852" y="2209800"/>
            <a:ext cx="34807" cy="58414"/>
          </a:xfrm>
          <a:prstGeom prst="rect">
            <a:avLst/>
          </a:prstGeom>
        </p:spPr>
      </p:pic>
      <p:pic>
        <p:nvPicPr>
          <p:cNvPr id="20" name="Image 5" descr="preencoded.png">    </p:cNvPr>
          <p:cNvPicPr>
            <a:picLocks noChangeAspect="1"/>
          </p:cNvPicPr>
          <p:nvPr/>
        </p:nvPicPr>
        <p:blipFill>
          <a:blip r:embed="rId6"/>
          <a:stretch>
            <a:fillRect/>
          </a:stretch>
        </p:blipFill>
        <p:spPr>
          <a:xfrm>
            <a:off x="4972045" y="2214562"/>
            <a:ext cx="47625" cy="52370"/>
          </a:xfrm>
          <a:prstGeom prst="rect">
            <a:avLst/>
          </a:prstGeom>
        </p:spPr>
      </p:pic>
      <p:pic>
        <p:nvPicPr>
          <p:cNvPr id="21" name="Image 6" descr="preencoded.png">    </p:cNvPr>
          <p:cNvPicPr>
            <a:picLocks noChangeAspect="1"/>
          </p:cNvPicPr>
          <p:nvPr/>
        </p:nvPicPr>
        <p:blipFill>
          <a:blip r:embed="rId7"/>
          <a:stretch>
            <a:fillRect/>
          </a:stretch>
        </p:blipFill>
        <p:spPr>
          <a:xfrm>
            <a:off x="5219700" y="3233738"/>
            <a:ext cx="3555206" cy="1112044"/>
          </a:xfrm>
          <a:prstGeom prst="rect">
            <a:avLst/>
          </a:prstGeom>
        </p:spPr>
      </p:pic>
      <p:pic>
        <p:nvPicPr>
          <p:cNvPr id="22" name="Image 7" descr="preencoded.png">    </p:cNvPr>
          <p:cNvPicPr>
            <a:picLocks noChangeAspect="1"/>
          </p:cNvPicPr>
          <p:nvPr/>
        </p:nvPicPr>
        <p:blipFill>
          <a:blip r:embed="rId8"/>
          <a:stretch>
            <a:fillRect/>
          </a:stretch>
        </p:blipFill>
        <p:spPr>
          <a:xfrm>
            <a:off x="5605463" y="1071563"/>
            <a:ext cx="2619375" cy="1776413"/>
          </a:xfrm>
          <a:prstGeom prst="rect">
            <a:avLst/>
          </a:prstGeom>
        </p:spPr>
      </p:pic>
      <p:pic>
        <p:nvPicPr>
          <p:cNvPr id="23" name="Image 8" descr="preencoded.png">    </p:cNvPr>
          <p:cNvPicPr>
            <a:picLocks noChangeAspect="1"/>
          </p:cNvPicPr>
          <p:nvPr/>
        </p:nvPicPr>
        <p:blipFill>
          <a:blip r:embed="rId9"/>
          <a:stretch>
            <a:fillRect/>
          </a:stretch>
        </p:blipFill>
        <p:spPr>
          <a:xfrm>
            <a:off x="4572000" y="2838450"/>
            <a:ext cx="3557588" cy="1114425"/>
          </a:xfrm>
          <a:prstGeom prst="rect">
            <a:avLst/>
          </a:prstGeom>
        </p:spPr>
      </p:pic>
      <p:pic>
        <p:nvPicPr>
          <p:cNvPr id="24" name="Image 9" descr="preencoded.png">    </p:cNvPr>
          <p:cNvPicPr>
            <a:picLocks noChangeAspect="1"/>
          </p:cNvPicPr>
          <p:nvPr/>
        </p:nvPicPr>
        <p:blipFill>
          <a:blip r:embed="rId10"/>
          <a:stretch>
            <a:fillRect/>
          </a:stretch>
        </p:blipFill>
        <p:spPr>
          <a:xfrm>
            <a:off x="4572000" y="2838450"/>
            <a:ext cx="3543300" cy="990600"/>
          </a:xfrm>
          <a:prstGeom prst="rect">
            <a:avLst/>
          </a:prstGeom>
        </p:spPr>
      </p:pic>
      <p:pic>
        <p:nvPicPr>
          <p:cNvPr id="25" name="Image 10" descr="preencoded.png">    </p:cNvPr>
          <p:cNvPicPr>
            <a:picLocks noChangeAspect="1"/>
          </p:cNvPicPr>
          <p:nvPr/>
        </p:nvPicPr>
        <p:blipFill>
          <a:blip r:embed="rId11"/>
          <a:stretch>
            <a:fillRect/>
          </a:stretch>
        </p:blipFill>
        <p:spPr>
          <a:xfrm>
            <a:off x="5167313" y="2928938"/>
            <a:ext cx="2640174" cy="468992"/>
          </a:xfrm>
          <a:prstGeom prst="rect">
            <a:avLst/>
          </a:prstGeom>
        </p:spPr>
      </p:pic>
      <p:pic>
        <p:nvPicPr>
          <p:cNvPr id="26" name="Image 11" descr="preencoded.png">    </p:cNvPr>
          <p:cNvPicPr>
            <a:picLocks noChangeAspect="1"/>
          </p:cNvPicPr>
          <p:nvPr/>
        </p:nvPicPr>
        <p:blipFill>
          <a:blip r:embed="rId12"/>
          <a:stretch>
            <a:fillRect/>
          </a:stretch>
        </p:blipFill>
        <p:spPr>
          <a:xfrm>
            <a:off x="5495925" y="3414713"/>
            <a:ext cx="1053452" cy="322547"/>
          </a:xfrm>
          <a:prstGeom prst="rect">
            <a:avLst/>
          </a:prstGeom>
        </p:spPr>
      </p:pic>
      <p:pic>
        <p:nvPicPr>
          <p:cNvPr id="27" name="Image 12" descr="preencoded.png">    </p:cNvPr>
          <p:cNvPicPr>
            <a:picLocks noChangeAspect="1"/>
          </p:cNvPicPr>
          <p:nvPr/>
        </p:nvPicPr>
        <p:blipFill>
          <a:blip r:embed="rId13"/>
          <a:stretch>
            <a:fillRect/>
          </a:stretch>
        </p:blipFill>
        <p:spPr>
          <a:xfrm>
            <a:off x="7887453" y="1484759"/>
            <a:ext cx="145610" cy="14639"/>
          </a:xfrm>
          <a:prstGeom prst="rect">
            <a:avLst/>
          </a:prstGeom>
        </p:spPr>
      </p:pic>
      <p:pic>
        <p:nvPicPr>
          <p:cNvPr id="28" name="Image 13" descr="preencoded.png">    </p:cNvPr>
          <p:cNvPicPr>
            <a:picLocks noChangeAspect="1"/>
          </p:cNvPicPr>
          <p:nvPr/>
        </p:nvPicPr>
        <p:blipFill>
          <a:blip r:embed="rId14"/>
          <a:stretch>
            <a:fillRect/>
          </a:stretch>
        </p:blipFill>
        <p:spPr>
          <a:xfrm>
            <a:off x="7887453" y="1751459"/>
            <a:ext cx="145610" cy="14639"/>
          </a:xfrm>
          <a:prstGeom prst="rect">
            <a:avLst/>
          </a:prstGeom>
        </p:spPr>
      </p:pic>
      <p:pic>
        <p:nvPicPr>
          <p:cNvPr id="29" name="Image 14" descr="preencoded.png">    </p:cNvPr>
          <p:cNvPicPr>
            <a:picLocks noChangeAspect="1"/>
          </p:cNvPicPr>
          <p:nvPr/>
        </p:nvPicPr>
        <p:blipFill>
          <a:blip r:embed="rId15"/>
          <a:stretch>
            <a:fillRect/>
          </a:stretch>
        </p:blipFill>
        <p:spPr>
          <a:xfrm>
            <a:off x="4662488" y="971550"/>
            <a:ext cx="1960745" cy="180683"/>
          </a:xfrm>
          <a:prstGeom prst="rect">
            <a:avLst/>
          </a:prstGeom>
        </p:spPr>
      </p:pic>
      <p:pic>
        <p:nvPicPr>
          <p:cNvPr id="30" name="Image 15" descr="preencoded.png">    </p:cNvPr>
          <p:cNvPicPr>
            <a:picLocks noChangeAspect="1"/>
          </p:cNvPicPr>
          <p:nvPr/>
        </p:nvPicPr>
        <p:blipFill>
          <a:blip r:embed="rId16"/>
          <a:stretch>
            <a:fillRect/>
          </a:stretch>
        </p:blipFill>
        <p:spPr>
          <a:xfrm>
            <a:off x="5434013" y="2907506"/>
            <a:ext cx="2220311" cy="469106"/>
          </a:xfrm>
          <a:prstGeom prst="rect">
            <a:avLst/>
          </a:prstGeom>
        </p:spPr>
      </p:pic>
      <p:pic>
        <p:nvPicPr>
          <p:cNvPr id="31" name="Image 16" descr="preencoded.png">    </p:cNvPr>
          <p:cNvPicPr>
            <a:picLocks noChangeAspect="1"/>
          </p:cNvPicPr>
          <p:nvPr/>
        </p:nvPicPr>
        <p:blipFill>
          <a:blip r:embed="rId17"/>
          <a:stretch>
            <a:fillRect/>
          </a:stretch>
        </p:blipFill>
        <p:spPr>
          <a:xfrm>
            <a:off x="5231606" y="3019425"/>
            <a:ext cx="2557463" cy="271463"/>
          </a:xfrm>
          <a:prstGeom prst="rect">
            <a:avLst/>
          </a:prstGeom>
        </p:spPr>
      </p:pic>
      <p:sp>
        <p:nvSpPr>
          <p:cNvPr id="32" name="Text 13"/>
          <p:cNvSpPr/>
          <p:nvPr/>
        </p:nvSpPr>
        <p:spPr>
          <a:xfrm>
            <a:off x="90488" y="76200"/>
            <a:ext cx="1171575"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MEI 27, 2025</a:t>
            </a:r>
            <a:endParaRPr lang="en-US" sz="825" dirty="0"/>
          </a:p>
        </p:txBody>
      </p:sp>
      <p:sp>
        <p:nvSpPr>
          <p:cNvPr id="33" name="Text 14"/>
          <p:cNvSpPr/>
          <p:nvPr/>
        </p:nvSpPr>
        <p:spPr>
          <a:xfrm>
            <a:off x="1300163" y="76200"/>
            <a:ext cx="1643063"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SEMINAR PROPOSAL</a:t>
            </a:r>
            <a:endParaRPr lang="en-US" sz="825" dirty="0"/>
          </a:p>
        </p:txBody>
      </p:sp>
      <p:sp>
        <p:nvSpPr>
          <p:cNvPr id="34" name="Text 15"/>
          <p:cNvSpPr/>
          <p:nvPr/>
        </p:nvSpPr>
        <p:spPr>
          <a:xfrm>
            <a:off x="7529513" y="76200"/>
            <a:ext cx="1981200" cy="114300"/>
          </a:xfrm>
          <a:prstGeom prst="rect">
            <a:avLst/>
          </a:prstGeom>
          <a:noFill/>
          <a:ln/>
        </p:spPr>
        <p:txBody>
          <a:bodyPr wrap="square" rtlCol="0" anchor="ctr"/>
          <a:lstStyle/>
          <a:p>
            <a:pPr algn="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UNIVERSITAS SYIAH KUALA</a:t>
            </a:r>
            <a:endParaRPr lang="en-US" sz="825" dirty="0"/>
          </a:p>
        </p:txBody>
      </p:sp>
      <p:sp>
        <p:nvSpPr>
          <p:cNvPr id="35" name="Text 16"/>
          <p:cNvSpPr/>
          <p:nvPr/>
        </p:nvSpPr>
        <p:spPr>
          <a:xfrm>
            <a:off x="885825" y="1974056"/>
            <a:ext cx="2824163" cy="57150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Penggunaan Sistem Oleh Petani</a:t>
            </a:r>
            <a:endParaRPr lang="en-US" sz="1500" dirty="0"/>
          </a:p>
        </p:txBody>
      </p:sp>
      <p:sp>
        <p:nvSpPr>
          <p:cNvPr id="36" name="Text 17"/>
          <p:cNvSpPr/>
          <p:nvPr/>
        </p:nvSpPr>
        <p:spPr>
          <a:xfrm>
            <a:off x="885825" y="2659856"/>
            <a:ext cx="3295650" cy="514350"/>
          </a:xfrm>
          <a:prstGeom prst="rect">
            <a:avLst/>
          </a:prstGeom>
          <a:noFill/>
          <a:ln/>
        </p:spPr>
        <p:txBody>
          <a:bodyPr wrap="square" rtlCol="0" anchor="ctr"/>
          <a:lstStyle/>
          <a:p>
            <a:pPr algn="l" indent="0" marL="0">
              <a:lnSpc>
                <a:spcPts val="1350"/>
              </a:lnSpc>
              <a:buNone/>
            </a:pPr>
            <a:r>
              <a:rPr lang="en-US" sz="900" spc="-20" kern="0" dirty="0">
                <a:solidFill>
                  <a:srgbClr val="000000">
                    <a:alpha val="99000"/>
                  </a:srgbClr>
                </a:solidFill>
                <a:latin typeface="Plus Jakarta Sans" pitchFamily="34" charset="0"/>
                <a:ea typeface="Plus Jakarta Sans" pitchFamily="34" charset="-122"/>
                <a:cs typeface="Plus Jakarta Sans" pitchFamily="34" charset="-120"/>
              </a:rPr>
              <a:t>Target akhir dari pengembangan ini adalah agar sistem dapat digunakan dan memberikan manfaat nyata bagi para petani, khususnya di wilayah Aceh Besar.</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DED8CB"/>
        </a:solidFill>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333375" y="238125"/>
            <a:ext cx="8477250" cy="4667250"/>
          </a:xfrm>
          <a:prstGeom prst="rect">
            <a:avLst/>
          </a:prstGeom>
        </p:spPr>
      </p:pic>
      <p:sp>
        <p:nvSpPr>
          <p:cNvPr id="4" name="Text 0"/>
          <p:cNvSpPr/>
          <p:nvPr/>
        </p:nvSpPr>
        <p:spPr>
          <a:xfrm>
            <a:off x="1685925" y="881063"/>
            <a:ext cx="5753100" cy="1809750"/>
          </a:xfrm>
          <a:prstGeom prst="rect">
            <a:avLst/>
          </a:prstGeom>
          <a:noFill/>
          <a:ln/>
        </p:spPr>
        <p:txBody>
          <a:bodyPr wrap="square" rtlCol="0" anchor="ctr"/>
          <a:lstStyle/>
          <a:p>
            <a:pPr algn="l" indent="0" marL="0">
              <a:lnSpc>
                <a:spcPts val="14250"/>
              </a:lnSpc>
              <a:buNone/>
            </a:pPr>
            <a:r>
              <a:rPr lang="en-US" sz="18188" spc="-182" kern="0" dirty="0">
                <a:solidFill>
                  <a:srgbClr val="FFFFFF">
                    <a:alpha val="99000"/>
                  </a:srgbClr>
                </a:solidFill>
                <a:latin typeface="Staatliches" pitchFamily="34" charset="0"/>
                <a:ea typeface="Staatliches" pitchFamily="34" charset="-122"/>
                <a:cs typeface="Staatliches" pitchFamily="34" charset="-120"/>
              </a:rPr>
              <a:t>THANK</a:t>
            </a:r>
            <a:endParaRPr lang="en-US" sz="18188" dirty="0"/>
          </a:p>
        </p:txBody>
      </p:sp>
      <p:sp>
        <p:nvSpPr>
          <p:cNvPr id="5" name="Text 1"/>
          <p:cNvSpPr/>
          <p:nvPr/>
        </p:nvSpPr>
        <p:spPr>
          <a:xfrm>
            <a:off x="4667250" y="2752725"/>
            <a:ext cx="3438525" cy="1809750"/>
          </a:xfrm>
          <a:prstGeom prst="rect">
            <a:avLst/>
          </a:prstGeom>
          <a:noFill/>
          <a:ln/>
        </p:spPr>
        <p:txBody>
          <a:bodyPr wrap="square" rtlCol="0" anchor="ctr"/>
          <a:lstStyle/>
          <a:p>
            <a:pPr algn="r" indent="0" marL="0">
              <a:lnSpc>
                <a:spcPts val="14250"/>
              </a:lnSpc>
              <a:buNone/>
            </a:pPr>
            <a:r>
              <a:rPr lang="en-US" sz="18188" spc="-182" kern="0" dirty="0">
                <a:solidFill>
                  <a:srgbClr val="FFFFFF">
                    <a:alpha val="99000"/>
                  </a:srgbClr>
                </a:solidFill>
                <a:latin typeface="Staatliches" pitchFamily="34" charset="0"/>
                <a:ea typeface="Staatliches" pitchFamily="34" charset="-122"/>
                <a:cs typeface="Staatliches" pitchFamily="34" charset="-120"/>
              </a:rPr>
              <a:t>YOU</a:t>
            </a:r>
            <a:endParaRPr lang="en-US" sz="18188" dirty="0"/>
          </a:p>
        </p:txBody>
      </p:sp>
      <p:sp>
        <p:nvSpPr>
          <p:cNvPr id="6" name="Text 2"/>
          <p:cNvSpPr/>
          <p:nvPr/>
        </p:nvSpPr>
        <p:spPr>
          <a:xfrm>
            <a:off x="1085850" y="4095750"/>
            <a:ext cx="2486025" cy="209550"/>
          </a:xfrm>
          <a:prstGeom prst="rect">
            <a:avLst/>
          </a:prstGeom>
          <a:noFill/>
          <a:ln/>
        </p:spPr>
        <p:txBody>
          <a:bodyPr wrap="square" rtlCol="0" anchor="ctr"/>
          <a:lstStyle/>
          <a:p>
            <a:pPr algn="l" indent="0" marL="0">
              <a:lnSpc>
                <a:spcPts val="1650"/>
              </a:lnSpc>
              <a:buNone/>
            </a:pPr>
            <a:r>
              <a:rPr lang="en-US" sz="1575" spc="158" kern="0" dirty="0">
                <a:solidFill>
                  <a:srgbClr val="FFFFFF">
                    <a:alpha val="99000"/>
                  </a:srgbClr>
                </a:solidFill>
                <a:latin typeface="Staatliches" pitchFamily="34" charset="0"/>
                <a:ea typeface="Staatliches" pitchFamily="34" charset="-122"/>
                <a:cs typeface="Staatliches" pitchFamily="34" charset="-120"/>
              </a:rPr>
              <a:t>– DZULKIRAM, 2025</a:t>
            </a:r>
            <a:endParaRPr lang="en-US" sz="157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name="Slide 35">
    <p:bg>
      <p:bgPr>
        <a:solidFill>
          <a:srgbClr val="EDE8D8"/>
        </a:solidFill>
      </p:bgPr>
    </p:bg>
    <p:spTree>
      <p:nvGrpSpPr>
        <p:cNvPr id="1" name=""/>
        <p:cNvGrpSpPr/>
        <p:nvPr/>
      </p:nvGrpSpPr>
      <p:grpSpPr>
        <a:xfrm>
          <a:off x="0" y="0"/>
          <a:ext cx="0" cy="0"/>
          <a:chOff x="0" y="0"/>
          <a:chExt cx="0" cy="0"/>
        </a:xfrm>
      </p:grpSpPr>
      <p:sp>
        <p:nvSpPr>
          <p:cNvPr id="2" name="Shape 0"/>
          <p:cNvSpPr/>
          <p:nvPr/>
        </p:nvSpPr>
        <p:spPr>
          <a:xfrm>
            <a:off x="0" y="666750"/>
            <a:ext cx="9144000" cy="0"/>
          </a:xfrm>
          <a:prstGeom prst="line">
            <a:avLst/>
          </a:prstGeom>
          <a:noFill/>
          <a:ln w="76200">
            <a:solidFill>
              <a:srgbClr val="000000"/>
            </a:solidFill>
            <a:prstDash val="solid"/>
          </a:ln>
        </p:spPr>
      </p:sp>
      <p:sp>
        <p:nvSpPr>
          <p:cNvPr id="3" name="Shape 1"/>
          <p:cNvSpPr/>
          <p:nvPr/>
        </p:nvSpPr>
        <p:spPr>
          <a:xfrm>
            <a:off x="0" y="2743200"/>
            <a:ext cx="9144000" cy="0"/>
          </a:xfrm>
          <a:prstGeom prst="line">
            <a:avLst/>
          </a:prstGeom>
          <a:noFill/>
          <a:ln w="12700">
            <a:solidFill>
              <a:srgbClr val="000000"/>
            </a:solidFill>
            <a:prstDash val="solid"/>
          </a:ln>
        </p:spPr>
      </p:sp>
      <p:sp>
        <p:nvSpPr>
          <p:cNvPr id="4" name="Shape 2"/>
          <p:cNvSpPr/>
          <p:nvPr/>
        </p:nvSpPr>
        <p:spPr>
          <a:xfrm rot="-5400000">
            <a:off x="969169" y="2740819"/>
            <a:ext cx="4148137" cy="0"/>
          </a:xfrm>
          <a:prstGeom prst="line">
            <a:avLst/>
          </a:prstGeom>
          <a:noFill/>
          <a:ln w="12700">
            <a:solidFill>
              <a:srgbClr val="000000"/>
            </a:solidFill>
            <a:prstDash val="solid"/>
          </a:ln>
        </p:spPr>
      </p:sp>
      <p:sp>
        <p:nvSpPr>
          <p:cNvPr id="5" name="Shape 3"/>
          <p:cNvSpPr/>
          <p:nvPr/>
        </p:nvSpPr>
        <p:spPr>
          <a:xfrm rot="-5400000">
            <a:off x="4017169" y="2740819"/>
            <a:ext cx="4148137" cy="0"/>
          </a:xfrm>
          <a:prstGeom prst="line">
            <a:avLst/>
          </a:prstGeom>
          <a:noFill/>
          <a:ln w="12700">
            <a:solidFill>
              <a:srgbClr val="000000"/>
            </a:solidFill>
            <a:prstDash val="solid"/>
          </a:ln>
        </p:spPr>
      </p:sp>
      <p:sp>
        <p:nvSpPr>
          <p:cNvPr id="6" name="Shape 4"/>
          <p:cNvSpPr/>
          <p:nvPr/>
        </p:nvSpPr>
        <p:spPr>
          <a:xfrm>
            <a:off x="0" y="4819650"/>
            <a:ext cx="9144000" cy="0"/>
          </a:xfrm>
          <a:prstGeom prst="line">
            <a:avLst/>
          </a:prstGeom>
          <a:noFill/>
          <a:ln w="12700">
            <a:solidFill>
              <a:srgbClr val="000000"/>
            </a:solidFill>
            <a:prstDash val="solid"/>
          </a:ln>
        </p:spPr>
      </p:sp>
      <p:sp>
        <p:nvSpPr>
          <p:cNvPr id="7" name="Text 5"/>
          <p:cNvSpPr/>
          <p:nvPr/>
        </p:nvSpPr>
        <p:spPr>
          <a:xfrm>
            <a:off x="114300" y="781050"/>
            <a:ext cx="1071563" cy="133350"/>
          </a:xfrm>
          <a:prstGeom prst="rect">
            <a:avLst/>
          </a:prstGeom>
          <a:noFill/>
          <a:ln/>
        </p:spPr>
        <p:txBody>
          <a:bodyPr wrap="square" rtlCol="0" anchor="ctr"/>
          <a:lstStyle/>
          <a:p>
            <a:pPr algn="l" indent="0" marL="0">
              <a:lnSpc>
                <a:spcPts val="1050"/>
              </a:lnSpc>
              <a:buNone/>
            </a:pPr>
            <a:r>
              <a:rPr lang="en-US" sz="1050" b="1" spc="21" kern="0" dirty="0">
                <a:solidFill>
                  <a:srgbClr val="000000">
                    <a:alpha val="99000"/>
                  </a:srgbClr>
                </a:solidFill>
                <a:latin typeface="Space Grotesk" pitchFamily="34" charset="0"/>
                <a:ea typeface="Space Grotesk" pitchFamily="34" charset="-122"/>
                <a:cs typeface="Space Grotesk" pitchFamily="34" charset="-120"/>
              </a:rPr>
              <a:t>STEP: 0-1</a:t>
            </a:r>
            <a:endParaRPr lang="en-US" sz="1050" dirty="0"/>
          </a:p>
        </p:txBody>
      </p:sp>
      <p:sp>
        <p:nvSpPr>
          <p:cNvPr id="8" name="Text 6"/>
          <p:cNvSpPr/>
          <p:nvPr/>
        </p:nvSpPr>
        <p:spPr>
          <a:xfrm>
            <a:off x="114300" y="1295400"/>
            <a:ext cx="3276600" cy="133350"/>
          </a:xfrm>
          <a:prstGeom prst="rect">
            <a:avLst/>
          </a:prstGeom>
          <a:noFill/>
          <a:ln/>
        </p:spPr>
        <p:txBody>
          <a:bodyPr wrap="square" rtlCol="0" anchor="ctr"/>
          <a:lstStyle/>
          <a:p>
            <a:pPr algn="l" indent="0" marL="0">
              <a:lnSpc>
                <a:spcPts val="1050"/>
              </a:lnSpc>
              <a:buNone/>
            </a:pPr>
            <a:r>
              <a:rPr lang="en-US" sz="1050" b="1" spc="21" kern="0" dirty="0">
                <a:solidFill>
                  <a:srgbClr val="000000">
                    <a:alpha val="99000"/>
                  </a:srgbClr>
                </a:solidFill>
                <a:latin typeface="Space Grotesk" pitchFamily="34" charset="0"/>
                <a:ea typeface="Space Grotesk" pitchFamily="34" charset="-122"/>
                <a:cs typeface="Space Grotesk" pitchFamily="34" charset="-120"/>
              </a:rPr>
              <a:t>Analisa Kebutuhan</a:t>
            </a:r>
            <a:endParaRPr lang="en-US" sz="1050" dirty="0"/>
          </a:p>
        </p:txBody>
      </p:sp>
      <p:sp>
        <p:nvSpPr>
          <p:cNvPr id="9" name="Text 7"/>
          <p:cNvSpPr/>
          <p:nvPr/>
        </p:nvSpPr>
        <p:spPr>
          <a:xfrm>
            <a:off x="114300" y="1543050"/>
            <a:ext cx="3276600" cy="457200"/>
          </a:xfrm>
          <a:prstGeom prst="rect">
            <a:avLst/>
          </a:prstGeom>
          <a:noFill/>
          <a:ln/>
        </p:spPr>
        <p:txBody>
          <a:bodyPr wrap="square" rtlCol="0" anchor="ctr"/>
          <a:lstStyle/>
          <a:p>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Add a quick description of the project in this space.</a:t>
            </a:r>
            <a:endParaRPr lang="en-US" sz="1350" dirty="0"/>
          </a:p>
        </p:txBody>
      </p:sp>
      <p:sp>
        <p:nvSpPr>
          <p:cNvPr id="10" name="Text 8"/>
          <p:cNvSpPr/>
          <p:nvPr/>
        </p:nvSpPr>
        <p:spPr>
          <a:xfrm>
            <a:off x="190500" y="4919663"/>
            <a:ext cx="1490663" cy="123825"/>
          </a:xfrm>
          <a:prstGeom prst="rect">
            <a:avLst/>
          </a:prstGeom>
          <a:noFill/>
          <a:ln/>
        </p:spPr>
        <p:txBody>
          <a:bodyPr wrap="square" rtlCol="0" anchor="ctr"/>
          <a:lstStyle/>
          <a:p>
            <a:pPr algn="l" indent="0" marL="0">
              <a:lnSpc>
                <a:spcPts val="975"/>
              </a:lnSpc>
              <a:buNone/>
            </a:pPr>
            <a:r>
              <a:rPr lang="en-US" sz="900" dirty="0">
                <a:solidFill>
                  <a:srgbClr val="000000">
                    <a:alpha val="99000"/>
                  </a:srgbClr>
                </a:solidFill>
                <a:latin typeface="Almarai" pitchFamily="34" charset="0"/>
                <a:ea typeface="Almarai" pitchFamily="34" charset="-122"/>
                <a:cs typeface="Almarai" pitchFamily="34" charset="-120"/>
              </a:rPr>
              <a:t>BUSINESS REVIEW</a:t>
            </a:r>
            <a:endParaRPr lang="en-US" sz="900" dirty="0"/>
          </a:p>
        </p:txBody>
      </p:sp>
      <p:sp>
        <p:nvSpPr>
          <p:cNvPr id="11" name="Text 9"/>
          <p:cNvSpPr/>
          <p:nvPr/>
        </p:nvSpPr>
        <p:spPr>
          <a:xfrm>
            <a:off x="8143875" y="4919663"/>
            <a:ext cx="1266825" cy="123825"/>
          </a:xfrm>
          <a:prstGeom prst="rect">
            <a:avLst/>
          </a:prstGeom>
          <a:noFill/>
          <a:ln/>
        </p:spPr>
        <p:txBody>
          <a:bodyPr wrap="square" rtlCol="0" anchor="ctr"/>
          <a:lstStyle/>
          <a:p>
            <a:pPr algn="r" indent="0" marL="0">
              <a:lnSpc>
                <a:spcPts val="975"/>
              </a:lnSpc>
              <a:buNone/>
            </a:pPr>
            <a:r>
              <a:rPr lang="en-US" sz="900" dirty="0">
                <a:solidFill>
                  <a:srgbClr val="000000">
                    <a:alpha val="99000"/>
                  </a:srgbClr>
                </a:solidFill>
                <a:latin typeface="Almarai" pitchFamily="34" charset="0"/>
                <a:ea typeface="Almarai" pitchFamily="34" charset="-122"/>
                <a:cs typeface="Almarai" pitchFamily="34" charset="-120"/>
              </a:rPr>
              <a:t>TODAY’S DATE</a:t>
            </a:r>
            <a:endParaRPr lang="en-US" sz="900" dirty="0"/>
          </a:p>
        </p:txBody>
      </p:sp>
      <p:sp>
        <p:nvSpPr>
          <p:cNvPr id="12" name="Text 10"/>
          <p:cNvSpPr/>
          <p:nvPr/>
        </p:nvSpPr>
        <p:spPr>
          <a:xfrm>
            <a:off x="3190875" y="190500"/>
            <a:ext cx="3219450" cy="285750"/>
          </a:xfrm>
          <a:prstGeom prst="rect">
            <a:avLst/>
          </a:prstGeom>
          <a:noFill/>
          <a:ln/>
        </p:spPr>
        <p:txBody>
          <a:bodyPr wrap="square" rtlCol="0" anchor="ctr"/>
          <a:lstStyle/>
          <a:p>
            <a:pPr algn="ctr" indent="0" marL="0">
              <a:lnSpc>
                <a:spcPts val="2250"/>
              </a:lnSpc>
              <a:buNone/>
            </a:pPr>
            <a:r>
              <a:rPr lang="en-US" sz="2100" spc="210" kern="0" dirty="0">
                <a:solidFill>
                  <a:srgbClr val="000000">
                    <a:alpha val="99000"/>
                  </a:srgbClr>
                </a:solidFill>
                <a:latin typeface="Space Grotesk" pitchFamily="34" charset="0"/>
                <a:ea typeface="Space Grotesk" pitchFamily="34" charset="-122"/>
                <a:cs typeface="Space Grotesk" pitchFamily="34" charset="-120"/>
              </a:rPr>
              <a:t>Metode Penelitian</a:t>
            </a:r>
            <a:endParaRPr lang="en-US" sz="2100" dirty="0"/>
          </a:p>
        </p:txBody>
      </p:sp>
      <p:sp>
        <p:nvSpPr>
          <p:cNvPr id="13" name="Text 11"/>
          <p:cNvSpPr/>
          <p:nvPr/>
        </p:nvSpPr>
        <p:spPr>
          <a:xfrm>
            <a:off x="3162300" y="781050"/>
            <a:ext cx="1090613" cy="133350"/>
          </a:xfrm>
          <a:prstGeom prst="rect">
            <a:avLst/>
          </a:prstGeom>
          <a:noFill/>
          <a:ln/>
        </p:spPr>
        <p:txBody>
          <a:bodyPr wrap="square" rtlCol="0" anchor="ctr"/>
          <a:lstStyle/>
          <a:p>
            <a:pPr algn="l" indent="0" marL="0">
              <a:lnSpc>
                <a:spcPts val="1050"/>
              </a:lnSpc>
              <a:buNone/>
            </a:pPr>
            <a:r>
              <a:rPr lang="en-US" sz="1050" b="1" spc="21" kern="0" dirty="0">
                <a:solidFill>
                  <a:srgbClr val="000000">
                    <a:alpha val="99000"/>
                  </a:srgbClr>
                </a:solidFill>
                <a:latin typeface="Space Grotesk" pitchFamily="34" charset="0"/>
                <a:ea typeface="Space Grotesk" pitchFamily="34" charset="-122"/>
                <a:cs typeface="Space Grotesk" pitchFamily="34" charset="-120"/>
              </a:rPr>
              <a:t>STEP: 0-2</a:t>
            </a:r>
            <a:endParaRPr lang="en-US" sz="1050" dirty="0"/>
          </a:p>
        </p:txBody>
      </p:sp>
      <p:sp>
        <p:nvSpPr>
          <p:cNvPr id="14" name="Text 12"/>
          <p:cNvSpPr/>
          <p:nvPr/>
        </p:nvSpPr>
        <p:spPr>
          <a:xfrm>
            <a:off x="6210300" y="781050"/>
            <a:ext cx="1090613" cy="133350"/>
          </a:xfrm>
          <a:prstGeom prst="rect">
            <a:avLst/>
          </a:prstGeom>
          <a:noFill/>
          <a:ln/>
        </p:spPr>
        <p:txBody>
          <a:bodyPr wrap="square" rtlCol="0" anchor="ctr"/>
          <a:lstStyle/>
          <a:p>
            <a:pPr algn="l" indent="0" marL="0">
              <a:lnSpc>
                <a:spcPts val="1050"/>
              </a:lnSpc>
              <a:buNone/>
            </a:pPr>
            <a:r>
              <a:rPr lang="en-US" sz="1050" b="1" spc="21" kern="0" dirty="0">
                <a:solidFill>
                  <a:srgbClr val="000000">
                    <a:alpha val="99000"/>
                  </a:srgbClr>
                </a:solidFill>
                <a:latin typeface="Space Grotesk" pitchFamily="34" charset="0"/>
                <a:ea typeface="Space Grotesk" pitchFamily="34" charset="-122"/>
                <a:cs typeface="Space Grotesk" pitchFamily="34" charset="-120"/>
              </a:rPr>
              <a:t>STEP: 0-3</a:t>
            </a:r>
            <a:endParaRPr lang="en-US" sz="1050" dirty="0"/>
          </a:p>
        </p:txBody>
      </p:sp>
      <p:sp>
        <p:nvSpPr>
          <p:cNvPr id="15" name="Text 13"/>
          <p:cNvSpPr/>
          <p:nvPr/>
        </p:nvSpPr>
        <p:spPr>
          <a:xfrm>
            <a:off x="3162300" y="2857500"/>
            <a:ext cx="1090613" cy="133350"/>
          </a:xfrm>
          <a:prstGeom prst="rect">
            <a:avLst/>
          </a:prstGeom>
          <a:noFill/>
          <a:ln/>
        </p:spPr>
        <p:txBody>
          <a:bodyPr wrap="square" rtlCol="0" anchor="ctr"/>
          <a:lstStyle/>
          <a:p>
            <a:pPr algn="l" indent="0" marL="0">
              <a:lnSpc>
                <a:spcPts val="1050"/>
              </a:lnSpc>
              <a:buNone/>
            </a:pPr>
            <a:r>
              <a:rPr lang="en-US" sz="1050" b="1" spc="21" kern="0" dirty="0">
                <a:solidFill>
                  <a:srgbClr val="000000">
                    <a:alpha val="99000"/>
                  </a:srgbClr>
                </a:solidFill>
                <a:latin typeface="Space Grotesk" pitchFamily="34" charset="0"/>
                <a:ea typeface="Space Grotesk" pitchFamily="34" charset="-122"/>
                <a:cs typeface="Space Grotesk" pitchFamily="34" charset="-120"/>
              </a:rPr>
              <a:t>STEP: 0-5</a:t>
            </a:r>
            <a:endParaRPr lang="en-US" sz="1050" dirty="0"/>
          </a:p>
        </p:txBody>
      </p:sp>
      <p:sp>
        <p:nvSpPr>
          <p:cNvPr id="16" name="Text 14"/>
          <p:cNvSpPr/>
          <p:nvPr/>
        </p:nvSpPr>
        <p:spPr>
          <a:xfrm>
            <a:off x="114300" y="2857500"/>
            <a:ext cx="1095375" cy="133350"/>
          </a:xfrm>
          <a:prstGeom prst="rect">
            <a:avLst/>
          </a:prstGeom>
          <a:noFill/>
          <a:ln/>
        </p:spPr>
        <p:txBody>
          <a:bodyPr wrap="square" rtlCol="0" anchor="ctr"/>
          <a:lstStyle/>
          <a:p>
            <a:pPr algn="l" indent="0" marL="0">
              <a:lnSpc>
                <a:spcPts val="1050"/>
              </a:lnSpc>
              <a:buNone/>
            </a:pPr>
            <a:r>
              <a:rPr lang="en-US" sz="1050" b="1" spc="21" kern="0" dirty="0">
                <a:solidFill>
                  <a:srgbClr val="000000">
                    <a:alpha val="99000"/>
                  </a:srgbClr>
                </a:solidFill>
                <a:latin typeface="Space Grotesk" pitchFamily="34" charset="0"/>
                <a:ea typeface="Space Grotesk" pitchFamily="34" charset="-122"/>
                <a:cs typeface="Space Grotesk" pitchFamily="34" charset="-120"/>
              </a:rPr>
              <a:t>STEP: 0-4</a:t>
            </a:r>
            <a:endParaRPr lang="en-US" sz="1050" dirty="0"/>
          </a:p>
        </p:txBody>
      </p:sp>
      <p:sp>
        <p:nvSpPr>
          <p:cNvPr id="17" name="Text 15"/>
          <p:cNvSpPr/>
          <p:nvPr/>
        </p:nvSpPr>
        <p:spPr>
          <a:xfrm>
            <a:off x="3162300" y="1295400"/>
            <a:ext cx="3276600" cy="133350"/>
          </a:xfrm>
          <a:prstGeom prst="rect">
            <a:avLst/>
          </a:prstGeom>
          <a:noFill/>
          <a:ln/>
        </p:spPr>
        <p:txBody>
          <a:bodyPr wrap="square" rtlCol="0" anchor="ctr"/>
          <a:lstStyle/>
          <a:p>
            <a:pPr algn="l" indent="0" marL="0">
              <a:lnSpc>
                <a:spcPts val="1050"/>
              </a:lnSpc>
              <a:buNone/>
            </a:pPr>
            <a:r>
              <a:rPr lang="en-US" sz="1050" b="1" spc="21" kern="0" dirty="0">
                <a:solidFill>
                  <a:srgbClr val="000000">
                    <a:alpha val="99000"/>
                  </a:srgbClr>
                </a:solidFill>
                <a:latin typeface="Space Grotesk" pitchFamily="34" charset="0"/>
                <a:ea typeface="Space Grotesk" pitchFamily="34" charset="-122"/>
                <a:cs typeface="Space Grotesk" pitchFamily="34" charset="-120"/>
              </a:rPr>
              <a:t>Perancangan sistem</a:t>
            </a:r>
            <a:endParaRPr lang="en-US" sz="1050" dirty="0"/>
          </a:p>
        </p:txBody>
      </p:sp>
      <p:sp>
        <p:nvSpPr>
          <p:cNvPr id="18" name="Text 16"/>
          <p:cNvSpPr/>
          <p:nvPr/>
        </p:nvSpPr>
        <p:spPr>
          <a:xfrm>
            <a:off x="6210300" y="1295400"/>
            <a:ext cx="3276600" cy="133350"/>
          </a:xfrm>
          <a:prstGeom prst="rect">
            <a:avLst/>
          </a:prstGeom>
          <a:noFill/>
          <a:ln/>
        </p:spPr>
        <p:txBody>
          <a:bodyPr wrap="square" rtlCol="0" anchor="ctr"/>
          <a:lstStyle/>
          <a:p>
            <a:pPr algn="l" indent="0" marL="0">
              <a:lnSpc>
                <a:spcPts val="1050"/>
              </a:lnSpc>
              <a:buNone/>
            </a:pPr>
            <a:r>
              <a:rPr lang="en-US" sz="1050" b="1" spc="21" kern="0" dirty="0">
                <a:solidFill>
                  <a:srgbClr val="000000">
                    <a:alpha val="99000"/>
                  </a:srgbClr>
                </a:solidFill>
                <a:latin typeface="Space Grotesk" pitchFamily="34" charset="0"/>
                <a:ea typeface="Space Grotesk" pitchFamily="34" charset="-122"/>
                <a:cs typeface="Space Grotesk" pitchFamily="34" charset="-120"/>
              </a:rPr>
              <a:t>Implementasi</a:t>
            </a:r>
            <a:endParaRPr lang="en-US" sz="1050" dirty="0"/>
          </a:p>
        </p:txBody>
      </p:sp>
      <p:sp>
        <p:nvSpPr>
          <p:cNvPr id="19" name="Text 17"/>
          <p:cNvSpPr/>
          <p:nvPr/>
        </p:nvSpPr>
        <p:spPr>
          <a:xfrm>
            <a:off x="3162300" y="3371850"/>
            <a:ext cx="3276600" cy="133350"/>
          </a:xfrm>
          <a:prstGeom prst="rect">
            <a:avLst/>
          </a:prstGeom>
          <a:noFill/>
          <a:ln/>
        </p:spPr>
        <p:txBody>
          <a:bodyPr wrap="square" rtlCol="0" anchor="ctr"/>
          <a:lstStyle/>
          <a:p>
            <a:pPr algn="l" indent="0" marL="0">
              <a:lnSpc>
                <a:spcPts val="1050"/>
              </a:lnSpc>
              <a:buNone/>
            </a:pPr>
            <a:r>
              <a:rPr lang="en-US" sz="1050" b="1" spc="21" kern="0" dirty="0">
                <a:solidFill>
                  <a:srgbClr val="000000">
                    <a:alpha val="99000"/>
                  </a:srgbClr>
                </a:solidFill>
                <a:latin typeface="Space Grotesk" pitchFamily="34" charset="0"/>
                <a:ea typeface="Space Grotesk" pitchFamily="34" charset="-122"/>
                <a:cs typeface="Space Grotesk" pitchFamily="34" charset="-120"/>
              </a:rPr>
              <a:t>Pemanfaatan Sistem</a:t>
            </a:r>
            <a:endParaRPr lang="en-US" sz="1050" dirty="0"/>
          </a:p>
        </p:txBody>
      </p:sp>
      <p:sp>
        <p:nvSpPr>
          <p:cNvPr id="20" name="Text 18"/>
          <p:cNvSpPr/>
          <p:nvPr/>
        </p:nvSpPr>
        <p:spPr>
          <a:xfrm>
            <a:off x="114300" y="3371850"/>
            <a:ext cx="3276600" cy="133350"/>
          </a:xfrm>
          <a:prstGeom prst="rect">
            <a:avLst/>
          </a:prstGeom>
          <a:noFill/>
          <a:ln/>
        </p:spPr>
        <p:txBody>
          <a:bodyPr wrap="square" rtlCol="0" anchor="ctr"/>
          <a:lstStyle/>
          <a:p>
            <a:pPr algn="l" indent="0" marL="0">
              <a:lnSpc>
                <a:spcPts val="1050"/>
              </a:lnSpc>
              <a:buNone/>
            </a:pPr>
            <a:r>
              <a:rPr lang="en-US" sz="1050" b="1" spc="21" kern="0" dirty="0">
                <a:solidFill>
                  <a:srgbClr val="000000">
                    <a:alpha val="99000"/>
                  </a:srgbClr>
                </a:solidFill>
                <a:latin typeface="Space Grotesk" pitchFamily="34" charset="0"/>
                <a:ea typeface="Space Grotesk" pitchFamily="34" charset="-122"/>
                <a:cs typeface="Space Grotesk" pitchFamily="34" charset="-120"/>
              </a:rPr>
              <a:t>Pengujian Sistem</a:t>
            </a:r>
            <a:endParaRPr lang="en-US" sz="1050" dirty="0"/>
          </a:p>
        </p:txBody>
      </p:sp>
      <p:sp>
        <p:nvSpPr>
          <p:cNvPr id="21" name="Text 19"/>
          <p:cNvSpPr/>
          <p:nvPr/>
        </p:nvSpPr>
        <p:spPr>
          <a:xfrm>
            <a:off x="3162300" y="1543050"/>
            <a:ext cx="3276600" cy="457200"/>
          </a:xfrm>
          <a:prstGeom prst="rect">
            <a:avLst/>
          </a:prstGeom>
          <a:noFill/>
          <a:ln/>
        </p:spPr>
        <p:txBody>
          <a:bodyPr wrap="square" rtlCol="0" anchor="ctr"/>
          <a:lstStyle/>
          <a:p>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Make sure to provide enough context to make it easy to understand.</a:t>
            </a:r>
            <a:endParaRPr lang="en-US" sz="1350" dirty="0"/>
          </a:p>
        </p:txBody>
      </p:sp>
      <p:sp>
        <p:nvSpPr>
          <p:cNvPr id="22" name="Text 20"/>
          <p:cNvSpPr/>
          <p:nvPr/>
        </p:nvSpPr>
        <p:spPr>
          <a:xfrm>
            <a:off x="6210300" y="1543050"/>
            <a:ext cx="3276600" cy="457200"/>
          </a:xfrm>
          <a:prstGeom prst="rect">
            <a:avLst/>
          </a:prstGeom>
          <a:noFill/>
          <a:ln/>
        </p:spPr>
        <p:txBody>
          <a:bodyPr wrap="square" rtlCol="0" anchor="ctr"/>
          <a:lstStyle/>
          <a:p>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Keep ‘em short and sweet for easy scanning.</a:t>
            </a:r>
            <a:endParaRPr lang="en-US" sz="1350" dirty="0"/>
          </a:p>
        </p:txBody>
      </p:sp>
      <p:sp>
        <p:nvSpPr>
          <p:cNvPr id="23" name="Text 21"/>
          <p:cNvSpPr/>
          <p:nvPr/>
        </p:nvSpPr>
        <p:spPr>
          <a:xfrm>
            <a:off x="3162300" y="3619500"/>
            <a:ext cx="3276600" cy="457200"/>
          </a:xfrm>
          <a:prstGeom prst="rect">
            <a:avLst/>
          </a:prstGeom>
          <a:noFill/>
          <a:ln/>
        </p:spPr>
        <p:txBody>
          <a:bodyPr wrap="square" rtlCol="0" anchor="ctr"/>
          <a:lstStyle/>
          <a:p>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If you’ve got a bunch, use multiple copies of this slide.</a:t>
            </a:r>
            <a:endParaRPr lang="en-US" sz="1350" dirty="0"/>
          </a:p>
        </p:txBody>
      </p:sp>
      <p:sp>
        <p:nvSpPr>
          <p:cNvPr id="24" name="Text 22"/>
          <p:cNvSpPr/>
          <p:nvPr/>
        </p:nvSpPr>
        <p:spPr>
          <a:xfrm>
            <a:off x="114300" y="3619500"/>
            <a:ext cx="3276600" cy="457200"/>
          </a:xfrm>
          <a:prstGeom prst="rect">
            <a:avLst/>
          </a:prstGeom>
          <a:noFill/>
          <a:ln/>
        </p:spPr>
        <p:txBody>
          <a:bodyPr wrap="square" rtlCol="0" anchor="ctr"/>
          <a:lstStyle/>
          <a:p>
            <a:pPr algn="l" indent="0" marL="0">
              <a:lnSpc>
                <a:spcPts val="1800"/>
              </a:lnSpc>
              <a:buNone/>
            </a:pPr>
            <a:r>
              <a:rPr lang="en-US" sz="1350" dirty="0">
                <a:solidFill>
                  <a:srgbClr val="000000">
                    <a:alpha val="99000"/>
                  </a:srgbClr>
                </a:solidFill>
                <a:latin typeface="Almarai" pitchFamily="34" charset="0"/>
                <a:ea typeface="Almarai" pitchFamily="34" charset="-122"/>
                <a:cs typeface="Almarai" pitchFamily="34" charset="-120"/>
              </a:rPr>
              <a:t>Provide links to docs or files where people can learn more.</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name="Slide 36">
    <p:bg>
      <p:bgPr>
        <a:solidFill>
          <a:srgbClr val="EDE8D8"/>
        </a:solidFill>
      </p:bgPr>
    </p:bg>
    <p:spTree>
      <p:nvGrpSpPr>
        <p:cNvPr id="1" name=""/>
        <p:cNvGrpSpPr/>
        <p:nvPr/>
      </p:nvGrpSpPr>
      <p:grpSpPr>
        <a:xfrm>
          <a:off x="0" y="0"/>
          <a:ext cx="0" cy="0"/>
          <a:chOff x="0" y="0"/>
          <a:chExt cx="0" cy="0"/>
        </a:xfrm>
      </p:grpSpPr>
      <p:sp>
        <p:nvSpPr>
          <p:cNvPr id="2" name="Shape 0"/>
          <p:cNvSpPr/>
          <p:nvPr/>
        </p:nvSpPr>
        <p:spPr>
          <a:xfrm>
            <a:off x="0" y="2543175"/>
            <a:ext cx="9144000" cy="0"/>
          </a:xfrm>
          <a:prstGeom prst="line">
            <a:avLst/>
          </a:prstGeom>
          <a:noFill/>
          <a:ln w="12700">
            <a:solidFill>
              <a:srgbClr val="000000"/>
            </a:solidFill>
            <a:prstDash val="solid"/>
          </a:ln>
        </p:spPr>
      </p:sp>
      <p:sp>
        <p:nvSpPr>
          <p:cNvPr id="3" name="Shape 1"/>
          <p:cNvSpPr/>
          <p:nvPr/>
        </p:nvSpPr>
        <p:spPr>
          <a:xfrm>
            <a:off x="0" y="3600450"/>
            <a:ext cx="9144000" cy="0"/>
          </a:xfrm>
          <a:prstGeom prst="line">
            <a:avLst/>
          </a:prstGeom>
          <a:noFill/>
          <a:ln w="12700">
            <a:solidFill>
              <a:srgbClr val="000000"/>
            </a:solidFill>
            <a:prstDash val="solid"/>
          </a:ln>
        </p:spPr>
      </p:sp>
      <p:sp>
        <p:nvSpPr>
          <p:cNvPr id="4" name="Shape 2"/>
          <p:cNvSpPr/>
          <p:nvPr/>
        </p:nvSpPr>
        <p:spPr>
          <a:xfrm>
            <a:off x="0" y="4657725"/>
            <a:ext cx="9144000" cy="0"/>
          </a:xfrm>
          <a:prstGeom prst="line">
            <a:avLst/>
          </a:prstGeom>
          <a:noFill/>
          <a:ln w="12700">
            <a:solidFill>
              <a:srgbClr val="000000"/>
            </a:solidFill>
            <a:prstDash val="solid"/>
          </a:ln>
        </p:spPr>
      </p:sp>
      <p:sp>
        <p:nvSpPr>
          <p:cNvPr id="5" name="Shape 3"/>
          <p:cNvSpPr/>
          <p:nvPr/>
        </p:nvSpPr>
        <p:spPr>
          <a:xfrm>
            <a:off x="0" y="1485900"/>
            <a:ext cx="9144000" cy="0"/>
          </a:xfrm>
          <a:prstGeom prst="line">
            <a:avLst/>
          </a:prstGeom>
          <a:noFill/>
          <a:ln w="12700">
            <a:solidFill>
              <a:srgbClr val="000000"/>
            </a:solidFill>
            <a:prstDash val="solid"/>
          </a:ln>
        </p:spPr>
      </p:sp>
      <p:pic>
        <p:nvPicPr>
          <p:cNvPr id="6" name="Image 0" descr="preencoded.png">    </p:cNvPr>
          <p:cNvPicPr>
            <a:picLocks noChangeAspect="1"/>
          </p:cNvPicPr>
          <p:nvPr/>
        </p:nvPicPr>
        <p:blipFill>
          <a:blip r:embed="rId1"/>
          <a:stretch>
            <a:fillRect/>
          </a:stretch>
        </p:blipFill>
        <p:spPr>
          <a:xfrm>
            <a:off x="152400" y="152400"/>
            <a:ext cx="152400" cy="152400"/>
          </a:xfrm>
          <a:prstGeom prst="rect">
            <a:avLst/>
          </a:prstGeom>
        </p:spPr>
      </p:pic>
      <p:pic>
        <p:nvPicPr>
          <p:cNvPr id="7" name="Image 1" descr="preencoded.png">    </p:cNvPr>
          <p:cNvPicPr>
            <a:picLocks noChangeAspect="1"/>
          </p:cNvPicPr>
          <p:nvPr/>
        </p:nvPicPr>
        <p:blipFill>
          <a:blip r:embed="rId2"/>
          <a:stretch>
            <a:fillRect/>
          </a:stretch>
        </p:blipFill>
        <p:spPr>
          <a:xfrm>
            <a:off x="403445" y="4154806"/>
            <a:ext cx="182882" cy="182880"/>
          </a:xfrm>
          <a:prstGeom prst="rect">
            <a:avLst/>
          </a:prstGeom>
        </p:spPr>
      </p:pic>
      <p:pic>
        <p:nvPicPr>
          <p:cNvPr id="8" name="Image 2" descr="preencoded.png">    </p:cNvPr>
          <p:cNvPicPr>
            <a:picLocks noChangeAspect="1"/>
          </p:cNvPicPr>
          <p:nvPr/>
        </p:nvPicPr>
        <p:blipFill>
          <a:blip r:embed="rId3"/>
          <a:stretch>
            <a:fillRect/>
          </a:stretch>
        </p:blipFill>
        <p:spPr>
          <a:xfrm>
            <a:off x="309563" y="4056050"/>
            <a:ext cx="373075" cy="373075"/>
          </a:xfrm>
          <a:prstGeom prst="rect">
            <a:avLst/>
          </a:prstGeom>
        </p:spPr>
      </p:pic>
      <p:pic>
        <p:nvPicPr>
          <p:cNvPr id="9" name="Image 3" descr="preencoded.png">    </p:cNvPr>
          <p:cNvPicPr>
            <a:picLocks noChangeAspect="1"/>
          </p:cNvPicPr>
          <p:nvPr/>
        </p:nvPicPr>
        <p:blipFill>
          <a:blip r:embed="rId4"/>
          <a:stretch>
            <a:fillRect/>
          </a:stretch>
        </p:blipFill>
        <p:spPr>
          <a:xfrm>
            <a:off x="726523" y="4056050"/>
            <a:ext cx="128011" cy="128015"/>
          </a:xfrm>
          <a:prstGeom prst="rect">
            <a:avLst/>
          </a:prstGeom>
        </p:spPr>
      </p:pic>
      <p:pic>
        <p:nvPicPr>
          <p:cNvPr id="10" name="Image 4" descr="preencoded.png">    </p:cNvPr>
          <p:cNvPicPr>
            <a:picLocks noChangeAspect="1"/>
          </p:cNvPicPr>
          <p:nvPr/>
        </p:nvPicPr>
        <p:blipFill>
          <a:blip r:embed="rId5"/>
          <a:stretch>
            <a:fillRect/>
          </a:stretch>
        </p:blipFill>
        <p:spPr>
          <a:xfrm>
            <a:off x="663122" y="3990213"/>
            <a:ext cx="257249" cy="259690"/>
          </a:xfrm>
          <a:prstGeom prst="rect">
            <a:avLst/>
          </a:prstGeom>
        </p:spPr>
      </p:pic>
      <p:pic>
        <p:nvPicPr>
          <p:cNvPr id="11" name="Image 5" descr="preencoded.png">    </p:cNvPr>
          <p:cNvPicPr>
            <a:picLocks noChangeAspect="1"/>
          </p:cNvPicPr>
          <p:nvPr/>
        </p:nvPicPr>
        <p:blipFill>
          <a:blip r:embed="rId6"/>
          <a:stretch>
            <a:fillRect/>
          </a:stretch>
        </p:blipFill>
        <p:spPr>
          <a:xfrm>
            <a:off x="466837" y="3819525"/>
            <a:ext cx="243836" cy="245059"/>
          </a:xfrm>
          <a:prstGeom prst="rect">
            <a:avLst/>
          </a:prstGeom>
        </p:spPr>
      </p:pic>
      <p:pic>
        <p:nvPicPr>
          <p:cNvPr id="12" name="Image 6" descr="preencoded.png">    </p:cNvPr>
          <p:cNvPicPr>
            <a:picLocks noChangeAspect="1"/>
          </p:cNvPicPr>
          <p:nvPr/>
        </p:nvPicPr>
        <p:blipFill>
          <a:blip r:embed="rId7"/>
          <a:stretch>
            <a:fillRect/>
          </a:stretch>
        </p:blipFill>
        <p:spPr>
          <a:xfrm>
            <a:off x="527038" y="3881704"/>
            <a:ext cx="122225" cy="123139"/>
          </a:xfrm>
          <a:prstGeom prst="rect">
            <a:avLst/>
          </a:prstGeom>
        </p:spPr>
      </p:pic>
      <p:pic>
        <p:nvPicPr>
          <p:cNvPr id="13" name="Image 7" descr="preencoded.png">    </p:cNvPr>
          <p:cNvPicPr>
            <a:picLocks noChangeAspect="1"/>
          </p:cNvPicPr>
          <p:nvPr/>
        </p:nvPicPr>
        <p:blipFill>
          <a:blip r:embed="rId8"/>
          <a:stretch>
            <a:fillRect/>
          </a:stretch>
        </p:blipFill>
        <p:spPr>
          <a:xfrm>
            <a:off x="261937" y="1695450"/>
            <a:ext cx="610884" cy="609600"/>
          </a:xfrm>
          <a:prstGeom prst="rect">
            <a:avLst/>
          </a:prstGeom>
        </p:spPr>
      </p:pic>
      <p:pic>
        <p:nvPicPr>
          <p:cNvPr id="14" name="Image 8" descr="preencoded.png">    </p:cNvPr>
          <p:cNvPicPr>
            <a:picLocks noChangeAspect="1"/>
          </p:cNvPicPr>
          <p:nvPr/>
        </p:nvPicPr>
        <p:blipFill>
          <a:blip r:embed="rId9"/>
          <a:stretch>
            <a:fillRect/>
          </a:stretch>
        </p:blipFill>
        <p:spPr>
          <a:xfrm>
            <a:off x="310976" y="2069309"/>
            <a:ext cx="15934" cy="15935"/>
          </a:xfrm>
          <a:prstGeom prst="rect">
            <a:avLst/>
          </a:prstGeom>
        </p:spPr>
      </p:pic>
      <p:pic>
        <p:nvPicPr>
          <p:cNvPr id="15" name="Image 9" descr="preencoded.png">    </p:cNvPr>
          <p:cNvPicPr>
            <a:picLocks noChangeAspect="1"/>
          </p:cNvPicPr>
          <p:nvPr/>
        </p:nvPicPr>
        <p:blipFill>
          <a:blip r:embed="rId10"/>
          <a:stretch>
            <a:fillRect/>
          </a:stretch>
        </p:blipFill>
        <p:spPr>
          <a:xfrm>
            <a:off x="300986" y="2046375"/>
            <a:ext cx="15934" cy="15935"/>
          </a:xfrm>
          <a:prstGeom prst="rect">
            <a:avLst/>
          </a:prstGeom>
        </p:spPr>
      </p:pic>
      <p:pic>
        <p:nvPicPr>
          <p:cNvPr id="16" name="Image 10" descr="preencoded.png">    </p:cNvPr>
          <p:cNvPicPr>
            <a:picLocks noChangeAspect="1"/>
          </p:cNvPicPr>
          <p:nvPr/>
        </p:nvPicPr>
        <p:blipFill>
          <a:blip r:embed="rId11"/>
          <a:stretch>
            <a:fillRect/>
          </a:stretch>
        </p:blipFill>
        <p:spPr>
          <a:xfrm>
            <a:off x="338854" y="2136347"/>
            <a:ext cx="15934" cy="15935"/>
          </a:xfrm>
          <a:prstGeom prst="rect">
            <a:avLst/>
          </a:prstGeom>
        </p:spPr>
      </p:pic>
      <p:pic>
        <p:nvPicPr>
          <p:cNvPr id="17" name="Image 11" descr="preencoded.png">    </p:cNvPr>
          <p:cNvPicPr>
            <a:picLocks noChangeAspect="1"/>
          </p:cNvPicPr>
          <p:nvPr/>
        </p:nvPicPr>
        <p:blipFill>
          <a:blip r:embed="rId12"/>
          <a:stretch>
            <a:fillRect/>
          </a:stretch>
        </p:blipFill>
        <p:spPr>
          <a:xfrm>
            <a:off x="320473" y="2091124"/>
            <a:ext cx="15934" cy="15935"/>
          </a:xfrm>
          <a:prstGeom prst="rect">
            <a:avLst/>
          </a:prstGeom>
        </p:spPr>
      </p:pic>
      <p:pic>
        <p:nvPicPr>
          <p:cNvPr id="18" name="Image 12" descr="preencoded.png">    </p:cNvPr>
          <p:cNvPicPr>
            <a:picLocks noChangeAspect="1"/>
          </p:cNvPicPr>
          <p:nvPr/>
        </p:nvPicPr>
        <p:blipFill>
          <a:blip r:embed="rId13"/>
          <a:stretch>
            <a:fillRect/>
          </a:stretch>
        </p:blipFill>
        <p:spPr>
          <a:xfrm>
            <a:off x="330352" y="2115443"/>
            <a:ext cx="15925" cy="15925"/>
          </a:xfrm>
          <a:prstGeom prst="rect">
            <a:avLst/>
          </a:prstGeom>
        </p:spPr>
      </p:pic>
      <p:pic>
        <p:nvPicPr>
          <p:cNvPr id="19" name="Image 13" descr="preencoded.png">    </p:cNvPr>
          <p:cNvPicPr>
            <a:picLocks noChangeAspect="1"/>
          </p:cNvPicPr>
          <p:nvPr/>
        </p:nvPicPr>
        <p:blipFill>
          <a:blip r:embed="rId14"/>
          <a:stretch>
            <a:fillRect/>
          </a:stretch>
        </p:blipFill>
        <p:spPr>
          <a:xfrm>
            <a:off x="441080" y="1765101"/>
            <a:ext cx="15869" cy="15866"/>
          </a:xfrm>
          <a:prstGeom prst="rect">
            <a:avLst/>
          </a:prstGeom>
        </p:spPr>
      </p:pic>
      <p:pic>
        <p:nvPicPr>
          <p:cNvPr id="20" name="Image 14" descr="preencoded.png">    </p:cNvPr>
          <p:cNvPicPr>
            <a:picLocks noChangeAspect="1"/>
          </p:cNvPicPr>
          <p:nvPr/>
        </p:nvPicPr>
        <p:blipFill>
          <a:blip r:embed="rId15"/>
          <a:stretch>
            <a:fillRect/>
          </a:stretch>
        </p:blipFill>
        <p:spPr>
          <a:xfrm>
            <a:off x="418877" y="1773438"/>
            <a:ext cx="15869" cy="15866"/>
          </a:xfrm>
          <a:prstGeom prst="rect">
            <a:avLst/>
          </a:prstGeom>
        </p:spPr>
      </p:pic>
      <p:pic>
        <p:nvPicPr>
          <p:cNvPr id="21" name="Image 15" descr="preencoded.png">    </p:cNvPr>
          <p:cNvPicPr>
            <a:picLocks noChangeAspect="1"/>
          </p:cNvPicPr>
          <p:nvPr/>
        </p:nvPicPr>
        <p:blipFill>
          <a:blip r:embed="rId16"/>
          <a:stretch>
            <a:fillRect/>
          </a:stretch>
        </p:blipFill>
        <p:spPr>
          <a:xfrm>
            <a:off x="463944" y="1755175"/>
            <a:ext cx="15869" cy="15866"/>
          </a:xfrm>
          <a:prstGeom prst="rect">
            <a:avLst/>
          </a:prstGeom>
        </p:spPr>
      </p:pic>
      <p:pic>
        <p:nvPicPr>
          <p:cNvPr id="22" name="Image 16" descr="preencoded.png">    </p:cNvPr>
          <p:cNvPicPr>
            <a:picLocks noChangeAspect="1"/>
          </p:cNvPicPr>
          <p:nvPr/>
        </p:nvPicPr>
        <p:blipFill>
          <a:blip r:embed="rId17"/>
          <a:stretch>
            <a:fillRect/>
          </a:stretch>
        </p:blipFill>
        <p:spPr>
          <a:xfrm>
            <a:off x="509011" y="1736914"/>
            <a:ext cx="15869" cy="15866"/>
          </a:xfrm>
          <a:prstGeom prst="rect">
            <a:avLst/>
          </a:prstGeom>
        </p:spPr>
      </p:pic>
      <p:pic>
        <p:nvPicPr>
          <p:cNvPr id="23" name="Image 17" descr="preencoded.png">    </p:cNvPr>
          <p:cNvPicPr>
            <a:picLocks noChangeAspect="1"/>
          </p:cNvPicPr>
          <p:nvPr/>
        </p:nvPicPr>
        <p:blipFill>
          <a:blip r:embed="rId18"/>
          <a:stretch>
            <a:fillRect/>
          </a:stretch>
        </p:blipFill>
        <p:spPr>
          <a:xfrm>
            <a:off x="485682" y="1745714"/>
            <a:ext cx="15869" cy="15866"/>
          </a:xfrm>
          <a:prstGeom prst="rect">
            <a:avLst/>
          </a:prstGeom>
        </p:spPr>
      </p:pic>
      <p:pic>
        <p:nvPicPr>
          <p:cNvPr id="24" name="Image 18" descr="preencoded.png">    </p:cNvPr>
          <p:cNvPicPr>
            <a:picLocks noChangeAspect="1"/>
          </p:cNvPicPr>
          <p:nvPr/>
        </p:nvPicPr>
        <p:blipFill>
          <a:blip r:embed="rId19"/>
          <a:stretch>
            <a:fillRect/>
          </a:stretch>
        </p:blipFill>
        <p:spPr>
          <a:xfrm>
            <a:off x="678247" y="1759316"/>
            <a:ext cx="15869" cy="15866"/>
          </a:xfrm>
          <a:prstGeom prst="rect">
            <a:avLst/>
          </a:prstGeom>
        </p:spPr>
      </p:pic>
      <p:pic>
        <p:nvPicPr>
          <p:cNvPr id="25" name="Image 19" descr="preencoded.png">    </p:cNvPr>
          <p:cNvPicPr>
            <a:picLocks noChangeAspect="1"/>
          </p:cNvPicPr>
          <p:nvPr/>
        </p:nvPicPr>
        <p:blipFill>
          <a:blip r:embed="rId20"/>
          <a:stretch>
            <a:fillRect/>
          </a:stretch>
        </p:blipFill>
        <p:spPr>
          <a:xfrm>
            <a:off x="700869" y="1769301"/>
            <a:ext cx="15869" cy="15866"/>
          </a:xfrm>
          <a:prstGeom prst="rect">
            <a:avLst/>
          </a:prstGeom>
        </p:spPr>
      </p:pic>
      <p:pic>
        <p:nvPicPr>
          <p:cNvPr id="26" name="Image 20" descr="preencoded.png">    </p:cNvPr>
          <p:cNvPicPr>
            <a:picLocks noChangeAspect="1"/>
          </p:cNvPicPr>
          <p:nvPr/>
        </p:nvPicPr>
        <p:blipFill>
          <a:blip r:embed="rId21"/>
          <a:stretch>
            <a:fillRect/>
          </a:stretch>
        </p:blipFill>
        <p:spPr>
          <a:xfrm>
            <a:off x="633710" y="1740919"/>
            <a:ext cx="15869" cy="15866"/>
          </a:xfrm>
          <a:prstGeom prst="rect">
            <a:avLst/>
          </a:prstGeom>
        </p:spPr>
      </p:pic>
      <p:pic>
        <p:nvPicPr>
          <p:cNvPr id="27" name="Image 21" descr="preencoded.png">    </p:cNvPr>
          <p:cNvPicPr>
            <a:picLocks noChangeAspect="1"/>
          </p:cNvPicPr>
          <p:nvPr/>
        </p:nvPicPr>
        <p:blipFill>
          <a:blip r:embed="rId22"/>
          <a:stretch>
            <a:fillRect/>
          </a:stretch>
        </p:blipFill>
        <p:spPr>
          <a:xfrm>
            <a:off x="610642" y="1732036"/>
            <a:ext cx="15869" cy="15866"/>
          </a:xfrm>
          <a:prstGeom prst="rect">
            <a:avLst/>
          </a:prstGeom>
        </p:spPr>
      </p:pic>
      <p:pic>
        <p:nvPicPr>
          <p:cNvPr id="28" name="Image 22" descr="preencoded.png">    </p:cNvPr>
          <p:cNvPicPr>
            <a:picLocks noChangeAspect="1"/>
          </p:cNvPicPr>
          <p:nvPr/>
        </p:nvPicPr>
        <p:blipFill>
          <a:blip r:embed="rId23"/>
          <a:stretch>
            <a:fillRect/>
          </a:stretch>
        </p:blipFill>
        <p:spPr>
          <a:xfrm>
            <a:off x="656313" y="1750910"/>
            <a:ext cx="15869" cy="15866"/>
          </a:xfrm>
          <a:prstGeom prst="rect">
            <a:avLst/>
          </a:prstGeom>
        </p:spPr>
      </p:pic>
      <p:pic>
        <p:nvPicPr>
          <p:cNvPr id="29" name="Image 23" descr="preencoded.png">    </p:cNvPr>
          <p:cNvPicPr>
            <a:picLocks noChangeAspect="1"/>
          </p:cNvPicPr>
          <p:nvPr/>
        </p:nvPicPr>
        <p:blipFill>
          <a:blip r:embed="rId24"/>
          <a:stretch>
            <a:fillRect/>
          </a:stretch>
        </p:blipFill>
        <p:spPr>
          <a:xfrm>
            <a:off x="421258" y="2210779"/>
            <a:ext cx="15869" cy="15866"/>
          </a:xfrm>
          <a:prstGeom prst="rect">
            <a:avLst/>
          </a:prstGeom>
        </p:spPr>
      </p:pic>
      <p:pic>
        <p:nvPicPr>
          <p:cNvPr id="30" name="Image 24" descr="preencoded.png">    </p:cNvPr>
          <p:cNvPicPr>
            <a:picLocks noChangeAspect="1"/>
          </p:cNvPicPr>
          <p:nvPr/>
        </p:nvPicPr>
        <p:blipFill>
          <a:blip r:embed="rId25"/>
          <a:stretch>
            <a:fillRect/>
          </a:stretch>
        </p:blipFill>
        <p:spPr>
          <a:xfrm>
            <a:off x="488426" y="2239161"/>
            <a:ext cx="15869" cy="15866"/>
          </a:xfrm>
          <a:prstGeom prst="rect">
            <a:avLst/>
          </a:prstGeom>
        </p:spPr>
      </p:pic>
      <p:pic>
        <p:nvPicPr>
          <p:cNvPr id="31" name="Image 25" descr="preencoded.png">    </p:cNvPr>
          <p:cNvPicPr>
            <a:picLocks noChangeAspect="1"/>
          </p:cNvPicPr>
          <p:nvPr/>
        </p:nvPicPr>
        <p:blipFill>
          <a:blip r:embed="rId26"/>
          <a:stretch>
            <a:fillRect/>
          </a:stretch>
        </p:blipFill>
        <p:spPr>
          <a:xfrm>
            <a:off x="443871" y="2220763"/>
            <a:ext cx="15869" cy="15866"/>
          </a:xfrm>
          <a:prstGeom prst="rect">
            <a:avLst/>
          </a:prstGeom>
        </p:spPr>
      </p:pic>
      <p:pic>
        <p:nvPicPr>
          <p:cNvPr id="32" name="Image 26" descr="preencoded.png">    </p:cNvPr>
          <p:cNvPicPr>
            <a:picLocks noChangeAspect="1"/>
          </p:cNvPicPr>
          <p:nvPr/>
        </p:nvPicPr>
        <p:blipFill>
          <a:blip r:embed="rId27"/>
          <a:stretch>
            <a:fillRect/>
          </a:stretch>
        </p:blipFill>
        <p:spPr>
          <a:xfrm>
            <a:off x="511494" y="2248043"/>
            <a:ext cx="15869" cy="15866"/>
          </a:xfrm>
          <a:prstGeom prst="rect">
            <a:avLst/>
          </a:prstGeom>
        </p:spPr>
      </p:pic>
      <p:pic>
        <p:nvPicPr>
          <p:cNvPr id="33" name="Image 27" descr="preencoded.png">    </p:cNvPr>
          <p:cNvPicPr>
            <a:picLocks noChangeAspect="1"/>
          </p:cNvPicPr>
          <p:nvPr/>
        </p:nvPicPr>
        <p:blipFill>
          <a:blip r:embed="rId28"/>
          <a:stretch>
            <a:fillRect/>
          </a:stretch>
        </p:blipFill>
        <p:spPr>
          <a:xfrm>
            <a:off x="465813" y="2229168"/>
            <a:ext cx="15869" cy="15866"/>
          </a:xfrm>
          <a:prstGeom prst="rect">
            <a:avLst/>
          </a:prstGeom>
        </p:spPr>
      </p:pic>
      <p:pic>
        <p:nvPicPr>
          <p:cNvPr id="34" name="Image 28" descr="preencoded.png">    </p:cNvPr>
          <p:cNvPicPr>
            <a:picLocks noChangeAspect="1"/>
          </p:cNvPicPr>
          <p:nvPr/>
        </p:nvPicPr>
        <p:blipFill>
          <a:blip r:embed="rId29"/>
          <a:stretch>
            <a:fillRect/>
          </a:stretch>
        </p:blipFill>
        <p:spPr>
          <a:xfrm>
            <a:off x="636277" y="2243447"/>
            <a:ext cx="15869" cy="15866"/>
          </a:xfrm>
          <a:prstGeom prst="rect">
            <a:avLst/>
          </a:prstGeom>
        </p:spPr>
      </p:pic>
      <p:pic>
        <p:nvPicPr>
          <p:cNvPr id="35" name="Image 29" descr="preencoded.png">    </p:cNvPr>
          <p:cNvPicPr>
            <a:picLocks noChangeAspect="1"/>
          </p:cNvPicPr>
          <p:nvPr/>
        </p:nvPicPr>
        <p:blipFill>
          <a:blip r:embed="rId30"/>
          <a:stretch>
            <a:fillRect/>
          </a:stretch>
        </p:blipFill>
        <p:spPr>
          <a:xfrm>
            <a:off x="614549" y="2252903"/>
            <a:ext cx="15869" cy="15866"/>
          </a:xfrm>
          <a:prstGeom prst="rect">
            <a:avLst/>
          </a:prstGeom>
        </p:spPr>
      </p:pic>
      <p:pic>
        <p:nvPicPr>
          <p:cNvPr id="36" name="Image 30" descr="preencoded.png">    </p:cNvPr>
          <p:cNvPicPr>
            <a:picLocks noChangeAspect="1"/>
          </p:cNvPicPr>
          <p:nvPr/>
        </p:nvPicPr>
        <p:blipFill>
          <a:blip r:embed="rId31"/>
          <a:stretch>
            <a:fillRect/>
          </a:stretch>
        </p:blipFill>
        <p:spPr>
          <a:xfrm>
            <a:off x="658025" y="2233986"/>
            <a:ext cx="15869" cy="15866"/>
          </a:xfrm>
          <a:prstGeom prst="rect">
            <a:avLst/>
          </a:prstGeom>
        </p:spPr>
      </p:pic>
      <p:pic>
        <p:nvPicPr>
          <p:cNvPr id="37" name="Image 31" descr="preencoded.png">    </p:cNvPr>
          <p:cNvPicPr>
            <a:picLocks noChangeAspect="1"/>
          </p:cNvPicPr>
          <p:nvPr/>
        </p:nvPicPr>
        <p:blipFill>
          <a:blip r:embed="rId32"/>
          <a:stretch>
            <a:fillRect/>
          </a:stretch>
        </p:blipFill>
        <p:spPr>
          <a:xfrm>
            <a:off x="681354" y="2225182"/>
            <a:ext cx="15869" cy="15866"/>
          </a:xfrm>
          <a:prstGeom prst="rect">
            <a:avLst/>
          </a:prstGeom>
        </p:spPr>
      </p:pic>
      <p:pic>
        <p:nvPicPr>
          <p:cNvPr id="38" name="Image 32" descr="preencoded.png">    </p:cNvPr>
          <p:cNvPicPr>
            <a:picLocks noChangeAspect="1"/>
          </p:cNvPicPr>
          <p:nvPr/>
        </p:nvPicPr>
        <p:blipFill>
          <a:blip r:embed="rId33"/>
          <a:stretch>
            <a:fillRect/>
          </a:stretch>
        </p:blipFill>
        <p:spPr>
          <a:xfrm>
            <a:off x="703083" y="2215723"/>
            <a:ext cx="15869" cy="15866"/>
          </a:xfrm>
          <a:prstGeom prst="rect">
            <a:avLst/>
          </a:prstGeom>
        </p:spPr>
      </p:pic>
      <p:pic>
        <p:nvPicPr>
          <p:cNvPr id="39" name="Image 33" descr="preencoded.png">    </p:cNvPr>
          <p:cNvPicPr>
            <a:picLocks noChangeAspect="1"/>
          </p:cNvPicPr>
          <p:nvPr/>
        </p:nvPicPr>
        <p:blipFill>
          <a:blip r:embed="rId34"/>
          <a:stretch>
            <a:fillRect/>
          </a:stretch>
        </p:blipFill>
        <p:spPr>
          <a:xfrm>
            <a:off x="326780" y="1876019"/>
            <a:ext cx="15794" cy="15797"/>
          </a:xfrm>
          <a:prstGeom prst="rect">
            <a:avLst/>
          </a:prstGeom>
        </p:spPr>
      </p:pic>
      <p:pic>
        <p:nvPicPr>
          <p:cNvPr id="40" name="Image 34" descr="preencoded.png">    </p:cNvPr>
          <p:cNvPicPr>
            <a:picLocks noChangeAspect="1"/>
          </p:cNvPicPr>
          <p:nvPr/>
        </p:nvPicPr>
        <p:blipFill>
          <a:blip r:embed="rId35"/>
          <a:stretch>
            <a:fillRect/>
          </a:stretch>
        </p:blipFill>
        <p:spPr>
          <a:xfrm>
            <a:off x="299684" y="1944390"/>
            <a:ext cx="15794" cy="15797"/>
          </a:xfrm>
          <a:prstGeom prst="rect">
            <a:avLst/>
          </a:prstGeom>
        </p:spPr>
      </p:pic>
      <p:pic>
        <p:nvPicPr>
          <p:cNvPr id="41" name="Image 35" descr="preencoded.png">    </p:cNvPr>
          <p:cNvPicPr>
            <a:picLocks noChangeAspect="1"/>
          </p:cNvPicPr>
          <p:nvPr/>
        </p:nvPicPr>
        <p:blipFill>
          <a:blip r:embed="rId36"/>
          <a:stretch>
            <a:fillRect/>
          </a:stretch>
        </p:blipFill>
        <p:spPr>
          <a:xfrm>
            <a:off x="308483" y="1921071"/>
            <a:ext cx="15794" cy="15797"/>
          </a:xfrm>
          <a:prstGeom prst="rect">
            <a:avLst/>
          </a:prstGeom>
        </p:spPr>
      </p:pic>
      <p:pic>
        <p:nvPicPr>
          <p:cNvPr id="42" name="Image 36" descr="preencoded.png">    </p:cNvPr>
          <p:cNvPicPr>
            <a:picLocks noChangeAspect="1"/>
          </p:cNvPicPr>
          <p:nvPr/>
        </p:nvPicPr>
        <p:blipFill>
          <a:blip r:embed="rId37"/>
          <a:stretch>
            <a:fillRect/>
          </a:stretch>
        </p:blipFill>
        <p:spPr>
          <a:xfrm>
            <a:off x="317971" y="1899332"/>
            <a:ext cx="15794" cy="15797"/>
          </a:xfrm>
          <a:prstGeom prst="rect">
            <a:avLst/>
          </a:prstGeom>
        </p:spPr>
      </p:pic>
      <p:pic>
        <p:nvPicPr>
          <p:cNvPr id="43" name="Image 37" descr="preencoded.png">    </p:cNvPr>
          <p:cNvPicPr>
            <a:picLocks noChangeAspect="1"/>
          </p:cNvPicPr>
          <p:nvPr/>
        </p:nvPicPr>
        <p:blipFill>
          <a:blip r:embed="rId38"/>
          <a:stretch>
            <a:fillRect/>
          </a:stretch>
        </p:blipFill>
        <p:spPr>
          <a:xfrm>
            <a:off x="336268" y="1854269"/>
            <a:ext cx="15794" cy="15797"/>
          </a:xfrm>
          <a:prstGeom prst="rect">
            <a:avLst/>
          </a:prstGeom>
        </p:spPr>
      </p:pic>
      <p:pic>
        <p:nvPicPr>
          <p:cNvPr id="44" name="Image 38" descr="preencoded.png">    </p:cNvPr>
          <p:cNvPicPr>
            <a:picLocks noChangeAspect="1"/>
          </p:cNvPicPr>
          <p:nvPr/>
        </p:nvPicPr>
        <p:blipFill>
          <a:blip r:embed="rId39"/>
          <a:stretch>
            <a:fillRect/>
          </a:stretch>
        </p:blipFill>
        <p:spPr>
          <a:xfrm>
            <a:off x="808751" y="2067785"/>
            <a:ext cx="15794" cy="15797"/>
          </a:xfrm>
          <a:prstGeom prst="rect">
            <a:avLst/>
          </a:prstGeom>
        </p:spPr>
      </p:pic>
      <p:pic>
        <p:nvPicPr>
          <p:cNvPr id="45" name="Image 39" descr="preencoded.png">    </p:cNvPr>
          <p:cNvPicPr>
            <a:picLocks noChangeAspect="1"/>
          </p:cNvPicPr>
          <p:nvPr/>
        </p:nvPicPr>
        <p:blipFill>
          <a:blip r:embed="rId40"/>
          <a:stretch>
            <a:fillRect/>
          </a:stretch>
        </p:blipFill>
        <p:spPr>
          <a:xfrm>
            <a:off x="799951" y="2091102"/>
            <a:ext cx="15794" cy="15797"/>
          </a:xfrm>
          <a:prstGeom prst="rect">
            <a:avLst/>
          </a:prstGeom>
        </p:spPr>
      </p:pic>
      <p:pic>
        <p:nvPicPr>
          <p:cNvPr id="46" name="Image 40" descr="preencoded.png">    </p:cNvPr>
          <p:cNvPicPr>
            <a:picLocks noChangeAspect="1"/>
          </p:cNvPicPr>
          <p:nvPr/>
        </p:nvPicPr>
        <p:blipFill>
          <a:blip r:embed="rId41"/>
          <a:stretch>
            <a:fillRect/>
          </a:stretch>
        </p:blipFill>
        <p:spPr>
          <a:xfrm>
            <a:off x="818238" y="2046039"/>
            <a:ext cx="15794" cy="15797"/>
          </a:xfrm>
          <a:prstGeom prst="rect">
            <a:avLst/>
          </a:prstGeom>
        </p:spPr>
      </p:pic>
      <p:pic>
        <p:nvPicPr>
          <p:cNvPr id="47" name="Image 41" descr="preencoded.png">    </p:cNvPr>
          <p:cNvPicPr>
            <a:picLocks noChangeAspect="1"/>
          </p:cNvPicPr>
          <p:nvPr/>
        </p:nvPicPr>
        <p:blipFill>
          <a:blip r:embed="rId42"/>
          <a:stretch>
            <a:fillRect/>
          </a:stretch>
        </p:blipFill>
        <p:spPr>
          <a:xfrm>
            <a:off x="790463" y="2112841"/>
            <a:ext cx="15794" cy="15797"/>
          </a:xfrm>
          <a:prstGeom prst="rect">
            <a:avLst/>
          </a:prstGeom>
        </p:spPr>
      </p:pic>
      <p:pic>
        <p:nvPicPr>
          <p:cNvPr id="48" name="Image 42" descr="preencoded.png">    </p:cNvPr>
          <p:cNvPicPr>
            <a:picLocks noChangeAspect="1"/>
          </p:cNvPicPr>
          <p:nvPr/>
        </p:nvPicPr>
        <p:blipFill>
          <a:blip r:embed="rId43"/>
          <a:stretch>
            <a:fillRect/>
          </a:stretch>
        </p:blipFill>
        <p:spPr>
          <a:xfrm>
            <a:off x="781664" y="2136153"/>
            <a:ext cx="15794" cy="15797"/>
          </a:xfrm>
          <a:prstGeom prst="rect">
            <a:avLst/>
          </a:prstGeom>
        </p:spPr>
      </p:pic>
      <p:pic>
        <p:nvPicPr>
          <p:cNvPr id="49" name="Image 43" descr="preencoded.png">    </p:cNvPr>
          <p:cNvPicPr>
            <a:picLocks noChangeAspect="1"/>
          </p:cNvPicPr>
          <p:nvPr/>
        </p:nvPicPr>
        <p:blipFill>
          <a:blip r:embed="rId44"/>
          <a:stretch>
            <a:fillRect/>
          </a:stretch>
        </p:blipFill>
        <p:spPr>
          <a:xfrm>
            <a:off x="808881" y="1910410"/>
            <a:ext cx="15943" cy="15935"/>
          </a:xfrm>
          <a:prstGeom prst="rect">
            <a:avLst/>
          </a:prstGeom>
        </p:spPr>
      </p:pic>
      <p:pic>
        <p:nvPicPr>
          <p:cNvPr id="50" name="Image 44" descr="preencoded.png">    </p:cNvPr>
          <p:cNvPicPr>
            <a:picLocks noChangeAspect="1"/>
          </p:cNvPicPr>
          <p:nvPr/>
        </p:nvPicPr>
        <p:blipFill>
          <a:blip r:embed="rId45"/>
          <a:stretch>
            <a:fillRect/>
          </a:stretch>
        </p:blipFill>
        <p:spPr>
          <a:xfrm>
            <a:off x="819429" y="1933091"/>
            <a:ext cx="15925" cy="15925"/>
          </a:xfrm>
          <a:prstGeom prst="rect">
            <a:avLst/>
          </a:prstGeom>
        </p:spPr>
      </p:pic>
      <p:pic>
        <p:nvPicPr>
          <p:cNvPr id="51" name="Image 45" descr="preencoded.png">    </p:cNvPr>
          <p:cNvPicPr>
            <a:picLocks noChangeAspect="1"/>
          </p:cNvPicPr>
          <p:nvPr/>
        </p:nvPicPr>
        <p:blipFill>
          <a:blip r:embed="rId46"/>
          <a:stretch>
            <a:fillRect/>
          </a:stretch>
        </p:blipFill>
        <p:spPr>
          <a:xfrm>
            <a:off x="798891" y="1887475"/>
            <a:ext cx="15943" cy="15935"/>
          </a:xfrm>
          <a:prstGeom prst="rect">
            <a:avLst/>
          </a:prstGeom>
        </p:spPr>
      </p:pic>
      <p:pic>
        <p:nvPicPr>
          <p:cNvPr id="52" name="Image 46" descr="preencoded.png">    </p:cNvPr>
          <p:cNvPicPr>
            <a:picLocks noChangeAspect="1"/>
          </p:cNvPicPr>
          <p:nvPr/>
        </p:nvPicPr>
        <p:blipFill>
          <a:blip r:embed="rId47"/>
          <a:stretch>
            <a:fillRect/>
          </a:stretch>
        </p:blipFill>
        <p:spPr>
          <a:xfrm>
            <a:off x="780529" y="1842254"/>
            <a:ext cx="15943" cy="15935"/>
          </a:xfrm>
          <a:prstGeom prst="rect">
            <a:avLst/>
          </a:prstGeom>
        </p:spPr>
      </p:pic>
      <p:pic>
        <p:nvPicPr>
          <p:cNvPr id="53" name="Image 47" descr="preencoded.png">    </p:cNvPr>
          <p:cNvPicPr>
            <a:picLocks noChangeAspect="1"/>
          </p:cNvPicPr>
          <p:nvPr/>
        </p:nvPicPr>
        <p:blipFill>
          <a:blip r:embed="rId48"/>
          <a:stretch>
            <a:fillRect/>
          </a:stretch>
        </p:blipFill>
        <p:spPr>
          <a:xfrm>
            <a:off x="790445" y="1866523"/>
            <a:ext cx="15925" cy="15925"/>
          </a:xfrm>
          <a:prstGeom prst="rect">
            <a:avLst/>
          </a:prstGeom>
        </p:spPr>
      </p:pic>
      <p:pic>
        <p:nvPicPr>
          <p:cNvPr id="54" name="Image 48" descr="preencoded.png">    </p:cNvPr>
          <p:cNvPicPr>
            <a:picLocks noChangeAspect="1"/>
          </p:cNvPicPr>
          <p:nvPr/>
        </p:nvPicPr>
        <p:blipFill>
          <a:blip r:embed="rId49"/>
          <a:stretch>
            <a:fillRect/>
          </a:stretch>
        </p:blipFill>
        <p:spPr>
          <a:xfrm>
            <a:off x="565166" y="3061004"/>
            <a:ext cx="11311" cy="10181"/>
          </a:xfrm>
          <a:prstGeom prst="rect">
            <a:avLst/>
          </a:prstGeom>
        </p:spPr>
      </p:pic>
      <p:pic>
        <p:nvPicPr>
          <p:cNvPr id="55" name="Image 49" descr="preencoded.png">    </p:cNvPr>
          <p:cNvPicPr>
            <a:picLocks noChangeAspect="1"/>
          </p:cNvPicPr>
          <p:nvPr/>
        </p:nvPicPr>
        <p:blipFill>
          <a:blip r:embed="rId50"/>
          <a:stretch>
            <a:fillRect/>
          </a:stretch>
        </p:blipFill>
        <p:spPr>
          <a:xfrm>
            <a:off x="565166" y="3039511"/>
            <a:ext cx="11311" cy="10181"/>
          </a:xfrm>
          <a:prstGeom prst="rect">
            <a:avLst/>
          </a:prstGeom>
        </p:spPr>
      </p:pic>
      <p:pic>
        <p:nvPicPr>
          <p:cNvPr id="56" name="Image 50" descr="preencoded.png">    </p:cNvPr>
          <p:cNvPicPr>
            <a:picLocks noChangeAspect="1"/>
          </p:cNvPicPr>
          <p:nvPr/>
        </p:nvPicPr>
        <p:blipFill>
          <a:blip r:embed="rId51"/>
          <a:stretch>
            <a:fillRect/>
          </a:stretch>
        </p:blipFill>
        <p:spPr>
          <a:xfrm>
            <a:off x="561770" y="3081367"/>
            <a:ext cx="14706" cy="11312"/>
          </a:xfrm>
          <a:prstGeom prst="rect">
            <a:avLst/>
          </a:prstGeom>
        </p:spPr>
      </p:pic>
      <p:pic>
        <p:nvPicPr>
          <p:cNvPr id="57" name="Image 51" descr="preencoded.png">    </p:cNvPr>
          <p:cNvPicPr>
            <a:picLocks noChangeAspect="1"/>
          </p:cNvPicPr>
          <p:nvPr/>
        </p:nvPicPr>
        <p:blipFill>
          <a:blip r:embed="rId52"/>
          <a:stretch>
            <a:fillRect/>
          </a:stretch>
        </p:blipFill>
        <p:spPr>
          <a:xfrm>
            <a:off x="698636" y="3081367"/>
            <a:ext cx="11311" cy="11312"/>
          </a:xfrm>
          <a:prstGeom prst="rect">
            <a:avLst/>
          </a:prstGeom>
        </p:spPr>
      </p:pic>
      <p:pic>
        <p:nvPicPr>
          <p:cNvPr id="58" name="Image 52" descr="preencoded.png">    </p:cNvPr>
          <p:cNvPicPr>
            <a:picLocks noChangeAspect="1"/>
          </p:cNvPicPr>
          <p:nvPr/>
        </p:nvPicPr>
        <p:blipFill>
          <a:blip r:embed="rId53"/>
          <a:stretch>
            <a:fillRect/>
          </a:stretch>
        </p:blipFill>
        <p:spPr>
          <a:xfrm>
            <a:off x="654527" y="3081367"/>
            <a:ext cx="11311" cy="11312"/>
          </a:xfrm>
          <a:prstGeom prst="rect">
            <a:avLst/>
          </a:prstGeom>
        </p:spPr>
      </p:pic>
      <p:pic>
        <p:nvPicPr>
          <p:cNvPr id="59" name="Image 53" descr="preencoded.png">    </p:cNvPr>
          <p:cNvPicPr>
            <a:picLocks noChangeAspect="1"/>
          </p:cNvPicPr>
          <p:nvPr/>
        </p:nvPicPr>
        <p:blipFill>
          <a:blip r:embed="rId54"/>
          <a:stretch>
            <a:fillRect/>
          </a:stretch>
        </p:blipFill>
        <p:spPr>
          <a:xfrm>
            <a:off x="609274" y="3081367"/>
            <a:ext cx="11320" cy="11312"/>
          </a:xfrm>
          <a:prstGeom prst="rect">
            <a:avLst/>
          </a:prstGeom>
        </p:spPr>
      </p:pic>
      <p:pic>
        <p:nvPicPr>
          <p:cNvPr id="60" name="Image 54" descr="preencoded.png">    </p:cNvPr>
          <p:cNvPicPr>
            <a:picLocks noChangeAspect="1"/>
          </p:cNvPicPr>
          <p:nvPr/>
        </p:nvPicPr>
        <p:blipFill>
          <a:blip r:embed="rId55"/>
          <a:stretch>
            <a:fillRect/>
          </a:stretch>
        </p:blipFill>
        <p:spPr>
          <a:xfrm>
            <a:off x="586653" y="3081367"/>
            <a:ext cx="11311" cy="11312"/>
          </a:xfrm>
          <a:prstGeom prst="rect">
            <a:avLst/>
          </a:prstGeom>
        </p:spPr>
      </p:pic>
      <p:pic>
        <p:nvPicPr>
          <p:cNvPr id="61" name="Image 55" descr="preencoded.png">    </p:cNvPr>
          <p:cNvPicPr>
            <a:picLocks noChangeAspect="1"/>
          </p:cNvPicPr>
          <p:nvPr/>
        </p:nvPicPr>
        <p:blipFill>
          <a:blip r:embed="rId56"/>
          <a:stretch>
            <a:fillRect/>
          </a:stretch>
        </p:blipFill>
        <p:spPr>
          <a:xfrm>
            <a:off x="631906" y="3081367"/>
            <a:ext cx="11311" cy="11312"/>
          </a:xfrm>
          <a:prstGeom prst="rect">
            <a:avLst/>
          </a:prstGeom>
        </p:spPr>
      </p:pic>
      <p:pic>
        <p:nvPicPr>
          <p:cNvPr id="62" name="Image 56" descr="preencoded.png">    </p:cNvPr>
          <p:cNvPicPr>
            <a:picLocks noChangeAspect="1"/>
          </p:cNvPicPr>
          <p:nvPr/>
        </p:nvPicPr>
        <p:blipFill>
          <a:blip r:embed="rId57"/>
          <a:stretch>
            <a:fillRect/>
          </a:stretch>
        </p:blipFill>
        <p:spPr>
          <a:xfrm>
            <a:off x="676015" y="3081367"/>
            <a:ext cx="11311" cy="11312"/>
          </a:xfrm>
          <a:prstGeom prst="rect">
            <a:avLst/>
          </a:prstGeom>
        </p:spPr>
      </p:pic>
      <p:pic>
        <p:nvPicPr>
          <p:cNvPr id="63" name="Image 57" descr="preencoded.png">    </p:cNvPr>
          <p:cNvPicPr>
            <a:picLocks noChangeAspect="1"/>
          </p:cNvPicPr>
          <p:nvPr/>
        </p:nvPicPr>
        <p:blipFill>
          <a:blip r:embed="rId58"/>
          <a:stretch>
            <a:fillRect/>
          </a:stretch>
        </p:blipFill>
        <p:spPr>
          <a:xfrm>
            <a:off x="721258" y="3081367"/>
            <a:ext cx="11311" cy="11312"/>
          </a:xfrm>
          <a:prstGeom prst="rect">
            <a:avLst/>
          </a:prstGeom>
        </p:spPr>
      </p:pic>
      <p:pic>
        <p:nvPicPr>
          <p:cNvPr id="64" name="Image 58" descr="preencoded.png">    </p:cNvPr>
          <p:cNvPicPr>
            <a:picLocks noChangeAspect="1"/>
          </p:cNvPicPr>
          <p:nvPr/>
        </p:nvPicPr>
        <p:blipFill>
          <a:blip r:embed="rId59"/>
          <a:stretch>
            <a:fillRect/>
          </a:stretch>
        </p:blipFill>
        <p:spPr>
          <a:xfrm>
            <a:off x="721258" y="3103991"/>
            <a:ext cx="11311" cy="12443"/>
          </a:xfrm>
          <a:prstGeom prst="rect">
            <a:avLst/>
          </a:prstGeom>
        </p:spPr>
      </p:pic>
      <p:pic>
        <p:nvPicPr>
          <p:cNvPr id="65" name="Image 59" descr="preencoded.png">    </p:cNvPr>
          <p:cNvPicPr>
            <a:picLocks noChangeAspect="1"/>
          </p:cNvPicPr>
          <p:nvPr/>
        </p:nvPicPr>
        <p:blipFill>
          <a:blip r:embed="rId60"/>
          <a:stretch>
            <a:fillRect/>
          </a:stretch>
        </p:blipFill>
        <p:spPr>
          <a:xfrm>
            <a:off x="721258" y="3128876"/>
            <a:ext cx="11311" cy="12443"/>
          </a:xfrm>
          <a:prstGeom prst="rect">
            <a:avLst/>
          </a:prstGeom>
        </p:spPr>
      </p:pic>
      <p:pic>
        <p:nvPicPr>
          <p:cNvPr id="66" name="Image 60" descr="preencoded.png">    </p:cNvPr>
          <p:cNvPicPr>
            <a:picLocks noChangeAspect="1"/>
          </p:cNvPicPr>
          <p:nvPr/>
        </p:nvPicPr>
        <p:blipFill>
          <a:blip r:embed="rId61"/>
          <a:stretch>
            <a:fillRect/>
          </a:stretch>
        </p:blipFill>
        <p:spPr>
          <a:xfrm>
            <a:off x="428281" y="3081367"/>
            <a:ext cx="11311" cy="11312"/>
          </a:xfrm>
          <a:prstGeom prst="rect">
            <a:avLst/>
          </a:prstGeom>
        </p:spPr>
      </p:pic>
      <p:pic>
        <p:nvPicPr>
          <p:cNvPr id="67" name="Image 61" descr="preencoded.png">    </p:cNvPr>
          <p:cNvPicPr>
            <a:picLocks noChangeAspect="1"/>
          </p:cNvPicPr>
          <p:nvPr/>
        </p:nvPicPr>
        <p:blipFill>
          <a:blip r:embed="rId62"/>
          <a:stretch>
            <a:fillRect/>
          </a:stretch>
        </p:blipFill>
        <p:spPr>
          <a:xfrm>
            <a:off x="450912" y="3081367"/>
            <a:ext cx="11311" cy="11312"/>
          </a:xfrm>
          <a:prstGeom prst="rect">
            <a:avLst/>
          </a:prstGeom>
        </p:spPr>
      </p:pic>
      <p:pic>
        <p:nvPicPr>
          <p:cNvPr id="68" name="Image 62" descr="preencoded.png">    </p:cNvPr>
          <p:cNvPicPr>
            <a:picLocks noChangeAspect="1"/>
          </p:cNvPicPr>
          <p:nvPr/>
        </p:nvPicPr>
        <p:blipFill>
          <a:blip r:embed="rId63"/>
          <a:stretch>
            <a:fillRect/>
          </a:stretch>
        </p:blipFill>
        <p:spPr>
          <a:xfrm>
            <a:off x="517643" y="3081367"/>
            <a:ext cx="11311" cy="11312"/>
          </a:xfrm>
          <a:prstGeom prst="rect">
            <a:avLst/>
          </a:prstGeom>
        </p:spPr>
      </p:pic>
      <p:pic>
        <p:nvPicPr>
          <p:cNvPr id="69" name="Image 63" descr="preencoded.png">    </p:cNvPr>
          <p:cNvPicPr>
            <a:picLocks noChangeAspect="1"/>
          </p:cNvPicPr>
          <p:nvPr/>
        </p:nvPicPr>
        <p:blipFill>
          <a:blip r:embed="rId64"/>
          <a:stretch>
            <a:fillRect/>
          </a:stretch>
        </p:blipFill>
        <p:spPr>
          <a:xfrm>
            <a:off x="539139" y="3081367"/>
            <a:ext cx="11311" cy="11312"/>
          </a:xfrm>
          <a:prstGeom prst="rect">
            <a:avLst/>
          </a:prstGeom>
        </p:spPr>
      </p:pic>
      <p:pic>
        <p:nvPicPr>
          <p:cNvPr id="70" name="Image 64" descr="preencoded.png">    </p:cNvPr>
          <p:cNvPicPr>
            <a:picLocks noChangeAspect="1"/>
          </p:cNvPicPr>
          <p:nvPr/>
        </p:nvPicPr>
        <p:blipFill>
          <a:blip r:embed="rId65"/>
          <a:stretch>
            <a:fillRect/>
          </a:stretch>
        </p:blipFill>
        <p:spPr>
          <a:xfrm>
            <a:off x="473534" y="3081367"/>
            <a:ext cx="11311" cy="11312"/>
          </a:xfrm>
          <a:prstGeom prst="rect">
            <a:avLst/>
          </a:prstGeom>
        </p:spPr>
      </p:pic>
      <p:pic>
        <p:nvPicPr>
          <p:cNvPr id="71" name="Image 65" descr="preencoded.png">    </p:cNvPr>
          <p:cNvPicPr>
            <a:picLocks noChangeAspect="1"/>
          </p:cNvPicPr>
          <p:nvPr/>
        </p:nvPicPr>
        <p:blipFill>
          <a:blip r:embed="rId66"/>
          <a:stretch>
            <a:fillRect/>
          </a:stretch>
        </p:blipFill>
        <p:spPr>
          <a:xfrm>
            <a:off x="495021" y="3081367"/>
            <a:ext cx="11311" cy="11312"/>
          </a:xfrm>
          <a:prstGeom prst="rect">
            <a:avLst/>
          </a:prstGeom>
        </p:spPr>
      </p:pic>
      <p:pic>
        <p:nvPicPr>
          <p:cNvPr id="72" name="Image 66" descr="preencoded.png">    </p:cNvPr>
          <p:cNvPicPr>
            <a:picLocks noChangeAspect="1"/>
          </p:cNvPicPr>
          <p:nvPr/>
        </p:nvPicPr>
        <p:blipFill>
          <a:blip r:embed="rId67"/>
          <a:stretch>
            <a:fillRect/>
          </a:stretch>
        </p:blipFill>
        <p:spPr>
          <a:xfrm>
            <a:off x="405659" y="3081367"/>
            <a:ext cx="11311" cy="11312"/>
          </a:xfrm>
          <a:prstGeom prst="rect">
            <a:avLst/>
          </a:prstGeom>
        </p:spPr>
      </p:pic>
      <p:pic>
        <p:nvPicPr>
          <p:cNvPr id="73" name="Image 67" descr="preencoded.png">    </p:cNvPr>
          <p:cNvPicPr>
            <a:picLocks noChangeAspect="1"/>
          </p:cNvPicPr>
          <p:nvPr/>
        </p:nvPicPr>
        <p:blipFill>
          <a:blip r:embed="rId68"/>
          <a:stretch>
            <a:fillRect/>
          </a:stretch>
        </p:blipFill>
        <p:spPr>
          <a:xfrm>
            <a:off x="405659" y="3105121"/>
            <a:ext cx="11311" cy="12443"/>
          </a:xfrm>
          <a:prstGeom prst="rect">
            <a:avLst/>
          </a:prstGeom>
        </p:spPr>
      </p:pic>
      <p:pic>
        <p:nvPicPr>
          <p:cNvPr id="74" name="Image 68" descr="preencoded.png">    </p:cNvPr>
          <p:cNvPicPr>
            <a:picLocks noChangeAspect="1"/>
          </p:cNvPicPr>
          <p:nvPr/>
        </p:nvPicPr>
        <p:blipFill>
          <a:blip r:embed="rId69"/>
          <a:stretch>
            <a:fillRect/>
          </a:stretch>
        </p:blipFill>
        <p:spPr>
          <a:xfrm>
            <a:off x="405659" y="3130008"/>
            <a:ext cx="11311" cy="12443"/>
          </a:xfrm>
          <a:prstGeom prst="rect">
            <a:avLst/>
          </a:prstGeom>
        </p:spPr>
      </p:pic>
      <p:pic>
        <p:nvPicPr>
          <p:cNvPr id="75" name="Image 69" descr="preencoded.png">    </p:cNvPr>
          <p:cNvPicPr>
            <a:picLocks noChangeAspect="1"/>
          </p:cNvPicPr>
          <p:nvPr/>
        </p:nvPicPr>
        <p:blipFill>
          <a:blip r:embed="rId70"/>
          <a:stretch>
            <a:fillRect/>
          </a:stretch>
        </p:blipFill>
        <p:spPr>
          <a:xfrm>
            <a:off x="285750" y="3153763"/>
            <a:ext cx="257919" cy="219455"/>
          </a:xfrm>
          <a:prstGeom prst="rect">
            <a:avLst/>
          </a:prstGeom>
        </p:spPr>
      </p:pic>
      <p:pic>
        <p:nvPicPr>
          <p:cNvPr id="76" name="Image 70" descr="preencoded.png">    </p:cNvPr>
          <p:cNvPicPr>
            <a:picLocks noChangeAspect="1"/>
          </p:cNvPicPr>
          <p:nvPr/>
        </p:nvPicPr>
        <p:blipFill>
          <a:blip r:embed="rId71"/>
          <a:stretch>
            <a:fillRect/>
          </a:stretch>
        </p:blipFill>
        <p:spPr>
          <a:xfrm>
            <a:off x="594568" y="3152632"/>
            <a:ext cx="257919" cy="221718"/>
          </a:xfrm>
          <a:prstGeom prst="rect">
            <a:avLst/>
          </a:prstGeom>
        </p:spPr>
      </p:pic>
      <p:pic>
        <p:nvPicPr>
          <p:cNvPr id="77" name="Image 71" descr="preencoded.png">    </p:cNvPr>
          <p:cNvPicPr>
            <a:picLocks noChangeAspect="1"/>
          </p:cNvPicPr>
          <p:nvPr/>
        </p:nvPicPr>
        <p:blipFill>
          <a:blip r:embed="rId72"/>
          <a:stretch>
            <a:fillRect/>
          </a:stretch>
        </p:blipFill>
        <p:spPr>
          <a:xfrm>
            <a:off x="439592" y="2809875"/>
            <a:ext cx="257910" cy="220587"/>
          </a:xfrm>
          <a:prstGeom prst="rect">
            <a:avLst/>
          </a:prstGeom>
        </p:spPr>
      </p:pic>
      <p:sp>
        <p:nvSpPr>
          <p:cNvPr id="78" name="Text 4"/>
          <p:cNvSpPr/>
          <p:nvPr/>
        </p:nvSpPr>
        <p:spPr>
          <a:xfrm>
            <a:off x="1376363" y="1843088"/>
            <a:ext cx="2771775" cy="309563"/>
          </a:xfrm>
          <a:prstGeom prst="rect">
            <a:avLst/>
          </a:prstGeom>
          <a:noFill/>
          <a:ln/>
        </p:spPr>
        <p:txBody>
          <a:bodyPr wrap="square" rtlCol="0" anchor="ctr"/>
          <a:lstStyle/>
          <a:p>
            <a:pPr algn="l" indent="0" marL="0">
              <a:lnSpc>
                <a:spcPts val="2438"/>
              </a:lnSpc>
              <a:buNone/>
            </a:pPr>
            <a:r>
              <a:rPr lang="en-US" sz="2438" spc="-49" kern="0" dirty="0">
                <a:solidFill>
                  <a:srgbClr val="000000">
                    <a:alpha val="99000"/>
                  </a:srgbClr>
                </a:solidFill>
                <a:latin typeface="Work Sans" pitchFamily="34" charset="0"/>
                <a:ea typeface="Work Sans" pitchFamily="34" charset="-122"/>
                <a:cs typeface="Work Sans" pitchFamily="34" charset="-120"/>
              </a:rPr>
              <a:t>REST API</a:t>
            </a:r>
            <a:endParaRPr lang="en-US" sz="2438" dirty="0"/>
          </a:p>
        </p:txBody>
      </p:sp>
      <p:sp>
        <p:nvSpPr>
          <p:cNvPr id="79" name="Text 5"/>
          <p:cNvSpPr/>
          <p:nvPr/>
        </p:nvSpPr>
        <p:spPr>
          <a:xfrm>
            <a:off x="1376363" y="3971925"/>
            <a:ext cx="2771775" cy="309563"/>
          </a:xfrm>
          <a:prstGeom prst="rect">
            <a:avLst/>
          </a:prstGeom>
          <a:noFill/>
          <a:ln/>
        </p:spPr>
        <p:txBody>
          <a:bodyPr wrap="square" rtlCol="0" anchor="ctr"/>
          <a:lstStyle/>
          <a:p>
            <a:pPr algn="l" indent="0" marL="0">
              <a:lnSpc>
                <a:spcPts val="2438"/>
              </a:lnSpc>
              <a:buNone/>
            </a:pPr>
            <a:r>
              <a:rPr lang="en-US" sz="2438" spc="-49" kern="0" dirty="0">
                <a:solidFill>
                  <a:srgbClr val="000000">
                    <a:alpha val="99000"/>
                  </a:srgbClr>
                </a:solidFill>
                <a:latin typeface="Work Sans" pitchFamily="34" charset="0"/>
                <a:ea typeface="Work Sans" pitchFamily="34" charset="-122"/>
                <a:cs typeface="Work Sans" pitchFamily="34" charset="-120"/>
              </a:rPr>
              <a:t>METODE AGILE</a:t>
            </a:r>
            <a:endParaRPr lang="en-US" sz="2438" dirty="0"/>
          </a:p>
        </p:txBody>
      </p:sp>
      <p:sp>
        <p:nvSpPr>
          <p:cNvPr id="80" name="Text 6"/>
          <p:cNvSpPr/>
          <p:nvPr/>
        </p:nvSpPr>
        <p:spPr>
          <a:xfrm>
            <a:off x="6157913" y="1800225"/>
            <a:ext cx="3252788" cy="400050"/>
          </a:xfrm>
          <a:prstGeom prst="rect">
            <a:avLst/>
          </a:prstGeom>
          <a:noFill/>
          <a:ln/>
        </p:spPr>
        <p:txBody>
          <a:bodyPr wrap="square" rtlCol="0" anchor="ctr"/>
          <a:lstStyle/>
          <a:p>
            <a:pPr algn="l" indent="0" marL="0">
              <a:lnSpc>
                <a:spcPts val="1050"/>
              </a:lnSpc>
              <a:buNone/>
            </a:pPr>
            <a:r>
              <a:rPr lang="en-US" sz="900" dirty="0">
                <a:solidFill>
                  <a:srgbClr val="000000">
                    <a:alpha val="99000"/>
                  </a:srgbClr>
                </a:solidFill>
                <a:latin typeface="Work Sans" pitchFamily="34" charset="0"/>
                <a:ea typeface="Work Sans" pitchFamily="34" charset="-122"/>
                <a:cs typeface="Work Sans" pitchFamily="34" charset="-120"/>
              </a:rPr>
              <a:t>Use this slide to gauge the participant’s feelings about each feature. It can be helpful to link to a slide in the deck that showcases each feature.</a:t>
            </a:r>
            <a:endParaRPr lang="en-US" sz="900" dirty="0"/>
          </a:p>
        </p:txBody>
      </p:sp>
      <p:sp>
        <p:nvSpPr>
          <p:cNvPr id="81" name="Text 7"/>
          <p:cNvSpPr/>
          <p:nvPr/>
        </p:nvSpPr>
        <p:spPr>
          <a:xfrm>
            <a:off x="4424363" y="1947863"/>
            <a:ext cx="1457325" cy="104775"/>
          </a:xfrm>
          <a:prstGeom prst="rect">
            <a:avLst/>
          </a:prstGeom>
          <a:noFill/>
          <a:ln/>
        </p:spPr>
        <p:txBody>
          <a:bodyPr wrap="square" rtlCol="0" anchor="ctr"/>
          <a:lstStyle/>
          <a:p>
            <a:pPr algn="l" indent="0" marL="0">
              <a:lnSpc>
                <a:spcPts val="826"/>
              </a:lnSpc>
              <a:buNone/>
            </a:pPr>
            <a:r>
              <a:rPr lang="en-US" sz="750" spc="75" kern="0" dirty="0">
                <a:solidFill>
                  <a:srgbClr val="000000">
                    <a:alpha val="99000"/>
                  </a:srgbClr>
                </a:solidFill>
                <a:latin typeface="Cutive Mono" pitchFamily="34" charset="0"/>
                <a:ea typeface="Cutive Mono" pitchFamily="34" charset="-122"/>
                <a:cs typeface="Cutive Mono" pitchFamily="34" charset="-120"/>
              </a:rPr>
              <a:t>LINK TO FEATURE</a:t>
            </a:r>
            <a:endParaRPr lang="en-US" sz="750" dirty="0"/>
          </a:p>
        </p:txBody>
      </p:sp>
      <p:sp>
        <p:nvSpPr>
          <p:cNvPr id="82" name="Text 8"/>
          <p:cNvSpPr/>
          <p:nvPr/>
        </p:nvSpPr>
        <p:spPr>
          <a:xfrm>
            <a:off x="1376363" y="2881313"/>
            <a:ext cx="2771775" cy="309563"/>
          </a:xfrm>
          <a:prstGeom prst="rect">
            <a:avLst/>
          </a:prstGeom>
          <a:noFill/>
          <a:ln/>
        </p:spPr>
        <p:txBody>
          <a:bodyPr wrap="square" rtlCol="0" anchor="ctr"/>
          <a:lstStyle/>
          <a:p>
            <a:pPr algn="l" indent="0" marL="0">
              <a:lnSpc>
                <a:spcPts val="2438"/>
              </a:lnSpc>
              <a:buNone/>
            </a:pPr>
            <a:r>
              <a:rPr lang="en-US" sz="2438" spc="-49" kern="0" dirty="0">
                <a:solidFill>
                  <a:srgbClr val="000000">
                    <a:alpha val="99000"/>
                  </a:srgbClr>
                </a:solidFill>
                <a:latin typeface="Work Sans" pitchFamily="34" charset="0"/>
                <a:ea typeface="Work Sans" pitchFamily="34" charset="-122"/>
                <a:cs typeface="Work Sans" pitchFamily="34" charset="-120"/>
              </a:rPr>
              <a:t>BLACK BOX</a:t>
            </a:r>
            <a:endParaRPr lang="en-US" sz="2438" dirty="0"/>
          </a:p>
        </p:txBody>
      </p:sp>
      <p:sp>
        <p:nvSpPr>
          <p:cNvPr id="83" name="Text 9"/>
          <p:cNvSpPr/>
          <p:nvPr/>
        </p:nvSpPr>
        <p:spPr>
          <a:xfrm>
            <a:off x="4424363" y="2986088"/>
            <a:ext cx="1457325" cy="104775"/>
          </a:xfrm>
          <a:prstGeom prst="rect">
            <a:avLst/>
          </a:prstGeom>
          <a:noFill/>
          <a:ln/>
        </p:spPr>
        <p:txBody>
          <a:bodyPr wrap="square" rtlCol="0" anchor="ctr"/>
          <a:lstStyle/>
          <a:p>
            <a:pPr algn="l" indent="0" marL="0">
              <a:lnSpc>
                <a:spcPts val="826"/>
              </a:lnSpc>
              <a:buNone/>
            </a:pPr>
            <a:r>
              <a:rPr lang="en-US" sz="750" spc="75" kern="0" dirty="0">
                <a:solidFill>
                  <a:srgbClr val="000000">
                    <a:alpha val="99000"/>
                  </a:srgbClr>
                </a:solidFill>
                <a:latin typeface="Cutive Mono" pitchFamily="34" charset="0"/>
                <a:ea typeface="Cutive Mono" pitchFamily="34" charset="-122"/>
                <a:cs typeface="Cutive Mono" pitchFamily="34" charset="-120"/>
              </a:rPr>
              <a:t>LINK TO FEATURE</a:t>
            </a:r>
            <a:endParaRPr lang="en-US" sz="750" dirty="0"/>
          </a:p>
        </p:txBody>
      </p:sp>
      <p:sp>
        <p:nvSpPr>
          <p:cNvPr id="84" name="Text 10"/>
          <p:cNvSpPr/>
          <p:nvPr/>
        </p:nvSpPr>
        <p:spPr>
          <a:xfrm>
            <a:off x="6157913" y="2838450"/>
            <a:ext cx="3252788" cy="400050"/>
          </a:xfrm>
          <a:prstGeom prst="rect">
            <a:avLst/>
          </a:prstGeom>
          <a:noFill/>
          <a:ln/>
        </p:spPr>
        <p:txBody>
          <a:bodyPr wrap="square" rtlCol="0" anchor="ctr"/>
          <a:lstStyle/>
          <a:p>
            <a:pPr algn="l" indent="0" marL="0">
              <a:lnSpc>
                <a:spcPts val="1050"/>
              </a:lnSpc>
              <a:buNone/>
            </a:pPr>
            <a:r>
              <a:rPr lang="en-US" sz="900" dirty="0">
                <a:solidFill>
                  <a:srgbClr val="000000">
                    <a:alpha val="99000"/>
                  </a:srgbClr>
                </a:solidFill>
                <a:latin typeface="Work Sans" pitchFamily="34" charset="0"/>
                <a:ea typeface="Work Sans" pitchFamily="34" charset="-122"/>
                <a:cs typeface="Work Sans" pitchFamily="34" charset="-120"/>
              </a:rPr>
              <a:t>If you’re collecting feedback async, this is a handy slide to have participants fill out themselves.</a:t>
            </a:r>
            <a:endParaRPr lang="en-US" sz="900" dirty="0"/>
          </a:p>
        </p:txBody>
      </p:sp>
      <p:sp>
        <p:nvSpPr>
          <p:cNvPr id="85" name="Text 11"/>
          <p:cNvSpPr/>
          <p:nvPr/>
        </p:nvSpPr>
        <p:spPr>
          <a:xfrm>
            <a:off x="6157913" y="3924300"/>
            <a:ext cx="3252788" cy="400050"/>
          </a:xfrm>
          <a:prstGeom prst="rect">
            <a:avLst/>
          </a:prstGeom>
          <a:noFill/>
          <a:ln/>
        </p:spPr>
        <p:txBody>
          <a:bodyPr wrap="square" rtlCol="0" anchor="ctr"/>
          <a:lstStyle/>
          <a:p>
            <a:pPr algn="l" indent="0" marL="0">
              <a:lnSpc>
                <a:spcPts val="1050"/>
              </a:lnSpc>
              <a:buNone/>
            </a:pPr>
            <a:r>
              <a:rPr lang="en-US" sz="900" dirty="0">
                <a:solidFill>
                  <a:srgbClr val="000000">
                    <a:alpha val="99000"/>
                  </a:srgbClr>
                </a:solidFill>
                <a:latin typeface="Work Sans" pitchFamily="34" charset="0"/>
                <a:ea typeface="Work Sans" pitchFamily="34" charset="-122"/>
                <a:cs typeface="Work Sans" pitchFamily="34" charset="-120"/>
              </a:rPr>
              <a:t>If you’re testing more than 3 features, it’s easiest to make another copy of this slide. If you’re only testing 1 or 2, chop the blocks you don’t need.</a:t>
            </a:r>
            <a:endParaRPr lang="en-US" sz="900" dirty="0"/>
          </a:p>
        </p:txBody>
      </p:sp>
      <p:sp>
        <p:nvSpPr>
          <p:cNvPr id="86" name="Text 12"/>
          <p:cNvSpPr/>
          <p:nvPr/>
        </p:nvSpPr>
        <p:spPr>
          <a:xfrm>
            <a:off x="4424363" y="4071938"/>
            <a:ext cx="1457325" cy="104775"/>
          </a:xfrm>
          <a:prstGeom prst="rect">
            <a:avLst/>
          </a:prstGeom>
          <a:noFill/>
          <a:ln/>
        </p:spPr>
        <p:txBody>
          <a:bodyPr wrap="square" rtlCol="0" anchor="ctr"/>
          <a:lstStyle/>
          <a:p>
            <a:pPr algn="l" indent="0" marL="0">
              <a:lnSpc>
                <a:spcPts val="826"/>
              </a:lnSpc>
              <a:buNone/>
            </a:pPr>
            <a:r>
              <a:rPr lang="en-US" sz="750" spc="75" kern="0" dirty="0">
                <a:solidFill>
                  <a:srgbClr val="000000">
                    <a:alpha val="99000"/>
                  </a:srgbClr>
                </a:solidFill>
                <a:latin typeface="Cutive Mono" pitchFamily="34" charset="0"/>
                <a:ea typeface="Cutive Mono" pitchFamily="34" charset="-122"/>
                <a:cs typeface="Cutive Mono" pitchFamily="34" charset="-120"/>
              </a:rPr>
              <a:t>LINK TO FEATURE</a:t>
            </a:r>
            <a:endParaRPr lang="en-US" sz="750" dirty="0"/>
          </a:p>
        </p:txBody>
      </p:sp>
      <p:sp>
        <p:nvSpPr>
          <p:cNvPr id="87" name="Text 13"/>
          <p:cNvSpPr/>
          <p:nvPr/>
        </p:nvSpPr>
        <p:spPr>
          <a:xfrm>
            <a:off x="190500" y="533400"/>
            <a:ext cx="4476750" cy="309563"/>
          </a:xfrm>
          <a:prstGeom prst="rect">
            <a:avLst/>
          </a:prstGeom>
          <a:noFill/>
          <a:ln/>
        </p:spPr>
        <p:txBody>
          <a:bodyPr wrap="square" rtlCol="0" anchor="ctr"/>
          <a:lstStyle/>
          <a:p>
            <a:pPr algn="l" indent="0" marL="0">
              <a:lnSpc>
                <a:spcPts val="2438"/>
              </a:lnSpc>
              <a:buNone/>
            </a:pPr>
            <a:r>
              <a:rPr lang="en-US" sz="2438" spc="-49" kern="0" dirty="0">
                <a:solidFill>
                  <a:srgbClr val="000000">
                    <a:alpha val="99000"/>
                  </a:srgbClr>
                </a:solidFill>
                <a:latin typeface="Work Sans" pitchFamily="34" charset="0"/>
                <a:ea typeface="Work Sans" pitchFamily="34" charset="-122"/>
                <a:cs typeface="Work Sans" pitchFamily="34" charset="-120"/>
              </a:rPr>
              <a:t>TINAJUAN PUSTAKA</a:t>
            </a:r>
            <a:endParaRPr lang="en-US" sz="2438" dirty="0"/>
          </a:p>
        </p:txBody>
      </p:sp>
      <p:sp>
        <p:nvSpPr>
          <p:cNvPr id="88" name="Text 14"/>
          <p:cNvSpPr/>
          <p:nvPr/>
        </p:nvSpPr>
        <p:spPr>
          <a:xfrm>
            <a:off x="190500" y="4886325"/>
            <a:ext cx="1852613" cy="114300"/>
          </a:xfrm>
          <a:prstGeom prst="rect">
            <a:avLst/>
          </a:prstGeom>
          <a:noFill/>
          <a:ln/>
        </p:spPr>
        <p:txBody>
          <a:bodyPr wrap="square" rtlCol="0" anchor="ctr"/>
          <a:lstStyle/>
          <a:p>
            <a:pPr algn="l" indent="0" marL="0">
              <a:lnSpc>
                <a:spcPts val="908"/>
              </a:lnSpc>
              <a:buNone/>
            </a:pPr>
            <a:r>
              <a:rPr lang="en-US" sz="825" spc="83" kern="0" dirty="0">
                <a:solidFill>
                  <a:srgbClr val="000000">
                    <a:alpha val="99000"/>
                  </a:srgbClr>
                </a:solidFill>
                <a:latin typeface="Cutive Mono" pitchFamily="34" charset="0"/>
                <a:ea typeface="Cutive Mono" pitchFamily="34" charset="-122"/>
                <a:cs typeface="Cutive Mono" pitchFamily="34" charset="-120"/>
              </a:rPr>
              <a:t>TEAM NAME</a:t>
            </a:r>
            <a:endParaRPr lang="en-US" sz="825" dirty="0"/>
          </a:p>
        </p:txBody>
      </p:sp>
      <p:sp>
        <p:nvSpPr>
          <p:cNvPr id="89" name="Text 15"/>
          <p:cNvSpPr/>
          <p:nvPr/>
        </p:nvSpPr>
        <p:spPr>
          <a:xfrm>
            <a:off x="7924800" y="4886325"/>
            <a:ext cx="1485900" cy="114300"/>
          </a:xfrm>
          <a:prstGeom prst="rect">
            <a:avLst/>
          </a:prstGeom>
          <a:noFill/>
          <a:ln/>
        </p:spPr>
        <p:txBody>
          <a:bodyPr wrap="square" rtlCol="0" anchor="ctr"/>
          <a:lstStyle/>
          <a:p>
            <a:pPr algn="r" indent="0" marL="0">
              <a:lnSpc>
                <a:spcPts val="908"/>
              </a:lnSpc>
              <a:buNone/>
            </a:pPr>
            <a:r>
              <a:rPr lang="en-US" sz="825" spc="83" kern="0" dirty="0">
                <a:solidFill>
                  <a:srgbClr val="000000">
                    <a:alpha val="99000"/>
                  </a:srgbClr>
                </a:solidFill>
                <a:latin typeface="Cutive Mono" pitchFamily="34" charset="0"/>
                <a:ea typeface="Cutive Mono" pitchFamily="34" charset="-122"/>
                <a:cs typeface="Cutive Mono" pitchFamily="34" charset="-120"/>
              </a:rPr>
              <a:t>TODAY’S DATE</a:t>
            </a:r>
            <a:endParaRPr lang="en-US" sz="825" dirty="0"/>
          </a:p>
        </p:txBody>
      </p:sp>
      <p:sp>
        <p:nvSpPr>
          <p:cNvPr id="90" name="Text 16"/>
          <p:cNvSpPr/>
          <p:nvPr/>
        </p:nvSpPr>
        <p:spPr>
          <a:xfrm>
            <a:off x="190500" y="142875"/>
            <a:ext cx="1338262" cy="114300"/>
          </a:xfrm>
          <a:prstGeom prst="rect">
            <a:avLst/>
          </a:prstGeom>
          <a:noFill/>
          <a:ln/>
        </p:spPr>
        <p:txBody>
          <a:bodyPr wrap="square" rtlCol="0" anchor="ctr"/>
          <a:lstStyle/>
          <a:p>
            <a:pPr algn="l" indent="0" marL="0">
              <a:lnSpc>
                <a:spcPts val="908"/>
              </a:lnSpc>
              <a:buNone/>
            </a:pPr>
            <a:r>
              <a:rPr lang="en-US" sz="825" spc="83" kern="0" dirty="0">
                <a:solidFill>
                  <a:srgbClr val="000000">
                    <a:alpha val="99000"/>
                  </a:srgbClr>
                </a:solidFill>
                <a:latin typeface="Cutive Mono" pitchFamily="34" charset="0"/>
                <a:ea typeface="Cutive Mono" pitchFamily="34" charset="-122"/>
                <a:cs typeface="Cutive Mono" pitchFamily="34" charset="-120"/>
              </a:rPr>
              <a:t>COMPANY NAME</a:t>
            </a:r>
            <a:endParaRPr lang="en-US" sz="8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Slide 37">
    <p:bg>
      <p:bgPr>
        <a:solidFill>
          <a:srgbClr val="EDE8D8"/>
        </a:solidFill>
      </p:bgPr>
    </p:bg>
    <p:spTree>
      <p:nvGrpSpPr>
        <p:cNvPr id="1" name=""/>
        <p:cNvGrpSpPr/>
        <p:nvPr/>
      </p:nvGrpSpPr>
      <p:grpSpPr>
        <a:xfrm>
          <a:off x="0" y="0"/>
          <a:ext cx="0" cy="0"/>
          <a:chOff x="0" y="0"/>
          <a:chExt cx="0" cy="0"/>
        </a:xfrm>
      </p:grpSpPr>
      <p:sp>
        <p:nvSpPr>
          <p:cNvPr id="2" name="Shape 0"/>
          <p:cNvSpPr/>
          <p:nvPr/>
        </p:nvSpPr>
        <p:spPr>
          <a:xfrm>
            <a:off x="885825" y="2138363"/>
            <a:ext cx="2366963" cy="871538"/>
          </a:xfrm>
          <a:prstGeom prst="rect">
            <a:avLst/>
          </a:prstGeom>
          <a:noFill/>
          <a:ln/>
        </p:spPr>
      </p:sp>
      <p:pic>
        <p:nvPicPr>
          <p:cNvPr id="3" name="Image 0" descr="preencoded.png">    </p:cNvPr>
          <p:cNvPicPr>
            <a:picLocks noChangeAspect="1"/>
          </p:cNvPicPr>
          <p:nvPr/>
        </p:nvPicPr>
        <p:blipFill>
          <a:blip r:embed="rId1"/>
          <a:stretch>
            <a:fillRect/>
          </a:stretch>
        </p:blipFill>
        <p:spPr>
          <a:xfrm>
            <a:off x="247650" y="247650"/>
            <a:ext cx="8896350" cy="4814888"/>
          </a:xfrm>
          <a:prstGeom prst="rect">
            <a:avLst/>
          </a:prstGeom>
        </p:spPr>
      </p:pic>
      <p:pic>
        <p:nvPicPr>
          <p:cNvPr id="4" name="Image 1" descr="preencoded.png">    </p:cNvPr>
          <p:cNvPicPr>
            <a:picLocks noChangeAspect="1"/>
          </p:cNvPicPr>
          <p:nvPr/>
        </p:nvPicPr>
        <p:blipFill>
          <a:blip r:embed="rId2"/>
          <a:stretch>
            <a:fillRect/>
          </a:stretch>
        </p:blipFill>
        <p:spPr>
          <a:xfrm>
            <a:off x="7386638" y="3224213"/>
            <a:ext cx="1757363" cy="1495425"/>
          </a:xfrm>
          <a:prstGeom prst="rect">
            <a:avLst/>
          </a:prstGeom>
        </p:spPr>
      </p:pic>
      <p:pic>
        <p:nvPicPr>
          <p:cNvPr id="5" name="Image 2" descr="preencoded.png">    </p:cNvPr>
          <p:cNvPicPr>
            <a:picLocks noChangeAspect="1"/>
          </p:cNvPicPr>
          <p:nvPr/>
        </p:nvPicPr>
        <p:blipFill>
          <a:blip r:embed="rId3"/>
          <a:stretch>
            <a:fillRect/>
          </a:stretch>
        </p:blipFill>
        <p:spPr>
          <a:xfrm>
            <a:off x="4772025" y="3224213"/>
            <a:ext cx="2614613" cy="1752600"/>
          </a:xfrm>
          <a:prstGeom prst="rect">
            <a:avLst/>
          </a:prstGeom>
        </p:spPr>
      </p:pic>
      <p:sp>
        <p:nvSpPr>
          <p:cNvPr id="6" name="Text 1"/>
          <p:cNvSpPr/>
          <p:nvPr/>
        </p:nvSpPr>
        <p:spPr>
          <a:xfrm>
            <a:off x="90488" y="76200"/>
            <a:ext cx="1281112"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DATE XX, 2024</a:t>
            </a:r>
            <a:endParaRPr lang="en-US" sz="825" dirty="0"/>
          </a:p>
        </p:txBody>
      </p:sp>
      <p:sp>
        <p:nvSpPr>
          <p:cNvPr id="7" name="Text 2"/>
          <p:cNvSpPr/>
          <p:nvPr/>
        </p:nvSpPr>
        <p:spPr>
          <a:xfrm>
            <a:off x="1300163" y="76200"/>
            <a:ext cx="1995488" cy="114300"/>
          </a:xfrm>
          <a:prstGeom prst="rect">
            <a:avLst/>
          </a:prstGeom>
          <a:noFill/>
          <a:ln/>
        </p:spPr>
        <p:txBody>
          <a:bodyPr wrap="square" rtlCol="0" anchor="ctr"/>
          <a:lstStyle/>
          <a:p>
            <a:pPr algn="l"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PRODUCT / FEATURE NAME</a:t>
            </a:r>
            <a:endParaRPr lang="en-US" sz="825" dirty="0"/>
          </a:p>
        </p:txBody>
      </p:sp>
      <p:sp>
        <p:nvSpPr>
          <p:cNvPr id="8" name="Text 3"/>
          <p:cNvSpPr/>
          <p:nvPr/>
        </p:nvSpPr>
        <p:spPr>
          <a:xfrm>
            <a:off x="8101013" y="76200"/>
            <a:ext cx="1409700" cy="114300"/>
          </a:xfrm>
          <a:prstGeom prst="rect">
            <a:avLst/>
          </a:prstGeom>
          <a:noFill/>
          <a:ln/>
        </p:spPr>
        <p:txBody>
          <a:bodyPr wrap="square" rtlCol="0" anchor="ctr"/>
          <a:lstStyle/>
          <a:p>
            <a:pPr algn="r" indent="0" marL="0">
              <a:lnSpc>
                <a:spcPts val="908"/>
              </a:lnSpc>
              <a:buNone/>
            </a:pPr>
            <a:r>
              <a:rPr lang="en-US" sz="825" b="1" spc="58" kern="0" dirty="0">
                <a:solidFill>
                  <a:srgbClr val="000000">
                    <a:alpha val="99000"/>
                  </a:srgbClr>
                </a:solidFill>
                <a:latin typeface="Plus Jakarta Sans" pitchFamily="34" charset="0"/>
                <a:ea typeface="Plus Jakarta Sans" pitchFamily="34" charset="-122"/>
                <a:cs typeface="Plus Jakarta Sans" pitchFamily="34" charset="-120"/>
              </a:rPr>
              <a:t>COMPANY NAME</a:t>
            </a:r>
            <a:endParaRPr lang="en-US" sz="825" dirty="0"/>
          </a:p>
        </p:txBody>
      </p:sp>
      <p:sp>
        <p:nvSpPr>
          <p:cNvPr id="9" name="Text 4"/>
          <p:cNvSpPr/>
          <p:nvPr/>
        </p:nvSpPr>
        <p:spPr>
          <a:xfrm>
            <a:off x="885825" y="2138363"/>
            <a:ext cx="2824163" cy="285750"/>
          </a:xfrm>
          <a:prstGeom prst="rect">
            <a:avLst/>
          </a:prstGeom>
          <a:noFill/>
          <a:ln/>
        </p:spPr>
        <p:txBody>
          <a:bodyPr wrap="square" rtlCol="0" anchor="ctr"/>
          <a:lstStyle/>
          <a:p>
            <a:pPr algn="l" indent="0" marL="0">
              <a:lnSpc>
                <a:spcPts val="2250"/>
              </a:lnSpc>
              <a:buNone/>
            </a:pPr>
            <a:r>
              <a:rPr lang="en-US" sz="1500" b="1" spc="105" kern="0" dirty="0">
                <a:solidFill>
                  <a:srgbClr val="000000">
                    <a:alpha val="99000"/>
                  </a:srgbClr>
                </a:solidFill>
                <a:latin typeface="Plus Jakarta Sans" pitchFamily="34" charset="0"/>
                <a:ea typeface="Plus Jakarta Sans" pitchFamily="34" charset="-122"/>
                <a:cs typeface="Plus Jakarta Sans" pitchFamily="34" charset="-120"/>
              </a:rPr>
              <a:t>Perancangan Sistem</a:t>
            </a:r>
            <a:endParaRPr lang="en-US" sz="1500" dirty="0"/>
          </a:p>
        </p:txBody>
      </p:sp>
      <p:sp>
        <p:nvSpPr>
          <p:cNvPr id="10" name="Text 5"/>
          <p:cNvSpPr/>
          <p:nvPr/>
        </p:nvSpPr>
        <p:spPr>
          <a:xfrm>
            <a:off x="885825" y="2538413"/>
            <a:ext cx="2824163" cy="471488"/>
          </a:xfrm>
          <a:prstGeom prst="rect">
            <a:avLst/>
          </a:prstGeom>
          <a:noFill/>
          <a:ln/>
        </p:spPr>
        <p:txBody>
          <a:bodyPr wrap="square" rtlCol="0" anchor="ctr"/>
          <a:lstStyle/>
          <a:p>
            <a:pPr algn="l" indent="0" marL="0">
              <a:lnSpc>
                <a:spcPts val="1238"/>
              </a:lnSpc>
              <a:buNone/>
            </a:pPr>
            <a:r>
              <a:rPr lang="en-US" sz="825" spc="-18" kern="0" dirty="0">
                <a:solidFill>
                  <a:srgbClr val="000000">
                    <a:alpha val="99000"/>
                  </a:srgbClr>
                </a:solidFill>
                <a:latin typeface="Plus Jakarta Sans" pitchFamily="34" charset="0"/>
                <a:ea typeface="Plus Jakarta Sans" pitchFamily="34" charset="-122"/>
                <a:cs typeface="Plus Jakarta Sans" pitchFamily="34" charset="-120"/>
              </a:rPr>
              <a:t>Give additional context and information about the poll you’re conducting, and encourage everyone to take part in it.</a:t>
            </a:r>
            <a:endParaRPr lang="en-US" sz="8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name="Slide 3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90488" y="238125"/>
            <a:ext cx="8963025" cy="4814888"/>
          </a:xfrm>
          <a:prstGeom prst="roundRect">
            <a:avLst>
              <a:gd name="adj" fmla="val 2849"/>
            </a:avLst>
          </a:prstGeom>
          <a:solidFill>
            <a:srgbClr val="000000"/>
          </a:solidFill>
          <a:ln w="12700">
            <a:solidFill>
              <a:srgbClr val="EDE8D8"/>
            </a:solidFill>
            <a:prstDash val="solid"/>
          </a:ln>
        </p:spPr>
      </p:sp>
      <p:sp>
        <p:nvSpPr>
          <p:cNvPr id="3" name="Text 1"/>
          <p:cNvSpPr/>
          <p:nvPr/>
        </p:nvSpPr>
        <p:spPr>
          <a:xfrm>
            <a:off x="90488" y="76200"/>
            <a:ext cx="1281112" cy="114300"/>
          </a:xfrm>
          <a:prstGeom prst="rect">
            <a:avLst/>
          </a:prstGeom>
          <a:noFill/>
          <a:ln/>
        </p:spPr>
        <p:txBody>
          <a:bodyPr wrap="square" rtlCol="0" anchor="ctr"/>
          <a:lstStyle/>
          <a:p>
            <a:pPr algn="l" indent="0" marL="0">
              <a:lnSpc>
                <a:spcPts val="908"/>
              </a:lnSpc>
              <a:buNone/>
            </a:pPr>
            <a:r>
              <a:rPr lang="en-US" sz="825" b="1" spc="58" kern="0" dirty="0">
                <a:solidFill>
                  <a:srgbClr val="EDE8D8">
                    <a:alpha val="99000"/>
                  </a:srgbClr>
                </a:solidFill>
                <a:latin typeface="Plus Jakarta Sans" pitchFamily="34" charset="0"/>
                <a:ea typeface="Plus Jakarta Sans" pitchFamily="34" charset="-122"/>
                <a:cs typeface="Plus Jakarta Sans" pitchFamily="34" charset="-120"/>
              </a:rPr>
              <a:t>DATE XX, 2024</a:t>
            </a:r>
            <a:endParaRPr lang="en-US" sz="825" dirty="0"/>
          </a:p>
        </p:txBody>
      </p:sp>
      <p:sp>
        <p:nvSpPr>
          <p:cNvPr id="4" name="Text 2"/>
          <p:cNvSpPr/>
          <p:nvPr/>
        </p:nvSpPr>
        <p:spPr>
          <a:xfrm>
            <a:off x="1300163" y="76200"/>
            <a:ext cx="1995488" cy="114300"/>
          </a:xfrm>
          <a:prstGeom prst="rect">
            <a:avLst/>
          </a:prstGeom>
          <a:noFill/>
          <a:ln/>
        </p:spPr>
        <p:txBody>
          <a:bodyPr wrap="square" rtlCol="0" anchor="ctr"/>
          <a:lstStyle/>
          <a:p>
            <a:pPr algn="l" indent="0" marL="0">
              <a:lnSpc>
                <a:spcPts val="908"/>
              </a:lnSpc>
              <a:buNone/>
            </a:pPr>
            <a:r>
              <a:rPr lang="en-US" sz="825" b="1" spc="58" kern="0" dirty="0">
                <a:solidFill>
                  <a:srgbClr val="EDE8D8">
                    <a:alpha val="99000"/>
                  </a:srgbClr>
                </a:solidFill>
                <a:latin typeface="Plus Jakarta Sans" pitchFamily="34" charset="0"/>
                <a:ea typeface="Plus Jakarta Sans" pitchFamily="34" charset="-122"/>
                <a:cs typeface="Plus Jakarta Sans" pitchFamily="34" charset="-120"/>
              </a:rPr>
              <a:t>PRODUCT / FEATURE NAME</a:t>
            </a:r>
            <a:endParaRPr lang="en-US" sz="825" dirty="0"/>
          </a:p>
        </p:txBody>
      </p:sp>
      <p:sp>
        <p:nvSpPr>
          <p:cNvPr id="5" name="Text 3"/>
          <p:cNvSpPr/>
          <p:nvPr/>
        </p:nvSpPr>
        <p:spPr>
          <a:xfrm>
            <a:off x="8101013" y="76200"/>
            <a:ext cx="1409700" cy="114300"/>
          </a:xfrm>
          <a:prstGeom prst="rect">
            <a:avLst/>
          </a:prstGeom>
          <a:noFill/>
          <a:ln/>
        </p:spPr>
        <p:txBody>
          <a:bodyPr wrap="square" rtlCol="0" anchor="ctr"/>
          <a:lstStyle/>
          <a:p>
            <a:pPr algn="r" indent="0" marL="0">
              <a:lnSpc>
                <a:spcPts val="908"/>
              </a:lnSpc>
              <a:buNone/>
            </a:pPr>
            <a:r>
              <a:rPr lang="en-US" sz="825" b="1" spc="58" kern="0" dirty="0">
                <a:solidFill>
                  <a:srgbClr val="EDE8D8">
                    <a:alpha val="99000"/>
                  </a:srgbClr>
                </a:solidFill>
                <a:latin typeface="Plus Jakarta Sans" pitchFamily="34" charset="0"/>
                <a:ea typeface="Plus Jakarta Sans" pitchFamily="34" charset="-122"/>
                <a:cs typeface="Plus Jakarta Sans" pitchFamily="34" charset="-120"/>
              </a:rPr>
              <a:t>COMPANY NAME</a:t>
            </a:r>
            <a:endParaRPr lang="en-US" sz="825" dirty="0"/>
          </a:p>
        </p:txBody>
      </p:sp>
      <p:sp>
        <p:nvSpPr>
          <p:cNvPr id="6" name="Text 4"/>
          <p:cNvSpPr/>
          <p:nvPr/>
        </p:nvSpPr>
        <p:spPr>
          <a:xfrm>
            <a:off x="4619625" y="1000125"/>
            <a:ext cx="4157663" cy="2200275"/>
          </a:xfrm>
          <a:prstGeom prst="rect">
            <a:avLst/>
          </a:prstGeom>
          <a:noFill/>
          <a:ln/>
        </p:spPr>
        <p:txBody>
          <a:bodyPr wrap="square" rtlCol="0" anchor="ctr"/>
          <a:lstStyle/>
          <a:p>
            <a:pPr algn="l" marL="342900" indent="-342900">
              <a:lnSpc>
                <a:spcPts val="2888"/>
              </a:lnSpc>
              <a:buSzPct val="100000"/>
              <a:buFont typeface="+mj-lt"/>
              <a:buAutoNum type="arabicPeriod" startAt="1"/>
            </a:pPr>
            <a:r>
              <a:rPr lang="en-US" sz="2625" spc="-58" kern="0" dirty="0">
                <a:solidFill>
                  <a:srgbClr val="EDE8D8">
                    <a:alpha val="99000"/>
                  </a:srgbClr>
                </a:solidFill>
                <a:latin typeface="Plus Jakarta Sans" pitchFamily="34" charset="0"/>
                <a:ea typeface="Plus Jakarta Sans" pitchFamily="34" charset="-122"/>
                <a:cs typeface="Plus Jakarta Sans" pitchFamily="34" charset="-120"/>
              </a:rPr>
              <a:t>Meet the Team</a:t>
            </a:r>
            <a:endParaRPr lang="en-US" sz="2625" dirty="0"/>
          </a:p>
          <a:p>
            <a:pPr algn="l" marL="342900" indent="-342900">
              <a:lnSpc>
                <a:spcPts val="2888"/>
              </a:lnSpc>
              <a:buSzPct val="100000"/>
              <a:buFont typeface="+mj-lt"/>
              <a:buAutoNum type="arabicPeriod" startAt="1"/>
            </a:pPr>
            <a:r>
              <a:rPr lang="en-US" sz="2625" spc="-58" kern="0" dirty="0">
                <a:solidFill>
                  <a:srgbClr val="EDE8D8">
                    <a:alpha val="99000"/>
                  </a:srgbClr>
                </a:solidFill>
                <a:latin typeface="Plus Jakarta Sans" pitchFamily="34" charset="0"/>
                <a:ea typeface="Plus Jakarta Sans" pitchFamily="34" charset="-122"/>
                <a:cs typeface="Plus Jakarta Sans" pitchFamily="34" charset="-120"/>
              </a:rPr>
              <a:t>Project Overview</a:t>
            </a:r>
            <a:endParaRPr lang="en-US" sz="2625" dirty="0"/>
          </a:p>
          <a:p>
            <a:pPr algn="l" marL="342900" indent="-342900">
              <a:lnSpc>
                <a:spcPts val="2888"/>
              </a:lnSpc>
              <a:buSzPct val="100000"/>
              <a:buFont typeface="+mj-lt"/>
              <a:buAutoNum type="arabicPeriod" startAt="1"/>
            </a:pPr>
            <a:r>
              <a:rPr lang="en-US" sz="2625" spc="-58" kern="0" dirty="0">
                <a:solidFill>
                  <a:srgbClr val="EDE8D8">
                    <a:alpha val="99000"/>
                  </a:srgbClr>
                </a:solidFill>
                <a:latin typeface="Plus Jakarta Sans" pitchFamily="34" charset="0"/>
                <a:ea typeface="Plus Jakarta Sans" pitchFamily="34" charset="-122"/>
                <a:cs typeface="Plus Jakarta Sans" pitchFamily="34" charset="-120"/>
              </a:rPr>
              <a:t>Strategy &amp; Process</a:t>
            </a:r>
            <a:endParaRPr lang="en-US" sz="2625" dirty="0"/>
          </a:p>
          <a:p>
            <a:pPr algn="l" marL="342900" indent="-342900">
              <a:lnSpc>
                <a:spcPts val="2888"/>
              </a:lnSpc>
              <a:buSzPct val="100000"/>
              <a:buFont typeface="+mj-lt"/>
              <a:buAutoNum type="arabicPeriod" startAt="1"/>
            </a:pPr>
            <a:r>
              <a:rPr lang="en-US" sz="2625" spc="-58" kern="0" dirty="0">
                <a:solidFill>
                  <a:srgbClr val="EDE8D8">
                    <a:alpha val="99000"/>
                  </a:srgbClr>
                </a:solidFill>
                <a:latin typeface="Plus Jakarta Sans" pitchFamily="34" charset="0"/>
                <a:ea typeface="Plus Jakarta Sans" pitchFamily="34" charset="-122"/>
                <a:cs typeface="Plus Jakarta Sans" pitchFamily="34" charset="-120"/>
              </a:rPr>
              <a:t>Our Users</a:t>
            </a:r>
            <a:endParaRPr lang="en-US" sz="2625" dirty="0"/>
          </a:p>
          <a:p>
            <a:pPr algn="l" marL="342900" indent="-342900">
              <a:lnSpc>
                <a:spcPts val="2888"/>
              </a:lnSpc>
              <a:buSzPct val="100000"/>
              <a:buFont typeface="+mj-lt"/>
              <a:buAutoNum type="arabicPeriod" startAt="1"/>
            </a:pPr>
            <a:r>
              <a:rPr lang="en-US" sz="2625" spc="-58" kern="0" dirty="0">
                <a:solidFill>
                  <a:srgbClr val="EDE8D8">
                    <a:alpha val="99000"/>
                  </a:srgbClr>
                </a:solidFill>
                <a:latin typeface="Plus Jakarta Sans" pitchFamily="34" charset="0"/>
                <a:ea typeface="Plus Jakarta Sans" pitchFamily="34" charset="-122"/>
                <a:cs typeface="Plus Jakarta Sans" pitchFamily="34" charset="-120"/>
              </a:rPr>
              <a:t>The Journey</a:t>
            </a:r>
            <a:endParaRPr lang="en-US" sz="2625" dirty="0"/>
          </a:p>
          <a:p>
            <a:pPr algn="l" marL="342900" indent="-342900">
              <a:lnSpc>
                <a:spcPts val="2888"/>
              </a:lnSpc>
              <a:buSzPct val="100000"/>
              <a:buFont typeface="+mj-lt"/>
              <a:buAutoNum type="arabicPeriod" startAt="1"/>
            </a:pPr>
            <a:r>
              <a:rPr lang="en-US" sz="2625" spc="-58" kern="0" dirty="0">
                <a:solidFill>
                  <a:srgbClr val="EDE8D8">
                    <a:alpha val="99000"/>
                  </a:srgbClr>
                </a:solidFill>
                <a:latin typeface="Plus Jakarta Sans" pitchFamily="34" charset="0"/>
                <a:ea typeface="Plus Jakarta Sans" pitchFamily="34" charset="-122"/>
                <a:cs typeface="Plus Jakarta Sans" pitchFamily="34" charset="-120"/>
              </a:rPr>
              <a:t>Relevant Data</a:t>
            </a:r>
            <a:endParaRPr lang="en-US" sz="2625" dirty="0"/>
          </a:p>
        </p:txBody>
      </p:sp>
      <p:sp>
        <p:nvSpPr>
          <p:cNvPr id="7" name="Text 5"/>
          <p:cNvSpPr/>
          <p:nvPr/>
        </p:nvSpPr>
        <p:spPr>
          <a:xfrm>
            <a:off x="-33337" y="-1104900"/>
            <a:ext cx="9558338" cy="514350"/>
          </a:xfrm>
          <a:prstGeom prst="rect">
            <a:avLst/>
          </a:prstGeom>
          <a:noFill/>
          <a:ln/>
        </p:spPr>
        <p:txBody>
          <a:bodyPr wrap="square" rtlCol="0" anchor="ctr"/>
          <a:lstStyle/>
          <a:p>
            <a:pPr algn="l" indent="0" marL="0">
              <a:lnSpc>
                <a:spcPts val="2025"/>
              </a:lnSpc>
              <a:buNone/>
            </a:pPr>
            <a:r>
              <a:rPr lang="en-US" sz="1350" spc="-30" kern="0" dirty="0">
                <a:solidFill>
                  <a:srgbClr val="FFFFFF">
                    <a:alpha val="99000"/>
                  </a:srgbClr>
                </a:solidFill>
                <a:latin typeface="Inter" pitchFamily="34" charset="0"/>
                <a:ea typeface="Inter" pitchFamily="34" charset="-122"/>
                <a:cs typeface="Inter" pitchFamily="34" charset="-120"/>
              </a:rPr>
              <a:t>Ref more ppt : </a:t>
            </a:r>
            <a:pPr algn="l" indent="0" marL="0">
              <a:lnSpc>
                <a:spcPts val="2025"/>
              </a:lnSpc>
              <a:buNone/>
            </a:pPr>
            <a:r>
              <a:rPr lang="en-US" sz="1350" u="sng" spc="-30" kern="0" dirty="0">
                <a:solidFill>
                  <a:srgbClr val="FFFFFF">
                    <a:alpha val="99000"/>
                  </a:srgbClr>
                </a:solid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https://www.figma.com/community/presentations?resource_type=files&amp;editor_type=slides&amp;price=all&amp;sort_by=all_time&amp;creators=all</a:t>
            </a:r>
            <a:pPr algn="l" indent="0" marL="0">
              <a:lnSpc>
                <a:spcPts val="2025"/>
              </a:lnSpc>
              <a:buNone/>
            </a:pPr>
            <a:r>
              <a:rPr lang="en-US" sz="1350" spc="-30" kern="0" dirty="0">
                <a:solidFill>
                  <a:srgbClr val="FFFFFF">
                    <a:alpha val="99000"/>
                  </a:srgbClr>
                </a:solidFill>
                <a:latin typeface="Inter" pitchFamily="34" charset="0"/>
                <a:ea typeface="Inter" pitchFamily="34" charset="-122"/>
                <a:cs typeface="Inter" pitchFamily="34" charset="-120"/>
              </a:rPr>
              <a:t> </a:t>
            </a:r>
            <a:endParaRPr lang="en-US" sz="1350" dirty="0"/>
          </a:p>
        </p:txBody>
      </p:sp>
      <p:sp>
        <p:nvSpPr>
          <p:cNvPr id="8" name="Text 6"/>
          <p:cNvSpPr/>
          <p:nvPr/>
        </p:nvSpPr>
        <p:spPr>
          <a:xfrm>
            <a:off x="742950" y="1000125"/>
            <a:ext cx="4243388" cy="1571625"/>
          </a:xfrm>
          <a:prstGeom prst="rect">
            <a:avLst/>
          </a:prstGeom>
          <a:noFill/>
          <a:ln/>
        </p:spPr>
        <p:txBody>
          <a:bodyPr wrap="square" rtlCol="0" anchor="ctr"/>
          <a:lstStyle/>
          <a:p>
            <a:pPr algn="l" indent="0" marL="0">
              <a:lnSpc>
                <a:spcPts val="6188"/>
              </a:lnSpc>
              <a:buNone/>
            </a:pPr>
            <a:r>
              <a:rPr lang="en-US" sz="5625" b="1" dirty="0">
                <a:solidFill>
                  <a:srgbClr val="EDE8D8">
                    <a:alpha val="99000"/>
                  </a:srgbClr>
                </a:solidFill>
                <a:latin typeface="Plus Jakarta Sans" pitchFamily="34" charset="0"/>
                <a:ea typeface="Plus Jakarta Sans" pitchFamily="34" charset="-122"/>
                <a:cs typeface="Plus Jakarta Sans" pitchFamily="34" charset="-120"/>
              </a:rPr>
              <a:t>Today’s</a:t>
            </a:r>
            <a:endParaRPr lang="en-US" sz="5625" dirty="0"/>
          </a:p>
          <a:p>
            <a:pPr algn="l" indent="0" marL="0">
              <a:lnSpc>
                <a:spcPts val="6188"/>
              </a:lnSpc>
              <a:buNone/>
            </a:pPr>
            <a:r>
              <a:rPr lang="en-US" sz="5625" b="1" dirty="0">
                <a:solidFill>
                  <a:srgbClr val="EDE8D8">
                    <a:alpha val="99000"/>
                  </a:srgbClr>
                </a:solidFill>
                <a:latin typeface="Plus Jakarta Sans" pitchFamily="34" charset="0"/>
                <a:ea typeface="Plus Jakarta Sans" pitchFamily="34" charset="-122"/>
                <a:cs typeface="Plus Jakarta Sans" pitchFamily="34" charset="-120"/>
              </a:rPr>
              <a:t>Agenda:</a:t>
            </a:r>
            <a:endParaRPr lang="en-US" sz="56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2025-08-23T07:46:20Z</dcterms:created>
  <dcterms:modified xsi:type="dcterms:W3CDTF">2025-08-23T07:46:20Z</dcterms:modified>
</cp:coreProperties>
</file>